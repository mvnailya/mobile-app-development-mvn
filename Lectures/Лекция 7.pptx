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4183" autoAdjust="0"/>
  </p:normalViewPr>
  <p:slideViewPr>
    <p:cSldViewPr snapToGrid="0">
      <p:cViewPr varScale="1">
        <p:scale>
          <a:sx n="53" d="100"/>
          <a:sy n="53" d="100"/>
        </p:scale>
        <p:origin x="1810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C34AA-8CB0-45DC-9B98-F269D64D7DE6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88FC9-C65B-4F17-9621-721F13544C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0966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EB6EA5-BBE7-43BF-8BFD-25EDB7B77679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Calibri"/>
                <a:cs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4537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 — это набор связанных между собой данных и действий, объединённых в одну структуру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 этого мы работали с отдельными переменными.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Каждая переменная существует отдельно.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таких характеристик становится много, работать с ними становится неудобно.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Представьте, что необходимо описать пользователя мобильного приложения.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 него есть: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имя;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возраст;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электронная почта;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номер телефона;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фотография;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адрес;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настройки приложения;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список заказов;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история действий.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каждое свойство хранить в отдельной переменной, программа быстро превратится в огромный набор несвязанных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используется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 объединяет всю информацию, относящуюся к одной сущности.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Каждое свойство представляет собой пару: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ключ → значение.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поэтому: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 — это набор свойств.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user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Анна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28,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isActive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объект называется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Внутри него находятся три свойства.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Первое свойство: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"Анна"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где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ключ;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"Анна"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значение.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Второе свойство: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28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ключ —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значение — 28.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Третье свойство: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isActive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Значением может быть логический тип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Получается, что объект является своеобразной таблицей, где каждому имени соответствует некоторое значение.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Какие значения могут храниться в объекте?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Очень важная особенность JavaScript заключается в том, что значением свойства может быть практически любой тип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Значением может быть что угодно: число, строка, массив, функция или другой объект.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Строка: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Число: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Логическое значение: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Массив: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Другой объект: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address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"Москва",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street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"Ленина"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"Привет!";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Получается, объект способен хранить практически любую информацию.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объекты являются универсальной структурой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JavaScript спроектирован на объектной парадигме: почти всё в языке является объектом.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означает, что объекты используются буквально повсюду.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массив является объектом;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тоже является объектом;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дата — объект;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регулярное выражение — объект;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ответ сервера чаще всего преобразуется в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Даже многие встроенные возможности языка реализованы именно через объекты.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Свойства задают характеристики объекта.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Можно провести аналогию с человеком.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Каждый человек обладает определёнными характеристиками.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имя;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возраст;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рост;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профессия;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цвет глаз.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Все эти характеристики можно представить как свойства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 же самое относится к товару.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Какие характеристики можно выделить у товара?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 товара имеются: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название;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цена;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описание;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количество;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производитель.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Каждая такая характеристика становится отдельным свойством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Функции внутри объекта становятся методами.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очень важное отличие.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 этого мы создавали обычные функции.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Такая функция существует отдельно.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если функция помещается внутрь объекта, её начинают называть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методом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user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Анна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"Привет!";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функция принадлежит объекту.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описывает действие именно этого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пользователь может поздороваться;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товар может вычислить скидку;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корзина может посчитать общую стоимость.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 объект хранит не только данные, но и действия.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Объекты — ссылочный тип данных.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мы копируем число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 = 5;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b = a;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получаются две независимые переменные.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Изменение одной не влияет на другую.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 объектами ситуация другая.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копировании объекта копируется ссылка на него.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означает, что две переменные могут указывать на один и тот же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Разбор примера на слайде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рассмотрим пример объекта, приведённый на слайде.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user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Анна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age: 28,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isActive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true,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greet: function()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return `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Привет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${this.name}!`;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Первое свойство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хранит имя пользователя.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Второе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содержит возраст.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Третье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isActive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указывает, активен ли пользователь.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Четвёртое —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Street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Хранит объект адреса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Последнее свойство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greet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содержит функцию.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уже метод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Внутри него используется выражение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this.name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 ключевом слове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мы подробно поговорим на следующем слайде.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Пока достаточно понимать, что метод получает имя именно текущего пользователя.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Обращение к свойствам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Ниже приведены строки: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console.log(user.name);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Результатом будет: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Анна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происходит обращение к свойству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Следующая строка: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user.greet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вызывает метод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программа выводит: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Привет, я Анна!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Мы не передавали имя в функцию.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самостоятельно получил его из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одна из главных особенностей объектного программирования.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860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мы создаём объект, его свойства становятся частью этого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наличие объекта само по себе ещё ничего не даёт.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Самое важное — научиться получать значения его свойств и при необходимости изменять их.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для этого в JavaScript существуют два способа доступа.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— через точку.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— через квадратные скобки.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Оба варианта выполняют одну и ту же задачу, но используются в разных ситуациях.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Точечная нотация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способ называется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точечной нотацией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самый распространённый и читаемый способ доступа к свойствам объекта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Он используется тогда, когда имя свойства известно заранее и является корректным идентификатором.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title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"Смартфон",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49990,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inStock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необходимо получить название товара, достаточно написать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product.title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нужна цена,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product.price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 если необходимо узнать, находится ли товар на складе,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product.inStock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точечная запись чаще всего встречается в программах.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программист видит запись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product.price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сразу понимает, что происходит обращение к свойству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объекта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Поэтому, если имя свойства известно заранее, рекомендуется использовать именно этот способ.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также показано, что с помощью точки можно не только получать данные, но и изменять их.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product.price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45000;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значение свойства изменится.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до этого цена составляла 49990 рублей, то после выполнения этой строки она станет равной 45000.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 свойства объекта являются изменяемыми.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цена товара может измениться.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Количество товара на складе тоже может измениться.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Статус пользователя может стать активным или неактивным.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Все подобные изменения выполняются именно через свойства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нельзя использовать точку?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Несмотря на удобство точечной записи, использовать её можно не всегда.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Точка работает только тогда, когда имя свойства является корректным идентификатором.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 это означает?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Имя свойства не должно: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содержать пробелы;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начинаться с цифры;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содержать некоторые специальные символы.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способ — использование квадратных скобок.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Этот вариант значительно более гибкий и позволяет использовать динамические ключи, свойства с пробелами и специальные символы.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первый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 происходит?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переменной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хранится строка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эта строка используется как имя свойства.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Фактически программа выполняет обращение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 получает значение свойства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Получается, что имя свойства определяется во время выполнения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такой способ называется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динамическим доступом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Свойства с пробелами и специальными символами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пример на слайде выглядит так: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discount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%"] = 15;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Название свойства содержит пробел и символ процента.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Через точку такое свойство получить нельзя.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можно вывести значение: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discount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%"]);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Результатом будет число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15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 квадратные скобки позволяют использовать практически любые строки в качестве ключей.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Динамическое формирование имени свойства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пример показывает ещё одну интересную возможность.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имя свойства собирается из двух строк.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fieldName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"in" + "Stock";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console.log(product[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fieldName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получается строка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inStock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именно она используется как ключ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программа обращается к свойству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product.inStock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 выводит значение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использовать каждый способ?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Точку следует использовать тогда, когда имя свойства известно заранее.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user.name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или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product.price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самый простой и читаемый вариант.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Квадратные скобки используются тогда, когда имя свойства заранее неизвестно.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его выбирает пользователь,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оно приходит с сервера,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формируется программой,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или хранится в переменной.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тогда используется запись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key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 indent="450215" algn="just">
              <a:lnSpc>
                <a:spcPct val="150000"/>
              </a:lnSpc>
            </a:pP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Разбор функции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getProperty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приведена небольшая функция.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getProperty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(obj, prop)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obj[prop];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её работу подробно.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принимает два параметра.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prop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Название свойства.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выполняется обращение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prop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 универсальная функция.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может вернуть любое свойство любого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getProperty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(product, "price");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вернёт цену товара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getProperty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(product, "title");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вернёт название товара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квадратные скобки являются обязательными при написании универсальных функций.</a:t>
            </a:r>
          </a:p>
          <a:p>
            <a:r>
              <a:rPr lang="ru-RU" dirty="0"/>
              <a:t>Рассмотрим пример с настройками. Есть объект настройки, который содержит два свойства: цвет темы и размер текста.</a:t>
            </a:r>
          </a:p>
          <a:p>
            <a:r>
              <a:rPr lang="ru-RU" dirty="0"/>
              <a:t>Необходимо получить значение свойства цвет темы. Что лучше использовать: точку или квадратные скобки и почему?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Названия свойств содержат дефис.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Важно</a:t>
            </a:r>
            <a:r>
              <a:rPr lang="en-US" sz="12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: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Один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ключ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одно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значение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При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повторном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присваивании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того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же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ключа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старое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значение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перезаписывается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091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Современные объекты должны не только содержать информацию, но и уметь выполнять определённые действия. Именно для этого используются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 такое метод?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— это свойство объекта, значением которого является функция.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Методы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позволяют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объекту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только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хранить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данные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но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и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выполнять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действия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над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ними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Ключевым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инструментом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внутри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методов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является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ключевое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слово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которое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ссылается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на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текущий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ru-RU" sz="1200" dirty="0">
              <a:latin typeface="Times New Roman" panose="02020603050405020304" pitchFamily="18" charset="0"/>
              <a:ea typeface="Instrument Sans Medium" pitchFamily="34" charset="-122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Свойства хранят информацию.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Методы работают с этой информацией.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Разбор объекта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cart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приведён пример объекта корзины интернет-магазина.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cart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items: ["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Товар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1",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Товар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2"],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0,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идут обычные свойства.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Первое свойство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items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содержит массив товаров.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Второе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хранит общую стоимость корзины.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дальше появляются методы.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метод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addItem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item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его внимательно.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addItem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(item)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this.items.push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(item);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вызывается этот метод, новый товар добавляется в массив.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cart.addItem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("Товар 3");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 метода массив станет таким: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"Товар 1",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"Товар 2",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"Товар 3"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сам знает, в какой массив необходимо добавить новый элемент.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Никаких дополнительных параметров передавать не нужно.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метод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calculateTotal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Его задача — вычислить стоимость корзины.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примере стоимость рассчитывается очень просто.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Количество товаров умножается на сто.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Полученный результат записывается в свойство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вызова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cart.calculateTotal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значение свойства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становится равным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300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Последний метод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getInfo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формирует строку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Корзина: 3 товаров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 объект умеет: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хранить товары;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изменять список товаров;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вычислять стоимость;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формировать информацию о себе.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 такое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Ключевым инструментом внутри методов является ключевое слово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которое ссылается на текущий объект.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означает следующее.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метод выполняется, ему необходимо понимать, с каким именно объектом он сейчас работает.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Представим, что существует несколько корзин.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cart1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cart2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cart3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вызывается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cart2.addItem(...)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должен добавить товар именно во вторую корзину.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этого и используется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Можно представить, что слово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означает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«этот объект»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запись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this.items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означает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массив товаров именно текущей корзины.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 запись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this.total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стоимость именно этой корзины.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видит все свойства объекта через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14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 работает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приведено важное правило: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obj.method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→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правило необходимо хорошо запомнить.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player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"Игрок 1",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score: 100,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addScore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(points)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this.score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+= points;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return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this.score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выполняется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player.addScore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(50);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происходит следующее.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JavaScript видит: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player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становится ссылкой на объект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player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Далее выполняется строка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this.score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points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Фактически она превращается в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player.score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+= 50;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 метода значение становится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150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Получается, что метод автоматически знает, с каким объектом он работает.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Значение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определяется в момент вызова, а не в момент объявления функции.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означает следующее.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Функцию можно написать один раз.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вызываться она может разными объектами.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во время вызова JavaScript определяет, какой объект становится текущим.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значение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может меняться.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эта особенность делает методы универсальными.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Применение в мобильной разработке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Практически каждый объект мобильного приложения содержит методы.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объект пользователя может иметь методы: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авторизация;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смена пароля;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обновление профиля.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 корзины: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добавить товар;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удалить товар;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вычислить стоимость.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 видеоплеера: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воспроизвести;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поставить на паузу;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изменить громкость.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Все эти действия работают именно через методы объекта и используют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для обращения к собственным данным.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2100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 может содержать другие объекты и массивы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 своеобразная иерархия данных.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Вложенные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объекты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позволяют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группировать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связанные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данные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логические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блоки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Это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делает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код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более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организованным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и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читаемым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а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также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уменьшает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дублирование</a:t>
            </a:r>
            <a:r>
              <a:rPr lang="en-US" sz="18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информации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приведён пример достаточно большого объекта.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верхнем уровне находятся обычные свойства.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далее появляется новое свойство —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settings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Его значением является не число и не строка.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Значением становится ещё один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и называется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вложенным объектом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 внутри этого объекта есть еще один вложенный объект Уведомления.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Доступ к вложенным свойствам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Для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доступа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к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вложенным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свойствам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используется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цепочка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точек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Каждый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уровень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вложенности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добавляет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ещё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одну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точку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Важно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помнить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о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возможной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ошибке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при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обращении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к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несуществующему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вложенному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свойству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Используйте опциональную цепочку ?. для безопасного доступа.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0" i="0" dirty="0">
                <a:solidFill>
                  <a:srgbClr val="313130"/>
                </a:solidFill>
                <a:effectLst/>
                <a:latin typeface="BlinkMacSystemFont"/>
              </a:rPr>
              <a:t>Опциональная цепочка </a:t>
            </a:r>
            <a:r>
              <a:rPr lang="ru-RU" dirty="0"/>
              <a:t>?.</a:t>
            </a:r>
            <a:r>
              <a:rPr lang="ru-RU" b="0" i="0" dirty="0">
                <a:solidFill>
                  <a:srgbClr val="313130"/>
                </a:solidFill>
                <a:effectLst/>
                <a:latin typeface="BlinkMacSystemFont"/>
              </a:rPr>
              <a:t> — это безопасный способ доступа к свойствам вложенных объектов, даже если какое-либо из промежуточных свойств не существует. Если у объекта нет указанного свойства, то что мы получим при выводе? </a:t>
            </a:r>
            <a:r>
              <a:rPr lang="en-US" b="0" i="0" dirty="0">
                <a:solidFill>
                  <a:srgbClr val="313130"/>
                </a:solidFill>
                <a:effectLst/>
                <a:latin typeface="BlinkMacSystemFont"/>
              </a:rPr>
              <a:t>Undefined</a:t>
            </a:r>
            <a:r>
              <a:rPr lang="ru-RU" b="0" i="0" dirty="0">
                <a:solidFill>
                  <a:srgbClr val="313130"/>
                </a:solidFill>
                <a:effectLst/>
                <a:latin typeface="BlinkMacSystemFont"/>
              </a:rPr>
              <a:t>, так как свойства </a:t>
            </a:r>
            <a:r>
              <a:rPr lang="ru-RU" b="0" i="0" dirty="0" err="1">
                <a:solidFill>
                  <a:srgbClr val="313130"/>
                </a:solidFill>
                <a:effectLst/>
                <a:latin typeface="BlinkMacSystemFont"/>
              </a:rPr>
              <a:t>несуществует</a:t>
            </a:r>
            <a:r>
              <a:rPr lang="ru-RU" b="0" i="0" dirty="0">
                <a:solidFill>
                  <a:srgbClr val="313130"/>
                </a:solidFill>
                <a:effectLst/>
                <a:latin typeface="BlinkMacSystemFont"/>
              </a:rPr>
              <a:t>.</a:t>
            </a:r>
          </a:p>
          <a:p>
            <a:r>
              <a:rPr lang="ru-RU" b="0" u="none" strike="noStrike" dirty="0">
                <a:effectLst/>
                <a:latin typeface="Google Sans"/>
              </a:rPr>
              <a:t>Если объект или свойство перед знаком </a:t>
            </a:r>
            <a:r>
              <a:rPr lang="ru-RU" b="0" u="none" strike="noStrike" dirty="0">
                <a:effectLst/>
                <a:latin typeface="Courier New" panose="02070309020205020404" pitchFamily="49" charset="0"/>
              </a:rPr>
              <a:t>?.</a:t>
            </a:r>
            <a:r>
              <a:rPr lang="ru-RU" b="0" u="none" strike="noStrike" dirty="0">
                <a:effectLst/>
                <a:latin typeface="Google Sans"/>
              </a:rPr>
              <a:t> равно </a:t>
            </a:r>
            <a:r>
              <a:rPr lang="ru-RU" b="0" u="none" strike="noStrike" dirty="0" err="1">
                <a:effectLst/>
                <a:latin typeface="Courier New" panose="02070309020205020404" pitchFamily="49" charset="0"/>
              </a:rPr>
              <a:t>null</a:t>
            </a:r>
            <a:r>
              <a:rPr lang="ru-RU" b="0" u="none" strike="noStrike" dirty="0">
                <a:effectLst/>
                <a:latin typeface="Google Sans"/>
              </a:rPr>
              <a:t> или </a:t>
            </a:r>
            <a:r>
              <a:rPr lang="ru-RU" b="0" u="none" strike="noStrike" dirty="0" err="1">
                <a:effectLst/>
                <a:latin typeface="Courier New" panose="02070309020205020404" pitchFamily="49" charset="0"/>
              </a:rPr>
              <a:t>undefined</a:t>
            </a:r>
            <a:r>
              <a:rPr lang="ru-RU" b="0" u="none" strike="noStrike" dirty="0">
                <a:effectLst/>
                <a:latin typeface="Google Sans"/>
              </a:rPr>
              <a:t>, код сразу останавливается и возвращает </a:t>
            </a:r>
            <a:r>
              <a:rPr lang="ru-RU" b="0" u="none" strike="noStrike" dirty="0" err="1">
                <a:effectLst/>
                <a:latin typeface="Courier New" panose="02070309020205020404" pitchFamily="49" charset="0"/>
              </a:rPr>
              <a:t>undefined</a:t>
            </a:r>
            <a:r>
              <a:rPr lang="ru-RU" b="0" u="none" strike="noStrike" dirty="0">
                <a:effectLst/>
                <a:latin typeface="Google Sans"/>
              </a:rPr>
              <a:t> вместо того, чтобы выдавать ошибку.</a:t>
            </a:r>
            <a:r>
              <a:rPr lang="ru-RU" dirty="0"/>
              <a:t> </a:t>
            </a:r>
          </a:p>
          <a:p>
            <a:r>
              <a:rPr lang="ru-RU" b="1" u="none" strike="noStrike" dirty="0">
                <a:effectLst/>
                <a:latin typeface="Google Sans"/>
              </a:rPr>
              <a:t>Важные ограничения</a:t>
            </a:r>
          </a:p>
          <a:p>
            <a:r>
              <a:rPr lang="ru-RU" b="0" u="none" strike="noStrike" dirty="0">
                <a:effectLst/>
                <a:latin typeface="Google Sans"/>
              </a:rPr>
              <a:t>Оператор ?. работает только на чтение. Вы не можете использовать его для присваивания значений.</a:t>
            </a:r>
          </a:p>
          <a:p>
            <a:endParaRPr lang="ru-RU" b="0" u="none" strike="noStrike" dirty="0">
              <a:effectLst/>
              <a:latin typeface="Google Sa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Преимущества</a:t>
            </a:r>
            <a:r>
              <a:rPr lang="en-US" sz="1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вложенности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Вложенные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структуры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уменьшают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количество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повторяющихся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данных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и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повышают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связность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Изменение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одного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вложенного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объекта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автоматически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отражается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везде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где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он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используется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12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Группировка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связанные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данные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собраны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вместе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12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Масштабируемость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легко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добавлять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новые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уровни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12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Читаемость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структура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отражает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логику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предметной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области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12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Связность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меньше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дублирования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данных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0" u="none" strike="noStrike" dirty="0">
              <a:effectLst/>
              <a:latin typeface="Google Sans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0952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Очень часто разработчику требуется получить из большого объекта всего несколько свойств. Если каждый раз обращаться к ним через точечную запись, код становится длинным и менее удобным для чтения. Именно для решения этой задачи в современном JavaScript существует механизм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деструктуризации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Его можно представить как процесс «распаковки» объекта, когда нужные значения сразу извлекаются в отдельные переменные.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позволяет один раз «распаковать» объект и получить нужные значения в отдельные переменные.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Основы деструктуризации объектов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показан объект пользователя.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user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Мария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age: 30,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"Москва",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role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admin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Предположим, нам необходимо использовать имя, возраст и город пользователя.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Без деструктуризации пришлось бы написать: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name = user.name;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age =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user.age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user.city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Каждая переменная получает своё значение отдельно.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свойств станет десять или двадцать, подобных строк будет очень много.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используется деструктуризация.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Вместо трёх отдельных операций достаточно написать: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{ name, age, city } = user;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происходит сразу несколько действий.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JavaScript видит фигурные скобки слева от знака равенства.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он ищет в объекте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свойства с такими же именами.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Полученные значения автоматически записываются в соответствующие переменные.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 следующая связь: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user.name  →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user.age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→  age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user.city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→  city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переменные можно использовать как обычные локальные переменные программы.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console.log(name);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console.log(age);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Результат будет таким же, как и при обычном обращении через точку, но код становится значительно короче и легче читается.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Почему деструктуризация удобнее?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Представим объект, содержащий двадцать различных свойств.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профиль пользователя может включать: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имя;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фамилию;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дату рождения;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телефон;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адрес;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фотографию;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настройки;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язык интерфейса;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список заказов;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множество других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Чаще всего программе нужны далеко не все свойства одновременно.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для отображения приветствия достаточно имени.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Для вывода информации о пользователе — имени, возраста и города.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Благодаря деструктуризации можно получить только необходимые данные.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делает код значительно компактнее.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Переименование свойств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Иногда разработчику неудобно использовать исходное имя свойства.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имеется объект товара.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title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"Ноутбук",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89990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Можно выполнить следующую запись: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title: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productName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price: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productPrice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 = product;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 здесь происходит?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Свойство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title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 объекта сохраняется в переменную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productName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 свойство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попадает в переменную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productPrice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особенно удобно, если в программе одновременно используется несколько объектов с одинаковыми именами свойств.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сразу несколько объектов могут содержать свойство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title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Переименование позволяет избежать конфликтов имён и сделать код более понятным.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Значения по умолчанию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Следующая возможность деструктуризации — использование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значений по умолчанию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Предположим, объект товара содержит только название и цену.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информации о количестве товара нет.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Можно написать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stock = 0,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discount = 10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 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 произойдёт?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JavaScript попытается найти свойства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stock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discount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их нет.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Вместо ошибки программа автоматически использует значения по умолчанию.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получим: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stock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discount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10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механизм очень полезен при работе с данными, которые могут приходить не полностью.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Деструктуризация в параметрах функции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пример показывает ещё одно очень важное применение деструктуризации.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функцию: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displayUser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({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"Не указана" })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console.log(`${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}, ${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 лет, ${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}`);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Функция сразу принимает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внутри неё не приходится писать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user.name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user.age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user.city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Все необходимые значения извлекаются автоматически.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вызове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displayUser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получаем результат: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Мария, 30 лет, Москва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же свойство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city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отсутствует, вместо него автоматически используется значение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указана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Выборочное извлечение данных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Предположим, имеется большой объект: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largeData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id: 1,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Важные данные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metadata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{...},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unused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"не нужно"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программе нужны только идентификатор и название.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Можно написать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{ id, name } =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largeData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Все остальные свойства будут проигнорированы.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31303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Чаще всего объекты содержат другие объекты, которые, в свою очередь, также имеют собственные свойства. Если использовать только обычную деструктуризацию, пришлось бы сначала извлекать один объект, затем следующий и только потом получать нужные значения. Такой код становится длиннее и менее удобным. Именно поэтому JavaScript позволяет выполнять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вложенную деструктуризацию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то есть извлекать данные с любого уровня вложенности сразу за одну операцию.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Структура, которую мы записываем слева от знака равенства, должна повторять структуру объекта справа.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Чем глубже расположено свойство, тем глубже будут расположены фигурные скобки в шаблоне деструктуризации.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говорят, что шаблон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зеркально повторяет структуру объекта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Вложенная деструктуризация объектов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слайде приведён объект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config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config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app: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name: "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MyApp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version: "2.0"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settings: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theme: "dark",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notifications: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push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его структуру.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верхнем уровне находятся два объекта: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settings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Внутри объекта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находятся свойства: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version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Внутри объекта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settings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расположены: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notifications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 уже внутри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notifications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находятся свойства: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push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Чтобы получить сразу несколько вложенных свойств, используется следующая запись: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app: { name, version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settings: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notifications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 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config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первый взгляд такая запись выглядит сложной.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Разберём её постепенно.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Первая часть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version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означает: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«Перейти в объект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app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извлечь из него свойства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version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.»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 этой строки появятся две новые переменные: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version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 значениями: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MyApp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"2.0"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рассмотрим вторую часть.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settings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notifications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программа переходит в объект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settings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Оттуда сразу извлекается свойство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JavaScript переходит ещё глубже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объект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notifications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 извлекает свойство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получаем: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dark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завершения всей операции становятся доступны четыре отдельные переменные: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version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 при этом не пришлось писать длинные цепочки вида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config.settings.notifications.email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Деструктуризация со значениями по умолчанию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объект ответа сервера.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apiResponse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status: "success",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data: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"Алексей"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//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отсутствует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 пользователя есть имя.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свойства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нет.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попытаться обратиться к нему напрямую, получится значение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undefined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Иногда этого достаточно.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чаще приложению требуется некоторое стандартное значение.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используется следующая конструкция.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data: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user: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name,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email = "not-set@example.com"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 = {}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 = {}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 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apiResponse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Значения по умолчанию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используется сразу два механизма.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"not-set@example.com"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свойство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существует, программа использует его значение.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такого свойства нет, автоматически подставляется строка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not-set@example.com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после выполнения деструктуризации получим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"Алексей"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→ "not-set@example.com"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Зачем нужны = {}?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 ещё на две записи.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Они могут показаться странными.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Представим ситуацию.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Сервер вообще не прислал объект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Тогда попытка получить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user.name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привела бы к ошибке.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благодаря записи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JavaScript вместо ошибки создаёт пустой объект и продолжает выполнять программу.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Точно так же работает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Получается, приложение не завершится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аварийно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даже при неполном ответе сервера.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1854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Деструктуризация в реальных сценариях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пример — обработка ответа API.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apiData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success: true,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payload: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items: ["A", "B", "C"],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pagination: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1,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100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Нас интересуют только: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список элементов;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номер страницы;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общее количество записей.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используется следующая запись.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payload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items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pagination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 =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apiData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переменные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items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можно использовать сразу.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 приходится постоянно писать длинные обращения через точку.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Деструктуризация параметров функции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Последний пример показывает функцию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function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renderComponent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title,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options: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size = "md",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color = "blue"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 = {}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console.log(`${title}, ${size}, ${color}`);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принимает объект параметров.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 время вызова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renderComponent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title: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Кнопка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options: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size: "lg"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происходит следующее.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Название компонента становится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"Кнопка"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Размер извлекается из объекта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 свойства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color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автоматически используется значение по умолчанию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blue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результате программа выводит: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Кнопка,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blue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7209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Существует одна особенность объектов, которая очень часто становится причиной ошибок даже у опытных разработчиков. Эта особенность связана с тем, что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объекты являются ссылочным типом данных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мы присваиваем один объект другому, копируется не сам объект, а ссылка на него.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Из-за этого две переменные начинают указывать на один и тот же объект в памяти.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изменение через одну переменную автоматически отражается в другой.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это часто становится причиной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труднообнаружимых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ошибок.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Проблема ссылок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Рассмотрим пример, приведённый на слайде.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original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Оригинал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value: 100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copy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original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 первый взгляд кажется, что переменная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copy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содержит копию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это не так.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 этой строки обе переменные указывают на один и тот же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выполним изменения.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copy.value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999;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copy.name = "Изменено";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выведем значения объекта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original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original.value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console.log(original.name);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Результат окажется неожиданным.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Получим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999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Изменено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Хотя мы изменяли объект через переменную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copy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изменения появились и в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original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Почему так произошло?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Потому что объект всего один.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Переменных две.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обе содержат ссылку на одну область памяти.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Получается, что изменение через любую переменную приводит к изменению одного и того же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original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copy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— один и тот же объект.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Возникает вопрос: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Почему разработчики языка сделали именно так?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Представьте очень большой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описание пользователя социальной сети.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содержит: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фотографии;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сообщения;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список друзей;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настройки;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историю действий;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большое количество другой информации.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бы при каждом присваивании создавалась полная копия объекта, программа постоянно расходовала бы большое количество памяти.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Поэтому JavaScript копирует только ссылку.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значительно быстрее.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разработчик должен помнить об этой особенности.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309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Как создать настоящую копию объекта?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требуется независимая копия объекта, необходимо использовать специальные способы копирования.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Приведены четыре варианта.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способ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Spread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-оператор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Самый современный и наиболее часто используемый вариант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spreadCopy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...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original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Три точки называются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spread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-оператором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копирует свойства объекта в новый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Теперь можно изменить копию.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spreadCopy.value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999;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console.log(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original.value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выведет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Исходный объект останется без изменений.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способ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Object.assign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вариант —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assignCopy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Object.assign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({}, original);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Object.assign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копирует свойства из одного объекта в другой.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параметр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пустой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объект, который необходимо скопировать.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Результат аналогичен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spread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-оператору.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 независимый новый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Третий способ — глубокое копирование через JSON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Иногда объект содержит вложенные объекты.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user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Анна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settings: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theme: "dark"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использовать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spread,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 вложенный объект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settings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останется общей ссылкой.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подобных случаях иногда применяют следующий способ.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deepCopy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JSON.parse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JSON.stringify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(original)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объект превращается в строку JSON.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Затем из этой строки создаётся совершенно новый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 полная независимая копия.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Однако этот способ имеет ограничения.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он не копирует функции, объекты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некоторые другие специальные типы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Четвёртый способ —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structuredClone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Самый современный вариант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structuredCopy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structuredClone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original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Этот метод появился относительно недавно.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выполняет полноценное глубокое копирование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При этом корректно работает с большинством современных типов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Сегодня именно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structuredClone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считается предпочтительным способом глубокого копирования, если он поддерживается используемой средой выполнения.</a:t>
            </a:r>
          </a:p>
          <a:p>
            <a:endParaRPr lang="ru-RU" dirty="0"/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Поверхностная и глубокая копия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Отдельно выделены два понятия.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Первое -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поверхностная копия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создаётся с помощью: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spread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-оператора;</a:t>
            </a:r>
          </a:p>
          <a:p>
            <a:pPr marL="342900" lvl="0" indent="-342900" algn="just">
              <a:lnSpc>
                <a:spcPct val="150000"/>
              </a:lnSpc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Object.assign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Копируется только первый уровень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внутри имеются другие объекты,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они продолжают использовать общие ссылки.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user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settings: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theme: "dark"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выполнения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copy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...user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settings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останется общим.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Изменение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copy.settings.theme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light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изменит и исходный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вариант -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глубокая копия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Она создаёт новые объекты на всех уровнях вложенности.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глубокого копирования изменение любого вложенного свойства уже не влияет на исходный объект.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глубокое копирование часто применяется при работе со сложными структурами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Объединение объектов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Предположим, имеются два объекта.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defaults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theme: "light",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lang: "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userSettings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dark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объект содержит настройки по умолчанию.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настройки конкретного пользователя.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Необходимо объединить их.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Самый простой способ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spread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-оператор.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merged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...defaults,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...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userSettings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Получим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dark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lang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ru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Обратите внимание.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Свойство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theme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существует в обоих объектах.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итоговый объект попало значение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dark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произошло потому, что свойства второго объекта перекрывают свойства первого.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это правило необходимо хорошо запомнить.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Точно такой же результат можно получить при помощи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Object.assign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{},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defaults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userSettings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Оба варианта широко используются в современных приложениях.</a:t>
            </a:r>
          </a:p>
          <a:p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образом, объекты в JavaScript являются 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ссылочным типом данных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поэтому обычное присваивание не создаёт новую копию объекта, а лишь копирует ссылку на него. Чтобы получить независимый объект, используются специальные способы копирования: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spread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-оператор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Object.assign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JSON.parse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JSON.stringify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и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structuredClone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При этом важно различать поверхностное и глубокое копирование, особенно при работе со вложенными объектами. Кроме того, объекты можно объединять, используя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spread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-оператор или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Object.assign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(), причём свойства второго объекта имеют приоритет над свойствами первого. 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708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Когда мы говорим об объектной модели, речь идёт не просто о создании отдельных объектов. Объектная модель — это способ представить элементы приложения в виде сущностей, каждая из которых имеет собственные данные и поведение.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Например, пользователь приложения — это не просто строка с именем. У него есть идентификатор, имя, электронная почта, настройки, а также действия, которые он может выполнять. Аналогично экран приложения — это не только визуальная часть. Он имеет состояние загрузки, данные, фильтры, ошибки и методы, которые это состояние изменяют.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Именно поэтому объекты хорошо подходят для описания реальных компонентов мобильного приложения.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Сущность «Пользователь»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пример - объект пользователя. Он хранит как обычные данные, так и методы для работы с ними.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user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id: 12345,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name: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Дмитрий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email: "dmitry@example.com",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settings: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notifications: true,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theme: "dark"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isValid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this.email.includes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("@") &amp;&amp;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this.name.length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&gt; 0;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updateEmail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newEmail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if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newEmail.includes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("@"))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this.email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newEmail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return true;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false;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getDisplayName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this.name ||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Аноним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Разберём этот объект подробно.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хранит уникальный идентификатор пользователя.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содержит имя.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email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хранит адрес электронной почты.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Кроме того, внутри объекта находится вложенный объект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settings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Он объединяет настройки конкретного пользователя.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notifications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означает, что уведомления включены.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dark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означает использование тёмной темы интерфейса.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способ значительно удобнее, чем хранить все настройки в отдельных переменных. Они логически относятся к одному пользователю, поэтому находятся внутри его объекта.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 метод называется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isValid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Его задача — проверить, корректны ли основные данные пользователя.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isValid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return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this.email.includes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("@") &amp;&amp;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this.name.length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&gt; 0;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одновременно проверяются два условия.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Первое: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this.email.includes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("@")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проверяет, содержит ли адрес электронной почты символ @.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Второе: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this.name.length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&gt; 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проверяет, что имя не является пустой строкой.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оба условия истинны, метод возвращает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хотя бы одно условие не выполнено, результатом будет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метод можно использовать перед сохранением профиля или отправкой данных пользователя на сервер.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updateEmail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метод отвечает за изменение электронной почты пользователя.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updateEmail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newEmail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if 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newEmail.includes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("@"))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this.email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newEmail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true;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return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Сначала проверяется новое значение.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адрес содержит символ @, свойство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this.email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изменяется.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этого метод возвращает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адрес не прошёл проверку, старое значение сохраняется, а метод возвращает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хорошо видно преимущество объектной модели.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Проверка данных и их изменение находятся внутри самого объекта пользователя. То есть поведение хранится рядом с данными, к которым оно относится.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getDisplayName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getDisplayName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return this.name ||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Аноним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возвращает имя пользователя.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Но если имя отсутствует или содержит пустое значение, будет возвращена строка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Аноним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подход очень удобен для пользовательского интерфейса. Приложение всегда получает строку, которую можно показать на экране, даже если пользователь ещё не указал своё имя.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1513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Состояние интерфейса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Вторая модель посвящена состоянию экрана. Вложенные объекты хорошо подходят для описания того, что в данный момент происходит с интерфейсом: загружаются ли данные, возникла ли ошибка, какие элементы получены и какие фильтры выбраны.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screenState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name: "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ProductList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isLoading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false,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error: null,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data: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items: [],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pagination: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page: 1,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total: 0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filters: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category: "all",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sortBy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"popular",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priceRange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min: 0,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max: 100000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setLoading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isLoading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this.isLoading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isLoading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setItems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(items)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this.data.items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items;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Этот объект уже значительно сложнее, потому что описывает не одну характеристику, а целое состояние экрана мобильного приложения.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Основные свойства состояния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Свойство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name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ProductList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указывает, что объект описывает экран списка товаров.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Следующее свойство: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isLoading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показывает, выполняется ли загрузка данных.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приложение отправляет запрос к серверу, значение можно изменить на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 показать индикатор загрузки.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получения ответа значение снова становится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Следующее свойство: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error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предназначено для хранения информации об ошибке.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ошибка отсутствует, используется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запрос завершился неудачно, здесь может появиться сообщение об ошибке.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Далее расположен вложенный объект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содержит данные, которые должны отображаться на экране.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items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[]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пока представляет пустой массив товаров.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 загрузки с сервера массив будет заполнен объектами.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Ниже находится ещё один вложенный объект: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pagination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содержит параметры постраничной загрузки.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1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означает текущую страницу.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— общее количество элементов.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Такой подход удобно использовать, если сервер возвращает данные частями, например по двадцать товаров за один запрос.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filters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Следующий вложенный блок: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filters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хранит настройки фильтрации.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category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all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означает отображение всех категорий.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sortBy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popular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— сортировку по популярности.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 объект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priceRange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задаёт диапазон цены: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min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0,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max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100000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Получается, что весь экран можно описать одним объектом, внутри которого логически сгруппированы связанные данные.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Методы изменения состояния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Объект содержит и методы.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Первый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setLoading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isLoading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this.isLoading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isLoading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изменяет состояние загрузки.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Второй метод: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setItems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(items)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this.data.items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items;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записывает полученные элементы в массив.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822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Данные API как объекты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Третья часть посвящена ответам сервера. Данные, получаемые через API, также естественно представляются в виде объектов JavaScript.</a:t>
            </a: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const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apiResponse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status: "success",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code: 200,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data: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products: [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{ id: 1, title: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Товар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1", price: 1000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{ id: 2, title: "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Товар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2", price: 2000 }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],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meta: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total: 2,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page: 1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}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getData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this.status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=== "success"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?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this.data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: null;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},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isSuccess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return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this.code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&gt;= 200 &amp;&amp;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this.code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&lt; 300;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Здесь объект отражает структуру ответа сервера.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status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показывает общий статус операции.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code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хранит числовой код ответа.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Внутри объекта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находятся полученные данные.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Массив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products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Свойство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products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содержит массив объектов.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Каждый объект описывает отдельный товар.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{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id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1,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title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"Товар 1",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price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1000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Это типичный формат данных, с которым будет работать мобильное приложение после получения ответа от сервера.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Метаданные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В объекте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meta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- хранятся дополнительные сведения.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Например: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2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указывает общее количество товаров.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А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page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1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— номер текущей страницы.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То есть сами данные и дополнительная служебная информация удобно разделены по разным вложенным объектам.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</a:t>
            </a:r>
            <a:r>
              <a:rPr lang="ru-RU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getData</a:t>
            </a: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getData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- проверяет статус ответа.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this.status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=== "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success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он возвращает объект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this.data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запрос завершился неудачно, метод возвращает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null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 приложение может безопасно получить данные только при успешном ответе.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Метод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isSuccess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Последний метод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isSuccess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() {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return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this.code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&gt;= 200 &amp;&amp;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  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this.code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&lt; 300;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проверяет числовой код ответа.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Если он находится в диапазоне от 200 до 299, метод возвращает </a:t>
            </a: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true</a:t>
            </a: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Иначе —</a:t>
            </a:r>
          </a:p>
          <a:p>
            <a:pPr indent="450215" algn="just">
              <a:lnSpc>
                <a:spcPct val="150000"/>
              </a:lnSpc>
            </a:pPr>
            <a:r>
              <a:rPr lang="ru-RU" sz="18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false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</a:pPr>
            <a:r>
              <a:rPr lang="ru-RU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Таким способом сам объект ответа может содержать не только данные, но и удобные операции для их проверки.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4493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Объяснение</a:t>
            </a:r>
          </a:p>
          <a:p>
            <a:r>
              <a:rPr lang="ru-RU" dirty="0" err="1"/>
              <a:t>field</a:t>
            </a:r>
            <a:r>
              <a:rPr lang="ru-RU" dirty="0"/>
              <a:t> — это переменная, внутри которой находится строка "</a:t>
            </a:r>
            <a:r>
              <a:rPr lang="ru-RU" dirty="0" err="1"/>
              <a:t>price</a:t>
            </a:r>
            <a:r>
              <a:rPr lang="ru-RU" dirty="0"/>
              <a:t>".</a:t>
            </a:r>
          </a:p>
          <a:p>
            <a:r>
              <a:rPr lang="ru-RU" dirty="0"/>
              <a:t>Запись:</a:t>
            </a:r>
          </a:p>
          <a:p>
            <a:r>
              <a:rPr lang="ru-RU" dirty="0" err="1"/>
              <a:t>product.field</a:t>
            </a:r>
            <a:endParaRPr lang="ru-RU" dirty="0"/>
          </a:p>
          <a:p>
            <a:r>
              <a:rPr lang="ru-RU" dirty="0"/>
              <a:t>ищет свойство буквально с именем </a:t>
            </a:r>
            <a:r>
              <a:rPr lang="ru-RU" dirty="0" err="1"/>
              <a:t>field</a:t>
            </a:r>
            <a:r>
              <a:rPr lang="ru-RU" dirty="0"/>
              <a:t>.</a:t>
            </a:r>
          </a:p>
          <a:p>
            <a:r>
              <a:rPr lang="ru-RU" dirty="0"/>
              <a:t>Чтобы JavaScript использовал </a:t>
            </a:r>
            <a:r>
              <a:rPr lang="ru-RU" b="1" dirty="0"/>
              <a:t>значение переменной как имя свойства</a:t>
            </a:r>
            <a:r>
              <a:rPr lang="ru-RU" dirty="0"/>
              <a:t>, нужны квадратные скобки:</a:t>
            </a:r>
          </a:p>
          <a:p>
            <a:r>
              <a:rPr lang="ru-RU" dirty="0" err="1"/>
              <a:t>product</a:t>
            </a:r>
            <a:r>
              <a:rPr lang="ru-RU" dirty="0"/>
              <a:t>[</a:t>
            </a:r>
            <a:r>
              <a:rPr lang="ru-RU" dirty="0" err="1"/>
              <a:t>field</a:t>
            </a:r>
            <a:r>
              <a:rPr lang="ru-RU" dirty="0"/>
              <a:t>]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5134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Объяснение</a:t>
            </a:r>
          </a:p>
          <a:p>
            <a:r>
              <a:rPr lang="ru-RU" dirty="0"/>
              <a:t>Ошибка не в </a:t>
            </a:r>
            <a:r>
              <a:rPr lang="ru-RU" dirty="0" err="1"/>
              <a:t>this</a:t>
            </a:r>
            <a:r>
              <a:rPr lang="ru-RU" dirty="0"/>
              <a:t>, а в том, </a:t>
            </a:r>
            <a:r>
              <a:rPr lang="ru-RU" b="1" dirty="0"/>
              <a:t>какая функция используется как метод</a:t>
            </a:r>
            <a:r>
              <a:rPr lang="ru-RU" dirty="0"/>
              <a:t>.</a:t>
            </a:r>
          </a:p>
          <a:p>
            <a:r>
              <a:rPr lang="ru-RU" dirty="0"/>
              <a:t>Стрелочная функция:</a:t>
            </a:r>
          </a:p>
          <a:p>
            <a:r>
              <a:rPr lang="ru-RU" dirty="0"/>
              <a:t>() =&gt; {}</a:t>
            </a:r>
          </a:p>
          <a:p>
            <a:r>
              <a:rPr lang="ru-RU" dirty="0"/>
              <a:t>не имеет собственного </a:t>
            </a:r>
            <a:r>
              <a:rPr lang="ru-RU" dirty="0" err="1"/>
              <a:t>this</a:t>
            </a:r>
            <a:r>
              <a:rPr lang="ru-RU" dirty="0"/>
              <a:t>.</a:t>
            </a:r>
          </a:p>
          <a:p>
            <a:r>
              <a:rPr lang="ru-RU" dirty="0"/>
              <a:t>Поэтому для методов объекта, которым необходимо обращаться к свойствам этого объекта через </a:t>
            </a:r>
            <a:r>
              <a:rPr lang="ru-RU" dirty="0" err="1"/>
              <a:t>this</a:t>
            </a:r>
            <a:r>
              <a:rPr lang="ru-RU" dirty="0"/>
              <a:t>, лучше использовать:</a:t>
            </a:r>
          </a:p>
          <a:p>
            <a:r>
              <a:rPr lang="ru-RU" dirty="0" err="1"/>
              <a:t>getInfo</a:t>
            </a:r>
            <a:r>
              <a:rPr lang="ru-RU" dirty="0"/>
              <a:t>() {}</a:t>
            </a:r>
          </a:p>
          <a:p>
            <a:r>
              <a:rPr lang="ru-RU" dirty="0"/>
              <a:t>или:</a:t>
            </a:r>
          </a:p>
          <a:p>
            <a:r>
              <a:rPr lang="ru-RU" dirty="0" err="1"/>
              <a:t>getInfo</a:t>
            </a:r>
            <a:r>
              <a:rPr lang="ru-RU" dirty="0"/>
              <a:t>: </a:t>
            </a:r>
            <a:r>
              <a:rPr lang="ru-RU" dirty="0" err="1"/>
              <a:t>function</a:t>
            </a:r>
            <a:r>
              <a:rPr lang="ru-RU" dirty="0"/>
              <a:t>() {}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23827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Есть объект пользователя:</a:t>
            </a:r>
          </a:p>
          <a:p>
            <a:endParaRPr lang="ru-RU" dirty="0"/>
          </a:p>
          <a:p>
            <a:r>
              <a:rPr lang="ru-RU" dirty="0"/>
              <a:t>Вывод: </a:t>
            </a:r>
            <a:r>
              <a:rPr lang="en-US" dirty="0"/>
              <a:t>undefined</a:t>
            </a:r>
            <a:endParaRPr lang="ru-RU" dirty="0"/>
          </a:p>
          <a:p>
            <a:endParaRPr lang="ru-RU" dirty="0"/>
          </a:p>
          <a:p>
            <a:r>
              <a:rPr lang="ru-RU" b="1" dirty="0"/>
              <a:t>Почему возникла ошибка?</a:t>
            </a:r>
          </a:p>
          <a:p>
            <a:r>
              <a:rPr lang="ru-RU" dirty="0"/>
              <a:t>Сначала JavaScript получает:</a:t>
            </a:r>
          </a:p>
          <a:p>
            <a:r>
              <a:rPr lang="ru-RU" dirty="0" err="1"/>
              <a:t>user.contacts</a:t>
            </a:r>
            <a:endParaRPr lang="ru-RU" dirty="0"/>
          </a:p>
          <a:p>
            <a:r>
              <a:rPr lang="ru-RU" dirty="0"/>
              <a:t>затем пытается получить:</a:t>
            </a:r>
          </a:p>
          <a:p>
            <a:r>
              <a:rPr lang="ru-RU" dirty="0" err="1"/>
              <a:t>email</a:t>
            </a:r>
            <a:endParaRPr lang="ru-RU" dirty="0"/>
          </a:p>
          <a:p>
            <a:r>
              <a:rPr lang="ru-RU" dirty="0"/>
              <a:t>Но такого свойства нет:</a:t>
            </a:r>
          </a:p>
          <a:p>
            <a:r>
              <a:rPr lang="ru-RU" dirty="0" err="1"/>
              <a:t>user.contacts.email</a:t>
            </a:r>
            <a:r>
              <a:rPr lang="ru-RU" dirty="0"/>
              <a:t> // </a:t>
            </a:r>
            <a:r>
              <a:rPr lang="ru-RU" dirty="0" err="1"/>
              <a:t>undefined</a:t>
            </a:r>
            <a:endParaRPr lang="ru-RU" dirty="0"/>
          </a:p>
          <a:p>
            <a:r>
              <a:rPr lang="ru-RU" dirty="0"/>
              <a:t>После этого программа фактически пытается выполнить:</a:t>
            </a:r>
          </a:p>
          <a:p>
            <a:r>
              <a:rPr lang="ru-RU" dirty="0" err="1"/>
              <a:t>undefined.address</a:t>
            </a:r>
            <a:endParaRPr lang="ru-RU" dirty="0"/>
          </a:p>
          <a:p>
            <a:r>
              <a:rPr lang="ru-RU" dirty="0"/>
              <a:t>что приводит к ошибке.</a:t>
            </a:r>
          </a:p>
          <a:p>
            <a:r>
              <a:rPr lang="ru-RU" dirty="0"/>
              <a:t>Опциональная цепочка:</a:t>
            </a:r>
          </a:p>
          <a:p>
            <a:r>
              <a:rPr lang="ru-RU" dirty="0"/>
              <a:t>?.</a:t>
            </a:r>
          </a:p>
          <a:p>
            <a:r>
              <a:rPr lang="ru-RU" dirty="0"/>
              <a:t>останавливает дальнейшее обращение, если промежуточного объекта нет.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9531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Запись:</a:t>
            </a:r>
          </a:p>
          <a:p>
            <a:r>
              <a:rPr lang="ru-RU" dirty="0" err="1"/>
              <a:t>title</a:t>
            </a:r>
            <a:r>
              <a:rPr lang="ru-RU" dirty="0"/>
              <a:t>: </a:t>
            </a:r>
            <a:r>
              <a:rPr lang="ru-RU" dirty="0" err="1"/>
              <a:t>productName</a:t>
            </a:r>
            <a:endParaRPr lang="ru-RU" dirty="0"/>
          </a:p>
          <a:p>
            <a:r>
              <a:rPr lang="ru-RU" dirty="0"/>
              <a:t>при деструктуризации означает:</a:t>
            </a:r>
          </a:p>
          <a:p>
            <a:r>
              <a:rPr lang="ru-RU" dirty="0"/>
              <a:t>взять свойство </a:t>
            </a:r>
            <a:r>
              <a:rPr lang="ru-RU" dirty="0" err="1"/>
              <a:t>title</a:t>
            </a:r>
            <a:r>
              <a:rPr lang="ru-RU" dirty="0"/>
              <a:t> и сохранить его значение в переменную </a:t>
            </a:r>
            <a:r>
              <a:rPr lang="ru-RU" dirty="0" err="1"/>
              <a:t>productName</a:t>
            </a:r>
            <a:r>
              <a:rPr lang="ru-RU" dirty="0"/>
              <a:t>.</a:t>
            </a:r>
          </a:p>
          <a:p>
            <a:r>
              <a:rPr lang="ru-RU" dirty="0"/>
              <a:t>Поэтому переменная:</a:t>
            </a:r>
          </a:p>
          <a:p>
            <a:r>
              <a:rPr lang="ru-RU" dirty="0" err="1"/>
              <a:t>title</a:t>
            </a:r>
            <a:endParaRPr lang="ru-RU" dirty="0"/>
          </a:p>
          <a:p>
            <a:r>
              <a:rPr lang="ru-RU" dirty="0"/>
              <a:t>не создаётся.</a:t>
            </a:r>
          </a:p>
          <a:p>
            <a:r>
              <a:rPr lang="ru-RU" dirty="0"/>
              <a:t>Создаётся:</a:t>
            </a:r>
          </a:p>
          <a:p>
            <a:r>
              <a:rPr lang="ru-RU" dirty="0" err="1"/>
              <a:t>productName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2892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Почему изменился исходный объект?</a:t>
            </a:r>
          </a:p>
          <a:p>
            <a:r>
              <a:rPr lang="ru-RU" dirty="0"/>
              <a:t>Как можно исправить код? Несколько способов</a:t>
            </a:r>
          </a:p>
          <a:p>
            <a:endParaRPr lang="ru-RU" dirty="0"/>
          </a:p>
          <a:p>
            <a:r>
              <a:rPr lang="ru-RU" b="1" dirty="0"/>
              <a:t>Правильный вариант №3 — через JSON</a:t>
            </a:r>
          </a:p>
          <a:p>
            <a:r>
              <a:rPr lang="ru-RU" dirty="0"/>
              <a:t>Для такого объекта с обычными данными:</a:t>
            </a:r>
          </a:p>
          <a:p>
            <a:r>
              <a:rPr lang="en-US" dirty="0"/>
              <a:t>const copy = </a:t>
            </a:r>
            <a:r>
              <a:rPr lang="en-US" dirty="0" err="1"/>
              <a:t>JSON.parse</a:t>
            </a:r>
            <a:r>
              <a:rPr lang="en-US" dirty="0"/>
              <a:t>(</a:t>
            </a:r>
            <a:r>
              <a:rPr lang="en-US" dirty="0" err="1"/>
              <a:t>JSON.stringify</a:t>
            </a:r>
            <a:r>
              <a:rPr lang="en-US" dirty="0"/>
              <a:t>(settings));</a:t>
            </a:r>
          </a:p>
          <a:p>
            <a:endParaRPr lang="en-US" dirty="0"/>
          </a:p>
          <a:p>
            <a:r>
              <a:rPr lang="en-US" dirty="0" err="1"/>
              <a:t>copy.appearance.theme</a:t>
            </a:r>
            <a:r>
              <a:rPr lang="en-US" dirty="0"/>
              <a:t> = "light";</a:t>
            </a:r>
          </a:p>
          <a:p>
            <a:endParaRPr lang="en-US" dirty="0"/>
          </a:p>
          <a:p>
            <a:r>
              <a:rPr lang="en-US" dirty="0"/>
              <a:t>console.log(</a:t>
            </a:r>
            <a:r>
              <a:rPr lang="en-US" dirty="0" err="1"/>
              <a:t>settings.appearance.theme</a:t>
            </a:r>
            <a:r>
              <a:rPr lang="en-US" dirty="0"/>
              <a:t>); // dark</a:t>
            </a:r>
          </a:p>
          <a:p>
            <a:r>
              <a:rPr lang="en-US" dirty="0"/>
              <a:t>console.log(</a:t>
            </a:r>
            <a:r>
              <a:rPr lang="en-US" dirty="0" err="1"/>
              <a:t>copy.appearance.theme</a:t>
            </a:r>
            <a:r>
              <a:rPr lang="en-US" dirty="0"/>
              <a:t>);     // light</a:t>
            </a:r>
            <a:endParaRPr lang="ru-RU" dirty="0"/>
          </a:p>
          <a:p>
            <a:endParaRPr lang="ru-RU" dirty="0"/>
          </a:p>
          <a:p>
            <a:r>
              <a:rPr lang="ru-RU" b="1" dirty="0"/>
              <a:t>Объяснение</a:t>
            </a:r>
          </a:p>
          <a:p>
            <a:r>
              <a:rPr lang="ru-RU" dirty="0" err="1"/>
              <a:t>Spread</a:t>
            </a:r>
            <a:r>
              <a:rPr lang="ru-RU" dirty="0"/>
              <a:t>:</a:t>
            </a:r>
          </a:p>
          <a:p>
            <a:r>
              <a:rPr lang="ru-RU" dirty="0" err="1"/>
              <a:t>const</a:t>
            </a:r>
            <a:r>
              <a:rPr lang="ru-RU" dirty="0"/>
              <a:t> </a:t>
            </a:r>
            <a:r>
              <a:rPr lang="ru-RU" dirty="0" err="1"/>
              <a:t>copy</a:t>
            </a:r>
            <a:r>
              <a:rPr lang="ru-RU" dirty="0"/>
              <a:t> = { ...</a:t>
            </a:r>
            <a:r>
              <a:rPr lang="ru-RU" dirty="0" err="1"/>
              <a:t>settings</a:t>
            </a:r>
            <a:r>
              <a:rPr lang="ru-RU" dirty="0"/>
              <a:t> };</a:t>
            </a:r>
          </a:p>
          <a:p>
            <a:r>
              <a:rPr lang="ru-RU" dirty="0"/>
              <a:t>создаёт новый объект только на </a:t>
            </a:r>
            <a:r>
              <a:rPr lang="ru-RU" b="1" dirty="0"/>
              <a:t>первом уровне</a:t>
            </a:r>
            <a:r>
              <a:rPr lang="ru-RU" dirty="0"/>
              <a:t>.</a:t>
            </a:r>
          </a:p>
          <a:p>
            <a:r>
              <a:rPr lang="ru-RU" dirty="0"/>
              <a:t>Свойство:</a:t>
            </a:r>
          </a:p>
          <a:p>
            <a:r>
              <a:rPr lang="ru-RU" dirty="0" err="1"/>
              <a:t>appearance</a:t>
            </a:r>
            <a:endParaRPr lang="ru-RU" dirty="0"/>
          </a:p>
          <a:p>
            <a:r>
              <a:rPr lang="ru-RU" dirty="0"/>
              <a:t>само является объектом, поэтому обе переменные продолжают хранить ссылку на один и тот же вложенный объект.</a:t>
            </a:r>
          </a:p>
          <a:p>
            <a:r>
              <a:rPr lang="ru-RU" dirty="0"/>
              <a:t>Поэтому:</a:t>
            </a:r>
          </a:p>
          <a:p>
            <a:r>
              <a:rPr lang="ru-RU" dirty="0" err="1"/>
              <a:t>copy.appearance.theme</a:t>
            </a:r>
            <a:r>
              <a:rPr lang="ru-RU" dirty="0"/>
              <a:t> = "</a:t>
            </a:r>
            <a:r>
              <a:rPr lang="ru-RU" dirty="0" err="1"/>
              <a:t>light</a:t>
            </a:r>
            <a:r>
              <a:rPr lang="ru-RU" dirty="0"/>
              <a:t>";</a:t>
            </a:r>
          </a:p>
          <a:p>
            <a:r>
              <a:rPr lang="ru-RU" dirty="0"/>
              <a:t>меняет тот же вложенный объект.</a:t>
            </a:r>
          </a:p>
          <a:p>
            <a:r>
              <a:rPr lang="ru-RU" dirty="0"/>
              <a:t>Это напрямую закрепляет материал лекции о ссылочной природе объектов, поверхностном копировании через </a:t>
            </a:r>
            <a:r>
              <a:rPr lang="ru-RU" dirty="0" err="1"/>
              <a:t>spread</a:t>
            </a:r>
            <a:r>
              <a:rPr lang="ru-RU" dirty="0"/>
              <a:t> и глубоком копировании через </a:t>
            </a:r>
            <a:r>
              <a:rPr lang="ru-RU" dirty="0" err="1"/>
              <a:t>structuredClone</a:t>
            </a:r>
            <a:r>
              <a:rPr lang="ru-RU" dirty="0"/>
              <a:t>()/JSON.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1111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 выведет </a:t>
            </a:r>
            <a:r>
              <a:rPr lang="en-US" dirty="0" err="1"/>
              <a:t>settings.notifications</a:t>
            </a:r>
            <a:r>
              <a:rPr lang="ru-RU" dirty="0"/>
              <a:t>. </a:t>
            </a:r>
          </a:p>
          <a:p>
            <a:r>
              <a:rPr lang="ru-RU" dirty="0"/>
              <a:t>И почему?</a:t>
            </a:r>
          </a:p>
          <a:p>
            <a:endParaRPr lang="ru-RU" dirty="0"/>
          </a:p>
          <a:p>
            <a:r>
              <a:rPr lang="ru-RU" dirty="0"/>
              <a:t>Как исправить чтобы все три свойства </a:t>
            </a:r>
            <a:r>
              <a:rPr lang="en-US" dirty="0"/>
              <a:t>notifications</a:t>
            </a:r>
            <a:r>
              <a:rPr lang="ru-RU" dirty="0"/>
              <a:t> попали в </a:t>
            </a:r>
            <a:r>
              <a:rPr lang="en-US" dirty="0"/>
              <a:t>settings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 err="1"/>
              <a:t>spread</a:t>
            </a:r>
            <a:r>
              <a:rPr lang="ru-RU" dirty="0"/>
              <a:t> объединяет только </a:t>
            </a:r>
            <a:r>
              <a:rPr lang="ru-RU" b="1" dirty="0"/>
              <a:t>первый уровень</a:t>
            </a:r>
            <a:r>
              <a:rPr lang="ru-RU" dirty="0"/>
              <a:t>. Свойство </a:t>
            </a:r>
            <a:r>
              <a:rPr lang="ru-RU" dirty="0" err="1"/>
              <a:t>notifications</a:t>
            </a:r>
            <a:r>
              <a:rPr lang="ru-RU" dirty="0"/>
              <a:t> из </a:t>
            </a:r>
            <a:r>
              <a:rPr lang="ru-RU" dirty="0" err="1"/>
              <a:t>userSettings</a:t>
            </a:r>
            <a:r>
              <a:rPr lang="ru-RU" dirty="0"/>
              <a:t> целиком заменяет одноимённое свойство из предыдущих объектов. Вложенные объекты нужно объединять отдельно. Порядок записи определяет приоритет: последний объект «побеждает».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D88FC9-C65B-4F17-9621-721F13544C94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587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итульный слайд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016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объект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158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раздела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298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Два объекта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283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Сравнение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752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Только заголовок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9962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Пустой слайд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13136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Объект с подписью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655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Рисунок с подписью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1538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Заголовок и вертикальный текст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892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Вертикальный заголовок и текст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129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29455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/>
        </p:nvSpPr>
        <p:spPr bwMode="auto">
          <a:xfrm>
            <a:off x="3526132" y="2156345"/>
            <a:ext cx="834240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800" b="1" i="0" u="none" strike="noStrike" kern="0" cap="none" spc="0" normalizeH="0" baseline="0" noProof="0" dirty="0">
                <a:ln>
                  <a:noFill/>
                </a:ln>
                <a:solidFill>
                  <a:srgbClr val="283CF5"/>
                </a:solidFill>
                <a:effectLst/>
                <a:uLnTx/>
                <a:uFillTx/>
                <a:latin typeface="Arial"/>
                <a:cs typeface="Arial"/>
              </a:rPr>
              <a:t>Объекты в JavaScript. Свойства и методы. Вложенные объекты. Деструктуризация. Копирование и объединение объектов. Представление сущностей мобильного приложения объектами</a:t>
            </a:r>
          </a:p>
        </p:txBody>
      </p:sp>
      <p:sp>
        <p:nvSpPr>
          <p:cNvPr id="92" name="Google Shape;92;p13"/>
          <p:cNvSpPr txBox="1"/>
          <p:nvPr/>
        </p:nvSpPr>
        <p:spPr bwMode="auto">
          <a:xfrm>
            <a:off x="3722075" y="5189207"/>
            <a:ext cx="788520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Преподаватель: Евдошенко Неля </a:t>
            </a:r>
            <a:r>
              <a:rPr kumimoji="0" lang="ru-RU" sz="24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cs typeface="Arial"/>
              </a:rPr>
              <a:t>Ильнуровна</a:t>
            </a:r>
            <a:endParaRPr kumimoji="0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3" name="Google Shape;93;p13"/>
          <p:cNvSpPr txBox="1"/>
          <p:nvPr/>
        </p:nvSpPr>
        <p:spPr bwMode="auto">
          <a:xfrm>
            <a:off x="3722075" y="3290820"/>
            <a:ext cx="8146463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Дисциплина: Разработка 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cs typeface="Arial"/>
              </a:rPr>
              <a:t>мобильных</a:t>
            </a: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yivType Sans Heavy" panose="00000900000000000000" pitchFamily="50" charset="-52"/>
                <a:ea typeface="+mn-ea"/>
                <a:cs typeface="Arial"/>
              </a:rPr>
              <a:t> приложений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">
            <a:extLst>
              <a:ext uri="{FF2B5EF4-FFF2-40B4-BE49-F238E27FC236}">
                <a16:creationId xmlns:a16="http://schemas.microsoft.com/office/drawing/2014/main" id="{338FC03D-3B66-4E71-9BCF-8B43AF58628E}"/>
              </a:ext>
            </a:extLst>
          </p:cNvPr>
          <p:cNvSpPr/>
          <p:nvPr/>
        </p:nvSpPr>
        <p:spPr>
          <a:xfrm>
            <a:off x="389558" y="1863339"/>
            <a:ext cx="4870700" cy="3652557"/>
          </a:xfrm>
          <a:prstGeom prst="roundRect">
            <a:avLst>
              <a:gd name="adj" fmla="val 4650"/>
            </a:avLst>
          </a:prstGeom>
          <a:solidFill>
            <a:srgbClr val="84C1FA"/>
          </a:solidFill>
          <a:ln/>
        </p:spPr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B0CB29D4-01DD-45B6-936D-F18265555704}"/>
              </a:ext>
            </a:extLst>
          </p:cNvPr>
          <p:cNvSpPr/>
          <p:nvPr/>
        </p:nvSpPr>
        <p:spPr>
          <a:xfrm>
            <a:off x="2147939" y="236055"/>
            <a:ext cx="8151763" cy="501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 err="1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Объект</a:t>
            </a:r>
            <a:r>
              <a:rPr lang="en-US" sz="3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</a:t>
            </a:r>
            <a:r>
              <a:rPr lang="ru-RU" sz="3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-</a:t>
            </a:r>
            <a:r>
              <a:rPr lang="en-US" sz="3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это набор свойств (ключ → значение)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C96B067E-EB2B-42E8-B881-FEAB8E8EB08B}"/>
              </a:ext>
            </a:extLst>
          </p:cNvPr>
          <p:cNvSpPr/>
          <p:nvPr/>
        </p:nvSpPr>
        <p:spPr>
          <a:xfrm>
            <a:off x="496119" y="889992"/>
            <a:ext cx="11518900" cy="869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JavaScript спроектирован на объектной парадигме: почти всё в языке является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объектом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от встроенных конструкций до пользовательских сущностей.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это контейнер, который хранит данные в виде пар «ключ → значение». Ключом может быть строка (или Symbol), а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значением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что угодно: число, строка, массив, функция или другой объект.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B21F5E0-0051-4F07-AD7F-FAC41BA40B66}"/>
              </a:ext>
            </a:extLst>
          </p:cNvPr>
          <p:cNvSpPr/>
          <p:nvPr/>
        </p:nvSpPr>
        <p:spPr>
          <a:xfrm>
            <a:off x="496119" y="1966549"/>
            <a:ext cx="388620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Что такое объект?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C3EE22D-9B06-4CA2-A3E7-94556197EB56}"/>
              </a:ext>
            </a:extLst>
          </p:cNvPr>
          <p:cNvSpPr/>
          <p:nvPr/>
        </p:nvSpPr>
        <p:spPr>
          <a:xfrm>
            <a:off x="496119" y="2339663"/>
            <a:ext cx="4685482" cy="1445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это коллекция именованных свойств. Каждое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свойство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это пара: имя (ключ) и значение. Ключ всегда приводится к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строке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а значение может быть любого типа.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243328E-F5EF-4BCD-8B98-B8A408B87D9A}"/>
              </a:ext>
            </a:extLst>
          </p:cNvPr>
          <p:cNvSpPr/>
          <p:nvPr/>
        </p:nvSpPr>
        <p:spPr>
          <a:xfrm>
            <a:off x="496119" y="3605594"/>
            <a:ext cx="4380681" cy="1723490"/>
          </a:xfrm>
          <a:prstGeom prst="rect">
            <a:avLst/>
          </a:prstGeom>
          <a:noFill/>
          <a:ln/>
        </p:spPr>
        <p:txBody>
          <a:bodyPr wrap="square" lIns="0" tIns="42641" rIns="0" bIns="0" rtlCol="0" anchor="t">
            <a:noAutofit/>
          </a:bodyPr>
          <a:lstStyle/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Свойства задают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характеристики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объекта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Функции внутри объекта становятся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методами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Объекты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ссылочный тип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данных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62560" indent="-162560" algn="l">
              <a:lnSpc>
                <a:spcPct val="124000"/>
              </a:lnSpc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Почти всё в JS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объекты, включая массивы и функции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D04AFB05-0754-4C26-9154-150538C7110D}"/>
              </a:ext>
            </a:extLst>
          </p:cNvPr>
          <p:cNvSpPr/>
          <p:nvPr/>
        </p:nvSpPr>
        <p:spPr>
          <a:xfrm>
            <a:off x="7059662" y="1945203"/>
            <a:ext cx="3945880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Пример создания объекта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F967D32-4819-471A-8D60-0DE6A0488509}"/>
              </a:ext>
            </a:extLst>
          </p:cNvPr>
          <p:cNvSpPr/>
          <p:nvPr/>
        </p:nvSpPr>
        <p:spPr>
          <a:xfrm>
            <a:off x="6223820" y="2339662"/>
            <a:ext cx="4636219" cy="3500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user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name: "Анна",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age: 28,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isActive: true,</a:t>
            </a: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</a:t>
            </a:r>
            <a:r>
              <a:rPr lang="ru-RU" sz="1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address</a:t>
            </a: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{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ru-RU" sz="1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city</a:t>
            </a: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"Москва",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</a:t>
            </a:r>
            <a:r>
              <a:rPr lang="ru-RU" sz="12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street</a:t>
            </a: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"Ленина«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ru-RU" sz="12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}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greet: function()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return `Привет, я ${this.name}!`;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console.log(user.name);     // "Анна"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console.log(user.greet());  // "Привет, я Анна!"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7B4D388-BFB1-478F-89B5-91119A0F2B91}"/>
              </a:ext>
            </a:extLst>
          </p:cNvPr>
          <p:cNvSpPr/>
          <p:nvPr/>
        </p:nvSpPr>
        <p:spPr>
          <a:xfrm>
            <a:off x="5692877" y="5840360"/>
            <a:ext cx="6400800" cy="963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 </a:t>
            </a:r>
            <a:r>
              <a:rPr lang="en-US" sz="14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user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содержит пять свойств: три хранят данные,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одно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логическое значение, а </a:t>
            </a:r>
            <a:r>
              <a:rPr lang="en-US" sz="14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greet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является методом. Это базовый паттерн, который лежит в основе большинства структур данных в JavaScript-приложениях.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00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57CAEB98-01CB-4D97-9B21-1FFCBBD04C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7687" y="1718146"/>
            <a:ext cx="3616158" cy="4466344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292412BB-ADD1-4994-AB6D-356B7BCA3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60191" y="1718146"/>
            <a:ext cx="4096454" cy="4466344"/>
          </a:xfrm>
          <a:prstGeom prst="rect">
            <a:avLst/>
          </a:prstGeom>
        </p:spPr>
      </p:pic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DBC0DADC-54DC-45DE-A967-80BE637344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0168" y="1718146"/>
            <a:ext cx="3759136" cy="4466344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7FB1968-BC98-431B-87B9-91485EB63012}"/>
              </a:ext>
            </a:extLst>
          </p:cNvPr>
          <p:cNvSpPr/>
          <p:nvPr/>
        </p:nvSpPr>
        <p:spPr>
          <a:xfrm>
            <a:off x="1833306" y="201667"/>
            <a:ext cx="8151763" cy="302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Свойства и доступ: точка vs скобки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9023615-381B-47FF-81CD-9F7229A0079A}"/>
              </a:ext>
            </a:extLst>
          </p:cNvPr>
          <p:cNvSpPr/>
          <p:nvPr/>
        </p:nvSpPr>
        <p:spPr>
          <a:xfrm>
            <a:off x="496119" y="803374"/>
            <a:ext cx="11587726" cy="868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Свойство объекта можно представить как «переменную, закреплённую за объектом». JavaScript предоставляет два основных способа доступа к свойствам: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точечную нотацию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и </a:t>
            </a: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квадратные скобки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Каждый из них имеет свои преимущества и области применения.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AF6B56-B608-471D-8B72-EC8809BF6D11}"/>
              </a:ext>
            </a:extLst>
          </p:cNvPr>
          <p:cNvSpPr/>
          <p:nvPr/>
        </p:nvSpPr>
        <p:spPr>
          <a:xfrm>
            <a:off x="639667" y="1856038"/>
            <a:ext cx="2387278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Точечная нотация (.)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BD38CA-AA15-4524-93B2-5CBF95E8945B}"/>
              </a:ext>
            </a:extLst>
          </p:cNvPr>
          <p:cNvSpPr/>
          <p:nvPr/>
        </p:nvSpPr>
        <p:spPr>
          <a:xfrm>
            <a:off x="496118" y="2209759"/>
            <a:ext cx="3466282" cy="14576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Самый распространённый и читаемый способ. Используется, когда имя свойства известно заранее и является корректным идентификатором (не содержит пробелов, не начинается с цифры, не является зарезервированным словом).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2303A483-AE7B-490A-A46A-F80C6D52931E}"/>
              </a:ext>
            </a:extLst>
          </p:cNvPr>
          <p:cNvSpPr/>
          <p:nvPr/>
        </p:nvSpPr>
        <p:spPr>
          <a:xfrm>
            <a:off x="594441" y="3869720"/>
            <a:ext cx="3367959" cy="1550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product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title: "Смартфон",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price: 49990,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inStock: true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console.log(product.title);  // "Смартфон"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console.log(product.price);  // 49990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product.price = 45000;       // изменение свойства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E64EB9D-C01B-4FCB-908A-18C750E2C017}"/>
              </a:ext>
            </a:extLst>
          </p:cNvPr>
          <p:cNvSpPr/>
          <p:nvPr/>
        </p:nvSpPr>
        <p:spPr>
          <a:xfrm>
            <a:off x="4812911" y="1860759"/>
            <a:ext cx="2387278" cy="151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Квадратные скобки ([])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A870D96-3880-463A-B3EA-3C4373F6B3D8}"/>
              </a:ext>
            </a:extLst>
          </p:cNvPr>
          <p:cNvSpPr/>
          <p:nvPr/>
        </p:nvSpPr>
        <p:spPr>
          <a:xfrm>
            <a:off x="4476861" y="2198297"/>
            <a:ext cx="3438106" cy="1161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Более гибкий способ, позволяющий использовать динамические ключи, свойства с пробелами или специальные символы. Имя свойства вычисляется как выражение, что открывает возможности для программирования.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7413292-7A31-4AF4-9654-12B9F8A1D19D}"/>
              </a:ext>
            </a:extLst>
          </p:cNvPr>
          <p:cNvSpPr/>
          <p:nvPr/>
        </p:nvSpPr>
        <p:spPr>
          <a:xfrm>
            <a:off x="4417095" y="3835534"/>
            <a:ext cx="3939550" cy="2168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key = "price";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console.log(product[key]);        // 49990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product["discount %"] = 15;       // ключ с пробелом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console.log(product["discount %"]); // 15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fieldName = "in" + "Stock";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console.log(product[fieldName]);  // true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F929D63-E7F8-405F-AC78-C68A36E97C4F}"/>
              </a:ext>
            </a:extLst>
          </p:cNvPr>
          <p:cNvSpPr/>
          <p:nvPr/>
        </p:nvSpPr>
        <p:spPr>
          <a:xfrm>
            <a:off x="8909365" y="1810646"/>
            <a:ext cx="2724669" cy="19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Когда что использовать?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0271C91-A241-4CB3-902E-B297ED8AFDFC}"/>
              </a:ext>
            </a:extLst>
          </p:cNvPr>
          <p:cNvSpPr/>
          <p:nvPr/>
        </p:nvSpPr>
        <p:spPr>
          <a:xfrm>
            <a:off x="8573315" y="2136795"/>
            <a:ext cx="3359007" cy="175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4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Точка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когда имя свойства статично и известно на этапе написания кода. </a:t>
            </a:r>
            <a:endParaRPr lang="ru-RU" sz="1400" dirty="0">
              <a:latin typeface="Times New Roman" panose="02020603050405020304" pitchFamily="18" charset="0"/>
              <a:ea typeface="Instrument Sans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19000"/>
              </a:lnSpc>
              <a:buNone/>
            </a:pPr>
            <a:r>
              <a:rPr lang="en-US" sz="14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Скобки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когда ключ определяется во время выполнения (переменная, результат функции, пользовательский ввод). Скобки также обязательны для ключей с пробелами и спецсимволами.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317EDAC4-3F35-4536-88A0-2B3CA4FE32C6}"/>
              </a:ext>
            </a:extLst>
          </p:cNvPr>
          <p:cNvSpPr/>
          <p:nvPr/>
        </p:nvSpPr>
        <p:spPr>
          <a:xfrm>
            <a:off x="8573315" y="3869720"/>
            <a:ext cx="3153713" cy="2421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function getProperty(obj, prop)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return obj[prop]; // динамический ключ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settings = {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"theme-color": "blue",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"font-size": 16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ru-RU" sz="1400" dirty="0"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settings["theme-color"];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39269C7-1D80-440D-9955-5E82D5B99359}"/>
              </a:ext>
            </a:extLst>
          </p:cNvPr>
          <p:cNvSpPr/>
          <p:nvPr/>
        </p:nvSpPr>
        <p:spPr>
          <a:xfrm>
            <a:off x="575347" y="6275458"/>
            <a:ext cx="8151763" cy="508800"/>
          </a:xfrm>
          <a:prstGeom prst="roundRect">
            <a:avLst>
              <a:gd name="adj" fmla="val 18628"/>
            </a:avLst>
          </a:prstGeom>
          <a:solidFill>
            <a:srgbClr val="CEE6FD"/>
          </a:solidFill>
          <a:ln/>
        </p:spPr>
      </p:sp>
      <p:pic>
        <p:nvPicPr>
          <p:cNvPr id="17" name="Image 3" descr="preencoded.png">
            <a:extLst>
              <a:ext uri="{FF2B5EF4-FFF2-40B4-BE49-F238E27FC236}">
                <a16:creationId xmlns:a16="http://schemas.microsoft.com/office/drawing/2014/main" id="{F43BFB9C-8C31-4919-BCEC-14F816661B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34" y="6380977"/>
            <a:ext cx="121072" cy="96887"/>
          </a:xfrm>
          <a:prstGeom prst="rect">
            <a:avLst/>
          </a:prstGeom>
        </p:spPr>
      </p:pic>
      <p:sp>
        <p:nvSpPr>
          <p:cNvPr id="18" name="Text 15">
            <a:extLst>
              <a:ext uri="{FF2B5EF4-FFF2-40B4-BE49-F238E27FC236}">
                <a16:creationId xmlns:a16="http://schemas.microsoft.com/office/drawing/2014/main" id="{D7C02662-EC9E-4D5C-9E91-4B3BDA4DE623}"/>
              </a:ext>
            </a:extLst>
          </p:cNvPr>
          <p:cNvSpPr/>
          <p:nvPr/>
        </p:nvSpPr>
        <p:spPr>
          <a:xfrm>
            <a:off x="890193" y="6313106"/>
            <a:ext cx="7740030" cy="276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Важно: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Один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ключ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одно значение. При повторном присваивании того же ключа старое значение перезаписывается. В значении свойства может храниться что угодно: примитив, массив, функция (метод) или другой объект.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519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4">
            <a:extLst>
              <a:ext uri="{FF2B5EF4-FFF2-40B4-BE49-F238E27FC236}">
                <a16:creationId xmlns:a16="http://schemas.microsoft.com/office/drawing/2014/main" id="{625E4F0B-86AC-44BC-8ACA-3CD84DD7FAD3}"/>
              </a:ext>
            </a:extLst>
          </p:cNvPr>
          <p:cNvSpPr/>
          <p:nvPr/>
        </p:nvSpPr>
        <p:spPr>
          <a:xfrm>
            <a:off x="889409" y="2487561"/>
            <a:ext cx="4754307" cy="4224354"/>
          </a:xfrm>
          <a:prstGeom prst="roundRect">
            <a:avLst>
              <a:gd name="adj" fmla="val 252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4F08CF04-7880-44D5-8178-015FDF5C32B1}"/>
              </a:ext>
            </a:extLst>
          </p:cNvPr>
          <p:cNvSpPr/>
          <p:nvPr/>
        </p:nvSpPr>
        <p:spPr>
          <a:xfrm>
            <a:off x="2590390" y="146085"/>
            <a:ext cx="8151763" cy="483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Методы и </a:t>
            </a:r>
            <a:r>
              <a:rPr lang="en-US" sz="28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</a:t>
            </a: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: поведение «принадлежит» объекту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D3A30E6-FC56-4DCC-B162-AC5290B94557}"/>
              </a:ext>
            </a:extLst>
          </p:cNvPr>
          <p:cNvSpPr/>
          <p:nvPr/>
        </p:nvSpPr>
        <p:spPr>
          <a:xfrm>
            <a:off x="505951" y="720626"/>
            <a:ext cx="1136158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Метод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это свойство объекта, значением которого является функция. Методы позволяют объекту не только хранить данные, но и выполнять действия над ними. Ключевым инструментом внутри методов является ключевое слово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которое ссылается на текущий объект.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1F12B3-AABC-42A1-B92A-DBA7BDDCEA1C}"/>
              </a:ext>
            </a:extLst>
          </p:cNvPr>
          <p:cNvSpPr/>
          <p:nvPr/>
        </p:nvSpPr>
        <p:spPr>
          <a:xfrm>
            <a:off x="505951" y="1585865"/>
            <a:ext cx="3981301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Что такое метод?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E30724F-8C14-4E26-A536-5F078B72E572}"/>
              </a:ext>
            </a:extLst>
          </p:cNvPr>
          <p:cNvSpPr/>
          <p:nvPr/>
        </p:nvSpPr>
        <p:spPr>
          <a:xfrm>
            <a:off x="505951" y="1912696"/>
            <a:ext cx="11007623" cy="918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Метод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это функция, «принадлежащая» объекту. Когда функция вызывается как метод (через точку), </a:t>
            </a:r>
            <a:r>
              <a:rPr lang="en-US" sz="16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внутри неё автоматически указывает на объект, которому она принадлежит. Это позволяет методам работать с данными самого объекта.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9BAF43A4-BA76-4006-8561-356F9674E7A6}"/>
              </a:ext>
            </a:extLst>
          </p:cNvPr>
          <p:cNvSpPr/>
          <p:nvPr/>
        </p:nvSpPr>
        <p:spPr>
          <a:xfrm>
            <a:off x="1395382" y="2487561"/>
            <a:ext cx="5162734" cy="4370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cart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items: ["Товар 1", "Товар 2"],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total: 0,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addItem(item)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this.items.push(item);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calculateTotal()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this.total = this.items.length * 100;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return this.total;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getInfo()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return `Корзина: ${this.items.length} товаров`;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cart.addItem("Товар 3");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cart.calculateTotal(); // 300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cart.getInfo();        // "Корзина: 3 товаров"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118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>
            <a:extLst>
              <a:ext uri="{FF2B5EF4-FFF2-40B4-BE49-F238E27FC236}">
                <a16:creationId xmlns:a16="http://schemas.microsoft.com/office/drawing/2014/main" id="{2732E648-AE3F-4C4A-8162-69B883CD6358}"/>
              </a:ext>
            </a:extLst>
          </p:cNvPr>
          <p:cNvSpPr/>
          <p:nvPr/>
        </p:nvSpPr>
        <p:spPr>
          <a:xfrm>
            <a:off x="5152103" y="1474839"/>
            <a:ext cx="4221706" cy="3640511"/>
          </a:xfrm>
          <a:prstGeom prst="roundRect">
            <a:avLst>
              <a:gd name="adj" fmla="val 252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sp>
      <p:sp>
        <p:nvSpPr>
          <p:cNvPr id="2" name="Text 7">
            <a:extLst>
              <a:ext uri="{FF2B5EF4-FFF2-40B4-BE49-F238E27FC236}">
                <a16:creationId xmlns:a16="http://schemas.microsoft.com/office/drawing/2014/main" id="{8F1622FD-4A20-428E-9C48-A218B7B72EA4}"/>
              </a:ext>
            </a:extLst>
          </p:cNvPr>
          <p:cNvSpPr/>
          <p:nvPr/>
        </p:nvSpPr>
        <p:spPr>
          <a:xfrm>
            <a:off x="4299633" y="169340"/>
            <a:ext cx="3938141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Как работает </a:t>
            </a:r>
            <a:r>
              <a:rPr lang="en-US" sz="28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</a:t>
            </a: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8">
            <a:extLst>
              <a:ext uri="{FF2B5EF4-FFF2-40B4-BE49-F238E27FC236}">
                <a16:creationId xmlns:a16="http://schemas.microsoft.com/office/drawing/2014/main" id="{B23196F7-7E21-4A5F-B636-72933D078824}"/>
              </a:ext>
            </a:extLst>
          </p:cNvPr>
          <p:cNvSpPr/>
          <p:nvPr/>
        </p:nvSpPr>
        <p:spPr>
          <a:xfrm>
            <a:off x="524045" y="727397"/>
            <a:ext cx="10330768" cy="491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это контекст вызова. Внутри метода он указывает на объект, через который был вызван метод. Значение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определяется в момент вызова, а не в момент объявления функции.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9">
            <a:extLst>
              <a:ext uri="{FF2B5EF4-FFF2-40B4-BE49-F238E27FC236}">
                <a16:creationId xmlns:a16="http://schemas.microsoft.com/office/drawing/2014/main" id="{75194315-EB6B-4C16-BB8C-8DE8D4BD4ED6}"/>
              </a:ext>
            </a:extLst>
          </p:cNvPr>
          <p:cNvSpPr/>
          <p:nvPr/>
        </p:nvSpPr>
        <p:spPr>
          <a:xfrm>
            <a:off x="681361" y="1609725"/>
            <a:ext cx="3938141" cy="2578817"/>
          </a:xfrm>
          <a:prstGeom prst="rect">
            <a:avLst/>
          </a:prstGeom>
          <a:noFill/>
          <a:ln/>
        </p:spPr>
        <p:txBody>
          <a:bodyPr wrap="square" lIns="0" tIns="31012" rIns="0" bIns="0" rtlCol="0" anchor="t">
            <a:noAutofit/>
          </a:bodyPr>
          <a:lstStyle/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obj.method()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→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=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obj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Метод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видит все свойства объекта через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16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Стрелочные функции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не имеют своего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 глобальном контексте = </a:t>
            </a: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window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(в браузере)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83D00001-3A1C-4ED2-8664-F1BCE761BBA5}"/>
              </a:ext>
            </a:extLst>
          </p:cNvPr>
          <p:cNvSpPr/>
          <p:nvPr/>
        </p:nvSpPr>
        <p:spPr>
          <a:xfrm>
            <a:off x="5689429" y="1609725"/>
            <a:ext cx="4397389" cy="3640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player =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name: "Игрок 1",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score: 100,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addScore(points) {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this.score += points; // this = player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return this.score;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player.addScore(50); // 150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61CC6231-C9EB-46B8-AF63-047FD13763E7}"/>
              </a:ext>
            </a:extLst>
          </p:cNvPr>
          <p:cNvSpPr/>
          <p:nvPr/>
        </p:nvSpPr>
        <p:spPr>
          <a:xfrm>
            <a:off x="524045" y="5505875"/>
            <a:ext cx="10330768" cy="624728"/>
          </a:xfrm>
          <a:prstGeom prst="roundRect">
            <a:avLst>
              <a:gd name="adj" fmla="val 20415"/>
            </a:avLst>
          </a:prstGeom>
          <a:solidFill>
            <a:srgbClr val="B6D6FC"/>
          </a:solidFill>
          <a:ln/>
        </p:spPr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4B65A866-A7D7-44E5-B982-A6B681258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10" y="5577313"/>
            <a:ext cx="174352" cy="139401"/>
          </a:xfrm>
          <a:prstGeom prst="rect">
            <a:avLst/>
          </a:prstGeom>
        </p:spPr>
      </p:pic>
      <p:sp>
        <p:nvSpPr>
          <p:cNvPr id="9" name="Text 13">
            <a:extLst>
              <a:ext uri="{FF2B5EF4-FFF2-40B4-BE49-F238E27FC236}">
                <a16:creationId xmlns:a16="http://schemas.microsoft.com/office/drawing/2014/main" id="{A1093D82-1A3E-4CC3-9FBA-535F8F0727A2}"/>
              </a:ext>
            </a:extLst>
          </p:cNvPr>
          <p:cNvSpPr/>
          <p:nvPr/>
        </p:nvSpPr>
        <p:spPr>
          <a:xfrm>
            <a:off x="853327" y="5577313"/>
            <a:ext cx="9931467" cy="47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Визуальная мысль: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Представьте объект как карточку персонажа в игре.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Свойства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это его характеристики (имя, уровень, здоровье), а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методы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это действия, которые он может выполнять (атаковать, лечиться, говорить). </a:t>
            </a:r>
            <a:r>
              <a:rPr lang="en-US" sz="12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это ссылка на самого себя: «я атакую </a:t>
            </a:r>
            <a:r>
              <a:rPr lang="en-US" sz="12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своим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оружием, </a:t>
            </a:r>
            <a:r>
              <a:rPr lang="en-US" sz="12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своими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силами».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800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CE5BAEAE-50D1-400E-AA94-FEA943CB8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02145" y="1641986"/>
            <a:ext cx="3654124" cy="5030107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04DD0178-825F-479F-8A3B-6F9B04429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3410" y="1641986"/>
            <a:ext cx="3903407" cy="5030107"/>
          </a:xfrm>
          <a:prstGeom prst="rect">
            <a:avLst/>
          </a:prstGeom>
        </p:spPr>
      </p:pic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A370EAE9-BF8E-4DF7-B3DB-176317E0CE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632" y="1641986"/>
            <a:ext cx="3903407" cy="5030107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7D72815-0A60-4CAA-A494-F32F29B29881}"/>
              </a:ext>
            </a:extLst>
          </p:cNvPr>
          <p:cNvSpPr/>
          <p:nvPr/>
        </p:nvSpPr>
        <p:spPr>
          <a:xfrm>
            <a:off x="2020118" y="185907"/>
            <a:ext cx="8151763" cy="2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Вложенные объекты: дерево вместо плоского списка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BE64B47-4DC6-42EE-97FD-160355FED093}"/>
              </a:ext>
            </a:extLst>
          </p:cNvPr>
          <p:cNvSpPr/>
          <p:nvPr/>
        </p:nvSpPr>
        <p:spPr>
          <a:xfrm>
            <a:off x="496119" y="742503"/>
            <a:ext cx="11292758" cy="899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 может хранить внутри себя другие объекты, создавая древовидные структуры данных. Это позволяет моделировать сложные сущности реального мира, где один объект содержит множество вложенных компонентов. Доступ к вложенным свойствам осуществляется последовательной точечной записью по уровням вложенности.</a:t>
            </a:r>
            <a:endParaRPr lang="ru-RU" sz="1600" dirty="0">
              <a:latin typeface="Times New Roman" panose="02020603050405020304" pitchFamily="18" charset="0"/>
              <a:ea typeface="Instrument Sans Medium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09000"/>
              </a:lnSpc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E70C8AE-C133-4182-B8F3-2DB5ECAD1625}"/>
              </a:ext>
            </a:extLst>
          </p:cNvPr>
          <p:cNvSpPr/>
          <p:nvPr/>
        </p:nvSpPr>
        <p:spPr>
          <a:xfrm>
            <a:off x="767394" y="1709758"/>
            <a:ext cx="2505447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Структура вложенного объекта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D8F93A-560E-47F5-899B-D16DB2ED2063}"/>
              </a:ext>
            </a:extLst>
          </p:cNvPr>
          <p:cNvSpPr/>
          <p:nvPr/>
        </p:nvSpPr>
        <p:spPr>
          <a:xfrm>
            <a:off x="496119" y="2093814"/>
            <a:ext cx="3289300" cy="127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Вложенные объекты позволяют группировать связанные данные в логические блоки. Это делает код более организованным и читаемым, а также уменьшает дублирование информации.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8B2C22A-3B9C-45EE-BB71-36B4E950BE0E}"/>
              </a:ext>
            </a:extLst>
          </p:cNvPr>
          <p:cNvSpPr/>
          <p:nvPr/>
        </p:nvSpPr>
        <p:spPr>
          <a:xfrm>
            <a:off x="496119" y="2963591"/>
            <a:ext cx="3289300" cy="37085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appConfig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name: "MyApp",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version: "1.0.0",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settings: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theme: "dark",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language: "ru",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notifications: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email: true,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push: false,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sms: true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 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api: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baseUrl: "https://api.example.com",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timeout: 5000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0F65E9-4E9E-43CD-A5AA-E6632CEE8AA7}"/>
              </a:ext>
            </a:extLst>
          </p:cNvPr>
          <p:cNvSpPr/>
          <p:nvPr/>
        </p:nvSpPr>
        <p:spPr>
          <a:xfrm>
            <a:off x="4670801" y="1696900"/>
            <a:ext cx="2505447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Доступ к вложенным свойствам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B816E33-6924-4778-AB59-DF21C33C0FBD}"/>
              </a:ext>
            </a:extLst>
          </p:cNvPr>
          <p:cNvSpPr/>
          <p:nvPr/>
        </p:nvSpPr>
        <p:spPr>
          <a:xfrm>
            <a:off x="4575476" y="2093814"/>
            <a:ext cx="3647768" cy="127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Для доступа к вложенным свойствам используется цепочка точек. Каждый уровень вложенности добавляет ещё одну точку. Важно помнить о возможной ошибке при обращении к несуществующему вложенному свойству.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Используйте опциональную цепочку ?. для безопасного доступа.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895E662A-8225-48F1-B781-9062085FF684}"/>
              </a:ext>
            </a:extLst>
          </p:cNvPr>
          <p:cNvSpPr/>
          <p:nvPr/>
        </p:nvSpPr>
        <p:spPr>
          <a:xfrm>
            <a:off x="4575475" y="3293806"/>
            <a:ext cx="3559278" cy="3378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Доступ к вложенным свойствам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console.log(appConfig.settings.theme);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"dark"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console.log(appConfig.settings.notifications.email);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true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console.log(appConfig.api.baseUrl);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"https://api.example.com"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Безопасный доступ (опциональная цепочка)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console.log(appConfig.settings?.notifications?.sms);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true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C6DF4E6-946D-4305-B14B-724800CD6C54}"/>
              </a:ext>
            </a:extLst>
          </p:cNvPr>
          <p:cNvSpPr/>
          <p:nvPr/>
        </p:nvSpPr>
        <p:spPr>
          <a:xfrm>
            <a:off x="8795123" y="1771819"/>
            <a:ext cx="2505447" cy="124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Преимущества вложенности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D00C230-31C6-4636-950A-52C64F9809C2}"/>
              </a:ext>
            </a:extLst>
          </p:cNvPr>
          <p:cNvSpPr/>
          <p:nvPr/>
        </p:nvSpPr>
        <p:spPr>
          <a:xfrm>
            <a:off x="8679480" y="2093814"/>
            <a:ext cx="3197888" cy="899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Вложенные структуры уменьшают количество повторяющихся данных и повышают связность. Изменение одного вложенного объекта автоматически отражается везде, где он используется.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B5893B6-04C4-4E89-8C34-3BC2B5B8B8EA}"/>
              </a:ext>
            </a:extLst>
          </p:cNvPr>
          <p:cNvSpPr/>
          <p:nvPr/>
        </p:nvSpPr>
        <p:spPr>
          <a:xfrm>
            <a:off x="8679480" y="3141687"/>
            <a:ext cx="3016401" cy="2020248"/>
          </a:xfrm>
          <a:prstGeom prst="rect">
            <a:avLst/>
          </a:prstGeom>
          <a:noFill/>
          <a:ln/>
        </p:spPr>
        <p:txBody>
          <a:bodyPr wrap="square" lIns="0" tIns="31787" rIns="0" bIns="0" rtlCol="0" anchor="t">
            <a:noAutofit/>
          </a:bodyPr>
          <a:lstStyle/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12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Группировка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связанные данные собраны вместе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12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Масштабируемость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легко добавлять новые уровни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12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Читаемость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структура отражает логику предметной области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1920" indent="-121920" algn="l">
              <a:lnSpc>
                <a:spcPct val="109000"/>
              </a:lnSpc>
              <a:buSzPct val="100000"/>
              <a:buChar char="•"/>
            </a:pPr>
            <a:r>
              <a:rPr lang="en-US" sz="1200" b="1" dirty="0" err="1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Связность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меньше дублирования данных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514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AE8A3840-86D6-4C0E-858E-702D570E29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91329" y="1212204"/>
            <a:ext cx="3759136" cy="5208259"/>
          </a:xfrm>
          <a:prstGeom prst="rect">
            <a:avLst/>
          </a:prstGeom>
        </p:spPr>
      </p:pic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148A7AE1-FE0B-4AFD-83DC-0ACBC80E0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36166" y="1212204"/>
            <a:ext cx="4112095" cy="5208259"/>
          </a:xfrm>
          <a:prstGeom prst="rect">
            <a:avLst/>
          </a:prstGeom>
        </p:spPr>
      </p:pic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E8EC77B3-5AFA-4453-80E7-C44C33A8E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515" y="1212205"/>
            <a:ext cx="3759136" cy="520826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8327616-4585-439C-81A5-64141807628F}"/>
              </a:ext>
            </a:extLst>
          </p:cNvPr>
          <p:cNvSpPr/>
          <p:nvPr/>
        </p:nvSpPr>
        <p:spPr>
          <a:xfrm>
            <a:off x="2020118" y="78413"/>
            <a:ext cx="8151763" cy="51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Деструктуризация как «распаковка» данных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986B4C-4B5C-426C-8EC5-36964F027109}"/>
              </a:ext>
            </a:extLst>
          </p:cNvPr>
          <p:cNvSpPr/>
          <p:nvPr/>
        </p:nvSpPr>
        <p:spPr>
          <a:xfrm>
            <a:off x="496119" y="668685"/>
            <a:ext cx="11528733" cy="845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Деструктурирующее </a:t>
            </a:r>
            <a:r>
              <a:rPr lang="en-US" sz="16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присваивание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6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это современный синтаксис JavaScript, который позволяет «распаковать» значения из объектов и массивов в отдельные переменные. Это значительно упрощает работу с данными, делая код более лаконичным и выразительным.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64ACF47-F7DB-4F5C-8A2C-5F2B95BEDE85}"/>
              </a:ext>
            </a:extLst>
          </p:cNvPr>
          <p:cNvSpPr/>
          <p:nvPr/>
        </p:nvSpPr>
        <p:spPr>
          <a:xfrm>
            <a:off x="441631" y="1350159"/>
            <a:ext cx="3962177" cy="9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Основы деструктуризации объектов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53739F75-EA8C-4102-A0B5-977C9892100E}"/>
              </a:ext>
            </a:extLst>
          </p:cNvPr>
          <p:cNvSpPr/>
          <p:nvPr/>
        </p:nvSpPr>
        <p:spPr>
          <a:xfrm>
            <a:off x="441631" y="1676315"/>
            <a:ext cx="3668253" cy="866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Слева от знака присваивания указывается шаблон с именами переменных, совпадающими с именами свойств объекта. JavaScript автоматически извлекает нужные значения.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F611B277-C6BA-4E07-BEE4-C70CB9208C8D}"/>
              </a:ext>
            </a:extLst>
          </p:cNvPr>
          <p:cNvSpPr/>
          <p:nvPr/>
        </p:nvSpPr>
        <p:spPr>
          <a:xfrm>
            <a:off x="441631" y="2502545"/>
            <a:ext cx="4059959" cy="3952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user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name: "Мария",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age: 30,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city: "Москва",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role: "admin"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Без деструктуризации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name = user.name;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age = user.age;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city = </a:t>
            </a:r>
            <a:r>
              <a:rPr lang="en-US" sz="12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user.city</a:t>
            </a: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С деструктуризацией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{ name, age, city } = user;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console.log(name); // "Мария"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console.log(age);  // 30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console.log(city); // "Москва"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E170C6F2-A3AC-4FEC-93A2-B92FEBABFAF6}"/>
              </a:ext>
            </a:extLst>
          </p:cNvPr>
          <p:cNvSpPr/>
          <p:nvPr/>
        </p:nvSpPr>
        <p:spPr>
          <a:xfrm>
            <a:off x="4501590" y="1262137"/>
            <a:ext cx="3997896" cy="9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Переименование и значения </a:t>
            </a:r>
            <a:r>
              <a:rPr lang="en-US" sz="1400" b="1" dirty="0" err="1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по</a:t>
            </a:r>
            <a:r>
              <a:rPr lang="en-US" sz="14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умолчанию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E5A64E1F-DCC6-4090-9AFB-8B7FB72AD52D}"/>
              </a:ext>
            </a:extLst>
          </p:cNvPr>
          <p:cNvSpPr/>
          <p:nvPr/>
        </p:nvSpPr>
        <p:spPr>
          <a:xfrm>
            <a:off x="4403808" y="1484670"/>
            <a:ext cx="3491495" cy="815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Деструктуризация позволяет переименовывать переменные и задавать значения по умолчанию, если свойство отсутствует в объекте.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0">
            <a:extLst>
              <a:ext uri="{FF2B5EF4-FFF2-40B4-BE49-F238E27FC236}">
                <a16:creationId xmlns:a16="http://schemas.microsoft.com/office/drawing/2014/main" id="{633FBE21-BCEE-44A7-BD3D-52FF07AABD3B}"/>
              </a:ext>
            </a:extLst>
          </p:cNvPr>
          <p:cNvSpPr/>
          <p:nvPr/>
        </p:nvSpPr>
        <p:spPr>
          <a:xfrm>
            <a:off x="4403808" y="2104852"/>
            <a:ext cx="3844454" cy="4201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product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title: "Ноутбук",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price: 89990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Переименование свойств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{ title: productName, price: productPrice } = product;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console.log(productName); // "</a:t>
            </a:r>
            <a:r>
              <a:rPr lang="en-US" sz="12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Ноутбук</a:t>
            </a: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Значения по умолчанию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{ stock = 0, discount = 10 } = product;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console.log(stock);    // 0 (по умолчанию)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console.log(discount); // 10 (по </a:t>
            </a:r>
            <a:r>
              <a:rPr lang="en-US" sz="12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умолчанию</a:t>
            </a: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Деструктуризация в параметрах функции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function displayUser({ name, age, city = "Не указана" })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console.log(`${name}, ${age} лет, ${city}`);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displayUser(user); // "Мария, 30 лет, Москва"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58DD7E25-B4D1-4AA7-BC9B-5959629C2950}"/>
              </a:ext>
            </a:extLst>
          </p:cNvPr>
          <p:cNvSpPr/>
          <p:nvPr/>
        </p:nvSpPr>
        <p:spPr>
          <a:xfrm>
            <a:off x="7818582" y="1306055"/>
            <a:ext cx="3997896" cy="99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Выборочное извлечение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2">
            <a:extLst>
              <a:ext uri="{FF2B5EF4-FFF2-40B4-BE49-F238E27FC236}">
                <a16:creationId xmlns:a16="http://schemas.microsoft.com/office/drawing/2014/main" id="{E3F2152B-3C00-4679-99C1-2F4366D0BA70}"/>
              </a:ext>
            </a:extLst>
          </p:cNvPr>
          <p:cNvSpPr/>
          <p:nvPr/>
        </p:nvSpPr>
        <p:spPr>
          <a:xfrm>
            <a:off x="8542186" y="1558086"/>
            <a:ext cx="3383299" cy="10359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Можно извлекать только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нужные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поля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это особенно полезно при работе с большими объектами данных.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C985ED5B-65F7-4A2C-B300-7A53FDF8C9F9}"/>
              </a:ext>
            </a:extLst>
          </p:cNvPr>
          <p:cNvSpPr/>
          <p:nvPr/>
        </p:nvSpPr>
        <p:spPr>
          <a:xfrm>
            <a:off x="8787769" y="2151538"/>
            <a:ext cx="3069711" cy="2607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largeData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id: 1,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name: "Важные данные",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metadata: { created: "2024"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unused: "не нужно"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Берём только нужное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{ id, name } = largeData;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0040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0EE845F5-8623-4100-A0D2-868173596D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0400" y="1113396"/>
            <a:ext cx="6460658" cy="5732923"/>
          </a:xfrm>
          <a:prstGeom prst="rect">
            <a:avLst/>
          </a:prstGeom>
        </p:spPr>
      </p:pic>
      <p:pic>
        <p:nvPicPr>
          <p:cNvPr id="14" name="Image 0" descr="preencoded.png">
            <a:extLst>
              <a:ext uri="{FF2B5EF4-FFF2-40B4-BE49-F238E27FC236}">
                <a16:creationId xmlns:a16="http://schemas.microsoft.com/office/drawing/2014/main" id="{C731A116-3312-4ABE-8C6E-7B025FEBF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4115" y="1125076"/>
            <a:ext cx="4426208" cy="5732923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57AA5E5-345F-4A45-924D-64168D45BDF4}"/>
              </a:ext>
            </a:extLst>
          </p:cNvPr>
          <p:cNvSpPr/>
          <p:nvPr/>
        </p:nvSpPr>
        <p:spPr>
          <a:xfrm>
            <a:off x="1341693" y="125584"/>
            <a:ext cx="815176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Вложенная деструктуризация: достаём глубину за один проход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8E3817-C772-49DE-951F-D3857B446C0B}"/>
              </a:ext>
            </a:extLst>
          </p:cNvPr>
          <p:cNvSpPr txBox="1"/>
          <p:nvPr/>
        </p:nvSpPr>
        <p:spPr>
          <a:xfrm>
            <a:off x="353962" y="586842"/>
            <a:ext cx="11307096" cy="526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Когда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содержит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вложенные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структуры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деструктуризация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позволяет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извлечь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данные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с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любого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уровня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вложенности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за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одну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операцию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Шаблон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слева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должен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повторять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структуру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правой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части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что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делает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код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интуитивно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понятным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0D9C559-B522-493C-8872-984366E19806}"/>
              </a:ext>
            </a:extLst>
          </p:cNvPr>
          <p:cNvSpPr/>
          <p:nvPr/>
        </p:nvSpPr>
        <p:spPr>
          <a:xfrm>
            <a:off x="600091" y="1191418"/>
            <a:ext cx="2532608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Вложенная деструктуризация объектов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78E232D-05B4-4AB8-B22E-844C4E3FF2CD}"/>
              </a:ext>
            </a:extLst>
          </p:cNvPr>
          <p:cNvSpPr/>
          <p:nvPr/>
        </p:nvSpPr>
        <p:spPr>
          <a:xfrm>
            <a:off x="432659" y="1453356"/>
            <a:ext cx="3883701" cy="837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Для извлечения вложенных свойств используется вложенный шаблон фигурных скобок. Структура слева зеркально отражает структуру объекта справа.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69E143F-F12B-4FF3-A1CF-8F8B3C85CD34}"/>
              </a:ext>
            </a:extLst>
          </p:cNvPr>
          <p:cNvSpPr/>
          <p:nvPr/>
        </p:nvSpPr>
        <p:spPr>
          <a:xfrm>
            <a:off x="432660" y="2025445"/>
            <a:ext cx="3145999" cy="4625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config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app: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name: "MyApp",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version: "2.0"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settings: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theme: "dark",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notifications: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email: true,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push: false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 }};</a:t>
            </a:r>
            <a:endParaRPr lang="ru-RU" sz="1200" dirty="0"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</a:t>
            </a:r>
            <a:r>
              <a:rPr lang="en-US" sz="12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Вложенная</a:t>
            </a: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деструктуризация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app: { name, version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settings: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theme,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notifications: { email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= config;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04E745-CEB3-44E2-A7BD-015B5B5C020C}"/>
              </a:ext>
            </a:extLst>
          </p:cNvPr>
          <p:cNvSpPr txBox="1"/>
          <p:nvPr/>
        </p:nvSpPr>
        <p:spPr>
          <a:xfrm>
            <a:off x="2153285" y="5808674"/>
            <a:ext cx="2625213" cy="1049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console.log(name);    // "</a:t>
            </a:r>
            <a:r>
              <a:rPr lang="en-US" sz="12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MyApp</a:t>
            </a: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console.log(version); // "2.0"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console.log(theme);   // "dark"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console.log(email);   // true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296223E-ABC9-4E5A-A397-B4EC0F32DCAC}"/>
              </a:ext>
            </a:extLst>
          </p:cNvPr>
          <p:cNvSpPr/>
          <p:nvPr/>
        </p:nvSpPr>
        <p:spPr>
          <a:xfrm>
            <a:off x="7310187" y="1136909"/>
            <a:ext cx="2532608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Деструктуризация с объектами по умолчанию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FB6C423-F784-4FD3-AB1B-12313B0A93FB}"/>
              </a:ext>
            </a:extLst>
          </p:cNvPr>
          <p:cNvSpPr/>
          <p:nvPr/>
        </p:nvSpPr>
        <p:spPr>
          <a:xfrm>
            <a:off x="5423278" y="1356621"/>
            <a:ext cx="6070632" cy="64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Можно задать значения по умолчанию для вложенных свойств, что защищает код от ошибок при отсутствии данных.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FB87303-CB0F-4EB7-82FB-69D128260900}"/>
              </a:ext>
            </a:extLst>
          </p:cNvPr>
          <p:cNvSpPr/>
          <p:nvPr/>
        </p:nvSpPr>
        <p:spPr>
          <a:xfrm>
            <a:off x="6675983" y="1781874"/>
            <a:ext cx="3498227" cy="4950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apiResponse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status: "success",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data: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user: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name: "Алексей"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// email отсутствует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Значения по умолчанию для вложенных свойств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data: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user: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name,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email = "not-set@example.com"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 = {} // значение по умолчанию для user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 = {}   // значение по умолчанию для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= </a:t>
            </a:r>
            <a:r>
              <a:rPr lang="en-US" sz="12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apiResponse</a:t>
            </a: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console.log(name);  // "Алексей"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console.log(email); // "not-set@example.com"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126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5A1AEEAE-F76E-4619-BB47-89237CD2B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22661" y="562538"/>
            <a:ext cx="7375886" cy="6295462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3B61D77-2748-4D7B-A159-E211212F9B12}"/>
              </a:ext>
            </a:extLst>
          </p:cNvPr>
          <p:cNvSpPr/>
          <p:nvPr/>
        </p:nvSpPr>
        <p:spPr>
          <a:xfrm>
            <a:off x="1341693" y="125584"/>
            <a:ext cx="815176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Вложенная деструктуризация: достаём глубину за один проход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3">
            <a:extLst>
              <a:ext uri="{FF2B5EF4-FFF2-40B4-BE49-F238E27FC236}">
                <a16:creationId xmlns:a16="http://schemas.microsoft.com/office/drawing/2014/main" id="{F571B256-8CC6-4143-A536-E872EB2CB267}"/>
              </a:ext>
            </a:extLst>
          </p:cNvPr>
          <p:cNvSpPr/>
          <p:nvPr/>
        </p:nvSpPr>
        <p:spPr>
          <a:xfrm>
            <a:off x="4276048" y="717114"/>
            <a:ext cx="2532608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Деструктуризация в реальных сценариях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4">
            <a:extLst>
              <a:ext uri="{FF2B5EF4-FFF2-40B4-BE49-F238E27FC236}">
                <a16:creationId xmlns:a16="http://schemas.microsoft.com/office/drawing/2014/main" id="{ED52B1C9-5C41-48C2-86D8-5C0835E4BE91}"/>
              </a:ext>
            </a:extLst>
          </p:cNvPr>
          <p:cNvSpPr/>
          <p:nvPr/>
        </p:nvSpPr>
        <p:spPr>
          <a:xfrm>
            <a:off x="1749157" y="1005396"/>
            <a:ext cx="6922895" cy="482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Деструктуризация особенно полезна при работе с ответами API, настройками приложения и параметрами функций.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39CEF370-F23B-420C-9A43-5C427F4A0D5A}"/>
              </a:ext>
            </a:extLst>
          </p:cNvPr>
          <p:cNvSpPr/>
          <p:nvPr/>
        </p:nvSpPr>
        <p:spPr>
          <a:xfrm>
            <a:off x="4022101" y="1246652"/>
            <a:ext cx="4866968" cy="539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Ответ от API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apiData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success: true,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payload: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items: ["A", "B", "C"],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pagination: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page: 1,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total: 100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} }};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payload: { items, pagination: { page, total }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 = </a:t>
            </a:r>
            <a:r>
              <a:rPr lang="en-US" sz="12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apiData</a:t>
            </a: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Параметры функции с деструктуризацией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function renderComponent({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title,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options: { size = "md", color = "blue" } = {}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console.log(`${title}, ${size}, ${color}`);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renderComponent({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title: "Кнопка",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options: { size: "lg"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}); // "Кнопка, lg, blue"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272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118E5BC-BA91-49C2-93EA-7F7158CF554C}"/>
              </a:ext>
            </a:extLst>
          </p:cNvPr>
          <p:cNvSpPr/>
          <p:nvPr/>
        </p:nvSpPr>
        <p:spPr>
          <a:xfrm>
            <a:off x="2020118" y="118347"/>
            <a:ext cx="8151763" cy="205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Копирование и объединение: осторожно со ссылками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4DD2B7-46E4-4D58-A482-7A467718FA3F}"/>
              </a:ext>
            </a:extLst>
          </p:cNvPr>
          <p:cNvSpPr/>
          <p:nvPr/>
        </p:nvSpPr>
        <p:spPr>
          <a:xfrm>
            <a:off x="496119" y="669503"/>
            <a:ext cx="11450075" cy="589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Объекты в JavaScript </a:t>
            </a:r>
            <a:r>
              <a:rPr lang="ru-RU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это </a:t>
            </a:r>
            <a:r>
              <a:rPr lang="en-US" sz="1400" b="1" dirty="0">
                <a:latin typeface="Times New Roman" panose="02020603050405020304" pitchFamily="18" charset="0"/>
                <a:ea typeface="Instrument Sans Bold" pitchFamily="34" charset="-122"/>
                <a:cs typeface="Times New Roman" panose="02020603050405020304" pitchFamily="18" charset="0"/>
              </a:rPr>
              <a:t>ссылочные типы данных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 При присваивании одного объекта другому копируется не сам объект, а ссылка на него. Это означает, что обе переменные указывают на один и тот же объект в памяти, и изменения, сделанные через одну переменную, будут видны через другую.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D3C42ABF-8F23-403B-B7E6-895DA5DBB814}"/>
              </a:ext>
            </a:extLst>
          </p:cNvPr>
          <p:cNvSpPr/>
          <p:nvPr/>
        </p:nvSpPr>
        <p:spPr>
          <a:xfrm>
            <a:off x="3110215" y="1324346"/>
            <a:ext cx="3958754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Проблема ссылок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F674D0E8-04A3-4FDC-90D6-EF0F35CCD5A7}"/>
              </a:ext>
            </a:extLst>
          </p:cNvPr>
          <p:cNvSpPr/>
          <p:nvPr/>
        </p:nvSpPr>
        <p:spPr>
          <a:xfrm>
            <a:off x="1281415" y="1603781"/>
            <a:ext cx="4415954" cy="80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Понимание ссылочной природы объектов критически важно для избежания трудноуловимых багов в приложениях.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B39C3048-97A2-4408-969F-C69DDF6C06CF}"/>
              </a:ext>
            </a:extLst>
          </p:cNvPr>
          <p:cNvSpPr/>
          <p:nvPr/>
        </p:nvSpPr>
        <p:spPr>
          <a:xfrm>
            <a:off x="2864779" y="1964388"/>
            <a:ext cx="4961698" cy="292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original = { name: "Оригинал", value: 100 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Это НЕ копия, а ссылка!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copy = original;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copy.value = 999;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copy.name = "Изменено";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console.log(original.value); // 999 (!)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console.log(original.name);  // "Изменено" (!)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original и copy — один и тот </a:t>
            </a:r>
            <a:r>
              <a:rPr lang="en-US" sz="12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же</a:t>
            </a: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объект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40F2E38-1DA1-4B74-86F6-D5AE1AFEA5B5}"/>
              </a:ext>
            </a:extLst>
          </p:cNvPr>
          <p:cNvSpPr/>
          <p:nvPr/>
        </p:nvSpPr>
        <p:spPr>
          <a:xfrm>
            <a:off x="1744814" y="4914989"/>
            <a:ext cx="5806359" cy="661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Обе переменные </a:t>
            </a: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original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и </a:t>
            </a:r>
            <a:r>
              <a:rPr lang="en-US" sz="14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copy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указывают на одну и ту же область памяти. Изменение через одну переменную влияет на другую.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7323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4E6C781F-1E8F-4753-901C-1471F18A8616}"/>
              </a:ext>
            </a:extLst>
          </p:cNvPr>
          <p:cNvSpPr/>
          <p:nvPr/>
        </p:nvSpPr>
        <p:spPr>
          <a:xfrm>
            <a:off x="3329775" y="148237"/>
            <a:ext cx="3995514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Стратегии копирования объектов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EAD454E4-FDF1-40FB-9E48-90989973AB44}"/>
              </a:ext>
            </a:extLst>
          </p:cNvPr>
          <p:cNvSpPr/>
          <p:nvPr/>
        </p:nvSpPr>
        <p:spPr>
          <a:xfrm>
            <a:off x="701314" y="1309909"/>
            <a:ext cx="3837459" cy="4109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original = { name: "Оригинал", value: 100 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1. Spread-оператор (поверхностная копия)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spreadCopy = { ...original 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2. Object.assign (поверхностная копия)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assignCopy = Object.assign({}, original);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3. JSON-сериализация (глубокая копия)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deepCopy = JSON.parse(JSON.stringify(original));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4. Structured Clone (современная глубокая копия)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structuredCopy = structuredClone(original);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spreadCopy.value = 999;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console.log(original.value); // 100 (не изменилось!)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EF053353-79B0-40CD-9D29-6E4AE0151C3B}"/>
              </a:ext>
            </a:extLst>
          </p:cNvPr>
          <p:cNvSpPr/>
          <p:nvPr/>
        </p:nvSpPr>
        <p:spPr>
          <a:xfrm>
            <a:off x="7213518" y="842246"/>
            <a:ext cx="3995514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Объединение объектов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4">
            <a:extLst>
              <a:ext uri="{FF2B5EF4-FFF2-40B4-BE49-F238E27FC236}">
                <a16:creationId xmlns:a16="http://schemas.microsoft.com/office/drawing/2014/main" id="{764F8F2C-BCA5-4997-9BBD-7A95C8DDB878}"/>
              </a:ext>
            </a:extLst>
          </p:cNvPr>
          <p:cNvSpPr/>
          <p:nvPr/>
        </p:nvSpPr>
        <p:spPr>
          <a:xfrm>
            <a:off x="6968080" y="1309909"/>
            <a:ext cx="3837459" cy="2512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defaults = { theme: "light", lang: "ru" 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userSettings = { theme: "dark" 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Spread-оператор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merged = { ...defaults, ...userSettings 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{ theme: "dark", lang: "ru"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// Object.assign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merged2 = Object.assign({}, defaults, userSettings);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50E22F-A4EF-44AD-AB13-9B208D1A1F88}"/>
              </a:ext>
            </a:extLst>
          </p:cNvPr>
          <p:cNvSpPr txBox="1"/>
          <p:nvPr/>
        </p:nvSpPr>
        <p:spPr>
          <a:xfrm>
            <a:off x="370265" y="685635"/>
            <a:ext cx="5371773" cy="519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Для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создания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реальной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копии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объекта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необходимо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использовать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явные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методы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копирования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CC1EAD88-83E1-42AE-8135-1BA3671194EB}"/>
              </a:ext>
            </a:extLst>
          </p:cNvPr>
          <p:cNvSpPr/>
          <p:nvPr/>
        </p:nvSpPr>
        <p:spPr>
          <a:xfrm>
            <a:off x="996150" y="5158849"/>
            <a:ext cx="2562225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Поверхностная копия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6843A258-44E9-474E-9A62-DA76B5C4F95F}"/>
              </a:ext>
            </a:extLst>
          </p:cNvPr>
          <p:cNvSpPr/>
          <p:nvPr/>
        </p:nvSpPr>
        <p:spPr>
          <a:xfrm>
            <a:off x="493926" y="5536648"/>
            <a:ext cx="2769614" cy="952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 ...obj }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или </a:t>
            </a:r>
            <a:r>
              <a:rPr lang="en-US" sz="14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Object.assign({}, obj)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копирует только первый уровень. Вложенные объекты остаются ссылками.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19">
            <a:extLst>
              <a:ext uri="{FF2B5EF4-FFF2-40B4-BE49-F238E27FC236}">
                <a16:creationId xmlns:a16="http://schemas.microsoft.com/office/drawing/2014/main" id="{AE105705-FBFB-4557-8B0E-03F44968F6C4}"/>
              </a:ext>
            </a:extLst>
          </p:cNvPr>
          <p:cNvSpPr/>
          <p:nvPr/>
        </p:nvSpPr>
        <p:spPr>
          <a:xfrm>
            <a:off x="5327532" y="5177723"/>
            <a:ext cx="2562225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Глубокая копия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20">
            <a:extLst>
              <a:ext uri="{FF2B5EF4-FFF2-40B4-BE49-F238E27FC236}">
                <a16:creationId xmlns:a16="http://schemas.microsoft.com/office/drawing/2014/main" id="{FE99A976-CED4-4000-9ED4-9A2CBD542102}"/>
              </a:ext>
            </a:extLst>
          </p:cNvPr>
          <p:cNvSpPr/>
          <p:nvPr/>
        </p:nvSpPr>
        <p:spPr>
          <a:xfrm>
            <a:off x="4046419" y="5548091"/>
            <a:ext cx="3603078" cy="93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JSON.parse(JSON.stringify(obj))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или </a:t>
            </a:r>
            <a:r>
              <a:rPr lang="en-US" sz="14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structuredClone(obj)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рекурсивно копирует все уровни вложенности.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557C8617-70EF-49F7-914B-A0F16C802527}"/>
              </a:ext>
            </a:extLst>
          </p:cNvPr>
          <p:cNvSpPr/>
          <p:nvPr/>
        </p:nvSpPr>
        <p:spPr>
          <a:xfrm>
            <a:off x="9364324" y="5210307"/>
            <a:ext cx="2562225" cy="102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Объединение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23">
            <a:extLst>
              <a:ext uri="{FF2B5EF4-FFF2-40B4-BE49-F238E27FC236}">
                <a16:creationId xmlns:a16="http://schemas.microsoft.com/office/drawing/2014/main" id="{5BA4040D-9D73-4312-975A-A2894C697E21}"/>
              </a:ext>
            </a:extLst>
          </p:cNvPr>
          <p:cNvSpPr/>
          <p:nvPr/>
        </p:nvSpPr>
        <p:spPr>
          <a:xfrm>
            <a:off x="8646807" y="5536648"/>
            <a:ext cx="3051267" cy="952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Spread-оператор </a:t>
            </a:r>
            <a:r>
              <a:rPr lang="en-US" sz="1400" dirty="0">
                <a:highlight>
                  <a:srgbClr val="F2F2F2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{ ...a, ...b }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объединяет объекты, причём свойства второго перекрывают свойства первого.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618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DA69E7-2CDA-402E-B0EF-8F8B680B2867}"/>
              </a:ext>
            </a:extLst>
          </p:cNvPr>
          <p:cNvSpPr/>
          <p:nvPr/>
        </p:nvSpPr>
        <p:spPr>
          <a:xfrm>
            <a:off x="2147939" y="10453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Объектная модель сущностей мобильного приложения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5E82D4-BC7D-42C9-ACB7-57BA13AD12AC}"/>
              </a:ext>
            </a:extLst>
          </p:cNvPr>
          <p:cNvSpPr/>
          <p:nvPr/>
        </p:nvSpPr>
        <p:spPr>
          <a:xfrm>
            <a:off x="505951" y="554192"/>
            <a:ext cx="11273094" cy="64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Объекты JavaScript идеально подходят для моделирования сущностей мобильного приложения. Каждая </a:t>
            </a:r>
            <a:r>
              <a:rPr lang="en-US" sz="1400" dirty="0" err="1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сущность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пользователь, экран, данные API </a:t>
            </a:r>
            <a:r>
              <a:rPr lang="ru-RU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-</a:t>
            </a: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может быть представлена как объект со свойствами (данные) и методами (поведение). Это делает код структурированным, понятным и легко поддерживаемым.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4CBABD6-1D5E-469C-8208-7D9AD0CB3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00" y="1584302"/>
            <a:ext cx="3095823" cy="191325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2EA93A78-F8C2-4F3B-BEEC-5C56C1096F70}"/>
              </a:ext>
            </a:extLst>
          </p:cNvPr>
          <p:cNvSpPr/>
          <p:nvPr/>
        </p:nvSpPr>
        <p:spPr>
          <a:xfrm>
            <a:off x="3575086" y="1099825"/>
            <a:ext cx="3008952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Сущность «Пользователь»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773ECA5-3A77-48C4-838F-1449ACA7A6CB}"/>
              </a:ext>
            </a:extLst>
          </p:cNvPr>
          <p:cNvSpPr/>
          <p:nvPr/>
        </p:nvSpPr>
        <p:spPr>
          <a:xfrm>
            <a:off x="8564799" y="3607989"/>
            <a:ext cx="3095823" cy="166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Объект пользователя хранит данные (имя, email, настройки) и методы для работы с ними (валидация, обновление).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FE94364-CD8F-47E4-B678-18AF56FA0B06}"/>
              </a:ext>
            </a:extLst>
          </p:cNvPr>
          <p:cNvSpPr/>
          <p:nvPr/>
        </p:nvSpPr>
        <p:spPr>
          <a:xfrm>
            <a:off x="806718" y="1321878"/>
            <a:ext cx="6292172" cy="5084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user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id: 12345,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name: "Дмитрий",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email: "dmitry@example.com",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settings: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notifications: true,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theme: "dark"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isValid()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return this.email.includes("@") &amp;&amp;</a:t>
            </a:r>
            <a:r>
              <a:rPr lang="ru-RU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this.name.length</a:t>
            </a: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&gt; 0;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updateEmail(newEmail)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if (newEmail.includes("@"))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this.email = newEmail;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return true;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return false;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getDisplayName()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return this.name || "Аноним";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ru-RU" sz="1200" dirty="0">
              <a:latin typeface="Times New Roman" panose="02020603050405020304" pitchFamily="18" charset="0"/>
              <a:ea typeface="Consolas" pitchFamily="34" charset="-122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293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reencoded.png">
            <a:extLst>
              <a:ext uri="{FF2B5EF4-FFF2-40B4-BE49-F238E27FC236}">
                <a16:creationId xmlns:a16="http://schemas.microsoft.com/office/drawing/2014/main" id="{0FBD3EE9-4665-4407-9D3D-150C97AAE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1046" y="1300686"/>
            <a:ext cx="2865188" cy="1770767"/>
          </a:xfrm>
          <a:prstGeom prst="rect">
            <a:avLst/>
          </a:prstGeom>
        </p:spPr>
      </p:pic>
      <p:sp>
        <p:nvSpPr>
          <p:cNvPr id="4" name="Text 6">
            <a:extLst>
              <a:ext uri="{FF2B5EF4-FFF2-40B4-BE49-F238E27FC236}">
                <a16:creationId xmlns:a16="http://schemas.microsoft.com/office/drawing/2014/main" id="{04C6F828-E8BE-4EDA-81C4-8E584B0C84B6}"/>
              </a:ext>
            </a:extLst>
          </p:cNvPr>
          <p:cNvSpPr/>
          <p:nvPr/>
        </p:nvSpPr>
        <p:spPr>
          <a:xfrm>
            <a:off x="4220595" y="732934"/>
            <a:ext cx="2691482" cy="309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Состояния интерфейса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FEDA53C9-129E-487B-B50D-A54104DD9A18}"/>
              </a:ext>
            </a:extLst>
          </p:cNvPr>
          <p:cNvSpPr/>
          <p:nvPr/>
        </p:nvSpPr>
        <p:spPr>
          <a:xfrm>
            <a:off x="8731046" y="3308452"/>
            <a:ext cx="2865188" cy="1342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Вложенные объекты идеально подходят для описания состояния экрана: поля UI, активные секции, данные загрузки.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FCDA2FD0-E9FC-4EC8-83A3-CF4E64334513}"/>
              </a:ext>
            </a:extLst>
          </p:cNvPr>
          <p:cNvSpPr/>
          <p:nvPr/>
        </p:nvSpPr>
        <p:spPr>
          <a:xfrm>
            <a:off x="2147939" y="10453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Объектная модель сущностей мобильного приложения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BADD109B-C948-40B4-B89E-F7058FB4EA9A}"/>
              </a:ext>
            </a:extLst>
          </p:cNvPr>
          <p:cNvSpPr/>
          <p:nvPr/>
        </p:nvSpPr>
        <p:spPr>
          <a:xfrm>
            <a:off x="876612" y="951012"/>
            <a:ext cx="3479078" cy="5802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screenState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name: "ProductList",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isLoading: false,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error: null,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data: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items: [],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pagination: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page: 1,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  total: 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filters: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category: "all",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sortBy: "popular",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priceRange: { min: 0, max: 100000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setLoading(isLoading)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this.isLoading = isLoading;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setItems(items)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this.data.items = items;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337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 descr="preencoded.png">
            <a:extLst>
              <a:ext uri="{FF2B5EF4-FFF2-40B4-BE49-F238E27FC236}">
                <a16:creationId xmlns:a16="http://schemas.microsoft.com/office/drawing/2014/main" id="{CD5A056E-E33A-49E1-BE4A-AD3DBB7B5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802" y="1484475"/>
            <a:ext cx="2446346" cy="1511911"/>
          </a:xfrm>
          <a:prstGeom prst="rect">
            <a:avLst/>
          </a:prstGeom>
        </p:spPr>
      </p:pic>
      <p:sp>
        <p:nvSpPr>
          <p:cNvPr id="3" name="Text 10">
            <a:extLst>
              <a:ext uri="{FF2B5EF4-FFF2-40B4-BE49-F238E27FC236}">
                <a16:creationId xmlns:a16="http://schemas.microsoft.com/office/drawing/2014/main" id="{BD0A1DCF-F98C-47FB-B693-F4EC53061A5C}"/>
              </a:ext>
            </a:extLst>
          </p:cNvPr>
          <p:cNvSpPr/>
          <p:nvPr/>
        </p:nvSpPr>
        <p:spPr>
          <a:xfrm>
            <a:off x="4303302" y="633993"/>
            <a:ext cx="2844749" cy="305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Данные API как объекты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A00C679A-1694-4E79-B228-C233440B92BB}"/>
              </a:ext>
            </a:extLst>
          </p:cNvPr>
          <p:cNvSpPr/>
          <p:nvPr/>
        </p:nvSpPr>
        <p:spPr>
          <a:xfrm>
            <a:off x="8780617" y="3233656"/>
            <a:ext cx="2900515" cy="95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Ответы от API естественно ложатся на объектную модель. Структура удобна для передачи, трансформации и отображения.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243C54E0-1BB5-4162-947D-36FD2FF85BA1}"/>
              </a:ext>
            </a:extLst>
          </p:cNvPr>
          <p:cNvSpPr/>
          <p:nvPr/>
        </p:nvSpPr>
        <p:spPr>
          <a:xfrm>
            <a:off x="2147939" y="104534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ea typeface="Instrument Sans SemiBold" pitchFamily="34" charset="-122"/>
                <a:cs typeface="Times New Roman" panose="02020603050405020304" pitchFamily="18" charset="0"/>
              </a:rPr>
              <a:t>Объектная модель сущностей мобильного приложения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FBEEE695-BE29-470E-9929-8F27692406A2}"/>
              </a:ext>
            </a:extLst>
          </p:cNvPr>
          <p:cNvSpPr/>
          <p:nvPr/>
        </p:nvSpPr>
        <p:spPr>
          <a:xfrm>
            <a:off x="610228" y="1044717"/>
            <a:ext cx="3535757" cy="5708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const apiResponse =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status: "success",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code: 200,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data: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products: [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{ id: 1, title: "Товар 1", price: 1000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{ id: 2, title: "Товар 2", price: 2000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],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meta: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total: 2,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page: 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getData()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return this.status === "success"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? this.data : null;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},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isSuccess() {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return this.code &gt;= 200 &amp;&amp; this.code &lt; 300;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}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};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5106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935B5D-3D2D-D0D1-049E-62E21BD0B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1471" y="187151"/>
            <a:ext cx="4989058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1. Почему выводится undefined?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55DCD6-A32B-5CBC-EA8E-A92A7D368400}"/>
              </a:ext>
            </a:extLst>
          </p:cNvPr>
          <p:cNvSpPr txBox="1"/>
          <p:nvPr/>
        </p:nvSpPr>
        <p:spPr>
          <a:xfrm>
            <a:off x="283867" y="742611"/>
            <a:ext cx="60943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ошибку и исправьте код так, чтобы программа вывела:</a:t>
            </a:r>
          </a:p>
          <a:p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9F64FDD-3A0E-7DC4-5BEE-09B2DA86B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9882" y="742611"/>
            <a:ext cx="1918539" cy="33855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Цена товара: 54990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6BF566-3649-1D70-BBE0-019B4C2B232E}"/>
              </a:ext>
            </a:extLst>
          </p:cNvPr>
          <p:cNvSpPr txBox="1"/>
          <p:nvPr/>
        </p:nvSpPr>
        <p:spPr>
          <a:xfrm>
            <a:off x="424543" y="1236515"/>
            <a:ext cx="60943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Смартфон"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54990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inStock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"price"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Цена товара:"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33DF4F-4493-7DBF-79F8-542BA6C3B0E0}"/>
              </a:ext>
            </a:extLst>
          </p:cNvPr>
          <p:cNvSpPr txBox="1"/>
          <p:nvPr/>
        </p:nvSpPr>
        <p:spPr>
          <a:xfrm>
            <a:off x="715946" y="4027772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Правильный вариант: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10E6AD-6143-96EA-713C-F06222C480A6}"/>
              </a:ext>
            </a:extLst>
          </p:cNvPr>
          <p:cNvSpPr txBox="1"/>
          <p:nvPr/>
        </p:nvSpPr>
        <p:spPr>
          <a:xfrm>
            <a:off x="715946" y="4555122"/>
            <a:ext cx="60943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Цена товара:"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field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CE303C-5FEF-00C6-7AEC-0368D4170E99}"/>
              </a:ext>
            </a:extLst>
          </p:cNvPr>
          <p:cNvSpPr txBox="1"/>
          <p:nvPr/>
        </p:nvSpPr>
        <p:spPr>
          <a:xfrm>
            <a:off x="715946" y="4999960"/>
            <a:ext cx="60943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Ещё один правильный вариант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название свойства известно заранее: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C3D13F-11A3-E00C-6B59-804AA0EEE155}"/>
              </a:ext>
            </a:extLst>
          </p:cNvPr>
          <p:cNvSpPr txBox="1"/>
          <p:nvPr/>
        </p:nvSpPr>
        <p:spPr>
          <a:xfrm>
            <a:off x="715946" y="5621485"/>
            <a:ext cx="60943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Цена товара:"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12090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6B2AA6-74D2-6957-5C87-C2919557D376}"/>
              </a:ext>
            </a:extLst>
          </p:cNvPr>
          <p:cNvSpPr txBox="1"/>
          <p:nvPr/>
        </p:nvSpPr>
        <p:spPr>
          <a:xfrm>
            <a:off x="3305288" y="331701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2. Метод работает, но имя не выводится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F371DE-84EC-787A-4CD0-F9D806134E55}"/>
              </a:ext>
            </a:extLst>
          </p:cNvPr>
          <p:cNvSpPr txBox="1"/>
          <p:nvPr/>
        </p:nvSpPr>
        <p:spPr>
          <a:xfrm>
            <a:off x="465268" y="855544"/>
            <a:ext cx="60942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Программист ожидает: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AD60FB5-744E-F8DA-9CFB-A60C0C59E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925" y="861234"/>
            <a:ext cx="2258823" cy="33855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Пользователь: Алексей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A873A4-A535-5F26-97E4-ECA524EBA1C4}"/>
              </a:ext>
            </a:extLst>
          </p:cNvPr>
          <p:cNvSpPr txBox="1"/>
          <p:nvPr/>
        </p:nvSpPr>
        <p:spPr>
          <a:xfrm>
            <a:off x="465268" y="1902359"/>
            <a:ext cx="609420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Алексей"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b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getInfo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Пользователь: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getInfo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400FA-BEDD-559B-26DD-038FC079AD37}"/>
              </a:ext>
            </a:extLst>
          </p:cNvPr>
          <p:cNvSpPr txBox="1"/>
          <p:nvPr/>
        </p:nvSpPr>
        <p:spPr>
          <a:xfrm>
            <a:off x="465268" y="1360717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ошибку: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1D78195-0B62-3CF1-5C45-8464F34F9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626" y="1902359"/>
            <a:ext cx="228299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Правильный вариант: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6BE1D7-5962-6A04-D8D3-E4CDF2615ECF}"/>
              </a:ext>
            </a:extLst>
          </p:cNvPr>
          <p:cNvSpPr txBox="1"/>
          <p:nvPr/>
        </p:nvSpPr>
        <p:spPr>
          <a:xfrm>
            <a:off x="6743253" y="2320144"/>
            <a:ext cx="44447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Алексей"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getInfo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Пользователь: 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getInfo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9F2153F6-BC4F-E153-C6EF-E2FEC70F0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6259" y="4476866"/>
            <a:ext cx="259237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Правильный вариант №2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D440EB-8342-4E65-53E4-E1C62464190E}"/>
              </a:ext>
            </a:extLst>
          </p:cNvPr>
          <p:cNvSpPr txBox="1"/>
          <p:nvPr/>
        </p:nvSpPr>
        <p:spPr>
          <a:xfrm>
            <a:off x="6743253" y="4855253"/>
            <a:ext cx="479970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Алексей"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b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getInfo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Пользователь: </a:t>
            </a:r>
            <a:r>
              <a:rPr lang="ru-RU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getInfo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353900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6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730B30-DA17-0CE6-CA00-D0D85F5C6556}"/>
              </a:ext>
            </a:extLst>
          </p:cNvPr>
          <p:cNvSpPr txBox="1"/>
          <p:nvPr/>
        </p:nvSpPr>
        <p:spPr>
          <a:xfrm>
            <a:off x="3454400" y="2580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3. Программа падает при отсутствии свойства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9F350B-89BE-A1AC-5231-5732A581A9A1}"/>
              </a:ext>
            </a:extLst>
          </p:cNvPr>
          <p:cNvSpPr txBox="1"/>
          <p:nvPr/>
        </p:nvSpPr>
        <p:spPr>
          <a:xfrm>
            <a:off x="609601" y="1305342"/>
            <a:ext cx="6096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Марина"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contacts: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phone: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"+7 999 123-45-67"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contacts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B6DE9D-3BEB-3243-0B1D-B135850D7732}"/>
              </a:ext>
            </a:extLst>
          </p:cNvPr>
          <p:cNvSpPr txBox="1"/>
          <p:nvPr/>
        </p:nvSpPr>
        <p:spPr>
          <a:xfrm>
            <a:off x="609601" y="862031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выдаёт ошибку.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0A162E3-0B1B-C993-13C4-50570D25E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1" y="3539384"/>
            <a:ext cx="915539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Подсказка: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Необходимо изменить только последнюю строку, чтобы программа не падала, если </a:t>
            </a:r>
            <a:r>
              <a:rPr kumimoji="0" lang="ru-RU" altLang="ru-RU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kumimoji="0" lang="ru-RU" altLang="ru-RU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отсутствует.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276AE8-4A1B-A6E9-58C4-53B8ED0218ED}"/>
              </a:ext>
            </a:extLst>
          </p:cNvPr>
          <p:cNvSpPr txBox="1"/>
          <p:nvPr/>
        </p:nvSpPr>
        <p:spPr>
          <a:xfrm>
            <a:off x="609601" y="418997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Правильный вариант: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350ECD-A111-3FBA-5DF2-C050344509D9}"/>
              </a:ext>
            </a:extLst>
          </p:cNvPr>
          <p:cNvSpPr txBox="1"/>
          <p:nvPr/>
        </p:nvSpPr>
        <p:spPr>
          <a:xfrm>
            <a:off x="609601" y="459434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contacts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?.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Что выведет?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49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BFF4B5-DB93-6EBD-1AD0-D751F46680FD}"/>
              </a:ext>
            </a:extLst>
          </p:cNvPr>
          <p:cNvSpPr txBox="1"/>
          <p:nvPr/>
        </p:nvSpPr>
        <p:spPr>
          <a:xfrm>
            <a:off x="3686629" y="22899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4. Где потерялась переменная?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8248A-5F0C-447F-FB85-9B8BF8799DED}"/>
              </a:ext>
            </a:extLst>
          </p:cNvPr>
          <p:cNvSpPr txBox="1"/>
          <p:nvPr/>
        </p:nvSpPr>
        <p:spPr>
          <a:xfrm>
            <a:off x="638629" y="95470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Программист хочет получить: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D1806-24B8-D509-470A-218D9FCE1042}"/>
              </a:ext>
            </a:extLst>
          </p:cNvPr>
          <p:cNvSpPr txBox="1"/>
          <p:nvPr/>
        </p:nvSpPr>
        <p:spPr>
          <a:xfrm>
            <a:off x="4731657" y="954705"/>
            <a:ext cx="2380343" cy="8617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Название: Наушники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Цена: 7990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Скидка: 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4171E7-0C45-F6C1-6545-CEDBF0594FDE}"/>
              </a:ext>
            </a:extLst>
          </p:cNvPr>
          <p:cNvSpPr txBox="1"/>
          <p:nvPr/>
        </p:nvSpPr>
        <p:spPr>
          <a:xfrm>
            <a:off x="638629" y="2172862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код содержит ошибку.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D6CBF9-5C13-73AB-2749-BE7D84B0D326}"/>
              </a:ext>
            </a:extLst>
          </p:cNvPr>
          <p:cNvSpPr txBox="1"/>
          <p:nvPr/>
        </p:nvSpPr>
        <p:spPr>
          <a:xfrm>
            <a:off x="638629" y="2518151"/>
            <a:ext cx="6096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Наушники"</a:t>
            </a:r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ru-RU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7990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productName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=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Название: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Цена: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Скидка: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discount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49C431-9D89-DAF1-42F0-CD867B07BE34}"/>
              </a:ext>
            </a:extLst>
          </p:cNvPr>
          <p:cNvSpPr txBox="1"/>
          <p:nvPr/>
        </p:nvSpPr>
        <p:spPr>
          <a:xfrm>
            <a:off x="6386286" y="2166127"/>
            <a:ext cx="4412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Правильный вариант: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F39519-A6F2-7764-1858-A1F0AE29FE59}"/>
              </a:ext>
            </a:extLst>
          </p:cNvPr>
          <p:cNvSpPr txBox="1"/>
          <p:nvPr/>
        </p:nvSpPr>
        <p:spPr>
          <a:xfrm>
            <a:off x="6313714" y="2460954"/>
            <a:ext cx="508000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Название: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productName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Цена: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Скидка: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discount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199DCE-3501-B525-F4B2-590328D685C6}"/>
              </a:ext>
            </a:extLst>
          </p:cNvPr>
          <p:cNvSpPr txBox="1"/>
          <p:nvPr/>
        </p:nvSpPr>
        <p:spPr>
          <a:xfrm>
            <a:off x="6313714" y="338428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Правильный вариант №2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переименование вообще не нужно: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0ECF0C-5124-ED7D-29AF-E89D4B268F3E}"/>
              </a:ext>
            </a:extLst>
          </p:cNvPr>
          <p:cNvSpPr txBox="1"/>
          <p:nvPr/>
        </p:nvSpPr>
        <p:spPr>
          <a:xfrm>
            <a:off x="6386286" y="4030615"/>
            <a:ext cx="453571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discount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=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product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Название: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Цена: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price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ru-RU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Скидка: </a:t>
            </a:r>
            <a:r>
              <a:rPr lang="ru-RU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discount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29600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A62745-73E2-66C6-0375-93C0CCB25760}"/>
              </a:ext>
            </a:extLst>
          </p:cNvPr>
          <p:cNvSpPr txBox="1"/>
          <p:nvPr/>
        </p:nvSpPr>
        <p:spPr>
          <a:xfrm>
            <a:off x="3556000" y="2289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5. Почему изменился исходный объект?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7A269A-4EC2-F3CE-9EA8-829A69F4B105}"/>
              </a:ext>
            </a:extLst>
          </p:cNvPr>
          <p:cNvSpPr txBox="1"/>
          <p:nvPr/>
        </p:nvSpPr>
        <p:spPr>
          <a:xfrm>
            <a:off x="406399" y="787178"/>
            <a:ext cx="896982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Программист хочет создать копию настроек пользователя и изменить тему только в копии.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DC158-8AA0-4FE7-E9CC-B60655407566}"/>
              </a:ext>
            </a:extLst>
          </p:cNvPr>
          <p:cNvSpPr txBox="1"/>
          <p:nvPr/>
        </p:nvSpPr>
        <p:spPr>
          <a:xfrm>
            <a:off x="406399" y="1314587"/>
            <a:ext cx="609600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language: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ru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appearance: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"dark"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...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appearance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"light"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appearance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appearance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E8E04D-224A-6661-E8D6-D001067C8AD6}"/>
              </a:ext>
            </a:extLst>
          </p:cNvPr>
          <p:cNvSpPr txBox="1"/>
          <p:nvPr/>
        </p:nvSpPr>
        <p:spPr>
          <a:xfrm>
            <a:off x="508000" y="495053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Программист ожидал: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041E66BB-4DCB-AD70-11D6-E11561AB8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9257" y="4873596"/>
            <a:ext cx="614271" cy="5847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161E09-7733-36EA-9966-0FC554833BE3}"/>
              </a:ext>
            </a:extLst>
          </p:cNvPr>
          <p:cNvSpPr txBox="1"/>
          <p:nvPr/>
        </p:nvSpPr>
        <p:spPr>
          <a:xfrm>
            <a:off x="568392" y="554341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 получил: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EDD2F25A-E1B9-6984-B222-726856359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0" y="5498826"/>
            <a:ext cx="614271" cy="584775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D24C711-9125-651B-7674-3A96706F1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380052"/>
            <a:ext cx="452348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Правильный вариант №1 — </a:t>
            </a:r>
            <a:r>
              <a:rPr kumimoji="0" lang="ru-RU" altLang="ru-RU" sz="1600" b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structuredClone</a:t>
            </a:r>
            <a:r>
              <a:rPr kumimoji="0" lang="ru-RU" altLang="ru-RU" sz="16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2A3BA5-B6F8-BFED-8636-44E5D35ECBF1}"/>
              </a:ext>
            </a:extLst>
          </p:cNvPr>
          <p:cNvSpPr txBox="1"/>
          <p:nvPr/>
        </p:nvSpPr>
        <p:spPr>
          <a:xfrm>
            <a:off x="6154056" y="1680756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structuredClone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appearance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"light"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appearance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dark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appearance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light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3FB8FB-E759-BD09-39A7-B0E52A290A07}"/>
              </a:ext>
            </a:extLst>
          </p:cNvPr>
          <p:cNvSpPr txBox="1"/>
          <p:nvPr/>
        </p:nvSpPr>
        <p:spPr>
          <a:xfrm>
            <a:off x="6096000" y="3381843"/>
            <a:ext cx="61250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Правильный вариант №2 — копирование вложенного объекта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9EC978-FD35-F312-2BFD-AE0098DDA7FA}"/>
              </a:ext>
            </a:extLst>
          </p:cNvPr>
          <p:cNvSpPr txBox="1"/>
          <p:nvPr/>
        </p:nvSpPr>
        <p:spPr>
          <a:xfrm>
            <a:off x="6066972" y="3780957"/>
            <a:ext cx="61250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...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appearance: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appearance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appearance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"light"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appearance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dark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appearance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light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24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2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FE51C5-35B4-21AA-4A9F-B33B0FB940F1}"/>
              </a:ext>
            </a:extLst>
          </p:cNvPr>
          <p:cNvSpPr txBox="1"/>
          <p:nvPr/>
        </p:nvSpPr>
        <p:spPr>
          <a:xfrm>
            <a:off x="508000" y="678934"/>
            <a:ext cx="104793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мобильного приложения есть три объекта настроек.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Программист хочет объедините настройки из трех объектов в объект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помощью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spread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-оператора.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1E0AD8-FC39-A6D1-C1B6-138B02034D81}"/>
              </a:ext>
            </a:extLst>
          </p:cNvPr>
          <p:cNvSpPr txBox="1"/>
          <p:nvPr/>
        </p:nvSpPr>
        <p:spPr>
          <a:xfrm>
            <a:off x="3556000" y="2289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6. Настройки из трёх источников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6065DA-8772-1733-5212-5439EA81CF7F}"/>
              </a:ext>
            </a:extLst>
          </p:cNvPr>
          <p:cNvSpPr txBox="1"/>
          <p:nvPr/>
        </p:nvSpPr>
        <p:spPr>
          <a:xfrm>
            <a:off x="217713" y="1602264"/>
            <a:ext cx="1010194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defaults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"light"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language: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ru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notifications: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push: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sms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serverSettings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fontSize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16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notifications: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sms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};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userSettings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theme: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"dark"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notifications: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email: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};</a:t>
            </a:r>
          </a:p>
          <a:p>
            <a:endParaRPr lang="ru-RU" sz="1600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...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defaults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...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serverSettings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...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userSettings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};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notifications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30F7D3-472C-024F-88C1-1BD0950C4D0A}"/>
              </a:ext>
            </a:extLst>
          </p:cNvPr>
          <p:cNvSpPr txBox="1"/>
          <p:nvPr/>
        </p:nvSpPr>
        <p:spPr>
          <a:xfrm>
            <a:off x="8752113" y="1682875"/>
            <a:ext cx="2743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результат: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303B4E-9BDD-B67E-F78B-80051F3C7948}"/>
              </a:ext>
            </a:extLst>
          </p:cNvPr>
          <p:cNvSpPr txBox="1"/>
          <p:nvPr/>
        </p:nvSpPr>
        <p:spPr>
          <a:xfrm>
            <a:off x="8701312" y="2189419"/>
            <a:ext cx="3236687" cy="16004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theme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'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dark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'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fontSize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16,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{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sms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830E40-A186-11A6-E421-026CAA70E050}"/>
              </a:ext>
            </a:extLst>
          </p:cNvPr>
          <p:cNvSpPr txBox="1"/>
          <p:nvPr/>
        </p:nvSpPr>
        <p:spPr>
          <a:xfrm>
            <a:off x="5435599" y="4640788"/>
            <a:ext cx="6096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settings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...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defaults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...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serverSettings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...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userSettings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notifications: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defaults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notifications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serverSettings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notifications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...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userSettings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notifications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BB7071-FAC0-B7A5-9E24-27C397462B57}"/>
              </a:ext>
            </a:extLst>
          </p:cNvPr>
          <p:cNvSpPr txBox="1"/>
          <p:nvPr/>
        </p:nvSpPr>
        <p:spPr>
          <a:xfrm>
            <a:off x="5435599" y="4264211"/>
            <a:ext cx="44123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Правильный вариант:</a:t>
            </a:r>
          </a:p>
        </p:txBody>
      </p:sp>
    </p:spTree>
    <p:extLst>
      <p:ext uri="{BB962C8B-B14F-4D97-AF65-F5344CB8AC3E}">
        <p14:creationId xmlns:p14="http://schemas.microsoft.com/office/powerpoint/2010/main" val="411768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theme/theme1.xml><?xml version="1.0" encoding="utf-8"?>
<a:theme xmlns:a="http://schemas.openxmlformats.org/drawingml/2006/main" name="1_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11080</Words>
  <Application>Microsoft Office PowerPoint</Application>
  <PresentationFormat>Широкоэкранный</PresentationFormat>
  <Paragraphs>1821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31" baseType="lpstr">
      <vt:lpstr>Aptos</vt:lpstr>
      <vt:lpstr>Arial</vt:lpstr>
      <vt:lpstr>BlinkMacSystemFont</vt:lpstr>
      <vt:lpstr>Calibri</vt:lpstr>
      <vt:lpstr>Consolas</vt:lpstr>
      <vt:lpstr>Courier New</vt:lpstr>
      <vt:lpstr>Google Sans</vt:lpstr>
      <vt:lpstr>KyivType Sans Heavy</vt:lpstr>
      <vt:lpstr>Symbol</vt:lpstr>
      <vt:lpstr>Times New Roman</vt:lpstr>
      <vt:lpstr>1_Тема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Преподаватель</dc:creator>
  <cp:lastModifiedBy>Наиля Мавлюдова</cp:lastModifiedBy>
  <cp:revision>12</cp:revision>
  <dcterms:created xsi:type="dcterms:W3CDTF">2026-10-01T09:35:34Z</dcterms:created>
  <dcterms:modified xsi:type="dcterms:W3CDTF">2026-10-06T07:06:30Z</dcterms:modified>
</cp:coreProperties>
</file>