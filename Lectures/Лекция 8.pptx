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Средний стиль 4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0784" autoAdjust="0"/>
  </p:normalViewPr>
  <p:slideViewPr>
    <p:cSldViewPr snapToGrid="0">
      <p:cViewPr varScale="1">
        <p:scale>
          <a:sx n="50" d="100"/>
          <a:sy n="50" d="100"/>
        </p:scale>
        <p:origin x="190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BADA4A-DF54-49BD-84A8-4D59E32D4F96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E54A-FB90-45F1-B97F-1F831B8BBB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5908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React Native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кроссплатформенный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фреймворк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открытым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исходным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Android и iOS.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кроссплатформенный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разработчик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кодовую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базу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операционных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систем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Основными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инструментами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выступают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библиотека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разграничить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и React Native. React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библиотека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веб-разработке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опирается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принципы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специальные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веб-странице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был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div,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Text.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идею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профиля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вручную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средствами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Android и iOS.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JavaScript и JSX, а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обеспечивает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устройстве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Сейчас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интересует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прежде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складывается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небольших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управлять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540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Представьте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большой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интернет-магазина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шапка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поиска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профиля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попытаться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сразу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длинным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фрагментом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неудобен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Гораздо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разумнее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законченные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отвечает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задачу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очень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составным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Составные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объединяет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себя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View, Text и Image.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Почему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Во-первых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Во-вторых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легче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разрабатывать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небольшие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третьих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отражается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местах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Наконец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проще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расширять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новыми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себе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ответственность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шапка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поиск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107950">
              <a:lnSpc>
                <a:spcPct val="117000"/>
              </a:lnSpc>
              <a:spcAft>
                <a:spcPts val="300"/>
              </a:spcAft>
            </a:pPr>
            <a:r>
              <a:rPr lang="en-US" sz="1800" b="1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Вопрос</a:t>
            </a:r>
            <a:r>
              <a:rPr lang="en-US" sz="1800" b="1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является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34315">
              <a:lnSpc>
                <a:spcPct val="117000"/>
              </a:lnSpc>
              <a:spcAft>
                <a:spcPts val="600"/>
              </a:spcAft>
            </a:pPr>
            <a:r>
              <a:rPr lang="en-US" sz="1800" b="1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Ответ</a:t>
            </a:r>
            <a:r>
              <a:rPr lang="en-US" sz="1800" b="1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543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выделяют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Начнём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Core Components,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предоставляемые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импортировать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относятся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View, Text, Image,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ScrollView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Pressable.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группирует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Image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показывает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ScrollView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делает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прокручиваемым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Pressable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обрабатывает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нажатия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понимать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строительный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сможем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полноценного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следующих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подробнее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научимся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объединять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собственные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135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группа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Custom Components.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включать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Header,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SearchBar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UserProfile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списке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базовых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разработчик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придумывает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реализует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Допустим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Image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фотографией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Text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размещения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сложный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постепенно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собирается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Header,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UserProfile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увидим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почему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Сейчас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запомним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различие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предоставляет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разработчик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задачи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893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Предположим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десять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копировать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вручную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фрагменты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повторяться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исправлять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придётся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копию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лишний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риск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многократно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вставляем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уменьшает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однотипного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поддерживает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помогает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масштабировать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необходимо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различать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жёстко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увидим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недостаток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механизм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props;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лекции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учимся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6484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идея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иерархии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включать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дерево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Давайте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интернет-магазин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Вверху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Header,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SearchBar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ProductList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ProductList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очередь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состоит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Image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базовых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Почему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дерево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родитель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ProductList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родитель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устроен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задачу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мысленно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шапку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каталог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продолжит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оставаться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частью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Предложите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проследить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путь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корневого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App →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ProductList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→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→ Text.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схема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помогает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ещё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будущего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построения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сложных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941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базовых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View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располагают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группировки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отступов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себе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подписей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шрифта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цвет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жирность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выравнивание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располагаться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отличие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привычной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Image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source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источник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style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resizeMode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управляет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размещения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картинки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816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интерактивные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клавиатуры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placeholder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подсказку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value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текущее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onChangeText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обработчик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keyboardType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тип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клавиатуры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secureTextEntry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скрытие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символов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пароля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подсказкой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полноценное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разбирать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ScrollView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помещается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Помещаем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прокрутить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страницу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профиля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достижениями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информационными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ScrollView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формирует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сразу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прежде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сравнительно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небольших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страниц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Pressable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реагирующая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прикосновения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onPress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действие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нажатии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onPressIn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срабатывает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начале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касания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onPressOut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окончания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onLongPress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длительном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удержании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Однако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себе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Pressable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автоматического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потребуются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соответствующая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механизм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обновления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Сегодня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наша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задача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распознавать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размещать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06244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записываются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CSS-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файл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любого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визуального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цвет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шрифта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отступы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границы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характеристики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небольшой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непосредственно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JSX: style={{ color: 'blue',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20 }}.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двойные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сейчас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Внутренние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составных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пишутся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camelCase: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background-color,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backgroundColor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font-size,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организованного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StyleSheet.create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().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styles,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именованные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наборы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title,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style={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styles.title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и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остаётся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легче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читать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title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делает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приветствие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увеличенным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полужирным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месте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Предложите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прочитать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style={{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20, color: 'blue' }}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последовательно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переводят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к JavaScript,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внутренние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обозначают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числовой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шрифта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20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цвет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blue.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аналогичную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style={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styles.title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заранее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StyleSheet.create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().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9890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свяжем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изученные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реальным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интернет-магазина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области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выведет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Image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фотографии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поиска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ScrollView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прокручивать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каталог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Pressable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область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нажатия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корзину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перечисленных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является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появляется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объединяем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вкладываем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распределяем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стандартных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сделать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страницу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каталога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Предложите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повседневной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мысленно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перечислить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необходимые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запомнить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механически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задачи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подобрать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подходящий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инструмент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завершаем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обзор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переходим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синтаксису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JSX.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8682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JSX,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 XML,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расширение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синтаксиса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JavaScript,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помощью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Снаружи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напоминает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записываются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вкладываться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HTML: 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div и 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Text.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веб-разметке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выглядеть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&lt;div&gt;&lt;p&gt;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!&lt;/p&gt;&lt;/div&gt;. 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аналогичная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&lt;View&gt;&lt;Text&gt;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!&lt;/Text&gt;&lt;/View&gt;.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Идея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вложенности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похожа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Почему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рядом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подставлять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прямо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видимые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последовательность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ручного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указываем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Далее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научимся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читать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9381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записывают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непосредственно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чаще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выступает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дочерними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заголовком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страница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приветственным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сверху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{ View, Text } from 'react-native'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подключает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function App()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 (...)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вывести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конце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export default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делает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экспортом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файла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удалим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импорт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ожидается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преобразуется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инструментами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сборки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вызовы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воспринимать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страницу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телефона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будущего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обязательные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сверху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react-native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импортируются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Text.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дочерними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страница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и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export default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экспорт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файла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3900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программировании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встречаются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организации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действий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пошаговом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императивном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подробно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указываем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действия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декларативном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прежде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желаемый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JSX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декларативного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и HTML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таблице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HTML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веб-страниц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div, p,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img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input. 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применяются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View, Text, Image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подставлять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выглядеть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onPress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onChangeText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являются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Кроме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смешивать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среды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из-за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сходства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синтаксиса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умеет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стилизации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обработка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взаимодействия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несмотря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похожую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6409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возможностей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подстановка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арифметическое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переписывания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указаны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name —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price — 4500, quantity — 2 и available — true.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{product.name}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product.price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product.quantity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product.price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*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product.quantity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рассчитывает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стоимость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4500 × 2 = 9000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Наконец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выбирает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подписей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Поскольку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available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true,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проговорить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символов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буквально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React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вставляет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полученный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связывать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визуальными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Пройдите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product: name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price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4500, quantity — 2, available — true.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Подстановка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product.name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выведет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product.price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product.price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*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product.quantity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9000.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available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выберет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заменить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available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выбранная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ветвь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69416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применяются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открывающим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закрывающим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передаче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placeholder="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Введите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placeholder={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hintText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берёт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hintText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подсказки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заранее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хранится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Особенно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встречается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style={{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20, color: 'blue' }}.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внешняя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внутренняя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передаётся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style.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styles.title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style={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styles.title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},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дополнительных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нового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ограничение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дающие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let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инструкцию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if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команду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действия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располагают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return;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итоговый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0028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Перейдём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синтаксическим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открытый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самозакрывающуюся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placeholder="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Введите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 /&gt;.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приведён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ошибки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открылся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закрытия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следующий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невозможно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восстановить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ожидаемую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Исправление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состоит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прежде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Проговорите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открывающем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закрывающем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совпадать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порядок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нарушать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Попросите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скобочное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открываем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конце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закрываем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особенно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больших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фрагментах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ошибка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мешать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запуску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Покажите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ошибочную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конструкцию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вложенными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последовательность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открывающихся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закрывающихся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тегов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Первый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начинается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завершается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перед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открытием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второго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749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JSX,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возвращаемый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корневой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Корневой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верхний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объединяет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неправильный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пытается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вернуть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сразу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соседних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помещённых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оболочку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Исправление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оборачиваем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View.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становится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корневым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дочерними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угодно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Следовательно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ограничивает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кнопок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требует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Уточните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практический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смысл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читаем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ищем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верхний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мысленно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спускаемся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вложениям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пригодится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изображениями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Предложите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придумать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трёх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подходящий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7278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Третье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связано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UserProfile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SearchBar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AppHeader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имён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принято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PascalCase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пробелы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ставятся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неправильный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/&gt;.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интерпретироваться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корректный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строчной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воспринимается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/&gt;.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любая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calculateTotal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getDiscount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необходима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собственные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Кроме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регистр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символов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244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Четвёртое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частично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динамические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записываются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username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Анна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age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20.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{username}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{age}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возраст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{age + 1}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возраст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попадёт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«age + 1»,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21.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прямо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время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формирования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инструкции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различаются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age + 1,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const age = 20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if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небольшой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мысленный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эксперимент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заменить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age = 20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age = 25,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вручную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пересчитается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отобразит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26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следующем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формировании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отображаемого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8183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Пятое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имён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Многие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camelCase.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обработчик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нажатия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onPress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обработчик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onChangeText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тип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клавиатуры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keyboardType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принцип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backgroundColor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рядом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неверные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onpress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onchangetext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keyboardtype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backgroundcolor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JavaScript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большие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маленькие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различаются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превращается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автоматически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ожидаемый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цвет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посмотреть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регистр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&lt;Text style={{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20, color: 'blue' }}&gt;...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color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строковое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Заметьте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style,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color.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уровни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4634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Шестое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касается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непосредственно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отличие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&lt;View&gt;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!&lt;/View&gt;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неверна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узла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&lt;View&gt;&lt;Text&gt;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!&lt;/Text&gt;&lt;/View&gt;.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бездумно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переносить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React Native.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div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 —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img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Image,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input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TextInput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h1,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HTML,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Крупный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помощью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fontSize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28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fontWeight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'bold'.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Используйте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мини-проверку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ошибок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смешанный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фрагмент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div и Text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спросите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почему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ответить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синтаксис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себе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ещё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делает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HTML-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соответствующие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оборачивать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Text.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5132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обобщим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возможности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конструкция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определённое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вывести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объявлены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username =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Александр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city =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Москва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age = 22.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соответствующие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увидит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город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возраст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дублировать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вручную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надписях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сослаться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Следующий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user,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name и age.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обращаемся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свойствам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user.name,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user.age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относятся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человеку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Попросите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определить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выведет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{user.name},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объект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name: '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Анна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',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объяснить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ru-RU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первом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хранятся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нескольких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переменных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втором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—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полях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одного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user.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{user.name}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обращается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свойству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name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конкретного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объекта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{name}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без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отдельной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переменной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name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означала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другое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0491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позволяют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подставлять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расчёт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корзины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1500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количество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3,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10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процентов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price * quantity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4500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стоимость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формулу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price * quantity * (1 - discount / 100).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discount / 100 = 0,1.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1 - 0,1 = 0,9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суммы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заплатить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Наконец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4500 × 0,9 = 4050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4050 ₽».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формула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привязана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quantity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discount,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итог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основе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соблюдать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приоритет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операций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ясности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Следующий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вынести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выглядела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проще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0629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становится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сложнее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местах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выделить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calculateDiscount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(price, discount)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стоимость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процент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Формула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price - price * discount / 100.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price = 5000 и discount = 20.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встречает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calculateDiscount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(price, discount)},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вызывается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1000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4000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сумма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рисует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особенно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хорошо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разница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calculateDiscount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ещё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сравнивать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дальнейшем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проговорите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используемая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корректно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вызове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произвольно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975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закончился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профиля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Личный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кабинет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Войдите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аккаунт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выбрать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вариант_если_истина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вариант_если_ложь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isAvailable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true,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заменим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true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закончился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isLoggedIn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выбирает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приглашение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войти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аккаунт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поместить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конструкцию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if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месте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нельзя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исходном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проверки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механизм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обновления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время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работы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существующего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isAvailable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true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 —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закончился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isLoggedIn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false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Войдите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аккаунт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применённый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типам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643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необходимо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выбрать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между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решить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дополнительный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вывести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уведомление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ничего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добавлять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&amp;&amp;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/&gt;.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hasNewMessage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true,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справа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&amp;&amp;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«У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!»,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заголовком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дополнительный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необязательных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подсказок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предупреждений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отметок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конце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особенность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&amp;&amp;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true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слева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находится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0,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оказаться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0.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messageCount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&amp;&amp; &lt;Text&gt;...&lt;/Text&gt;}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messageCount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неудачна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Native.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появиться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неподходящий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числовой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узел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{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messageCount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&gt; 0 &amp;&amp; &lt;Text&gt;...&lt;/Text&gt;}: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вернёт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небольшое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исправление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помогает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избежать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ошибки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делает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пасный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случай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messageCount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= 0.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0 &amp;&amp; &lt;Text&gt;...&lt;/Text&gt;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0,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false. В React Native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узел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непосредственно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недопустим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messageCount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&gt; 0 &amp;&amp; &lt;Text&gt;...&lt;/Text&gt;.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messageCount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&gt; 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даёт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true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false,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ненужный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безопасно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5708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Сравним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научимся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выбирать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подходящий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Тернарный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истине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лжи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подходит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любом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случае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определённый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статус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заказа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Оплачен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либо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Ожидает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оплаты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&amp;&amp;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решает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задачу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дополнительный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появляется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условия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активная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рядом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предупреждение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Специальное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скидки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логическое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необязательных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таблицу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слайда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тернарного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оператора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ложном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условии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выбирается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второй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у &amp;&amp;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логическом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false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выводится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4797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представляет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собой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описывает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похожа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у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параметры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return.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calculateTotal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(price, quantity)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сумму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1500.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Greeting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видимого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Посмотрите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таблицу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вызываем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calculateTotal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(500, 3),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&lt;Greeting /&gt;.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время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null.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упоминается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механизм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передачи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props.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передавать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родительского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дочернему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Сейчас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запомнить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отличие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подробное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обработку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props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разберём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этапе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научимся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параметров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включать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calculateTotal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(500, 3),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1500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полезно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вычислений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Greeting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нужно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вызывать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Greeting()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&lt;Greeting /&gt;.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Спросите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Greeting? JSX-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React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отобразить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мобильном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8443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через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function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стрелочной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function Welcome() { return 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!&lt;/Text&gt;; }.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function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ключевое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Welcome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круглые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параметры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фигурные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return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const Welcome = () =&gt; { return 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!&lt;/Text&gt;; };.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стрелочная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присвоенная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константе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состоит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сократить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const Welcome = () =&gt; (&lt;Text&gt;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!&lt;/Text&gt;);.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сокращённом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выражение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неявно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подчеркнуть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могут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сформировать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уроке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студенты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вправе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function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хорошо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знаком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выбора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назначение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равно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должно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начинаться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заглавной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буквы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в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&lt;Welcome /&gt;.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9835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Оператор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завершает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выполнение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результатом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становится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JSX-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UserProfile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сначала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объявлены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переменные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name и age.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заголовком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двумя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текстовыми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увидит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Профиль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Александр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Возраст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21».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многострочный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принято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помещать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круглые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после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Скобки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позволяют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читать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сразу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внешний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Однострочный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вариант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возможен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return &lt;Text&gt;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!&lt;/Text&gt;;.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Однако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опасно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перенести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новую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остался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Из-за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автоматической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вставки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запятой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JavaScript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фактически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завершить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слове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return,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ожидаемый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JSX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возвращён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1034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ограничен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короткой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Простой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Title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вернуть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Составной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расположены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смартфона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зрения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остаётся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единым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хотя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группу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встроенных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вспомнить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единого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корня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верхним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служит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организованы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правильно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позже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понадобится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фотография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Image.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частям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приложения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обязательно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внутреннюю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работать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224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Рассмотрим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целиком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import { View, Text } from 'react-native'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подключаются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Затем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объявляем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Welcome.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 с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фразой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Добро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пожаловать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!».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маленькая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самостоятельная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часть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Ниже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объявлен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включается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&lt;Welcome /&gt;.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пишем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Welcome()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обычный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имя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JSX. React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элемента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включает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У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установлен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внутренний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отступ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padding: 20,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отступает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краёв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Разделим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программу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ролям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организует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Welcome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отвечает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приветствие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View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предоставляет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Text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выводит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дерево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увидим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→ View → Welcome → Text.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export default function App()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обозначает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экспорт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файла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подключения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корневого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зависит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проекта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показанном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шаблоне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точка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входа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Наконец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спросите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&lt;Welcome /&gt;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подряд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появятся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поскольку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переход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теме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использования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42091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магазина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блоками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Text.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Первая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4500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вторая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клавиатуру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3200,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третья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мышь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1800.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повторяются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почти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контейнер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о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Формально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быть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создан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сопровождать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неудобно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Допустим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захотели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гарантии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придётся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дописать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карточек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понадобится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правок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представим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случайно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получит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другое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оформление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единообразие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интерфейса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нарушится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проблема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а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общая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трижды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Поэтому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стоит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выделить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повторяющийся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функциональный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Тогда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экран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будет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содержать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подробные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копии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Text, а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более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короткие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обращения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повторяющихся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каждой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снова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написаны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несколько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меняются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только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Гарантия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придётся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вносить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исправление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проблема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дублирования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из-за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переходим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отдельных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скопированных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пользовательскому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046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Посмотрите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обновлённый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Теперь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объявили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которая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возвращает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готовую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сохранились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View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Text: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Беспроводные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4500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сообщение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«В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».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главном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вместо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трёх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длинных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блоков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расположены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обращения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к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/&gt;.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выиграли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описана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Если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отступы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цвет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добавить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ещё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одну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достаточно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изменить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реализацию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экземпляра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используют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обновлённую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Код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App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стал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понятнее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тегам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видно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проведём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мысленный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запуск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какое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содержимое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покажут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первая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вторая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третья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?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все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отображают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одни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же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4500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рублей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логично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поскольку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записаны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непосредственно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JSX. 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  <a:p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использовании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/&gt;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раза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создаются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экземпляра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поскольку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самой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зафиксированы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«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Беспроводные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» и «4500 ₽»,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экране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появятся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одинаковые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карточки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Здесь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решено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повторение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структуры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ещё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решена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проблема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разных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данных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для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каждого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экземпляра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8961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предыдущем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устранили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дублирование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разметки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увидели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ограничение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все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экземпляры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показывают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одинаковые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Причина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значения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жёстко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записаны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внутри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функции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конкретное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конкретная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Повторный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вызов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такого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компонента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может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догадаться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какой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требуется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отобразить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>
              <a:lnSpc>
                <a:spcPct val="117000"/>
              </a:lnSpc>
              <a:spcAft>
                <a:spcPts val="600"/>
              </a:spcAft>
            </a:pP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Чтобы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сделать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карточку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универсальной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необходимо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отделить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её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от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Структура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расположение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надписей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изображений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название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цена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наличие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фотография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конкретного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товара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слайде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показан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желаемый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способ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применения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: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title="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Наушники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 price={4500} /&gt;,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title="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Клавиатура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 price={3200} /&gt; и &lt;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ProductCard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title="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Мышь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" price={1800} /&gt;.</a:t>
            </a:r>
            <a:endParaRPr lang="ru-RU" sz="1800" dirty="0">
              <a:solidFill>
                <a:srgbClr val="191919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Это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подводка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к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механизму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props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свойствам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компонентов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Обратите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внимание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на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разные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формы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значений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: title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получает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строку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кавычках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, а price —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число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в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фигурных</a:t>
            </a:r>
            <a:r>
              <a:rPr lang="en-US" sz="1800" dirty="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 </a:t>
            </a:r>
            <a:r>
              <a:rPr lang="en-US" sz="1800" dirty="0" err="1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скобках</a:t>
            </a:r>
            <a:r>
              <a:rPr lang="en-US" sz="1800">
                <a:solidFill>
                  <a:srgbClr val="191919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.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0E54A-FB90-45F1-B97F-1F831B8BBB9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79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0D0D4-41B2-6720-1DBA-6572B8D13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60412A-6C6F-5928-0DE2-79B024256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221C59-7A3A-2273-C9B5-5C5304B2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306612-8568-57BB-52DD-BC35A4C72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193D8D-BD21-F580-597B-A0A3D3F3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5948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12F80-ED82-8801-58AB-EE1B2505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F834B5-ADF2-CDAC-FCC8-21A1C6CE6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F49006-6831-FF0E-D9FA-6F7CA59F6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6A79A8-838D-8FCF-3CCE-D806AFBF9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3C12DD-6A0E-4526-09AF-C2C4CBDD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904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446B28-50AA-4140-F85B-1CFCFF55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B62E1E-C910-A5EE-E904-29FD76FC5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6FFD50-2339-1BF3-A152-EB078D1F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068D27F-19C9-C5E4-1407-3A4EF6B2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D6C409-4E68-5E0A-7C7C-7F34A0ED6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067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569F61-D8C4-3ECF-AC9A-3269D539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55F3F4-FB37-836F-05FF-955126BE8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70F846-C984-07D6-807A-BC9543A42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C82C61-F9E1-4138-8E14-C86EDD9E7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B922C1-1F8C-8722-6BBB-B50CC3AF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0777BC9-C3FA-E55E-8938-671813C6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645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9DD67-B98D-348B-37A1-B7A5C12FB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D72993-FA51-C3DB-F35D-1346E8740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EF99E68-BC8C-7AF2-E605-C96EE453F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52D172-82F4-2343-29A5-CF532AEAFC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8FB0C55-66DB-7CA0-4F6D-CF2334BFAB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F9D21C3-C148-3E1D-B98D-33DA763D4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83210B-B900-F58E-9EDB-A44EA855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6FF9AA-E297-1B9C-6514-3F1CFA4D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16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707316-A420-F6C7-B5EB-55AB7310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6F406C0-4D84-C63C-2B7E-6645CFEA0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C9D100D-A492-7850-4CA1-82EBA7380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FFAD54-95CE-039A-F082-33E950FB7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638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409643-0770-2D58-D291-F96938DB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B02D026-77DE-9057-411A-D95282CB9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699AB3-FA24-CA1D-40DB-01D813288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0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92FAC-CB19-7ECC-12B7-D9EB3A33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4429C9-2647-98FB-0CAE-3B071EF17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7F57A63-002C-209F-CCF7-585EF2F62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E14B9DE-7631-F0A5-4995-566745888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7973D3-7EF2-1DB7-05E9-E9580AD40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E89132-ABDC-B688-0C87-3146C8E1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65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7E54EC-D585-57CD-418B-6745A131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C566A4-9477-2961-7279-F069927FA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096668-6D6D-81FF-813A-08FA50C95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F64F8C-8ED7-A31E-07E0-910828BF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14B56E-517B-82A0-B843-37615850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F4BD95-172E-1511-460A-3F3A824B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2488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783F5F-A6FE-C3B9-AD4D-F6FAE240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F56F95-9D09-BC4D-1CF9-F09CCA3EA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CEF09-EA08-E75F-3604-F6A289FDB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A0450C-200F-8BEB-4592-EB66BD13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4E29E3-8EF0-BD76-A4DF-3B008B8C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29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8DDF8FB-E1FE-95B9-2F95-44CAF89EAB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16D6F48-1660-5C19-0711-CC3D12497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EB4669-8B20-C070-3A0C-A3930886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6157EC-86ED-2E49-D9D1-D088B98B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0C729A-7CE9-F778-C1FD-9BB52EEC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661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2460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7739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7058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66392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38040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81523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238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47087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2234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9553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6922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4C22BD-723E-812E-DB4A-DB09B811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756FEB-E71E-BFB5-4748-7A2F53E9C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8FD144-98C7-6101-3C8D-9FC44B30B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C035F-6B01-41B9-B023-7EF8BBF0AA7C}" type="datetimeFigureOut">
              <a:rPr lang="ru-RU" smtClean="0"/>
              <a:t>21.10.2026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ABC93A-8CFF-D04B-A3B4-C8233069D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7BBDEA-A162-82A8-6F88-29BED140E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4E7E2-7182-44C7-A9C9-566A207FB5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0121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2607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526132" y="2331005"/>
            <a:ext cx="834240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Основы </a:t>
            </a:r>
            <a:r>
              <a:rPr kumimoji="0" lang="ru-RU" sz="1800" b="1" i="0" u="none" strike="noStrike" kern="0" cap="none" spc="0" normalizeH="0" baseline="0" noProof="0" dirty="0" err="1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React</a:t>
            </a: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. Компонентный подход. Функциональные компоненты. JSX. 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Разработка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cs typeface="Arial"/>
              </a:rPr>
              <a:t>мобильных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 приложений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1">
            <a:extLst>
              <a:ext uri="{FF2B5EF4-FFF2-40B4-BE49-F238E27FC236}">
                <a16:creationId xmlns:a16="http://schemas.microsoft.com/office/drawing/2014/main" id="{4EB1E195-EBBD-05DC-22E9-DD0C5B2A1EDF}"/>
              </a:ext>
            </a:extLst>
          </p:cNvPr>
          <p:cNvSpPr/>
          <p:nvPr/>
        </p:nvSpPr>
        <p:spPr>
          <a:xfrm>
            <a:off x="100021" y="5820061"/>
            <a:ext cx="6566907" cy="1037939"/>
          </a:xfrm>
          <a:prstGeom prst="roundRect">
            <a:avLst>
              <a:gd name="adj" fmla="val 17369"/>
            </a:avLst>
          </a:prstGeom>
          <a:solidFill>
            <a:srgbClr val="CEE6FD"/>
          </a:solidFill>
          <a:ln/>
        </p:spPr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9C827221-AFD0-22CB-1E0C-FEE075731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76" y="6009469"/>
            <a:ext cx="126562" cy="1452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8BFC81-93E3-9CA6-834E-7E5766212EA4}"/>
              </a:ext>
            </a:extLst>
          </p:cNvPr>
          <p:cNvSpPr txBox="1"/>
          <p:nvPr/>
        </p:nvSpPr>
        <p:spPr>
          <a:xfrm>
            <a:off x="3048000" y="27745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Native?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3292FD-79DC-B831-0354-10D6FFDFBB0F}"/>
              </a:ext>
            </a:extLst>
          </p:cNvPr>
          <p:cNvSpPr txBox="1"/>
          <p:nvPr/>
        </p:nvSpPr>
        <p:spPr>
          <a:xfrm>
            <a:off x="403122" y="972149"/>
            <a:ext cx="110907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кроссплатформенный фреймворк с открытым исходным кодом, предназначенный для разработки мобильных приложений под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языка программирования JavaScript и библиотеки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31EC85-2868-CB5B-0A31-A0C5D0553A2A}"/>
              </a:ext>
            </a:extLst>
          </p:cNvPr>
          <p:cNvSpPr txBox="1"/>
          <p:nvPr/>
        </p:nvSpPr>
        <p:spPr>
          <a:xfrm>
            <a:off x="403122" y="1556923"/>
            <a:ext cx="11021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идея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заключается в том, что разработчик описывает внешний вид и поведение приложения с помощью JavaScript и компонентов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обеспечивает их отображение с использованием нативных элементов операционной системы.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95AA16-83B3-419A-50D5-43077466877C}"/>
              </a:ext>
            </a:extLst>
          </p:cNvPr>
          <p:cNvSpPr txBox="1"/>
          <p:nvPr/>
        </p:nvSpPr>
        <p:spPr>
          <a:xfrm>
            <a:off x="-1030037" y="242621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Отличие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F19E71-CC97-BE3E-C42C-632B338A21AC}"/>
              </a:ext>
            </a:extLst>
          </p:cNvPr>
          <p:cNvSpPr txBox="1"/>
          <p:nvPr/>
        </p:nvSpPr>
        <p:spPr>
          <a:xfrm>
            <a:off x="323609" y="2822358"/>
            <a:ext cx="4578626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библиотека JavaScript для создания пользовательских интерфейсов. Часто используется при разработке веб-приложений, где интерфейс строится с помощью HTML-элементов.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1A0165-0A0E-FD4B-4F7C-0951EE47600C}"/>
              </a:ext>
            </a:extLst>
          </p:cNvPr>
          <p:cNvSpPr txBox="1"/>
          <p:nvPr/>
        </p:nvSpPr>
        <p:spPr>
          <a:xfrm>
            <a:off x="323609" y="4269751"/>
            <a:ext cx="4578626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фреймворк, использующий возможности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разработки мобильных приложений. Вместо HTML-элементов применяются специальные компоненты, которые отображаются средствами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React vs. React Native: Differences and which to choose | Contentful">
            <a:extLst>
              <a:ext uri="{FF2B5EF4-FFF2-40B4-BE49-F238E27FC236}">
                <a16:creationId xmlns:a16="http://schemas.microsoft.com/office/drawing/2014/main" id="{F1975BD2-3399-218E-0991-5A844E89E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212" y="2719194"/>
            <a:ext cx="5287724" cy="297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B9A0A5B-3648-101E-14EA-4A0DB65E9C67}"/>
              </a:ext>
            </a:extLst>
          </p:cNvPr>
          <p:cNvSpPr txBox="1"/>
          <p:nvPr/>
        </p:nvSpPr>
        <p:spPr>
          <a:xfrm>
            <a:off x="359338" y="5900481"/>
            <a:ext cx="63075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принцип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интерфейс мобильного приложения создаётся путём объединения небольших компонентов в единую структуру, а JavaScript определяет их содержимое и поведение.</a:t>
            </a:r>
          </a:p>
        </p:txBody>
      </p:sp>
    </p:spTree>
    <p:extLst>
      <p:ext uri="{BB962C8B-B14F-4D97-AF65-F5344CB8AC3E}">
        <p14:creationId xmlns:p14="http://schemas.microsoft.com/office/powerpoint/2010/main" val="347468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22ECE6-AB1E-3A07-C3A2-462E2BA3C20E}"/>
              </a:ext>
            </a:extLst>
          </p:cNvPr>
          <p:cNvSpPr txBox="1"/>
          <p:nvPr/>
        </p:nvSpPr>
        <p:spPr>
          <a:xfrm>
            <a:off x="3371075" y="19433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Компонентный подход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FEB02-A0B7-F983-00F6-211D85605CB0}"/>
              </a:ext>
            </a:extLst>
          </p:cNvPr>
          <p:cNvSpPr txBox="1"/>
          <p:nvPr/>
        </p:nvSpPr>
        <p:spPr>
          <a:xfrm>
            <a:off x="363794" y="2413151"/>
            <a:ext cx="114644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Компонентный подход - это принцип разработки, при котором интерфейс приложения разделяется на отдельные независимые и многократно используемые части. Вместо создания всего интерфейса как единого целого разработчик формирует его из небольших компонентов, каждый из которых выполняет определённую задачу.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547A6D-40DC-AAEB-83E2-D441F1313530}"/>
              </a:ext>
            </a:extLst>
          </p:cNvPr>
          <p:cNvSpPr txBox="1"/>
          <p:nvPr/>
        </p:nvSpPr>
        <p:spPr>
          <a:xfrm>
            <a:off x="3527562" y="3310984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компонентного подхода: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52CFCE-E59F-9E99-B4BE-5EC576AC3B67}"/>
              </a:ext>
            </a:extLst>
          </p:cNvPr>
          <p:cNvSpPr txBox="1"/>
          <p:nvPr/>
        </p:nvSpPr>
        <p:spPr>
          <a:xfrm>
            <a:off x="393290" y="4213309"/>
            <a:ext cx="3854245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кода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 компонент можно применять в разных частях приложения.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048272-9077-3E81-2786-8C6893171E8B}"/>
              </a:ext>
            </a:extLst>
          </p:cNvPr>
          <p:cNvSpPr txBox="1"/>
          <p:nvPr/>
        </p:nvSpPr>
        <p:spPr>
          <a:xfrm>
            <a:off x="4650657" y="4214627"/>
            <a:ext cx="339213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Упрощение разработки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Сложный интерфейс создаётся из небольших элементов.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294FF5-0043-4A7F-0E12-BC2BB7D67FE7}"/>
              </a:ext>
            </a:extLst>
          </p:cNvPr>
          <p:cNvSpPr txBox="1"/>
          <p:nvPr/>
        </p:nvSpPr>
        <p:spPr>
          <a:xfrm>
            <a:off x="8337753" y="4213308"/>
            <a:ext cx="354944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сопровождения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 в компоненте отражаются во всех местах его использования.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D66E0E-3639-29C9-5B19-D93D4AC2540A}"/>
              </a:ext>
            </a:extLst>
          </p:cNvPr>
          <p:cNvSpPr txBox="1"/>
          <p:nvPr/>
        </p:nvSpPr>
        <p:spPr>
          <a:xfrm>
            <a:off x="4650657" y="5210742"/>
            <a:ext cx="339213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легче расширять новыми функциями.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11F4E6-D7D4-35F9-74D6-76A7EDC2BF4F}"/>
              </a:ext>
            </a:extLst>
          </p:cNvPr>
          <p:cNvSpPr txBox="1"/>
          <p:nvPr/>
        </p:nvSpPr>
        <p:spPr>
          <a:xfrm>
            <a:off x="2773017" y="193020"/>
            <a:ext cx="68505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компонент интерфейса?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A74F5-98E3-76B0-01AA-61727066DE2E}"/>
              </a:ext>
            </a:extLst>
          </p:cNvPr>
          <p:cNvSpPr txBox="1"/>
          <p:nvPr/>
        </p:nvSpPr>
        <p:spPr>
          <a:xfrm>
            <a:off x="393289" y="816261"/>
            <a:ext cx="114939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- это самостоятельный, логически завершённый элемент пользовательского интерфейса, который отвечает за отображение определённой части мобильного приложения.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пользовательский интерфейс строится из компонентов. Каждый компонент может представлять собой как простой элемент, например текст или кнопку, так и сложную структуру, состоящую из нескольких вложенных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3803433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C3BF72-B5EE-E63A-DA09-888E153E3CC6}"/>
              </a:ext>
            </a:extLst>
          </p:cNvPr>
          <p:cNvSpPr txBox="1"/>
          <p:nvPr/>
        </p:nvSpPr>
        <p:spPr>
          <a:xfrm>
            <a:off x="3047172" y="123447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компонентов в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6AE3BD-3611-5C8A-8CCC-CD232338433A}"/>
              </a:ext>
            </a:extLst>
          </p:cNvPr>
          <p:cNvSpPr txBox="1"/>
          <p:nvPr/>
        </p:nvSpPr>
        <p:spPr>
          <a:xfrm>
            <a:off x="544167" y="708222"/>
            <a:ext cx="100012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выделяют два основных вида компонентов: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8A875-DBFA-46C4-FDFC-45E7C06F2F25}"/>
              </a:ext>
            </a:extLst>
          </p:cNvPr>
          <p:cNvSpPr txBox="1"/>
          <p:nvPr/>
        </p:nvSpPr>
        <p:spPr>
          <a:xfrm>
            <a:off x="544167" y="1046776"/>
            <a:ext cx="1110366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Встроенные компоненты (Core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готовые элементы интерфейса, предоставляемые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Они служат основой для создания мобильных приложений.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4B0006-4392-1CCB-3ACC-4522105F55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665" y="1970105"/>
            <a:ext cx="7470254" cy="420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37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DF0437-377A-E8E6-9464-B233FC21284E}"/>
              </a:ext>
            </a:extLst>
          </p:cNvPr>
          <p:cNvSpPr txBox="1"/>
          <p:nvPr/>
        </p:nvSpPr>
        <p:spPr>
          <a:xfrm>
            <a:off x="3047172" y="123447"/>
            <a:ext cx="60976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Виды компонентов в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981F84-9B0A-BABF-67A4-F25F972FF119}"/>
              </a:ext>
            </a:extLst>
          </p:cNvPr>
          <p:cNvSpPr txBox="1"/>
          <p:nvPr/>
        </p:nvSpPr>
        <p:spPr>
          <a:xfrm>
            <a:off x="653498" y="708222"/>
            <a:ext cx="110051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Пользовательские компоненты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элементы интерфейса, которые разработчик создаёт самостоятельно на основе встроенных или других пользовательских компонентов.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A15E0F-31F2-1F98-0645-851BF112CB93}"/>
              </a:ext>
            </a:extLst>
          </p:cNvPr>
          <p:cNvSpPr txBox="1"/>
          <p:nvPr/>
        </p:nvSpPr>
        <p:spPr>
          <a:xfrm>
            <a:off x="2939498" y="1292997"/>
            <a:ext cx="6097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разработчик может создать собственные компоненты: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C668AB-BF87-4DEE-9C46-C6CC58F12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187" y="1631551"/>
            <a:ext cx="7446065" cy="496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076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AE3511-1D17-924F-0FF6-3A5DCF578C18}"/>
              </a:ext>
            </a:extLst>
          </p:cNvPr>
          <p:cNvSpPr txBox="1"/>
          <p:nvPr/>
        </p:nvSpPr>
        <p:spPr>
          <a:xfrm>
            <a:off x="2750654" y="212899"/>
            <a:ext cx="60976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компонентов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0A4CFC-818D-C310-4B76-401CD02A2D5B}"/>
              </a:ext>
            </a:extLst>
          </p:cNvPr>
          <p:cNvSpPr txBox="1"/>
          <p:nvPr/>
        </p:nvSpPr>
        <p:spPr>
          <a:xfrm>
            <a:off x="439392" y="746805"/>
            <a:ext cx="11313216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компонентов - это возможность применять один и тот же компонент многократно в разных частях приложения, не создавая его заново.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в мобильном интернет-магазине на экране каталога могут отображаться десятки товаров. Вместо написания отдельного кода для каждой карточки разработчик создаёт один компонент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используется для отображения всех товаров.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этом внешний вид и структура карточек остаются одинаковыми, а содержимое (название, цена, изображение) может изменяться в зависимости от переданных данных.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2BE96-3663-A833-BF92-DF14C574020F}"/>
              </a:ext>
            </a:extLst>
          </p:cNvPr>
          <p:cNvSpPr txBox="1"/>
          <p:nvPr/>
        </p:nvSpPr>
        <p:spPr>
          <a:xfrm>
            <a:off x="3366879" y="2573372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повторного использования компонентов: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9F98E-2A25-4400-8BA5-8E9D7DFFCBE9}"/>
              </a:ext>
            </a:extLst>
          </p:cNvPr>
          <p:cNvSpPr txBox="1"/>
          <p:nvPr/>
        </p:nvSpPr>
        <p:spPr>
          <a:xfrm>
            <a:off x="573985" y="3026970"/>
            <a:ext cx="3481181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Сокращение количества кода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Нет необходимости многократно описывать одинаковые элементы интерфейса.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AF6524-C629-0292-6F92-9A02AE542109}"/>
              </a:ext>
            </a:extLst>
          </p:cNvPr>
          <p:cNvSpPr txBox="1"/>
          <p:nvPr/>
        </p:nvSpPr>
        <p:spPr>
          <a:xfrm>
            <a:off x="4357065" y="3084300"/>
            <a:ext cx="325631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Упрощение разработки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Сложный интерфейс создаётся из небольших готовых частей.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280BE8-5446-968D-39E9-FDF4C97324A5}"/>
              </a:ext>
            </a:extLst>
          </p:cNvPr>
          <p:cNvSpPr txBox="1"/>
          <p:nvPr/>
        </p:nvSpPr>
        <p:spPr>
          <a:xfrm>
            <a:off x="8050696" y="3030140"/>
            <a:ext cx="3701912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Удобство сопровождения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 в одном компоненте применяются ко всем местам его использования.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81107-5653-1F22-9166-641D29526BFC}"/>
              </a:ext>
            </a:extLst>
          </p:cNvPr>
          <p:cNvSpPr txBox="1"/>
          <p:nvPr/>
        </p:nvSpPr>
        <p:spPr>
          <a:xfrm>
            <a:off x="573985" y="4353772"/>
            <a:ext cx="3560693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Единообразие интерфейса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Одинаковые элементы приложения сохраняют общий внешний вид.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0E370A-93FE-BAED-5F41-9C0A2545768D}"/>
              </a:ext>
            </a:extLst>
          </p:cNvPr>
          <p:cNvSpPr txBox="1"/>
          <p:nvPr/>
        </p:nvSpPr>
        <p:spPr>
          <a:xfrm>
            <a:off x="4611755" y="4353772"/>
            <a:ext cx="4462670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Масштабируемость 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Новые экраны и функции можно создавать путём объединения уже существующих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846712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72569CE-FA57-C1F3-249D-9300013A1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99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2">
            <a:extLst>
              <a:ext uri="{FF2B5EF4-FFF2-40B4-BE49-F238E27FC236}">
                <a16:creationId xmlns:a16="http://schemas.microsoft.com/office/drawing/2014/main" id="{585F2A48-58D4-76E9-9B66-4218CAF4BF9D}"/>
              </a:ext>
            </a:extLst>
          </p:cNvPr>
          <p:cNvSpPr/>
          <p:nvPr/>
        </p:nvSpPr>
        <p:spPr>
          <a:xfrm>
            <a:off x="8342672" y="3336426"/>
            <a:ext cx="3733475" cy="3412243"/>
          </a:xfrm>
          <a:prstGeom prst="roundRect">
            <a:avLst>
              <a:gd name="adj" fmla="val 1432"/>
            </a:avLst>
          </a:prstGeom>
          <a:solidFill>
            <a:srgbClr val="5B9BD5">
              <a:lumMod val="20000"/>
              <a:lumOff val="80000"/>
            </a:srgb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AA85C235-40B2-CC9F-8B48-0B30E5F9C29A}"/>
              </a:ext>
            </a:extLst>
          </p:cNvPr>
          <p:cNvSpPr/>
          <p:nvPr/>
        </p:nvSpPr>
        <p:spPr>
          <a:xfrm>
            <a:off x="4442907" y="3336426"/>
            <a:ext cx="3733475" cy="3412243"/>
          </a:xfrm>
          <a:prstGeom prst="roundRect">
            <a:avLst>
              <a:gd name="adj" fmla="val 1432"/>
            </a:avLst>
          </a:prstGeom>
          <a:solidFill>
            <a:srgbClr val="5B9BD5">
              <a:lumMod val="20000"/>
              <a:lumOff val="80000"/>
            </a:srgb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2EFB702C-771F-95AA-CC2D-32388BFF74C4}"/>
              </a:ext>
            </a:extLst>
          </p:cNvPr>
          <p:cNvSpPr/>
          <p:nvPr/>
        </p:nvSpPr>
        <p:spPr>
          <a:xfrm>
            <a:off x="268184" y="3336426"/>
            <a:ext cx="3615500" cy="3412243"/>
          </a:xfrm>
          <a:prstGeom prst="roundRect">
            <a:avLst>
              <a:gd name="adj" fmla="val 1432"/>
            </a:avLst>
          </a:prstGeom>
          <a:solidFill>
            <a:srgbClr val="5B9BD5">
              <a:lumMod val="20000"/>
              <a:lumOff val="80000"/>
            </a:srgb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DD10B-073C-37A6-C100-E6EC05D650B8}"/>
              </a:ext>
            </a:extLst>
          </p:cNvPr>
          <p:cNvSpPr txBox="1"/>
          <p:nvPr/>
        </p:nvSpPr>
        <p:spPr>
          <a:xfrm>
            <a:off x="2025096" y="109331"/>
            <a:ext cx="86395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встроенные компоненты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D4A5E-457A-BA8F-B7B7-8718453609A8}"/>
              </a:ext>
            </a:extLst>
          </p:cNvPr>
          <p:cNvSpPr txBox="1"/>
          <p:nvPr/>
        </p:nvSpPr>
        <p:spPr>
          <a:xfrm>
            <a:off x="494057" y="761785"/>
            <a:ext cx="11203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Встроенные компоненты (Core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это готовые элементы пользовательского интерфейса, предоставляемые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создания мобильных приложений.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51A014-7CE4-2876-B3BD-EB1AE0370E22}"/>
              </a:ext>
            </a:extLst>
          </p:cNvPr>
          <p:cNvSpPr txBox="1"/>
          <p:nvPr/>
        </p:nvSpPr>
        <p:spPr>
          <a:xfrm>
            <a:off x="3048896" y="1475795"/>
            <a:ext cx="6094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встроенные компоненты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B90743-F66B-0BE7-F76D-6A8337D9B131}"/>
              </a:ext>
            </a:extLst>
          </p:cNvPr>
          <p:cNvSpPr txBox="1"/>
          <p:nvPr/>
        </p:nvSpPr>
        <p:spPr>
          <a:xfrm>
            <a:off x="115853" y="3394546"/>
            <a:ext cx="4174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- контейнер для элементов интерфейса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0D7112-99EC-1920-4EBD-0B52748536A4}"/>
              </a:ext>
            </a:extLst>
          </p:cNvPr>
          <p:cNvSpPr txBox="1"/>
          <p:nvPr/>
        </p:nvSpPr>
        <p:spPr>
          <a:xfrm>
            <a:off x="420514" y="4106349"/>
            <a:ext cx="38700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Базовый компонент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предназначенный для размещения, группировки и организации других компонентов на экране.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E0AA7E5-937C-7691-BA62-7C392B2CD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46" y="1522548"/>
            <a:ext cx="1757566" cy="175756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1A55B1-4CE1-F536-29D9-0A70ADE066F0}"/>
              </a:ext>
            </a:extLst>
          </p:cNvPr>
          <p:cNvSpPr txBox="1"/>
          <p:nvPr/>
        </p:nvSpPr>
        <p:spPr>
          <a:xfrm>
            <a:off x="420514" y="5183567"/>
            <a:ext cx="37334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 View может содержать другие компоненты View, образуя вложенную структуру интерфейса.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4A6049-6754-47B8-9042-F4B2121ADA80}"/>
              </a:ext>
            </a:extLst>
          </p:cNvPr>
          <p:cNvSpPr txBox="1"/>
          <p:nvPr/>
        </p:nvSpPr>
        <p:spPr>
          <a:xfrm>
            <a:off x="4419531" y="3394546"/>
            <a:ext cx="3327762" cy="584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текстовой информации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56A8CB8-DE9B-E89D-01FE-F410D87CD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14" b="14693"/>
          <a:stretch/>
        </p:blipFill>
        <p:spPr>
          <a:xfrm>
            <a:off x="4866030" y="1814349"/>
            <a:ext cx="2459938" cy="124951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DFC50BD-7DEE-A8DE-4D25-26D692210EBA}"/>
              </a:ext>
            </a:extLst>
          </p:cNvPr>
          <p:cNvSpPr txBox="1"/>
          <p:nvPr/>
        </p:nvSpPr>
        <p:spPr>
          <a:xfrm>
            <a:off x="4565599" y="3979320"/>
            <a:ext cx="38763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отображения заголовков, описаний, сообщений, подписей, цен и другой текстовой информации.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FABC29-CD1A-B116-1F9F-3F3747AA0BB2}"/>
              </a:ext>
            </a:extLst>
          </p:cNvPr>
          <p:cNvSpPr txBox="1"/>
          <p:nvPr/>
        </p:nvSpPr>
        <p:spPr>
          <a:xfrm>
            <a:off x="4588974" y="5050631"/>
            <a:ext cx="387632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Позволяет изменять размер, цвет, начертание и выравнивание текста с помощью стилей.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43775E-13DB-D3DD-8C75-85B213A55B9E}"/>
              </a:ext>
            </a:extLst>
          </p:cNvPr>
          <p:cNvSpPr txBox="1"/>
          <p:nvPr/>
        </p:nvSpPr>
        <p:spPr>
          <a:xfrm>
            <a:off x="8470013" y="3429000"/>
            <a:ext cx="30469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изображений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15536E-DD1B-4184-C266-8B938C8F0352}"/>
              </a:ext>
            </a:extLst>
          </p:cNvPr>
          <p:cNvSpPr txBox="1"/>
          <p:nvPr/>
        </p:nvSpPr>
        <p:spPr>
          <a:xfrm>
            <a:off x="8465298" y="4013775"/>
            <a:ext cx="36108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Компонент, предназначенный для отображения графических изображений в мобильном приложении.</a:t>
            </a: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4981816B-955A-6ADD-0FE7-63CA256AB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5297" y="5165229"/>
            <a:ext cx="358747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свойства: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определяет источник изображения.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задаёт размеры и внешний вид.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resizeMode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управляет способом масштабирования изображения.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81C62E57-0B6B-6E2E-060E-055D4F7854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1" t="14544" r="9519" b="16036"/>
          <a:stretch/>
        </p:blipFill>
        <p:spPr>
          <a:xfrm>
            <a:off x="9562153" y="1762680"/>
            <a:ext cx="1757567" cy="1566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511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">
            <a:extLst>
              <a:ext uri="{FF2B5EF4-FFF2-40B4-BE49-F238E27FC236}">
                <a16:creationId xmlns:a16="http://schemas.microsoft.com/office/drawing/2014/main" id="{F8DBF047-348C-F686-7774-E72A6D44D838}"/>
              </a:ext>
            </a:extLst>
          </p:cNvPr>
          <p:cNvSpPr/>
          <p:nvPr/>
        </p:nvSpPr>
        <p:spPr>
          <a:xfrm>
            <a:off x="4470064" y="2641600"/>
            <a:ext cx="3860968" cy="4107069"/>
          </a:xfrm>
          <a:prstGeom prst="roundRect">
            <a:avLst>
              <a:gd name="adj" fmla="val 1432"/>
            </a:avLst>
          </a:prstGeom>
          <a:solidFill>
            <a:srgbClr val="5B9BD5">
              <a:lumMod val="20000"/>
              <a:lumOff val="80000"/>
            </a:srgb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1779423-396F-10CC-E9FC-5E78C112B27E}"/>
              </a:ext>
            </a:extLst>
          </p:cNvPr>
          <p:cNvSpPr/>
          <p:nvPr/>
        </p:nvSpPr>
        <p:spPr>
          <a:xfrm>
            <a:off x="173844" y="2651950"/>
            <a:ext cx="3971271" cy="4107069"/>
          </a:xfrm>
          <a:prstGeom prst="roundRect">
            <a:avLst>
              <a:gd name="adj" fmla="val 1432"/>
            </a:avLst>
          </a:prstGeom>
          <a:solidFill>
            <a:srgbClr val="5B9BD5">
              <a:lumMod val="20000"/>
              <a:lumOff val="80000"/>
            </a:srgb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13A106-8965-8A03-6F27-699ACFF58D1D}"/>
              </a:ext>
            </a:extLst>
          </p:cNvPr>
          <p:cNvSpPr txBox="1"/>
          <p:nvPr/>
        </p:nvSpPr>
        <p:spPr>
          <a:xfrm>
            <a:off x="2025096" y="109331"/>
            <a:ext cx="86395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встроенные компоненты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124452-2422-6B17-0154-C6D63E4A7741}"/>
              </a:ext>
            </a:extLst>
          </p:cNvPr>
          <p:cNvSpPr txBox="1"/>
          <p:nvPr/>
        </p:nvSpPr>
        <p:spPr>
          <a:xfrm>
            <a:off x="501656" y="2697575"/>
            <a:ext cx="30468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TextInput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поле ввода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FBE81-F255-29E9-C7AA-5900C33BA325}"/>
              </a:ext>
            </a:extLst>
          </p:cNvPr>
          <p:cNvSpPr txBox="1"/>
          <p:nvPr/>
        </p:nvSpPr>
        <p:spPr>
          <a:xfrm>
            <a:off x="209320" y="3081754"/>
            <a:ext cx="39712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Компонент, позволяющий пользователю вводить текст с помощью клавиатуры мобильного устройства.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833C8B95-F541-C327-AFAB-90BD76CED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479" y="3968726"/>
            <a:ext cx="396111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свойства: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placeholder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текст-подсказка внутри поля ввода.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текущее значение поля.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onChangeText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функция, вызываемая при изменении текста.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keyboardType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тип отображаемой клавиатуры.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secureTextEntry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скрытие вводимых символов, например при вводе пароля.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CF86E8-1423-ECEB-8B2E-3C90B1FBF2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040" y="904145"/>
            <a:ext cx="3362960" cy="16814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F2066B-579D-ABA8-E26D-831945320356}"/>
              </a:ext>
            </a:extLst>
          </p:cNvPr>
          <p:cNvSpPr txBox="1"/>
          <p:nvPr/>
        </p:nvSpPr>
        <p:spPr>
          <a:xfrm>
            <a:off x="4714209" y="2697575"/>
            <a:ext cx="3017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ScrollView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прокручиваемая область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A335DF-BB0C-BC00-06F1-0EF79FFCD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881" y="995680"/>
            <a:ext cx="2468880" cy="164592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70FC343-1026-12EA-FBB1-A0A2B6A24B6D}"/>
              </a:ext>
            </a:extLst>
          </p:cNvPr>
          <p:cNvSpPr txBox="1"/>
          <p:nvPr/>
        </p:nvSpPr>
        <p:spPr>
          <a:xfrm>
            <a:off x="4505540" y="3241710"/>
            <a:ext cx="373891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Компонент-контейнер, позволяющий прокручивать содержимое, если оно не помещается в доступной области экрана.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3914661-A50C-38E1-AC4A-2F215EA89066}"/>
              </a:ext>
            </a:extLst>
          </p:cNvPr>
          <p:cNvSpPr txBox="1"/>
          <p:nvPr/>
        </p:nvSpPr>
        <p:spPr>
          <a:xfrm>
            <a:off x="4505540" y="4267849"/>
            <a:ext cx="37389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Используется для отображения длинных страниц, профилей пользователей, форм и небольших списков.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0FFD4D-35B6-EC58-87FD-677AB23EBF32}"/>
              </a:ext>
            </a:extLst>
          </p:cNvPr>
          <p:cNvSpPr txBox="1"/>
          <p:nvPr/>
        </p:nvSpPr>
        <p:spPr>
          <a:xfrm>
            <a:off x="4505540" y="5057819"/>
            <a:ext cx="35458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Важная особенность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ScrollView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создаёт вложенные элементы содержимого сразу. </a:t>
            </a: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7E3F78FC-919E-40B1-E1A0-F0B61FF458AE}"/>
              </a:ext>
            </a:extLst>
          </p:cNvPr>
          <p:cNvSpPr/>
          <p:nvPr/>
        </p:nvSpPr>
        <p:spPr>
          <a:xfrm>
            <a:off x="8488596" y="2649483"/>
            <a:ext cx="3703404" cy="4107069"/>
          </a:xfrm>
          <a:prstGeom prst="roundRect">
            <a:avLst>
              <a:gd name="adj" fmla="val 1432"/>
            </a:avLst>
          </a:prstGeom>
          <a:solidFill>
            <a:srgbClr val="5B9BD5">
              <a:lumMod val="20000"/>
              <a:lumOff val="80000"/>
            </a:srgbClr>
          </a:solidFill>
          <a:ln w="12700">
            <a:solidFill>
              <a:srgbClr val="BFD3D8"/>
            </a:solidFill>
            <a:prstDash val="solid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7FCB87-6158-5AA5-458F-83C406F8BAC1}"/>
              </a:ext>
            </a:extLst>
          </p:cNvPr>
          <p:cNvSpPr txBox="1"/>
          <p:nvPr/>
        </p:nvSpPr>
        <p:spPr>
          <a:xfrm>
            <a:off x="8442971" y="2697575"/>
            <a:ext cx="36322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Pressable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нажатий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D69FB-852D-1020-D689-487C1294FA2A}"/>
              </a:ext>
            </a:extLst>
          </p:cNvPr>
          <p:cNvSpPr txBox="1"/>
          <p:nvPr/>
        </p:nvSpPr>
        <p:spPr>
          <a:xfrm>
            <a:off x="8549494" y="3039051"/>
            <a:ext cx="3571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Компонент, предназначенный для создания интерактивных областей интерфейса, реагирующих на прикосновения пользователя.</a:t>
            </a:r>
          </a:p>
        </p:txBody>
      </p:sp>
      <p:sp>
        <p:nvSpPr>
          <p:cNvPr id="27" name="Rectangle 2">
            <a:extLst>
              <a:ext uri="{FF2B5EF4-FFF2-40B4-BE49-F238E27FC236}">
                <a16:creationId xmlns:a16="http://schemas.microsoft.com/office/drawing/2014/main" id="{02B2A268-F2E3-F1E2-46D8-271CC76C4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5075" y="4091836"/>
            <a:ext cx="357134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свойства: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onPress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функция, вызываемая при нажатии.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onPressIn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функция, вызываемая в начале нажатия.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onPressOut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функция, вызываемая при завершении нажатия.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onLongPress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функция, вызываемая при длительном удержании.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D834850-39DE-73B5-6150-4411C1505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6307" y="921925"/>
            <a:ext cx="2468880" cy="164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03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1">
            <a:extLst>
              <a:ext uri="{FF2B5EF4-FFF2-40B4-BE49-F238E27FC236}">
                <a16:creationId xmlns:a16="http://schemas.microsoft.com/office/drawing/2014/main" id="{2F49D845-A97F-722D-4AEA-5CCA57F8C36A}"/>
              </a:ext>
            </a:extLst>
          </p:cNvPr>
          <p:cNvSpPr/>
          <p:nvPr/>
        </p:nvSpPr>
        <p:spPr>
          <a:xfrm>
            <a:off x="152400" y="5574288"/>
            <a:ext cx="5655547" cy="1037939"/>
          </a:xfrm>
          <a:prstGeom prst="roundRect">
            <a:avLst>
              <a:gd name="adj" fmla="val 17369"/>
            </a:avLst>
          </a:prstGeom>
          <a:solidFill>
            <a:srgbClr val="CEE6FD"/>
          </a:solidFill>
          <a:ln/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4C6C5BAF-868D-E2B7-9F05-C377AF88C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54" y="5763696"/>
            <a:ext cx="141565" cy="1886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D493B4-C331-6780-DE34-06BAC3949C79}"/>
              </a:ext>
            </a:extLst>
          </p:cNvPr>
          <p:cNvSpPr txBox="1"/>
          <p:nvPr/>
        </p:nvSpPr>
        <p:spPr>
          <a:xfrm>
            <a:off x="3342640" y="2064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Стилизация компонентов: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StyleSheet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44C9C-83ED-B095-BF4F-7C75CF22E99C}"/>
              </a:ext>
            </a:extLst>
          </p:cNvPr>
          <p:cNvSpPr txBox="1"/>
          <p:nvPr/>
        </p:nvSpPr>
        <p:spPr>
          <a:xfrm>
            <a:off x="426720" y="854055"/>
            <a:ext cx="11612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внешний вид компонентов определяется с помощью стилей, которые записываются в виде JavaScript-объектов.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8EDA4-8DF2-053F-3B87-DE5CC7DA02F0}"/>
              </a:ext>
            </a:extLst>
          </p:cNvPr>
          <p:cNvSpPr txBox="1"/>
          <p:nvPr/>
        </p:nvSpPr>
        <p:spPr>
          <a:xfrm>
            <a:off x="426720" y="137850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свойство компонента, предназначенное для задания его внешнего оформления: цвета, размера, отступов, границ и других визуальных характеристик.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59B87D-767D-9542-6801-D9D76E7E873F}"/>
              </a:ext>
            </a:extLst>
          </p:cNvPr>
          <p:cNvSpPr txBox="1"/>
          <p:nvPr/>
        </p:nvSpPr>
        <p:spPr>
          <a:xfrm>
            <a:off x="8493760" y="1378505"/>
            <a:ext cx="129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1E240D-89DE-9AEF-4AF9-F87FC8A8F1A3}"/>
              </a:ext>
            </a:extLst>
          </p:cNvPr>
          <p:cNvSpPr txBox="1"/>
          <p:nvPr/>
        </p:nvSpPr>
        <p:spPr>
          <a:xfrm>
            <a:off x="6593840" y="1748154"/>
            <a:ext cx="5445760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6A258-5425-979B-05A6-36332EEFA31E}"/>
              </a:ext>
            </a:extLst>
          </p:cNvPr>
          <p:cNvSpPr txBox="1"/>
          <p:nvPr/>
        </p:nvSpPr>
        <p:spPr>
          <a:xfrm>
            <a:off x="426720" y="3013501"/>
            <a:ext cx="6093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StyleSheet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API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создания и организации наборов стилей, которые можно многократно использовать в разных компонентах.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776F08-F935-AA85-E095-BC5437D1638E}"/>
              </a:ext>
            </a:extLst>
          </p:cNvPr>
          <p:cNvSpPr txBox="1"/>
          <p:nvPr/>
        </p:nvSpPr>
        <p:spPr>
          <a:xfrm>
            <a:off x="8488680" y="2751297"/>
            <a:ext cx="129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8A92D0-0E2A-9602-3271-1D85BF55D408}"/>
              </a:ext>
            </a:extLst>
          </p:cNvPr>
          <p:cNvSpPr txBox="1"/>
          <p:nvPr/>
        </p:nvSpPr>
        <p:spPr>
          <a:xfrm>
            <a:off x="6269558" y="3134696"/>
            <a:ext cx="5770042" cy="33239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fontWeight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"bold"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EFE95F-A6C3-30E0-B44D-9375999EDD8C}"/>
              </a:ext>
            </a:extLst>
          </p:cNvPr>
          <p:cNvSpPr txBox="1"/>
          <p:nvPr/>
        </p:nvSpPr>
        <p:spPr>
          <a:xfrm>
            <a:off x="426720" y="5574288"/>
            <a:ext cx="54882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отличие от CSS, имена составных свойств стиля записываются в формате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camelCase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например,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backgroundColor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вместо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вместо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font-size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61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507BD1-CC5B-EE53-85BB-00A5B7CE995D}"/>
              </a:ext>
            </a:extLst>
          </p:cNvPr>
          <p:cNvSpPr txBox="1"/>
          <p:nvPr/>
        </p:nvSpPr>
        <p:spPr>
          <a:xfrm>
            <a:off x="2625131" y="232341"/>
            <a:ext cx="7583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совместного использования компонентов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5E9D52-D2D9-2A40-9FBD-0A5A68A130FE}"/>
              </a:ext>
            </a:extLst>
          </p:cNvPr>
          <p:cNvSpPr txBox="1"/>
          <p:nvPr/>
        </p:nvSpPr>
        <p:spPr>
          <a:xfrm>
            <a:off x="545124" y="799403"/>
            <a:ext cx="107793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создании реального мобильного приложения встроенные компоненты обычно используются совместно.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C2D3B71-5A59-EFAB-172A-885C0AB58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742" y="1445734"/>
            <a:ext cx="556075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экран интернет-магазина может содержать: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- основной контейнер экрана.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 - название магазина и цены товаров.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Image - фотографии товаров.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TextInput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строку поиска товаров.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ScrollView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прокручиваемую область каталога.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Pressable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кнопки добавления товаров в корзину.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25E684-A1B5-1658-FC27-CDB1FF4497EC}"/>
              </a:ext>
            </a:extLst>
          </p:cNvPr>
          <p:cNvSpPr txBox="1"/>
          <p:nvPr/>
        </p:nvSpPr>
        <p:spPr>
          <a:xfrm>
            <a:off x="551742" y="4077223"/>
            <a:ext cx="48773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 объединяет встроенные компоненты, чтобы создать более сложные пользовательские компоненты, например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карточку товара.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6A58C0A-C083-9C3F-0DFF-3243E407D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876" y="1755844"/>
            <a:ext cx="5436297" cy="407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820EFB-40BD-C2AC-E85A-36423D80C264}"/>
              </a:ext>
            </a:extLst>
          </p:cNvPr>
          <p:cNvSpPr txBox="1"/>
          <p:nvPr/>
        </p:nvSpPr>
        <p:spPr>
          <a:xfrm>
            <a:off x="3177792" y="172050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 такое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JSX?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63161-C3EE-2D7F-4591-E7FAD3A21670}"/>
              </a:ext>
            </a:extLst>
          </p:cNvPr>
          <p:cNvSpPr txBox="1"/>
          <p:nvPr/>
        </p:nvSpPr>
        <p:spPr>
          <a:xfrm>
            <a:off x="484832" y="892016"/>
            <a:ext cx="111109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(JavaScript XML) - это расширение синтаксиса языка JavaScript, позволяющее описывать пользовательский интерфейс с помощью конструкций, внешне напоминающих HTML-разметку.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782589-0893-5C31-75E8-3D18B14027F9}"/>
              </a:ext>
            </a:extLst>
          </p:cNvPr>
          <p:cNvSpPr txBox="1"/>
          <p:nvPr/>
        </p:nvSpPr>
        <p:spPr>
          <a:xfrm>
            <a:off x="484832" y="1456378"/>
            <a:ext cx="1095019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назначение JSX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объединить описание интерфейса с логикой JavaScript, чтобы разработчик мог создавать динамические компоненты, содержимое которых зависит от данных приложения.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6B14F-5F9E-8C19-069F-D2CE5CE92974}"/>
              </a:ext>
            </a:extLst>
          </p:cNvPr>
          <p:cNvSpPr txBox="1"/>
          <p:nvPr/>
        </p:nvSpPr>
        <p:spPr>
          <a:xfrm>
            <a:off x="3048838" y="2041153"/>
            <a:ext cx="6094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напоминает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HTML?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728BDA-31A9-0713-3B9F-FF4A8F7272DE}"/>
              </a:ext>
            </a:extLst>
          </p:cNvPr>
          <p:cNvSpPr txBox="1"/>
          <p:nvPr/>
        </p:nvSpPr>
        <p:spPr>
          <a:xfrm>
            <a:off x="505348" y="2399693"/>
            <a:ext cx="11181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использует синтаксис тегов, похожий на HTML. Каждый элемент записывается с помощью открывающего и закрывающего тегов, между которыми может находиться содержимое или другие вложенные элементы.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EC2795-E20A-B085-9EBF-E63EF50AC1AD}"/>
              </a:ext>
            </a:extLst>
          </p:cNvPr>
          <p:cNvSpPr txBox="1"/>
          <p:nvPr/>
        </p:nvSpPr>
        <p:spPr>
          <a:xfrm>
            <a:off x="705897" y="3597692"/>
            <a:ext cx="3202912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&lt;p&gt;Добро пожаловать!&lt;/p&gt;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21578E-7D06-71DB-38EE-B693B25240F4}"/>
              </a:ext>
            </a:extLst>
          </p:cNvPr>
          <p:cNvSpPr txBox="1"/>
          <p:nvPr/>
        </p:nvSpPr>
        <p:spPr>
          <a:xfrm>
            <a:off x="1251021" y="3121803"/>
            <a:ext cx="19267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7EAECA-BFA4-05C0-2A65-780E8568541F}"/>
              </a:ext>
            </a:extLst>
          </p:cNvPr>
          <p:cNvSpPr txBox="1"/>
          <p:nvPr/>
        </p:nvSpPr>
        <p:spPr>
          <a:xfrm>
            <a:off x="7166987" y="3090446"/>
            <a:ext cx="23889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99E4DD-3D89-F33F-97A4-000D8C071C8F}"/>
              </a:ext>
            </a:extLst>
          </p:cNvPr>
          <p:cNvSpPr txBox="1"/>
          <p:nvPr/>
        </p:nvSpPr>
        <p:spPr>
          <a:xfrm>
            <a:off x="6714811" y="3622706"/>
            <a:ext cx="3454121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&lt;View&gt;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&lt;Text&gt;Добро пожаловать!&lt;/Text&gt;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&lt;/View&gt;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6800EE-676A-0D23-034A-FB8DE4327BB7}"/>
              </a:ext>
            </a:extLst>
          </p:cNvPr>
          <p:cNvSpPr txBox="1"/>
          <p:nvPr/>
        </p:nvSpPr>
        <p:spPr>
          <a:xfrm>
            <a:off x="720969" y="5159260"/>
            <a:ext cx="104779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обоих случаях применяется вложенная структура элементов. Однако 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используются не HTML-теги, а специальные компоненты, предназначенные для создания нативного мобильного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3686704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15803B-ACD1-1C12-B1CB-26267772DC7D}"/>
              </a:ext>
            </a:extLst>
          </p:cNvPr>
          <p:cNvSpPr txBox="1"/>
          <p:nvPr/>
        </p:nvSpPr>
        <p:spPr>
          <a:xfrm>
            <a:off x="3147647" y="302679"/>
            <a:ext cx="609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 JSX используется внутри JavaScript?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B7A619-92BC-BAE2-9C76-84E4D461D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23" y="827985"/>
            <a:ext cx="1101937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JSX записывается непосредственно в JavaScript-коде, обычно внутри функционального компонента.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Функциональный компонент возвращает JSX с помощью оператора return, описывая, какие элементы должны отображаться на экране.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153FEA-A132-F789-ACF2-210E377F8D4E}"/>
              </a:ext>
            </a:extLst>
          </p:cNvPr>
          <p:cNvSpPr txBox="1"/>
          <p:nvPr/>
        </p:nvSpPr>
        <p:spPr>
          <a:xfrm>
            <a:off x="685123" y="2156715"/>
            <a:ext cx="60943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Главная страница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 в приложение!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B4F528-FD93-BCBC-C308-97930A5041A4}"/>
              </a:ext>
            </a:extLst>
          </p:cNvPr>
          <p:cNvSpPr txBox="1"/>
          <p:nvPr/>
        </p:nvSpPr>
        <p:spPr>
          <a:xfrm>
            <a:off x="1978270" y="1738571"/>
            <a:ext cx="23387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08E61E5-776B-F73B-0D9A-680DC7EE8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1914" y="2077125"/>
            <a:ext cx="546630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данном примере: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- объявление функционального компонента.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возвращает описание интерфейса.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 - создаёт контейнер для элементов.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Text - отображает текстовую информацию.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позволяет использовать компонент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как основной компонент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407998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C8BDC5-3515-E7D8-2446-0DBFE9908D3F}"/>
              </a:ext>
            </a:extLst>
          </p:cNvPr>
          <p:cNvSpPr txBox="1"/>
          <p:nvPr/>
        </p:nvSpPr>
        <p:spPr>
          <a:xfrm>
            <a:off x="3157695" y="182098"/>
            <a:ext cx="609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как способ описания интерфейса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D91CE-4389-FEAE-54E8-7DDC9070CE6F}"/>
              </a:ext>
            </a:extLst>
          </p:cNvPr>
          <p:cNvSpPr txBox="1"/>
          <p:nvPr/>
        </p:nvSpPr>
        <p:spPr>
          <a:xfrm>
            <a:off x="444640" y="660904"/>
            <a:ext cx="111009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позволяет разработчику декларативно описывать интерфейс, то есть указывать, какие элементы должны отображаться на экране, а не расписывать пошагово процесс их создания.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8575C-04B5-976C-F196-0254F2CA0F94}"/>
              </a:ext>
            </a:extLst>
          </p:cNvPr>
          <p:cNvSpPr txBox="1"/>
          <p:nvPr/>
        </p:nvSpPr>
        <p:spPr>
          <a:xfrm>
            <a:off x="3157695" y="132437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отличия JSX от HTML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A917C6F6-CC1D-FBAC-E030-8CDB4E982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125991"/>
              </p:ext>
            </p:extLst>
          </p:nvPr>
        </p:nvGraphicFramePr>
        <p:xfrm>
          <a:off x="838200" y="1876025"/>
          <a:ext cx="10515600" cy="36576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05110058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8375245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737959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JSX </a:t>
                      </a:r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 </a:t>
                      </a: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225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Разметка веб-страниц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интерфейса мобильных приложений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630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Элементы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div, p, img, input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View, Text, Image, TextInput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5329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через отдельный код или обработчики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Выражения JavaScript в фигурных скобках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518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Атрибуты и свойства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Например, 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class, onclick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Например, </a:t>
                      </a:r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style, onPress, onChangeText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2946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Стилизация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JavaScript-</a:t>
                      </a:r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объекты стилей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36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Закрытие тегов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Некоторые теги могут не закрываться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Каждый JSX-тег должен быть закрыт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0168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632660-41E3-3F10-0364-0A506A5A4CF3}"/>
              </a:ext>
            </a:extLst>
          </p:cNvPr>
          <p:cNvSpPr txBox="1"/>
          <p:nvPr/>
        </p:nvSpPr>
        <p:spPr>
          <a:xfrm>
            <a:off x="2342522" y="5840805"/>
            <a:ext cx="7724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несмотря на внешнее сходство с HTML, JSX не является HTML. Это специальный синтаксис, используемый для описания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-элементов.</a:t>
            </a:r>
          </a:p>
        </p:txBody>
      </p:sp>
    </p:spTree>
    <p:extLst>
      <p:ext uri="{BB962C8B-B14F-4D97-AF65-F5344CB8AC3E}">
        <p14:creationId xmlns:p14="http://schemas.microsoft.com/office/powerpoint/2010/main" val="2527862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D696A4-A2B9-C781-A194-B9F905ACA45E}"/>
              </a:ext>
            </a:extLst>
          </p:cNvPr>
          <p:cNvSpPr txBox="1"/>
          <p:nvPr/>
        </p:nvSpPr>
        <p:spPr>
          <a:xfrm>
            <a:off x="-489492" y="172050"/>
            <a:ext cx="609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фигурных скобок в JSX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131EF-733C-CFDA-DCEC-FDD7075B9839}"/>
              </a:ext>
            </a:extLst>
          </p:cNvPr>
          <p:cNvSpPr txBox="1"/>
          <p:nvPr/>
        </p:nvSpPr>
        <p:spPr>
          <a:xfrm>
            <a:off x="225276" y="750262"/>
            <a:ext cx="56471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Фигурные скобки {} позволяют вставлять JavaScript-выражения непосредственно в JSX-разметку.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76AC29C-1FF6-4A54-A12B-52907628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76" y="1335037"/>
            <a:ext cx="5647123" cy="2264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фигурных скобок можно использовать: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Переменные -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Арифметические выражения -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Свойства объектов - {user.name}.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Вызовы функций -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getTotal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()}.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Условные выражения -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isActive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? "Активен" : "Неактивен"}.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9415B-2020-9D26-F6F8-A01D72182644}"/>
              </a:ext>
            </a:extLst>
          </p:cNvPr>
          <p:cNvSpPr txBox="1"/>
          <p:nvPr/>
        </p:nvSpPr>
        <p:spPr>
          <a:xfrm>
            <a:off x="5998266" y="202828"/>
            <a:ext cx="60976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отображение карточки товара с использованием JSX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1D54B9-C3CE-DA4C-AB56-0392EF4ACEA4}"/>
              </a:ext>
            </a:extLst>
          </p:cNvPr>
          <p:cNvSpPr txBox="1"/>
          <p:nvPr/>
        </p:nvSpPr>
        <p:spPr>
          <a:xfrm>
            <a:off x="6096000" y="644463"/>
            <a:ext cx="609765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Наушники"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available: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Товар: 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Количество: 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Итого: 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available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?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 наличии"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: 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"Нет в наличии"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35EC086-894E-B777-3779-33DDE7E9B93D}"/>
              </a:ext>
            </a:extLst>
          </p:cNvPr>
          <p:cNvCxnSpPr/>
          <p:nvPr/>
        </p:nvCxnSpPr>
        <p:spPr>
          <a:xfrm>
            <a:off x="5872399" y="0"/>
            <a:ext cx="0" cy="6858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52EEFB3-F8A3-0FD4-C12F-21AFEFC28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058" y="5499805"/>
            <a:ext cx="1933845" cy="13527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D5E30B-EB8E-3E39-4BE4-CFDB6798296E}"/>
              </a:ext>
            </a:extLst>
          </p:cNvPr>
          <p:cNvSpPr txBox="1"/>
          <p:nvPr/>
        </p:nvSpPr>
        <p:spPr>
          <a:xfrm>
            <a:off x="9493527" y="5182458"/>
            <a:ext cx="2698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отображения:</a:t>
            </a:r>
          </a:p>
        </p:txBody>
      </p:sp>
    </p:spTree>
    <p:extLst>
      <p:ext uri="{BB962C8B-B14F-4D97-AF65-F5344CB8AC3E}">
        <p14:creationId xmlns:p14="http://schemas.microsoft.com/office/powerpoint/2010/main" val="3049683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E065AF-BE13-A40C-8E49-76747ED3B161}"/>
              </a:ext>
            </a:extLst>
          </p:cNvPr>
          <p:cNvSpPr txBox="1"/>
          <p:nvPr/>
        </p:nvSpPr>
        <p:spPr>
          <a:xfrm>
            <a:off x="2371919" y="166693"/>
            <a:ext cx="74481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фигурных скобок в свойствах компонентов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82179-6FB6-8866-5213-CE9000353B94}"/>
              </a:ext>
            </a:extLst>
          </p:cNvPr>
          <p:cNvSpPr txBox="1"/>
          <p:nvPr/>
        </p:nvSpPr>
        <p:spPr>
          <a:xfrm>
            <a:off x="1471904" y="735860"/>
            <a:ext cx="971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Фигурные скобки также используются для передачи JavaScript-значений в свойства компонентов.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4037DA-54E7-52CC-09A5-ADFC0BE8E3E0}"/>
              </a:ext>
            </a:extLst>
          </p:cNvPr>
          <p:cNvSpPr txBox="1"/>
          <p:nvPr/>
        </p:nvSpPr>
        <p:spPr>
          <a:xfrm>
            <a:off x="691242" y="1427784"/>
            <a:ext cx="5404757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Привет!</a:t>
            </a: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A61997-7EBD-C847-9DDE-8D68884926C4}"/>
              </a:ext>
            </a:extLst>
          </p:cNvPr>
          <p:cNvSpPr txBox="1"/>
          <p:nvPr/>
        </p:nvSpPr>
        <p:spPr>
          <a:xfrm>
            <a:off x="6519766" y="1397006"/>
            <a:ext cx="54047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Здесь внешние фигурные скобки обозначают JavaScript-выражение, а внутренние - объект со свойствами стиля.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96AEB2-D4AA-F5FA-3165-B7D2588E6FDE}"/>
              </a:ext>
            </a:extLst>
          </p:cNvPr>
          <p:cNvSpPr txBox="1"/>
          <p:nvPr/>
        </p:nvSpPr>
        <p:spPr>
          <a:xfrm>
            <a:off x="691241" y="2796465"/>
            <a:ext cx="5404757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TextInput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Введите имя"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A03117-0E9B-0580-991E-B7FBC8EE0900}"/>
              </a:ext>
            </a:extLst>
          </p:cNvPr>
          <p:cNvSpPr txBox="1"/>
          <p:nvPr/>
        </p:nvSpPr>
        <p:spPr>
          <a:xfrm>
            <a:off x="6519766" y="2630745"/>
            <a:ext cx="5292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свойству передаётся обычная строка, её можно записывать в кавычках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147E29-613F-04BB-964B-96394DA99CC1}"/>
              </a:ext>
            </a:extLst>
          </p:cNvPr>
          <p:cNvSpPr txBox="1"/>
          <p:nvPr/>
        </p:nvSpPr>
        <p:spPr>
          <a:xfrm>
            <a:off x="691241" y="3616653"/>
            <a:ext cx="5404757" cy="3385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TextInput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hintText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FB63D2-4B4C-9C09-17CD-3B7D80247EBC}"/>
              </a:ext>
            </a:extLst>
          </p:cNvPr>
          <p:cNvSpPr txBox="1"/>
          <p:nvPr/>
        </p:nvSpPr>
        <p:spPr>
          <a:xfrm>
            <a:off x="6301662" y="3462764"/>
            <a:ext cx="54829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передаётся значение переменной или выражение, используются фигурные скобки: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0EDEBB-8BEC-EBEF-6D03-54E02C7F90E6}"/>
              </a:ext>
            </a:extLst>
          </p:cNvPr>
          <p:cNvSpPr txBox="1"/>
          <p:nvPr/>
        </p:nvSpPr>
        <p:spPr>
          <a:xfrm>
            <a:off x="1471904" y="4789858"/>
            <a:ext cx="94262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Фигурные скобки предназначены именно для выражений JavaScript, возвращающих значение. Обычные инструкции, например объявление переменной с помощью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условная 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непосредственно внутри них не записываются.</a:t>
            </a:r>
          </a:p>
        </p:txBody>
      </p:sp>
    </p:spTree>
    <p:extLst>
      <p:ext uri="{BB962C8B-B14F-4D97-AF65-F5344CB8AC3E}">
        <p14:creationId xmlns:p14="http://schemas.microsoft.com/office/powerpoint/2010/main" val="3685551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1">
            <a:extLst>
              <a:ext uri="{FF2B5EF4-FFF2-40B4-BE49-F238E27FC236}">
                <a16:creationId xmlns:a16="http://schemas.microsoft.com/office/drawing/2014/main" id="{4BFCE03A-68A9-28B6-95E7-168E783F306B}"/>
              </a:ext>
            </a:extLst>
          </p:cNvPr>
          <p:cNvSpPr/>
          <p:nvPr/>
        </p:nvSpPr>
        <p:spPr>
          <a:xfrm>
            <a:off x="1008926" y="5394372"/>
            <a:ext cx="9661485" cy="1037939"/>
          </a:xfrm>
          <a:prstGeom prst="roundRect">
            <a:avLst>
              <a:gd name="adj" fmla="val 17369"/>
            </a:avLst>
          </a:prstGeom>
          <a:solidFill>
            <a:srgbClr val="CEE6FD"/>
          </a:solidFill>
          <a:ln/>
        </p:spPr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2875F0AA-F675-7E30-4822-B1AAB4E65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680" y="5583780"/>
            <a:ext cx="202429" cy="2503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78957-E47F-CB3C-DD15-09AE3D8F9BEE}"/>
              </a:ext>
            </a:extLst>
          </p:cNvPr>
          <p:cNvSpPr txBox="1"/>
          <p:nvPr/>
        </p:nvSpPr>
        <p:spPr>
          <a:xfrm>
            <a:off x="3313254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707A58-B59F-93FD-356C-BE44AB79589B}"/>
              </a:ext>
            </a:extLst>
          </p:cNvPr>
          <p:cNvSpPr txBox="1"/>
          <p:nvPr/>
        </p:nvSpPr>
        <p:spPr>
          <a:xfrm>
            <a:off x="870996" y="944658"/>
            <a:ext cx="10912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имеет собственные синтаксические правила, соблюдение которых необходимо для корректной работы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598794-57EB-1F30-0D0E-FA7B984FF898}"/>
              </a:ext>
            </a:extLst>
          </p:cNvPr>
          <p:cNvSpPr txBox="1"/>
          <p:nvPr/>
        </p:nvSpPr>
        <p:spPr>
          <a:xfrm>
            <a:off x="428263" y="1428435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Каждый JSX-тег должен быть закрыт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3F40B7F-D0B1-C620-AAC5-77F0E2CD5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263" y="1766989"/>
            <a:ext cx="55789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Существует два способа закрытия тегов: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Парные теги - используются для компонентов, содержащих текст или другие элементы: &lt;Text&gt;...&lt;/Text&gt;.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Самозакрывающиеся теги - используются для компонентов, у которых нет вложенного содержимого: &lt;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TextInput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/&gt;.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B3CEA-5D74-DD87-C76A-32887C21B525}"/>
              </a:ext>
            </a:extLst>
          </p:cNvPr>
          <p:cNvSpPr txBox="1"/>
          <p:nvPr/>
        </p:nvSpPr>
        <p:spPr>
          <a:xfrm>
            <a:off x="8082023" y="1397657"/>
            <a:ext cx="296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Неправильно: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24D56A-E8CA-3926-95F9-9A5545FA182E}"/>
              </a:ext>
            </a:extLst>
          </p:cNvPr>
          <p:cNvSpPr txBox="1"/>
          <p:nvPr/>
        </p:nvSpPr>
        <p:spPr>
          <a:xfrm>
            <a:off x="7057663" y="1766989"/>
            <a:ext cx="50089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Главная страница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7E35C3-F03A-70F2-BBDF-B6AC65E5A266}"/>
              </a:ext>
            </a:extLst>
          </p:cNvPr>
          <p:cNvSpPr txBox="1"/>
          <p:nvPr/>
        </p:nvSpPr>
        <p:spPr>
          <a:xfrm>
            <a:off x="8186196" y="2874985"/>
            <a:ext cx="1976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59977F-F2D4-FAC3-BA97-28D55AB6930A}"/>
              </a:ext>
            </a:extLst>
          </p:cNvPr>
          <p:cNvSpPr txBox="1"/>
          <p:nvPr/>
        </p:nvSpPr>
        <p:spPr>
          <a:xfrm>
            <a:off x="7121325" y="3213539"/>
            <a:ext cx="41061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Главная страница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A95E37-E26F-1DCF-F333-789D6C088B0B}"/>
              </a:ext>
            </a:extLst>
          </p:cNvPr>
          <p:cNvSpPr txBox="1"/>
          <p:nvPr/>
        </p:nvSpPr>
        <p:spPr>
          <a:xfrm>
            <a:off x="470223" y="3315582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компонент не содержит дочерних элементов, его можно записать в сокращённой форме: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60F54-0E97-293E-5A69-CD6A2CFF6347}"/>
              </a:ext>
            </a:extLst>
          </p:cNvPr>
          <p:cNvSpPr txBox="1"/>
          <p:nvPr/>
        </p:nvSpPr>
        <p:spPr>
          <a:xfrm>
            <a:off x="748739" y="410609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TextInput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placeholder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Введите имя"</a:t>
            </a: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19E2F3-4579-31F1-492C-5750E6AEBDD3}"/>
              </a:ext>
            </a:extLst>
          </p:cNvPr>
          <p:cNvSpPr txBox="1"/>
          <p:nvPr/>
        </p:nvSpPr>
        <p:spPr>
          <a:xfrm>
            <a:off x="1344110" y="5460343"/>
            <a:ext cx="93263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Важно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неправильное закрытие тегов приводит к синтаксической ошибке, поскольку JSX не может корректно определить границы элементов интерфейса.</a:t>
            </a:r>
          </a:p>
        </p:txBody>
      </p:sp>
    </p:spTree>
    <p:extLst>
      <p:ext uri="{BB962C8B-B14F-4D97-AF65-F5344CB8AC3E}">
        <p14:creationId xmlns:p14="http://schemas.microsoft.com/office/powerpoint/2010/main" val="3185084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1F70D5-7279-33E9-65F6-3C63F4522E30}"/>
              </a:ext>
            </a:extLst>
          </p:cNvPr>
          <p:cNvSpPr txBox="1"/>
          <p:nvPr/>
        </p:nvSpPr>
        <p:spPr>
          <a:xfrm>
            <a:off x="928869" y="851268"/>
            <a:ext cx="60940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JSX должен иметь один корневой элемент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DCA859-ECD8-289A-4FDC-577AF90F6806}"/>
              </a:ext>
            </a:extLst>
          </p:cNvPr>
          <p:cNvSpPr txBox="1"/>
          <p:nvPr/>
        </p:nvSpPr>
        <p:spPr>
          <a:xfrm>
            <a:off x="3313254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BC6C2-1568-5BE6-4C81-368AE1BF8FD7}"/>
              </a:ext>
            </a:extLst>
          </p:cNvPr>
          <p:cNvSpPr txBox="1"/>
          <p:nvPr/>
        </p:nvSpPr>
        <p:spPr>
          <a:xfrm>
            <a:off x="662653" y="1234275"/>
            <a:ext cx="10541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Корневой элемент - это элемент верхнего уровня, внутри которого располагаются остальные компоненты.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5F7DAA-A622-5C36-F751-CEAB53F2F2B2}"/>
              </a:ext>
            </a:extLst>
          </p:cNvPr>
          <p:cNvSpPr txBox="1"/>
          <p:nvPr/>
        </p:nvSpPr>
        <p:spPr>
          <a:xfrm>
            <a:off x="4453361" y="1680952"/>
            <a:ext cx="296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Неправильно: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A43D60-466A-7DB3-CF0E-5EDF7180808D}"/>
              </a:ext>
            </a:extLst>
          </p:cNvPr>
          <p:cNvSpPr txBox="1"/>
          <p:nvPr/>
        </p:nvSpPr>
        <p:spPr>
          <a:xfrm>
            <a:off x="4794814" y="3827552"/>
            <a:ext cx="1976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4A4778-263C-D9C6-D3F3-6DABE2D3B87F}"/>
              </a:ext>
            </a:extLst>
          </p:cNvPr>
          <p:cNvSpPr txBox="1"/>
          <p:nvPr/>
        </p:nvSpPr>
        <p:spPr>
          <a:xfrm>
            <a:off x="4239229" y="2153328"/>
            <a:ext cx="33884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Заголовок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Описание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A880D-9955-0D8B-D309-72F86F248997}"/>
              </a:ext>
            </a:extLst>
          </p:cNvPr>
          <p:cNvSpPr txBox="1"/>
          <p:nvPr/>
        </p:nvSpPr>
        <p:spPr>
          <a:xfrm>
            <a:off x="4232475" y="4303487"/>
            <a:ext cx="372704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Заголовок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Описание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73722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D0A429-951E-6C70-2F0E-D7C014AC3FB4}"/>
              </a:ext>
            </a:extLst>
          </p:cNvPr>
          <p:cNvSpPr txBox="1"/>
          <p:nvPr/>
        </p:nvSpPr>
        <p:spPr>
          <a:xfrm>
            <a:off x="651075" y="990560"/>
            <a:ext cx="79604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Имена пользовательских компонентов начинаются с заглавной буквы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D42D3-E35A-ED2C-C4C4-2AC550BAF2C1}"/>
              </a:ext>
            </a:extLst>
          </p:cNvPr>
          <p:cNvSpPr txBox="1"/>
          <p:nvPr/>
        </p:nvSpPr>
        <p:spPr>
          <a:xfrm>
            <a:off x="3313254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8C4DF-56E9-3266-7A41-E5D958E4F8D2}"/>
              </a:ext>
            </a:extLst>
          </p:cNvPr>
          <p:cNvSpPr txBox="1"/>
          <p:nvPr/>
        </p:nvSpPr>
        <p:spPr>
          <a:xfrm>
            <a:off x="651075" y="1520239"/>
            <a:ext cx="40945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Встроенные компоненты имеют заранее определённые имена, например View, Text, Image,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TextInput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CC759-4DD7-64DC-D643-E1A0EC21A4D2}"/>
              </a:ext>
            </a:extLst>
          </p:cNvPr>
          <p:cNvSpPr txBox="1"/>
          <p:nvPr/>
        </p:nvSpPr>
        <p:spPr>
          <a:xfrm>
            <a:off x="6520405" y="1520239"/>
            <a:ext cx="5020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Пользовательские компоненты должны начинаться с заглавной буквы. Обычно для их именования используется стиль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PascalCase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при котором каждое слово начинается с заглавной буквы.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00C8C7-61DC-7EFD-7EB2-4F0575B17B31}"/>
              </a:ext>
            </a:extLst>
          </p:cNvPr>
          <p:cNvSpPr txBox="1"/>
          <p:nvPr/>
        </p:nvSpPr>
        <p:spPr>
          <a:xfrm>
            <a:off x="3048965" y="2597457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 правильных имён: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SearchBar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AppHeader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06009E-2F20-D41B-C2A7-47A6B69622A8}"/>
              </a:ext>
            </a:extLst>
          </p:cNvPr>
          <p:cNvSpPr txBox="1"/>
          <p:nvPr/>
        </p:nvSpPr>
        <p:spPr>
          <a:xfrm>
            <a:off x="353029" y="3450327"/>
            <a:ext cx="296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Неправильно: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81DC36-8AD0-0BF0-F414-F3CA45D08C35}"/>
              </a:ext>
            </a:extLst>
          </p:cNvPr>
          <p:cNvSpPr txBox="1"/>
          <p:nvPr/>
        </p:nvSpPr>
        <p:spPr>
          <a:xfrm>
            <a:off x="8154846" y="3456786"/>
            <a:ext cx="1976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6DA705-730B-1897-7E39-A848A46280B9}"/>
              </a:ext>
            </a:extLst>
          </p:cNvPr>
          <p:cNvSpPr txBox="1"/>
          <p:nvPr/>
        </p:nvSpPr>
        <p:spPr>
          <a:xfrm>
            <a:off x="426335" y="3795340"/>
            <a:ext cx="492116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Карточка товара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3A220E-6E9D-90B6-C7BE-A0647EEAF470}"/>
              </a:ext>
            </a:extLst>
          </p:cNvPr>
          <p:cNvSpPr txBox="1"/>
          <p:nvPr/>
        </p:nvSpPr>
        <p:spPr>
          <a:xfrm>
            <a:off x="6844498" y="3865800"/>
            <a:ext cx="609407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Карточка товара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72936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10CF37-EFDD-1319-737E-30E403268ED8}"/>
              </a:ext>
            </a:extLst>
          </p:cNvPr>
          <p:cNvSpPr txBox="1"/>
          <p:nvPr/>
        </p:nvSpPr>
        <p:spPr>
          <a:xfrm>
            <a:off x="604776" y="840090"/>
            <a:ext cx="72197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Для вставки JavaScript-выражений используются фигурные скобки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FBCCF-B891-2E7F-95E5-0E240D33B774}"/>
              </a:ext>
            </a:extLst>
          </p:cNvPr>
          <p:cNvSpPr txBox="1"/>
          <p:nvPr/>
        </p:nvSpPr>
        <p:spPr>
          <a:xfrm>
            <a:off x="3313254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D2A4DC-5844-2CC6-EB7B-486514585DA1}"/>
              </a:ext>
            </a:extLst>
          </p:cNvPr>
          <p:cNvSpPr txBox="1"/>
          <p:nvPr/>
        </p:nvSpPr>
        <p:spPr>
          <a:xfrm>
            <a:off x="604776" y="1419618"/>
            <a:ext cx="109814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 позволяет использовать значения переменных, результаты математических вычислений, свойства объектов и вызовы функций непосредственно внутри описания интерфейса. Для перехода от JSX к JavaScript-выражению используются фигурные скобки {}.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441465-4E84-3F89-2D2D-C987BC804737}"/>
              </a:ext>
            </a:extLst>
          </p:cNvPr>
          <p:cNvSpPr txBox="1"/>
          <p:nvPr/>
        </p:nvSpPr>
        <p:spPr>
          <a:xfrm>
            <a:off x="772612" y="2491589"/>
            <a:ext cx="532338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Анна"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Имя: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Возраст: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Через год: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A1B6C-AE27-67F2-BC2A-C31F2CBD56A3}"/>
              </a:ext>
            </a:extLst>
          </p:cNvPr>
          <p:cNvSpPr txBox="1"/>
          <p:nvPr/>
        </p:nvSpPr>
        <p:spPr>
          <a:xfrm>
            <a:off x="1571747" y="5240941"/>
            <a:ext cx="37251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отображения: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Имя: Анна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Возраст: 20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год: 21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82BD955-5A19-0344-8514-F04D1E6FA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630" y="2521059"/>
            <a:ext cx="532338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этом примере: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- подставляет строковое значение переменной.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} - выводит числовое значение.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+ 1} - вычисляет математическое выражение и отображает результат.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F336D5-C734-F2C0-5754-B4AC296D5E1D}"/>
              </a:ext>
            </a:extLst>
          </p:cNvPr>
          <p:cNvSpPr txBox="1"/>
          <p:nvPr/>
        </p:nvSpPr>
        <p:spPr>
          <a:xfrm>
            <a:off x="5975024" y="5331967"/>
            <a:ext cx="6093994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фигурных скобок должны находиться выражения, возвращающие значения. Инструкции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объявления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нельзя непосредственно записывать внутри JSX-выражения. Их размещают в JavaScript-коде компонента.</a:t>
            </a:r>
          </a:p>
        </p:txBody>
      </p:sp>
    </p:spTree>
    <p:extLst>
      <p:ext uri="{BB962C8B-B14F-4D97-AF65-F5344CB8AC3E}">
        <p14:creationId xmlns:p14="http://schemas.microsoft.com/office/powerpoint/2010/main" val="9675338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F8B126-A172-D259-9077-2658042748B5}"/>
              </a:ext>
            </a:extLst>
          </p:cNvPr>
          <p:cNvSpPr txBox="1"/>
          <p:nvPr/>
        </p:nvSpPr>
        <p:spPr>
          <a:xfrm>
            <a:off x="741621" y="883906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Свойства JSX чувствительны к регистру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B2CEE-301C-E43C-1B22-B563AA3214B7}"/>
              </a:ext>
            </a:extLst>
          </p:cNvPr>
          <p:cNvSpPr txBox="1"/>
          <p:nvPr/>
        </p:nvSpPr>
        <p:spPr>
          <a:xfrm>
            <a:off x="3313254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140C3A-A5F2-0EE9-DF36-AB83045E8CAC}"/>
              </a:ext>
            </a:extLst>
          </p:cNvPr>
          <p:cNvSpPr txBox="1"/>
          <p:nvPr/>
        </p:nvSpPr>
        <p:spPr>
          <a:xfrm>
            <a:off x="478465" y="1222460"/>
            <a:ext cx="110046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могут принимать свойства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определяющие их содержимое, внешний вид и поведение.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Имена этих свойств чувствительны к регистру, поэтому при их написании необходимо соблюдать точное использование заглавных и строчных букв.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 свойства записываются в стиле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camelCase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первое слово начинается со строчной буквы, а каждое следующее с заглавной.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CB3A59-E3C3-7FD1-2BCB-86F8EF3987D0}"/>
              </a:ext>
            </a:extLst>
          </p:cNvPr>
          <p:cNvSpPr txBox="1"/>
          <p:nvPr/>
        </p:nvSpPr>
        <p:spPr>
          <a:xfrm>
            <a:off x="2931928" y="2524960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Примеры: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AD1622EE-A6D3-8CD8-3081-8FB30A6B4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09582"/>
              </p:ext>
            </p:extLst>
          </p:nvPr>
        </p:nvGraphicFramePr>
        <p:xfrm>
          <a:off x="838200" y="2939467"/>
          <a:ext cx="10515600" cy="2011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919020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063289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Правильно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Неправильно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0505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onPress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6765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onChangeText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onchangetext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9235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keyboardType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keyboardtype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532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backgroundColor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backgroundcolor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850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fontsize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23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CDEC45CC-BC62-A664-3373-9DC7ACDCAA84}"/>
              </a:ext>
            </a:extLst>
          </p:cNvPr>
          <p:cNvSpPr txBox="1"/>
          <p:nvPr/>
        </p:nvSpPr>
        <p:spPr>
          <a:xfrm>
            <a:off x="838200" y="5175438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корректной записи: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A88C05-0223-A7CD-A00A-11FC68664AE9}"/>
              </a:ext>
            </a:extLst>
          </p:cNvPr>
          <p:cNvSpPr txBox="1"/>
          <p:nvPr/>
        </p:nvSpPr>
        <p:spPr>
          <a:xfrm>
            <a:off x="787695" y="5543207"/>
            <a:ext cx="609777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099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B8C850-D05A-4F36-2E6F-A311D8C77457}"/>
              </a:ext>
            </a:extLst>
          </p:cNvPr>
          <p:cNvSpPr txBox="1"/>
          <p:nvPr/>
        </p:nvSpPr>
        <p:spPr>
          <a:xfrm>
            <a:off x="614031" y="862641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Особенности JSX в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66C6B9-3412-DB21-8DBD-DF1E8ED46544}"/>
              </a:ext>
            </a:extLst>
          </p:cNvPr>
          <p:cNvSpPr txBox="1"/>
          <p:nvPr/>
        </p:nvSpPr>
        <p:spPr>
          <a:xfrm>
            <a:off x="3313254" y="214660"/>
            <a:ext cx="6094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правила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451AF-EE69-BF5B-DECD-600B5F358AB4}"/>
              </a:ext>
            </a:extLst>
          </p:cNvPr>
          <p:cNvSpPr txBox="1"/>
          <p:nvPr/>
        </p:nvSpPr>
        <p:spPr>
          <a:xfrm>
            <a:off x="539602" y="1264401"/>
            <a:ext cx="8455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Текст должен находиться внутри компонента Text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нельзя размещать обычный текст непосредственно внутри контейнера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3116AA-7168-EE8E-9427-48DB78FE5423}"/>
              </a:ext>
            </a:extLst>
          </p:cNvPr>
          <p:cNvSpPr txBox="1"/>
          <p:nvPr/>
        </p:nvSpPr>
        <p:spPr>
          <a:xfrm>
            <a:off x="714536" y="1975588"/>
            <a:ext cx="296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Неправильно: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5E21A4-3933-BC7D-3C66-78809795F3E7}"/>
              </a:ext>
            </a:extLst>
          </p:cNvPr>
          <p:cNvSpPr txBox="1"/>
          <p:nvPr/>
        </p:nvSpPr>
        <p:spPr>
          <a:xfrm>
            <a:off x="8516353" y="1982047"/>
            <a:ext cx="19763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Правильно: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78908-7E40-F9BA-E13B-D9A7D7C70A52}"/>
              </a:ext>
            </a:extLst>
          </p:cNvPr>
          <p:cNvSpPr txBox="1"/>
          <p:nvPr/>
        </p:nvSpPr>
        <p:spPr>
          <a:xfrm>
            <a:off x="780047" y="2325917"/>
            <a:ext cx="364962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68648-86B3-306F-B1CB-D54746B780B1}"/>
              </a:ext>
            </a:extLst>
          </p:cNvPr>
          <p:cNvSpPr txBox="1"/>
          <p:nvPr/>
        </p:nvSpPr>
        <p:spPr>
          <a:xfrm>
            <a:off x="6951034" y="2453472"/>
            <a:ext cx="3787849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118E71-6B09-BB31-EE6D-7FEC990D3230}"/>
              </a:ext>
            </a:extLst>
          </p:cNvPr>
          <p:cNvSpPr txBox="1"/>
          <p:nvPr/>
        </p:nvSpPr>
        <p:spPr>
          <a:xfrm>
            <a:off x="155058" y="3373478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HTML-теги не используются вместо нативных компонентов</a:t>
            </a:r>
          </a:p>
        </p:txBody>
      </p:sp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49A12B34-EAB0-97AB-AE04-EB1DCB1172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98159"/>
              </p:ext>
            </p:extLst>
          </p:nvPr>
        </p:nvGraphicFramePr>
        <p:xfrm>
          <a:off x="350872" y="3897819"/>
          <a:ext cx="5188690" cy="2011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479158">
                  <a:extLst>
                    <a:ext uri="{9D8B030D-6E8A-4147-A177-3AD203B41FA5}">
                      <a16:colId xmlns:a16="http://schemas.microsoft.com/office/drawing/2014/main" val="3949242304"/>
                    </a:ext>
                  </a:extLst>
                </a:gridCol>
                <a:gridCol w="2709532">
                  <a:extLst>
                    <a:ext uri="{9D8B030D-6E8A-4147-A177-3AD203B41FA5}">
                      <a16:colId xmlns:a16="http://schemas.microsoft.com/office/drawing/2014/main" val="31603950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Веб-разработка (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Native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1514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&lt;div&gt;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&lt;View&gt;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95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&lt;p&gt;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&lt;Text&gt;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6370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&lt;h1&gt;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&lt;Text&gt; </a:t>
                      </a:r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 стилем заголовка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11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&lt;img&gt;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&lt;Image&gt;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1574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&lt;input&gt;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TextInput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121444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63BB4D43-3018-D5BF-D4C8-66BA899BF29A}"/>
              </a:ext>
            </a:extLst>
          </p:cNvPr>
          <p:cNvSpPr txBox="1"/>
          <p:nvPr/>
        </p:nvSpPr>
        <p:spPr>
          <a:xfrm>
            <a:off x="5946258" y="4948078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28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fontWeight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"bold"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Главная страница</a:t>
            </a:r>
          </a:p>
          <a:p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8365B-053E-0856-D725-36A0BBE14109}"/>
              </a:ext>
            </a:extLst>
          </p:cNvPr>
          <p:cNvSpPr txBox="1"/>
          <p:nvPr/>
        </p:nvSpPr>
        <p:spPr>
          <a:xfrm>
            <a:off x="5946258" y="4254773"/>
            <a:ext cx="6097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Например, вместо веб-тега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применяется компонент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соответствующим оформлением:</a:t>
            </a:r>
          </a:p>
        </p:txBody>
      </p:sp>
    </p:spTree>
    <p:extLst>
      <p:ext uri="{BB962C8B-B14F-4D97-AF65-F5344CB8AC3E}">
        <p14:creationId xmlns:p14="http://schemas.microsoft.com/office/powerpoint/2010/main" val="1900821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00D133-3BBB-C11B-C0F9-A3F530D36CFD}"/>
              </a:ext>
            </a:extLst>
          </p:cNvPr>
          <p:cNvSpPr txBox="1"/>
          <p:nvPr/>
        </p:nvSpPr>
        <p:spPr>
          <a:xfrm>
            <a:off x="1815509" y="182157"/>
            <a:ext cx="78920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внутри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C337FC-3173-8106-4AF7-C22B7E88E79A}"/>
              </a:ext>
            </a:extLst>
          </p:cNvPr>
          <p:cNvSpPr txBox="1"/>
          <p:nvPr/>
        </p:nvSpPr>
        <p:spPr>
          <a:xfrm>
            <a:off x="635294" y="892053"/>
            <a:ext cx="110179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JavaScript-выражение - это конструкция языка, которая вычисляется и возвращает определённое значение: строку, число, логическое значение или другой результат.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JavaScript-выражения позволяют создавать динамический интерфейс, содержимое которого изменяется в зависимости от данных приложения.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вставки выражений используются фигурные скобки {}.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980C3E-2602-FF2A-278E-A076192F4D8E}"/>
              </a:ext>
            </a:extLst>
          </p:cNvPr>
          <p:cNvSpPr txBox="1"/>
          <p:nvPr/>
        </p:nvSpPr>
        <p:spPr>
          <a:xfrm>
            <a:off x="3095403" y="2340613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Подстановка переменных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8CDEDB-B6FC-7624-032F-D3AEC3981B3A}"/>
              </a:ext>
            </a:extLst>
          </p:cNvPr>
          <p:cNvSpPr txBox="1"/>
          <p:nvPr/>
        </p:nvSpPr>
        <p:spPr>
          <a:xfrm>
            <a:off x="635293" y="2679167"/>
            <a:ext cx="106139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Значения JavaScript-переменных можно непосредственно отображать внутри компонентов Text.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CEAD21-F701-E89D-AFB9-0D6692BD2227}"/>
              </a:ext>
            </a:extLst>
          </p:cNvPr>
          <p:cNvSpPr txBox="1"/>
          <p:nvPr/>
        </p:nvSpPr>
        <p:spPr>
          <a:xfrm>
            <a:off x="1177557" y="3106549"/>
            <a:ext cx="60977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Александр"</a:t>
            </a:r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Москва"</a:t>
            </a:r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Имя: </a:t>
            </a:r>
            <a:r>
              <a:rPr lang="ru-RU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Город: </a:t>
            </a:r>
            <a:r>
              <a:rPr lang="ru-RU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city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Возраст: </a:t>
            </a:r>
            <a:r>
              <a:rPr lang="ru-RU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5AB6A5-47E1-6258-CC69-72243CC6C018}"/>
              </a:ext>
            </a:extLst>
          </p:cNvPr>
          <p:cNvSpPr txBox="1"/>
          <p:nvPr/>
        </p:nvSpPr>
        <p:spPr>
          <a:xfrm>
            <a:off x="3047114" y="5582668"/>
            <a:ext cx="22372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Имя: Александр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Город: Москва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Возраст: 22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3236C3-4AEC-52BB-7E90-B6182F2E5AFB}"/>
              </a:ext>
            </a:extLst>
          </p:cNvPr>
          <p:cNvSpPr txBox="1"/>
          <p:nvPr/>
        </p:nvSpPr>
        <p:spPr>
          <a:xfrm>
            <a:off x="7275329" y="3736009"/>
            <a:ext cx="363766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Анна"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7B66E2-531B-2C7A-4D9A-B56B5EFCFB4B}"/>
              </a:ext>
            </a:extLst>
          </p:cNvPr>
          <p:cNvSpPr txBox="1"/>
          <p:nvPr/>
        </p:nvSpPr>
        <p:spPr>
          <a:xfrm>
            <a:off x="6993565" y="3259723"/>
            <a:ext cx="45002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также могут храниться в объектах:</a:t>
            </a:r>
          </a:p>
        </p:txBody>
      </p:sp>
    </p:spTree>
    <p:extLst>
      <p:ext uri="{BB962C8B-B14F-4D97-AF65-F5344CB8AC3E}">
        <p14:creationId xmlns:p14="http://schemas.microsoft.com/office/powerpoint/2010/main" val="25464035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693D65-A271-D7C4-C06F-DBBF06E89450}"/>
              </a:ext>
            </a:extLst>
          </p:cNvPr>
          <p:cNvSpPr txBox="1"/>
          <p:nvPr/>
        </p:nvSpPr>
        <p:spPr>
          <a:xfrm>
            <a:off x="688458" y="341646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Арифметические выражения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024C3-871C-CB0D-2DFC-E6CBF0B8E19A}"/>
              </a:ext>
            </a:extLst>
          </p:cNvPr>
          <p:cNvSpPr txBox="1"/>
          <p:nvPr/>
        </p:nvSpPr>
        <p:spPr>
          <a:xfrm>
            <a:off x="603397" y="814311"/>
            <a:ext cx="6097772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1500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 товара: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Количество: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Сумма: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Со скидкой: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6A03C2-A074-8A58-E80B-0DCE27B57888}"/>
              </a:ext>
            </a:extLst>
          </p:cNvPr>
          <p:cNvSpPr txBox="1"/>
          <p:nvPr/>
        </p:nvSpPr>
        <p:spPr>
          <a:xfrm>
            <a:off x="7323175" y="4019406"/>
            <a:ext cx="4404537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Цена товара: 1500 ₽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Количество: 3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Сумма: 4500 ₽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 скидкой: 4050 ₽</a:t>
            </a:r>
          </a:p>
        </p:txBody>
      </p:sp>
    </p:spTree>
    <p:extLst>
      <p:ext uri="{BB962C8B-B14F-4D97-AF65-F5344CB8AC3E}">
        <p14:creationId xmlns:p14="http://schemas.microsoft.com/office/powerpoint/2010/main" val="3527354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3070A3-DEE4-3897-CB66-85E3F4C1FA73}"/>
              </a:ext>
            </a:extLst>
          </p:cNvPr>
          <p:cNvSpPr txBox="1"/>
          <p:nvPr/>
        </p:nvSpPr>
        <p:spPr>
          <a:xfrm>
            <a:off x="901109" y="5011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>
                <a:latin typeface="Times New Roman" panose="02020603050405020304" pitchFamily="18" charset="0"/>
                <a:cs typeface="Times New Roman" panose="02020603050405020304" pitchFamily="18" charset="0"/>
              </a:rPr>
              <a:t>Вызовы функций внутри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JSX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D1CC2-4CBF-69AD-21E8-4EA0FEA3C347}"/>
              </a:ext>
            </a:extLst>
          </p:cNvPr>
          <p:cNvSpPr txBox="1"/>
          <p:nvPr/>
        </p:nvSpPr>
        <p:spPr>
          <a:xfrm>
            <a:off x="901109" y="966787"/>
            <a:ext cx="6097772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/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Обычная цена: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 со скидкой: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₽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2FCDF7-646F-BE7A-B9B4-8A7A5B6BC17E}"/>
              </a:ext>
            </a:extLst>
          </p:cNvPr>
          <p:cNvSpPr txBox="1"/>
          <p:nvPr/>
        </p:nvSpPr>
        <p:spPr>
          <a:xfrm>
            <a:off x="6387509" y="5210804"/>
            <a:ext cx="476604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Обычная цена: 5000 ₽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Цена со скидкой: 4000 ₽</a:t>
            </a:r>
          </a:p>
        </p:txBody>
      </p:sp>
    </p:spTree>
    <p:extLst>
      <p:ext uri="{BB962C8B-B14F-4D97-AF65-F5344CB8AC3E}">
        <p14:creationId xmlns:p14="http://schemas.microsoft.com/office/powerpoint/2010/main" val="36369737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5BAA0D-DC03-FC9E-DA9A-47F5724BE48D}"/>
              </a:ext>
            </a:extLst>
          </p:cNvPr>
          <p:cNvSpPr txBox="1"/>
          <p:nvPr/>
        </p:nvSpPr>
        <p:spPr>
          <a:xfrm>
            <a:off x="805416" y="47959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Условное отображение с помощью тернарного оператора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AF57C-DA8B-E62E-C268-CCD2A3D8C94B}"/>
              </a:ext>
            </a:extLst>
          </p:cNvPr>
          <p:cNvSpPr txBox="1"/>
          <p:nvPr/>
        </p:nvSpPr>
        <p:spPr>
          <a:xfrm>
            <a:off x="805416" y="1124588"/>
            <a:ext cx="4500231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isAvailable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Ноутбук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ASUS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isAvailable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?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Товар в наличии"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: 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"Товар закончился"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E322374-985E-CA0B-25D2-72E70CC5D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4884" y="5309013"/>
            <a:ext cx="304666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при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isAvailable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65F762-E23E-DDDF-CE42-248ECB440660}"/>
              </a:ext>
            </a:extLst>
          </p:cNvPr>
          <p:cNvSpPr txBox="1"/>
          <p:nvPr/>
        </p:nvSpPr>
        <p:spPr>
          <a:xfrm>
            <a:off x="2027051" y="5762465"/>
            <a:ext cx="2182333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Ноутбук ASUS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Товар в наличии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519D45-7499-848C-28B6-E41694317A0C}"/>
              </a:ext>
            </a:extLst>
          </p:cNvPr>
          <p:cNvSpPr txBox="1"/>
          <p:nvPr/>
        </p:nvSpPr>
        <p:spPr>
          <a:xfrm>
            <a:off x="6483202" y="1308586"/>
            <a:ext cx="512755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isLoggedIn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?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Личный кабинет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: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Войдите в аккаунт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7919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BEF412-12E2-5A8E-0C54-8FF884AE1F02}"/>
              </a:ext>
            </a:extLst>
          </p:cNvPr>
          <p:cNvSpPr txBox="1"/>
          <p:nvPr/>
        </p:nvSpPr>
        <p:spPr>
          <a:xfrm>
            <a:off x="869212" y="405165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Условное отображение с помощью логического оператора &amp;&amp;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CEA45-5AAD-5260-D42C-E420299EF101}"/>
              </a:ext>
            </a:extLst>
          </p:cNvPr>
          <p:cNvSpPr txBox="1"/>
          <p:nvPr/>
        </p:nvSpPr>
        <p:spPr>
          <a:xfrm>
            <a:off x="688458" y="131032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Общий синтаксис: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472B5-4629-8EB4-532A-BE8C3A6C7222}"/>
              </a:ext>
            </a:extLst>
          </p:cNvPr>
          <p:cNvSpPr txBox="1"/>
          <p:nvPr/>
        </p:nvSpPr>
        <p:spPr>
          <a:xfrm>
            <a:off x="2634216" y="1341106"/>
            <a:ext cx="396860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ru-RU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условие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ru-RU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Компонент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2F0F78-D33C-2C17-A690-DFD38A155FF3}"/>
              </a:ext>
            </a:extLst>
          </p:cNvPr>
          <p:cNvSpPr txBox="1"/>
          <p:nvPr/>
        </p:nvSpPr>
        <p:spPr>
          <a:xfrm>
            <a:off x="688458" y="1736229"/>
            <a:ext cx="6097772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hasNewMessage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Сообщения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hasNewMessage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У вас новое сообщение!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CA55D6E-0494-6758-C17E-6EFAC8DDB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404" y="5121771"/>
            <a:ext cx="351557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при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hasNewMessage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9FFBCC-A0C6-C46B-A6D7-8A454A3EE1D0}"/>
              </a:ext>
            </a:extLst>
          </p:cNvPr>
          <p:cNvSpPr txBox="1"/>
          <p:nvPr/>
        </p:nvSpPr>
        <p:spPr>
          <a:xfrm>
            <a:off x="603398" y="5516894"/>
            <a:ext cx="2809653" cy="584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Сообщения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вас новое сообщение!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49E3A45C-AE02-E6EA-8556-084443F03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7284" y="1341106"/>
            <a:ext cx="4764224" cy="156966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Особенность использования &amp;&amp; с числовыми значениями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учитывать, что логический оператор &amp;&amp; возвращает не обязательно логическое значение. Если левый операнд равен 0, результатом всего выражения будет число 0.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168A31-8A0A-9BC1-3182-413ABB1FFBD3}"/>
              </a:ext>
            </a:extLst>
          </p:cNvPr>
          <p:cNvSpPr txBox="1"/>
          <p:nvPr/>
        </p:nvSpPr>
        <p:spPr>
          <a:xfrm>
            <a:off x="6526643" y="3136628"/>
            <a:ext cx="576550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messageCount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messageCount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Новые сообщения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91FC04-C1D8-BD35-9412-FC14EC3515E5}"/>
              </a:ext>
            </a:extLst>
          </p:cNvPr>
          <p:cNvSpPr txBox="1"/>
          <p:nvPr/>
        </p:nvSpPr>
        <p:spPr>
          <a:xfrm>
            <a:off x="7897799" y="4436976"/>
            <a:ext cx="30231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235016-4520-FF33-CE44-9A949973123B}"/>
              </a:ext>
            </a:extLst>
          </p:cNvPr>
          <p:cNvSpPr txBox="1"/>
          <p:nvPr/>
        </p:nvSpPr>
        <p:spPr>
          <a:xfrm>
            <a:off x="6602819" y="4716707"/>
            <a:ext cx="614561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messageCount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messageCount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Новых сообщений: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messageCount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3042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5A68BB-6527-7BAD-3841-80B46A9C92C3}"/>
              </a:ext>
            </a:extLst>
          </p:cNvPr>
          <p:cNvSpPr txBox="1"/>
          <p:nvPr/>
        </p:nvSpPr>
        <p:spPr>
          <a:xfrm>
            <a:off x="2931928" y="447971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Различия между тернарным оператором и &amp;&amp;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59E2FF2-BE40-7565-586E-060DF44683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310860"/>
              </p:ext>
            </p:extLst>
          </p:nvPr>
        </p:nvGraphicFramePr>
        <p:xfrm>
          <a:off x="838200" y="1366547"/>
          <a:ext cx="10515600" cy="23774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5569179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384009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3268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Тернарный оператор ? :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Оператор &amp;&amp;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4997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 между двумя вариантами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Отображение при выполнении условия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3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Если условие истинно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Первый вариант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Элемент отображается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306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Если условие ложно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Второй вариант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 логическом false ничего не отображается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5458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Пример применения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заказа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Уведомление о скидке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131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A3D007-2DF2-7CB7-20C8-47301FE88973}"/>
              </a:ext>
            </a:extLst>
          </p:cNvPr>
          <p:cNvSpPr txBox="1"/>
          <p:nvPr/>
        </p:nvSpPr>
        <p:spPr>
          <a:xfrm>
            <a:off x="838200" y="400987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использовать тернарный оператор?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BDF94-0000-54EC-95DC-123929E22681}"/>
              </a:ext>
            </a:extLst>
          </p:cNvPr>
          <p:cNvSpPr txBox="1"/>
          <p:nvPr/>
        </p:nvSpPr>
        <p:spPr>
          <a:xfrm>
            <a:off x="838200" y="4379210"/>
            <a:ext cx="525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необходимо отобразить один из двух вариантов интерфейса.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6742D-155A-C8C5-02D8-D72A069110FC}"/>
              </a:ext>
            </a:extLst>
          </p:cNvPr>
          <p:cNvSpPr txBox="1"/>
          <p:nvPr/>
        </p:nvSpPr>
        <p:spPr>
          <a:xfrm>
            <a:off x="7216849" y="4009878"/>
            <a:ext cx="413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использовать &amp;&amp;?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A5E0AD-FCBF-54A0-9787-2505A484FF0D}"/>
              </a:ext>
            </a:extLst>
          </p:cNvPr>
          <p:cNvSpPr txBox="1"/>
          <p:nvPr/>
        </p:nvSpPr>
        <p:spPr>
          <a:xfrm>
            <a:off x="6695854" y="4369904"/>
            <a:ext cx="46579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необходимо показать дополнительный элемент только при выполнении определённого условия.</a:t>
            </a:r>
          </a:p>
        </p:txBody>
      </p:sp>
    </p:spTree>
    <p:extLst>
      <p:ext uri="{BB962C8B-B14F-4D97-AF65-F5344CB8AC3E}">
        <p14:creationId xmlns:p14="http://schemas.microsoft.com/office/powerpoint/2010/main" val="2343477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F3B653-B167-7858-F9FC-00A2A518FFBF}"/>
              </a:ext>
            </a:extLst>
          </p:cNvPr>
          <p:cNvSpPr txBox="1"/>
          <p:nvPr/>
        </p:nvSpPr>
        <p:spPr>
          <a:xfrm>
            <a:off x="2187206" y="182157"/>
            <a:ext cx="78175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Понятие функционального компонента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BD870-A7E1-BA00-B733-ECD55E3D6E25}"/>
              </a:ext>
            </a:extLst>
          </p:cNvPr>
          <p:cNvSpPr txBox="1"/>
          <p:nvPr/>
        </p:nvSpPr>
        <p:spPr>
          <a:xfrm>
            <a:off x="571498" y="872168"/>
            <a:ext cx="1094356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Функциональный компонент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это JavaScript-функция, которая описывает определённую часть пользовательского интерфейса и возвращает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-элементы, обычно записанные с помощью JSX.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8C163-CD1A-FEBB-247D-A088A7359509}"/>
              </a:ext>
            </a:extLst>
          </p:cNvPr>
          <p:cNvSpPr txBox="1"/>
          <p:nvPr/>
        </p:nvSpPr>
        <p:spPr>
          <a:xfrm>
            <a:off x="571498" y="1456943"/>
            <a:ext cx="111455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принцип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функциональный компонент получает необходимые данные и возвращает описание того, что должно отображаться на экране.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BE4DFE-C7DB-C429-DB48-A23CEF4B882D}"/>
              </a:ext>
            </a:extLst>
          </p:cNvPr>
          <p:cNvSpPr txBox="1"/>
          <p:nvPr/>
        </p:nvSpPr>
        <p:spPr>
          <a:xfrm>
            <a:off x="2825602" y="2041718"/>
            <a:ext cx="74667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Связь функциональных компонентов с обычными функциями JavaScript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29224E-28F1-11C6-40C1-8C2770DD80B9}"/>
              </a:ext>
            </a:extLst>
          </p:cNvPr>
          <p:cNvSpPr txBox="1"/>
          <p:nvPr/>
        </p:nvSpPr>
        <p:spPr>
          <a:xfrm>
            <a:off x="571498" y="2844224"/>
            <a:ext cx="609777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calculateTotal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quantity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calculateTotal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1500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AF7F38-BAA8-2FA0-C637-5D3BCFE37401}"/>
              </a:ext>
            </a:extLst>
          </p:cNvPr>
          <p:cNvSpPr txBox="1"/>
          <p:nvPr/>
        </p:nvSpPr>
        <p:spPr>
          <a:xfrm>
            <a:off x="773519" y="2457216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обычной функции: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E4F8B0-51A9-444B-77C5-1D8F2B84E5E9}"/>
              </a:ext>
            </a:extLst>
          </p:cNvPr>
          <p:cNvSpPr txBox="1"/>
          <p:nvPr/>
        </p:nvSpPr>
        <p:spPr>
          <a:xfrm>
            <a:off x="6770281" y="2503382"/>
            <a:ext cx="49467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функционального компонента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053448-794B-818D-17F1-6CAF00B64811}"/>
              </a:ext>
            </a:extLst>
          </p:cNvPr>
          <p:cNvSpPr txBox="1"/>
          <p:nvPr/>
        </p:nvSpPr>
        <p:spPr>
          <a:xfrm>
            <a:off x="6669270" y="3013500"/>
            <a:ext cx="484578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Greeting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94CE6DFF-594D-8E88-9B98-27BF59E8A0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602805"/>
              </p:ext>
            </p:extLst>
          </p:nvPr>
        </p:nvGraphicFramePr>
        <p:xfrm>
          <a:off x="886488" y="4528949"/>
          <a:ext cx="10515600" cy="2011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76657275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9169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Обычная функция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Функциональный компонент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9927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Выполняет вычисления или действия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Описывает часть интерфейса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2812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Может возвращать любое значение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возвращает JSX или null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900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Обычно вызывается по имени: calculateTotal()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Используется в 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JSX: &lt;Greeting /&gt;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3417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 может начинаться со строчной буквы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 компонента начинается с заглавной буквы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3095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Аргументы передаются при вызове функции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Данные передаются через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2138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5023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DA43C5-9A32-4FDC-C219-F556FF8C4814}"/>
              </a:ext>
            </a:extLst>
          </p:cNvPr>
          <p:cNvSpPr txBox="1"/>
          <p:nvPr/>
        </p:nvSpPr>
        <p:spPr>
          <a:xfrm>
            <a:off x="699090" y="25658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Способы объявления функциональных компонентов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C64F0-6DCA-E2CC-CAC6-FB2E1BF10175}"/>
              </a:ext>
            </a:extLst>
          </p:cNvPr>
          <p:cNvSpPr txBox="1"/>
          <p:nvPr/>
        </p:nvSpPr>
        <p:spPr>
          <a:xfrm>
            <a:off x="4335425" y="713785"/>
            <a:ext cx="60977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1. Объявление с помощью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C0A2B-1992-7274-E93E-78F735F4A016}"/>
              </a:ext>
            </a:extLst>
          </p:cNvPr>
          <p:cNvSpPr txBox="1"/>
          <p:nvPr/>
        </p:nvSpPr>
        <p:spPr>
          <a:xfrm>
            <a:off x="699090" y="1244308"/>
            <a:ext cx="609777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077EA-7752-050F-8FD8-BD59F03B184A}"/>
              </a:ext>
            </a:extLst>
          </p:cNvPr>
          <p:cNvSpPr txBox="1"/>
          <p:nvPr/>
        </p:nvSpPr>
        <p:spPr>
          <a:xfrm>
            <a:off x="6270702" y="1140207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данном примере: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ключевое слово для объявления функции.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Welcome - имя функционального компонента.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 - список параметров функции; в данном случае он пуст.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{} - тело функции.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оператор возврата значения.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&lt;Text&gt;...&lt;/Text&gt; - JSX-элемент, описывающий отображаемый текст.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7CCA3F-5F81-17EE-98EB-D19698965BE6}"/>
              </a:ext>
            </a:extLst>
          </p:cNvPr>
          <p:cNvSpPr txBox="1"/>
          <p:nvPr/>
        </p:nvSpPr>
        <p:spPr>
          <a:xfrm>
            <a:off x="3091676" y="3244334"/>
            <a:ext cx="61833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 2. Объявление с помощью стрелочной функции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16281-AD7C-B624-B117-D576C55BFFF0}"/>
              </a:ext>
            </a:extLst>
          </p:cNvPr>
          <p:cNvSpPr txBox="1"/>
          <p:nvPr/>
        </p:nvSpPr>
        <p:spPr>
          <a:xfrm>
            <a:off x="699090" y="3820701"/>
            <a:ext cx="618335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8E895C-9899-1570-B4FB-7B125D6F563A}"/>
              </a:ext>
            </a:extLst>
          </p:cNvPr>
          <p:cNvSpPr txBox="1"/>
          <p:nvPr/>
        </p:nvSpPr>
        <p:spPr>
          <a:xfrm>
            <a:off x="3437364" y="4882530"/>
            <a:ext cx="61833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Стрелочная функция также поддерживает сокращённую запись с неявным возвратом результата: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3C9062-E794-CB04-AF58-2BA3794F59AE}"/>
              </a:ext>
            </a:extLst>
          </p:cNvPr>
          <p:cNvSpPr txBox="1"/>
          <p:nvPr/>
        </p:nvSpPr>
        <p:spPr>
          <a:xfrm>
            <a:off x="3179027" y="5678085"/>
            <a:ext cx="61833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5634336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0D65A-2E85-61EC-FF50-48A6FC8DA9E1}"/>
              </a:ext>
            </a:extLst>
          </p:cNvPr>
          <p:cNvSpPr txBox="1"/>
          <p:nvPr/>
        </p:nvSpPr>
        <p:spPr>
          <a:xfrm>
            <a:off x="749919" y="233505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Оператор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функциональных компонентах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DA18EA-CAC7-255F-D061-F8C2C4AC6690}"/>
              </a:ext>
            </a:extLst>
          </p:cNvPr>
          <p:cNvSpPr txBox="1"/>
          <p:nvPr/>
        </p:nvSpPr>
        <p:spPr>
          <a:xfrm>
            <a:off x="3048930" y="746462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B3A5A1-0B21-9987-43A7-798BC5E09DB9}"/>
              </a:ext>
            </a:extLst>
          </p:cNvPr>
          <p:cNvSpPr txBox="1"/>
          <p:nvPr/>
        </p:nvSpPr>
        <p:spPr>
          <a:xfrm>
            <a:off x="749919" y="1228641"/>
            <a:ext cx="60941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UserProfile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Александр"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Профиль пользователя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Имя: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Возраст: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633C43-F24A-D1FE-2517-2929713153EE}"/>
              </a:ext>
            </a:extLst>
          </p:cNvPr>
          <p:cNvSpPr txBox="1"/>
          <p:nvPr/>
        </p:nvSpPr>
        <p:spPr>
          <a:xfrm>
            <a:off x="6470495" y="1705694"/>
            <a:ext cx="3141856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отображения: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Профиль пользователя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Имя: Александр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Возраст: 21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4042EF-CA9A-8D15-50FF-78075D6B2461}"/>
              </a:ext>
            </a:extLst>
          </p:cNvPr>
          <p:cNvSpPr txBox="1"/>
          <p:nvPr/>
        </p:nvSpPr>
        <p:spPr>
          <a:xfrm>
            <a:off x="3292398" y="3957834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Зачем JSX заключается в круглые скобки?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FCDE1B-C8D8-1897-6288-55890414ED3F}"/>
              </a:ext>
            </a:extLst>
          </p:cNvPr>
          <p:cNvSpPr txBox="1"/>
          <p:nvPr/>
        </p:nvSpPr>
        <p:spPr>
          <a:xfrm>
            <a:off x="749919" y="4347926"/>
            <a:ext cx="44688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Первая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строка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Вторая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строка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4E3D49-3EB6-FA55-CA1A-01C818C3C625}"/>
              </a:ext>
            </a:extLst>
          </p:cNvPr>
          <p:cNvSpPr txBox="1"/>
          <p:nvPr/>
        </p:nvSpPr>
        <p:spPr>
          <a:xfrm>
            <a:off x="749919" y="6103582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Привет!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F37B3-5C0C-ED34-5F8B-C5A693F488BD}"/>
              </a:ext>
            </a:extLst>
          </p:cNvPr>
          <p:cNvSpPr txBox="1"/>
          <p:nvPr/>
        </p:nvSpPr>
        <p:spPr>
          <a:xfrm>
            <a:off x="7215697" y="4451159"/>
            <a:ext cx="29602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Неправильно: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10E9A4-5829-F0D5-D830-9ADCB40DB43B}"/>
              </a:ext>
            </a:extLst>
          </p:cNvPr>
          <p:cNvSpPr txBox="1"/>
          <p:nvPr/>
        </p:nvSpPr>
        <p:spPr>
          <a:xfrm>
            <a:off x="7128852" y="4834996"/>
            <a:ext cx="33978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Привет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76384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25F241-D3D9-9419-6BA6-60500A4AA177}"/>
              </a:ext>
            </a:extLst>
          </p:cNvPr>
          <p:cNvSpPr txBox="1"/>
          <p:nvPr/>
        </p:nvSpPr>
        <p:spPr>
          <a:xfrm>
            <a:off x="738768" y="322715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Возвращение JSX и построение интерфейса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326DD-0C37-ED3A-8034-182EF5F4080D}"/>
              </a:ext>
            </a:extLst>
          </p:cNvPr>
          <p:cNvSpPr txBox="1"/>
          <p:nvPr/>
        </p:nvSpPr>
        <p:spPr>
          <a:xfrm>
            <a:off x="738768" y="792847"/>
            <a:ext cx="109254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Функциональный компонент может возвращать как один простой элемент, так и сложную структуру из нескольких вложенных компонентов.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04C6B3-21F2-549F-0C3F-0A04CA7C9567}"/>
              </a:ext>
            </a:extLst>
          </p:cNvPr>
          <p:cNvSpPr txBox="1"/>
          <p:nvPr/>
        </p:nvSpPr>
        <p:spPr>
          <a:xfrm>
            <a:off x="738768" y="1478422"/>
            <a:ext cx="29745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Простой компонент: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2A866C-783A-5056-40D1-C502C498C478}"/>
              </a:ext>
            </a:extLst>
          </p:cNvPr>
          <p:cNvSpPr txBox="1"/>
          <p:nvPr/>
        </p:nvSpPr>
        <p:spPr>
          <a:xfrm>
            <a:off x="738768" y="1917776"/>
            <a:ext cx="41789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Мой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магазин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7F4DB3-9FED-4E8A-D67B-192BEEC2EBD1}"/>
              </a:ext>
            </a:extLst>
          </p:cNvPr>
          <p:cNvSpPr txBox="1"/>
          <p:nvPr/>
        </p:nvSpPr>
        <p:spPr>
          <a:xfrm>
            <a:off x="7184174" y="1478422"/>
            <a:ext cx="34429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Составной компонент: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3F6F1-3972-9EC4-0A47-BB5CF0DBA93C}"/>
              </a:ext>
            </a:extLst>
          </p:cNvPr>
          <p:cNvSpPr txBox="1"/>
          <p:nvPr/>
        </p:nvSpPr>
        <p:spPr>
          <a:xfrm>
            <a:off x="6704671" y="1816976"/>
            <a:ext cx="60941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Смартфон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Samsung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35000 ₽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наличии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A9E173-F1A2-C253-26A5-7F9DE7BD3206}"/>
              </a:ext>
            </a:extLst>
          </p:cNvPr>
          <p:cNvSpPr txBox="1"/>
          <p:nvPr/>
        </p:nvSpPr>
        <p:spPr>
          <a:xfrm>
            <a:off x="738768" y="3663635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именования функциональных компонентов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8E41724E-E831-F6B3-E850-FA9C4A2AB2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262" y="4078451"/>
            <a:ext cx="1160841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создании функциональных компонентов необходимо соблюдать следующие правила: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Имя компонента должно начинаться с заглавной буквы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составных имён применяется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PascalCase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ShoppingCart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CourseList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LoginScreen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Имя должно отражать назначение компонента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Например,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понятнее, чем Component1.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 использовании компонента в JSX необходимо соблюдать регистр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Записи &lt;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/&gt; и &lt;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/&gt; не равнозначны.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Компоненты следует объявлять на верхнем уровне модуля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а не внутри других компонентов, чтобы избежать ненужного пересоздания функций компонентов.</a:t>
            </a:r>
          </a:p>
        </p:txBody>
      </p:sp>
    </p:spTree>
    <p:extLst>
      <p:ext uri="{BB962C8B-B14F-4D97-AF65-F5344CB8AC3E}">
        <p14:creationId xmlns:p14="http://schemas.microsoft.com/office/powerpoint/2010/main" val="1312260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17EC78-A0AB-61BC-2812-2D952C418A82}"/>
              </a:ext>
            </a:extLst>
          </p:cNvPr>
          <p:cNvSpPr txBox="1"/>
          <p:nvPr/>
        </p:nvSpPr>
        <p:spPr>
          <a:xfrm>
            <a:off x="1349299" y="121993"/>
            <a:ext cx="98130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первого функционального компонента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41A18-61C2-88D1-26BF-D07557465240}"/>
              </a:ext>
            </a:extLst>
          </p:cNvPr>
          <p:cNvSpPr txBox="1"/>
          <p:nvPr/>
        </p:nvSpPr>
        <p:spPr>
          <a:xfrm>
            <a:off x="-374495" y="916167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Полный пример программы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399E2-23F4-DF28-BD0C-DCD57AA2C103}"/>
              </a:ext>
            </a:extLst>
          </p:cNvPr>
          <p:cNvSpPr txBox="1"/>
          <p:nvPr/>
        </p:nvSpPr>
        <p:spPr>
          <a:xfrm>
            <a:off x="655136" y="1536394"/>
            <a:ext cx="609414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Пользовательский компонент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Добро пожаловать!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Главный компонент приложения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padding: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3C718AA-C8C9-D74C-6608-E9BE63A91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965" y="916167"/>
            <a:ext cx="624003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Рассмотренный пример содержит два пользовательских компонента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- главный компонент, который организует структуру экрана.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Welcome - дочерний компонент, отвечающий за отображение приветственного текста.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Их взаимосвязь можно представить в виде дерева: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BB0060F-E03B-99CC-0B77-84AD8D947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459" y="2781112"/>
            <a:ext cx="5833164" cy="346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785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13E93-3E18-9FDA-DE0F-E48E3F1CECD1}"/>
              </a:ext>
            </a:extLst>
          </p:cNvPr>
          <p:cNvSpPr txBox="1"/>
          <p:nvPr/>
        </p:nvSpPr>
        <p:spPr>
          <a:xfrm>
            <a:off x="1954716" y="233505"/>
            <a:ext cx="82825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компонентов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BF8D8-97B1-E283-A82F-F52470DF1045}"/>
              </a:ext>
            </a:extLst>
          </p:cNvPr>
          <p:cNvSpPr txBox="1"/>
          <p:nvPr/>
        </p:nvSpPr>
        <p:spPr>
          <a:xfrm>
            <a:off x="649559" y="818280"/>
            <a:ext cx="11193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Повторное использование компонентов (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Reusability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- это принцип разработки, при котором один и тот же компонент пользовательского интерфейса можно многократно применять в разных частях приложения без повторного написания его реализации.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A248E-A9CA-37E4-12B7-6191E8A486DF}"/>
              </a:ext>
            </a:extLst>
          </p:cNvPr>
          <p:cNvSpPr txBox="1"/>
          <p:nvPr/>
        </p:nvSpPr>
        <p:spPr>
          <a:xfrm>
            <a:off x="1129062" y="1560594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дублирования кода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728F3-4EAC-C6BF-6E83-5C4AC6A15767}"/>
              </a:ext>
            </a:extLst>
          </p:cNvPr>
          <p:cNvSpPr txBox="1"/>
          <p:nvPr/>
        </p:nvSpPr>
        <p:spPr>
          <a:xfrm>
            <a:off x="649559" y="1810464"/>
            <a:ext cx="4959504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padding: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Беспроводные наушники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4500 ₽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наличии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Клавиатура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3200 ₽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наличии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Компьютерная мышь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1800 ₽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наличии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C118E-14AD-93CA-EC45-4CB70EFD2EF2}"/>
              </a:ext>
            </a:extLst>
          </p:cNvPr>
          <p:cNvSpPr txBox="1"/>
          <p:nvPr/>
        </p:nvSpPr>
        <p:spPr>
          <a:xfrm>
            <a:off x="5609063" y="1791970"/>
            <a:ext cx="60941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отображения: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6DB0CEF-70D8-A2F2-00CC-E27280B8B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063" y="2155381"/>
            <a:ext cx="2543530" cy="37152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481CA5-60DD-7044-27D0-8F428090118F}"/>
              </a:ext>
            </a:extLst>
          </p:cNvPr>
          <p:cNvSpPr txBox="1"/>
          <p:nvPr/>
        </p:nvSpPr>
        <p:spPr>
          <a:xfrm>
            <a:off x="8388506" y="1767112"/>
            <a:ext cx="3654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Такой подход имеет несколько недостатков: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E9D63F-BEC5-588C-218E-163FB0FA55B2}"/>
              </a:ext>
            </a:extLst>
          </p:cNvPr>
          <p:cNvSpPr txBox="1"/>
          <p:nvPr/>
        </p:nvSpPr>
        <p:spPr>
          <a:xfrm>
            <a:off x="8388506" y="2351887"/>
            <a:ext cx="36548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 кода.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размера программы.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изменения интерфейса.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Высокая вероятность ошибок.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сопровождения.</a:t>
            </a:r>
          </a:p>
        </p:txBody>
      </p:sp>
    </p:spTree>
    <p:extLst>
      <p:ext uri="{BB962C8B-B14F-4D97-AF65-F5344CB8AC3E}">
        <p14:creationId xmlns:p14="http://schemas.microsoft.com/office/powerpoint/2010/main" val="9734215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9CE8F4-5B21-4F49-D87C-FCD9D53F176E}"/>
              </a:ext>
            </a:extLst>
          </p:cNvPr>
          <p:cNvSpPr txBox="1"/>
          <p:nvPr/>
        </p:nvSpPr>
        <p:spPr>
          <a:xfrm>
            <a:off x="694163" y="295727"/>
            <a:ext cx="94868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проблемы: создание пользовательского компонента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D912CE-1AA8-89AD-A8B2-375B5DD94993}"/>
              </a:ext>
            </a:extLst>
          </p:cNvPr>
          <p:cNvSpPr txBox="1"/>
          <p:nvPr/>
        </p:nvSpPr>
        <p:spPr>
          <a:xfrm>
            <a:off x="961793" y="847020"/>
            <a:ext cx="60941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Беспроводные наушники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4500 ₽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наличии</a:t>
            </a:r>
            <a:r>
              <a:rPr lang="ru-RU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padding: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F2737-DCBE-A301-D5F2-1193CC4860F5}"/>
              </a:ext>
            </a:extLst>
          </p:cNvPr>
          <p:cNvSpPr txBox="1"/>
          <p:nvPr/>
        </p:nvSpPr>
        <p:spPr>
          <a:xfrm>
            <a:off x="7118195" y="980637"/>
            <a:ext cx="41120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FF9812-D7AE-BCF3-3CF8-14512BEFA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8195" y="1408819"/>
            <a:ext cx="2924583" cy="359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52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3D1C57-FA95-5A27-BA21-BFA6FDEA2B96}"/>
              </a:ext>
            </a:extLst>
          </p:cNvPr>
          <p:cNvSpPr txBox="1"/>
          <p:nvPr/>
        </p:nvSpPr>
        <p:spPr>
          <a:xfrm>
            <a:off x="783373" y="356168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Недостаток компонентов с фиксированными данными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3D36B-3189-45B8-BB0E-887EE58235CC}"/>
              </a:ext>
            </a:extLst>
          </p:cNvPr>
          <p:cNvSpPr txBox="1"/>
          <p:nvPr/>
        </p:nvSpPr>
        <p:spPr>
          <a:xfrm>
            <a:off x="928339" y="853949"/>
            <a:ext cx="609414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Беспроводные наушники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Цена: 4500 ₽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В наличии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83A6C0-235F-2191-6C55-BAE88E82500E}"/>
              </a:ext>
            </a:extLst>
          </p:cNvPr>
          <p:cNvSpPr txBox="1"/>
          <p:nvPr/>
        </p:nvSpPr>
        <p:spPr>
          <a:xfrm>
            <a:off x="6096000" y="1192503"/>
            <a:ext cx="60941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Несмотря на устранение повторяющегося кода, у рассмотренного решения остаётся существенный недостаток: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экземпляры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ProductCard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отображают одинаковую информацию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11B6C0-B29D-4154-4A33-908110FBBF09}"/>
              </a:ext>
            </a:extLst>
          </p:cNvPr>
          <p:cNvSpPr txBox="1"/>
          <p:nvPr/>
        </p:nvSpPr>
        <p:spPr>
          <a:xfrm>
            <a:off x="3975409" y="3008385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структуры и данных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51507-F810-A0F2-02A8-0770906F722F}"/>
              </a:ext>
            </a:extLst>
          </p:cNvPr>
          <p:cNvSpPr txBox="1"/>
          <p:nvPr/>
        </p:nvSpPr>
        <p:spPr>
          <a:xfrm>
            <a:off x="2589870" y="3749702"/>
            <a:ext cx="70113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Наушники"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4500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Клавиатура"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3200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ProductCard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Мышь"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1800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9233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3ED83-35A5-7416-76B2-24962E9FD170}"/>
              </a:ext>
            </a:extLst>
          </p:cNvPr>
          <p:cNvSpPr txBox="1"/>
          <p:nvPr/>
        </p:nvSpPr>
        <p:spPr>
          <a:xfrm>
            <a:off x="2868651" y="144295"/>
            <a:ext cx="60941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Практическое задание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59AC3-E54B-56AC-8619-3AC2A34DCF3F}"/>
              </a:ext>
            </a:extLst>
          </p:cNvPr>
          <p:cNvSpPr txBox="1"/>
          <p:nvPr/>
        </p:nvSpPr>
        <p:spPr>
          <a:xfrm>
            <a:off x="448837" y="667515"/>
            <a:ext cx="1144951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Задача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разработать мобильное приложение «Мой профиль», которое представляет пользователя, его интересы, достижения и дополнительную информацию.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студент самостоятельно выбирает содержание, цветовую гамму и оформление приложения.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944C36F-5905-B91D-1EB5-31A02332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837" y="1642763"/>
            <a:ext cx="11209763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приложению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Заголовок приложения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Создать собственный компонент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Header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отображает название приложения и приветственный текст.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Информация о пользователе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Создать компонент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содержащий имя, возраст, город и фотографию или аватар. Данные должны храниться в JavaScript-объекте и выводиться через JSX с использованием фигурных скобок.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Раздел «Обо мне».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отдельный компонент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который содержит минимум три факта о пользователе, например интересы, любимые занятия и профессиональные навыки.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информация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Создать логическую переменную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isStudent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При значении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приложение должно отображать текст «Я студент», при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«Я не студент». Использовать тернарный оператор непосредственно в JSX.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Дополнительный информационный блок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Создать числовые переменные, например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completedTasks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totalTasks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и вывести количество оставшихся заданий с помощью арифметического выражения внутри JSX.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Оформление интерфейса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Использовать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StyleSheet.create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для настройки фона, размеров текста, отступов, границ и цветов. Экран должен содержать несколько визуально отделённых блоков.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Компонентная структура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Все созданные компоненты должны объединяться в главном компоненте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Необходимо использовать как минимум три собственных функциональных компонента.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TextInput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подсказкой «Напишите сообщение» (пока без обработки введённого текста).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Разместить содержимое внутри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ScrollView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дополнительное уведомление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которое отображается только при выполнении определённого условия с помощью оператора &amp;&amp;.</a:t>
            </a:r>
          </a:p>
        </p:txBody>
      </p:sp>
    </p:spTree>
    <p:extLst>
      <p:ext uri="{BB962C8B-B14F-4D97-AF65-F5344CB8AC3E}">
        <p14:creationId xmlns:p14="http://schemas.microsoft.com/office/powerpoint/2010/main" val="2892832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9D076FE-15D3-76E9-7FE7-62A1473E2CE6}"/>
              </a:ext>
            </a:extLst>
          </p:cNvPr>
          <p:cNvSpPr txBox="1"/>
          <p:nvPr/>
        </p:nvSpPr>
        <p:spPr>
          <a:xfrm>
            <a:off x="947854" y="805979"/>
            <a:ext cx="8249113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"react-native"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Создайте компонент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Header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Создайте компонент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UserProfile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Создайте компонент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AboutMe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container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ru-RU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Разместите собственные компоненты */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ru-RU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ru-RU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View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StyleSheet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container: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flex: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padding: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"#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ffffff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B57DC-3420-A39B-6303-EDF526DD543A}"/>
              </a:ext>
            </a:extLst>
          </p:cNvPr>
          <p:cNvSpPr txBox="1"/>
          <p:nvPr/>
        </p:nvSpPr>
        <p:spPr>
          <a:xfrm>
            <a:off x="3415061" y="296599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Стартовый шаблон</a:t>
            </a:r>
          </a:p>
        </p:txBody>
      </p:sp>
    </p:spTree>
    <p:extLst>
      <p:ext uri="{BB962C8B-B14F-4D97-AF65-F5344CB8AC3E}">
        <p14:creationId xmlns:p14="http://schemas.microsoft.com/office/powerpoint/2010/main" val="12476369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11445</Words>
  <Application>Microsoft Office PowerPoint</Application>
  <PresentationFormat>Широкоэкранный</PresentationFormat>
  <Paragraphs>872</Paragraphs>
  <Slides>38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38</vt:i4>
      </vt:variant>
    </vt:vector>
  </HeadingPairs>
  <TitlesOfParts>
    <vt:vector size="47" baseType="lpstr">
      <vt:lpstr>Aptos</vt:lpstr>
      <vt:lpstr>Aptos Display</vt:lpstr>
      <vt:lpstr>Arial</vt:lpstr>
      <vt:lpstr>Calibri</vt:lpstr>
      <vt:lpstr>Consolas</vt:lpstr>
      <vt:lpstr>KyivType Sans Heavy</vt:lpstr>
      <vt:lpstr>Times New Roman</vt:lpstr>
      <vt:lpstr>Тема Office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Наиля Мавлюдова</dc:creator>
  <cp:lastModifiedBy>Наиля Мавлюдова</cp:lastModifiedBy>
  <cp:revision>8</cp:revision>
  <dcterms:created xsi:type="dcterms:W3CDTF">2026-10-18T10:24:10Z</dcterms:created>
  <dcterms:modified xsi:type="dcterms:W3CDTF">2026-10-21T14:58:09Z</dcterms:modified>
</cp:coreProperties>
</file>