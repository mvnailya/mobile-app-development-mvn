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3"/>
  </p:notesMasterIdLst>
  <p:sldIdLst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529" autoAdjust="0"/>
  </p:normalViewPr>
  <p:slideViewPr>
    <p:cSldViewPr snapToGrid="0" snapToObjects="1">
      <p:cViewPr varScale="1">
        <p:scale>
          <a:sx n="69" d="100"/>
          <a:sy n="69" d="100"/>
        </p:scale>
        <p:origin x="18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16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Основой разработки мобильных приложений с использованием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является компонентный подход. Он заключается в том, что интерфейс приложения создаётся не как единая большая конструкция, а собирается из отдельных независимых частей, которые называются компонентами.</a:t>
            </a:r>
          </a:p>
          <a:p>
            <a:r>
              <a:rPr lang="ru-RU" dirty="0"/>
              <a:t>Компонент — это самостоятельный элемент пользовательского интерфейса, который отвечает за отображение определённой части приложения.</a:t>
            </a:r>
          </a:p>
          <a:p>
            <a:r>
              <a:rPr lang="ru-RU" dirty="0"/>
              <a:t>Например, в мобильном интернет-магазине отдельными компонентами могут быть заголовок приложения, строка поиска, карточка товара, кнопка добавления в корзину и список товаров.</a:t>
            </a:r>
          </a:p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для создания собственных компонентов чаще всего используются функциональные компоненты.</a:t>
            </a:r>
          </a:p>
          <a:p>
            <a:r>
              <a:rPr lang="ru-RU" dirty="0"/>
              <a:t>Функциональный компонент — это функция JavaScript, которая возвращает описание пользовательского интерфейса с использованием JSX.</a:t>
            </a:r>
          </a:p>
          <a:p>
            <a:r>
              <a:rPr lang="ru-RU" dirty="0"/>
              <a:t>JSX — это синтаксическое расширение JavaScript, позволяющее записывать структуру интерфейса в виде тегов, напоминающих HTML. При этом JSX не является HTML.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используются специальные компоненты, которые преобразуются в соответствующие элементы интерфейса мобильной платформы.</a:t>
            </a:r>
          </a:p>
          <a:p>
            <a:r>
              <a:rPr lang="ru-RU" dirty="0"/>
              <a:t>Рассмотрим пример компонента </a:t>
            </a:r>
            <a:r>
              <a:rPr lang="ru-RU" dirty="0" err="1"/>
              <a:t>ProductCard</a:t>
            </a:r>
            <a:r>
              <a:rPr lang="ru-RU" dirty="0"/>
              <a:t>, предназначенного для отображения карточки товара.</a:t>
            </a:r>
          </a:p>
          <a:p>
            <a:r>
              <a:rPr lang="ru-RU" dirty="0"/>
              <a:t>Основой разработки мобильных приложений с использованием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является компонентный подход. Он заключается в том, что интерфейс приложения создаётся не как единая большая конструкция, а собирается из отдельных независимых частей, которые называются компонентами.</a:t>
            </a:r>
          </a:p>
          <a:p>
            <a:r>
              <a:rPr lang="ru-RU" dirty="0"/>
              <a:t>Компонент — это самостоятельный элемент пользовательского интерфейса, который отвечает за отображение определённой части приложения.</a:t>
            </a:r>
          </a:p>
          <a:p>
            <a:r>
              <a:rPr lang="ru-RU" dirty="0"/>
              <a:t>Например, в мобильном интернет-магазине отдельными компонентами могут быть заголовок приложения, строка поиска, карточка товара, кнопка добавления в корзину и список товаров.</a:t>
            </a:r>
          </a:p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для создания собственных компонентов чаще всего используются функциональные компоненты.</a:t>
            </a:r>
          </a:p>
          <a:p>
            <a:r>
              <a:rPr lang="ru-RU" dirty="0"/>
              <a:t>Функциональный компонент — это функция JavaScript, которая возвращает описание пользовательского интерфейса с использованием JSX.</a:t>
            </a:r>
          </a:p>
          <a:p>
            <a:r>
              <a:rPr lang="ru-RU" dirty="0"/>
              <a:t>JSX — это синтаксическое расширение JavaScript, позволяющее записывать структуру интерфейса в виде тегов, напоминающих HTML. При этом JSX не является HTML.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используются специальные компоненты, которые преобразуются в соответствующие элементы интерфейса мобильной платформы.</a:t>
            </a:r>
          </a:p>
          <a:p>
            <a:r>
              <a:rPr lang="ru-RU" dirty="0"/>
              <a:t>Рассмотрим пример компонента </a:t>
            </a:r>
            <a:r>
              <a:rPr lang="ru-RU" dirty="0" err="1"/>
              <a:t>ProductCard</a:t>
            </a:r>
            <a:r>
              <a:rPr lang="ru-RU" dirty="0"/>
              <a:t>, предназначенного для отображения карточки товара.</a:t>
            </a:r>
          </a:p>
          <a:p>
            <a:r>
              <a:rPr lang="en-US" dirty="0"/>
              <a:t>&lt;</a:t>
            </a:r>
            <a:r>
              <a:rPr lang="en-US" dirty="0" err="1"/>
              <a:t>ProductCard</a:t>
            </a:r>
            <a:r>
              <a:rPr lang="en-US" dirty="0"/>
              <a:t> /&gt;</a:t>
            </a:r>
          </a:p>
          <a:p>
            <a:r>
              <a:rPr lang="ru-RU" dirty="0"/>
              <a:t>Один и тот же компонент можно использовать многократно</a:t>
            </a:r>
            <a:r>
              <a:rPr lang="en-US" dirty="0"/>
              <a:t>.</a:t>
            </a:r>
          </a:p>
          <a:p>
            <a:r>
              <a:rPr lang="ru-RU" dirty="0"/>
              <a:t>Однако у данного компонента имеется ограничение: название товара и его цена жёстко прописаны внутри функции. Поэтому все созданные карточки будут отображать одинаковые данные. В дальнейшем мы рассмотрим, как сделать такой компонент универсальным.</a:t>
            </a:r>
            <a:endParaRPr lang="en-US" dirty="0"/>
          </a:p>
          <a:p>
            <a:endParaRPr lang="en-US" dirty="0"/>
          </a:p>
          <a:p>
            <a:r>
              <a:rPr lang="ru-RU" dirty="0"/>
              <a:t>Что произойдёт, если трижды использовать компонент </a:t>
            </a:r>
            <a:r>
              <a:rPr lang="ru-RU" dirty="0" err="1"/>
              <a:t>ProductCard</a:t>
            </a:r>
            <a:r>
              <a:rPr lang="ru-RU" dirty="0"/>
              <a:t> из примера?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разработке мобильного приложения сначала определяется структура будущего интерфейса. После этого экран разделяется на логические части, каждая из которых может быть представлена отдельным компонентом.</a:t>
            </a:r>
          </a:p>
          <a:p>
            <a:r>
              <a:rPr lang="ru-RU" dirty="0"/>
              <a:t>Предположим, необходимо создать экран каталога интернет-магазина. На этом экране пользователь должен видеть строку поиска и список товаров.</a:t>
            </a:r>
          </a:p>
          <a:p>
            <a:r>
              <a:rPr lang="ru-RU" dirty="0"/>
              <a:t>Вместо того чтобы описывать все элементы в одной большой функции, можно выделить несколько компонентов: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CatalogScreen</a:t>
            </a:r>
            <a:r>
              <a:rPr lang="ru-RU" dirty="0"/>
              <a:t> — основной компонент экрана каталога.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SearchField</a:t>
            </a:r>
            <a:r>
              <a:rPr lang="ru-RU" dirty="0"/>
              <a:t> — компонент строки поиска.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ProductCard</a:t>
            </a:r>
            <a:r>
              <a:rPr lang="ru-RU" dirty="0"/>
              <a:t> — компонент карточки товара.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FlatList</a:t>
            </a:r>
            <a:r>
              <a:rPr lang="ru-RU" dirty="0"/>
              <a:t> — встроенный компонент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для отображения списка.</a:t>
            </a:r>
          </a:p>
          <a:p>
            <a:r>
              <a:rPr lang="ru-RU" dirty="0"/>
              <a:t>Главный компонент </a:t>
            </a:r>
            <a:r>
              <a:rPr lang="ru-RU" dirty="0" err="1"/>
              <a:t>CatalogScreen</a:t>
            </a:r>
            <a:r>
              <a:rPr lang="ru-RU" dirty="0"/>
              <a:t> объединяет остальные части интерфейса.</a:t>
            </a:r>
          </a:p>
          <a:p>
            <a:r>
              <a:rPr lang="ru-RU" dirty="0"/>
              <a:t>Рассмотрим структуру, представленную на схеме слайда.</a:t>
            </a:r>
            <a:endParaRPr lang="en-US" dirty="0"/>
          </a:p>
          <a:p>
            <a:r>
              <a:rPr lang="ru-RU" dirty="0"/>
              <a:t>Такая структура называется деревом компонентов.</a:t>
            </a:r>
          </a:p>
          <a:p>
            <a:r>
              <a:rPr lang="ru-RU" dirty="0"/>
              <a:t>Дерево компонентов — это иерархическая структура, показывающая, какие компоненты входят в состав других компонентов.</a:t>
            </a:r>
          </a:p>
          <a:p>
            <a:r>
              <a:rPr lang="ru-RU" dirty="0"/>
              <a:t>Верхний компонент называется родительским, а вложенные в него компоненты — дочерними.</a:t>
            </a:r>
          </a:p>
          <a:p>
            <a:r>
              <a:rPr lang="ru-RU" dirty="0"/>
              <a:t>В нашем примере </a:t>
            </a:r>
            <a:r>
              <a:rPr lang="ru-RU" dirty="0" err="1"/>
              <a:t>CatalogScreen</a:t>
            </a:r>
            <a:r>
              <a:rPr lang="ru-RU" dirty="0"/>
              <a:t> является родительским компонентом по отношению к </a:t>
            </a:r>
            <a:r>
              <a:rPr lang="ru-RU" dirty="0" err="1"/>
              <a:t>SearchField</a:t>
            </a:r>
            <a:r>
              <a:rPr lang="ru-RU" dirty="0"/>
              <a:t> и </a:t>
            </a:r>
            <a:r>
              <a:rPr lang="ru-RU" dirty="0" err="1"/>
              <a:t>FlatList</a:t>
            </a:r>
            <a:r>
              <a:rPr lang="ru-RU" dirty="0"/>
              <a:t>.</a:t>
            </a:r>
          </a:p>
          <a:p>
            <a:r>
              <a:rPr lang="ru-RU" dirty="0"/>
              <a:t>Компонент </a:t>
            </a:r>
            <a:r>
              <a:rPr lang="ru-RU" dirty="0" err="1"/>
              <a:t>FlatList</a:t>
            </a:r>
            <a:r>
              <a:rPr lang="ru-RU" dirty="0"/>
              <a:t>, в свою очередь, отвечает за создание и отображение элементов </a:t>
            </a:r>
            <a:r>
              <a:rPr lang="ru-RU" dirty="0" err="1"/>
              <a:t>ProductCard</a:t>
            </a:r>
            <a:r>
              <a:rPr lang="ru-RU" dirty="0"/>
              <a:t>.</a:t>
            </a:r>
          </a:p>
          <a:p>
            <a:r>
              <a:rPr lang="ru-RU" dirty="0"/>
              <a:t>Важно понимать, что один компонент может одновременно быть дочерним по отношению к одному компоненту и родительским по отношению к другому.</a:t>
            </a:r>
          </a:p>
          <a:p>
            <a:r>
              <a:rPr lang="ru-RU" dirty="0"/>
              <a:t>Например, </a:t>
            </a:r>
            <a:r>
              <a:rPr lang="ru-RU" dirty="0" err="1"/>
              <a:t>FlatList</a:t>
            </a:r>
            <a:r>
              <a:rPr lang="ru-RU" dirty="0"/>
              <a:t> находится внутри </a:t>
            </a:r>
            <a:r>
              <a:rPr lang="ru-RU" dirty="0" err="1"/>
              <a:t>CatalogScreen</a:t>
            </a:r>
            <a:r>
              <a:rPr lang="ru-RU" dirty="0"/>
              <a:t>, но при этом создаёт элементы списка на основе компонента </a:t>
            </a:r>
            <a:r>
              <a:rPr lang="ru-RU" dirty="0" err="1"/>
              <a:t>ProductCard</a:t>
            </a:r>
            <a:r>
              <a:rPr lang="ru-RU" dirty="0"/>
              <a:t>.</a:t>
            </a:r>
          </a:p>
          <a:p>
            <a:r>
              <a:rPr lang="ru-RU" dirty="0"/>
              <a:t>Такое разделение облегчает разработку приложения. Если необходимо изменить внешний вид карточки товара, достаточно изменить один компонент </a:t>
            </a:r>
            <a:r>
              <a:rPr lang="ru-RU" dirty="0" err="1"/>
              <a:t>ProductCard</a:t>
            </a:r>
            <a:r>
              <a:rPr lang="ru-RU" dirty="0"/>
              <a:t>. Все карточки, использующие его, будут отображаться в соответствии с новой разметкой.</a:t>
            </a:r>
          </a:p>
          <a:p>
            <a:r>
              <a:rPr lang="ru-RU" dirty="0"/>
              <a:t>Если потребуется изменить поле поиска, изменения можно внести в компонент </a:t>
            </a:r>
            <a:r>
              <a:rPr lang="ru-RU" dirty="0" err="1"/>
              <a:t>SearchField</a:t>
            </a:r>
            <a:r>
              <a:rPr lang="ru-RU" dirty="0"/>
              <a:t>, не переписывая остальные части экрана.</a:t>
            </a:r>
          </a:p>
          <a:p>
            <a:r>
              <a:rPr lang="ru-RU" dirty="0"/>
              <a:t>Таким образом, компонентный подход позволяет создавать сложные интерфейсы путём объединения небольших самостоятельных элементов.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предыдущих слайдах мы рассмотрели повторное использование компонентов. Однако возникает проблема: один и тот же компонент может использоваться для отображения разных данных.</a:t>
            </a:r>
          </a:p>
          <a:p>
            <a:r>
              <a:rPr lang="ru-RU" dirty="0"/>
              <a:t>Например, в интернет-магазине необходимо вывести две карточки товаров:</a:t>
            </a:r>
          </a:p>
          <a:p>
            <a:r>
              <a:rPr lang="ru-RU" dirty="0"/>
              <a:t>Первая карточка — наушники стоимостью 2500 рублей.</a:t>
            </a:r>
          </a:p>
          <a:p>
            <a:r>
              <a:rPr lang="ru-RU" dirty="0"/>
              <a:t>Вторая карточка — чехол стоимостью 900 рублей.</a:t>
            </a:r>
          </a:p>
          <a:p>
            <a:r>
              <a:rPr lang="ru-RU" dirty="0"/>
              <a:t>Структура обеих карточек одинаковая: название товара и его цена. Отличаются только значения.</a:t>
            </a:r>
          </a:p>
          <a:p>
            <a:r>
              <a:rPr lang="ru-RU" dirty="0"/>
              <a:t>Можно создать два разных компонента или скопировать JSX-разметку, изменив название и стоимость. Но такой подход приводит к дублированию программного кода.</a:t>
            </a:r>
          </a:p>
          <a:p>
            <a:r>
              <a:rPr lang="ru-RU" dirty="0"/>
              <a:t>Представим, что в приложении отображаются сто товаров. Если разметка каждой карточки написана отдельно, изменение дизайна потребует редактирования большого количества одинаковых фрагментов.</a:t>
            </a:r>
          </a:p>
          <a:p>
            <a:r>
              <a:rPr lang="ru-RU" dirty="0"/>
              <a:t>Для решения этой проблемы в </a:t>
            </a:r>
            <a:r>
              <a:rPr lang="ru-RU" dirty="0" err="1"/>
              <a:t>React</a:t>
            </a:r>
            <a:r>
              <a:rPr lang="ru-RU" dirty="0"/>
              <a:t> используются </a:t>
            </a:r>
            <a:r>
              <a:rPr lang="ru-RU" dirty="0" err="1"/>
              <a:t>props</a:t>
            </a:r>
            <a:r>
              <a:rPr lang="ru-RU" dirty="0"/>
              <a:t>.</a:t>
            </a:r>
          </a:p>
          <a:p>
            <a:r>
              <a:rPr lang="ru-RU" dirty="0"/>
              <a:t>Слово </a:t>
            </a:r>
            <a:r>
              <a:rPr lang="ru-RU" dirty="0" err="1"/>
              <a:t>props</a:t>
            </a:r>
            <a:r>
              <a:rPr lang="ru-RU" dirty="0"/>
              <a:t> происходит от английского </a:t>
            </a:r>
            <a:r>
              <a:rPr lang="ru-RU" dirty="0" err="1"/>
              <a:t>properties</a:t>
            </a:r>
            <a:r>
              <a:rPr lang="ru-RU" dirty="0"/>
              <a:t>, что означает «свойства».</a:t>
            </a:r>
          </a:p>
          <a:p>
            <a:r>
              <a:rPr lang="ru-RU" dirty="0" err="1"/>
              <a:t>Props</a:t>
            </a:r>
            <a:r>
              <a:rPr lang="ru-RU" dirty="0"/>
              <a:t> — это входные данные компонента, которые передаются ему извне, обычно от родительского компонента.</a:t>
            </a:r>
          </a:p>
          <a:p>
            <a:r>
              <a:rPr lang="ru-RU" dirty="0" err="1"/>
              <a:t>Props</a:t>
            </a:r>
            <a:r>
              <a:rPr lang="ru-RU" dirty="0"/>
              <a:t> позволяют использовать одну и ту же структуру интерфейса с разными значениями.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Здесь дважды используется один компонент </a:t>
            </a:r>
            <a:r>
              <a:rPr lang="ru-RU" dirty="0" err="1"/>
              <a:t>ProductCard</a:t>
            </a:r>
            <a:r>
              <a:rPr lang="ru-RU" dirty="0"/>
              <a:t>.</a:t>
            </a:r>
          </a:p>
          <a:p>
            <a:r>
              <a:rPr lang="ru-RU" dirty="0"/>
              <a:t>При первом использовании ему передаются два свойства:</a:t>
            </a:r>
          </a:p>
          <a:p>
            <a:r>
              <a:rPr lang="ru-RU" dirty="0" err="1"/>
              <a:t>title</a:t>
            </a:r>
            <a:r>
              <a:rPr lang="ru-RU" dirty="0"/>
              <a:t>="Наушники" — название товара.</a:t>
            </a:r>
          </a:p>
          <a:p>
            <a:r>
              <a:rPr lang="ru-RU" dirty="0" err="1"/>
              <a:t>price</a:t>
            </a:r>
            <a:r>
              <a:rPr lang="ru-RU" dirty="0"/>
              <a:t>={2500} — цена товара.</a:t>
            </a:r>
          </a:p>
          <a:p>
            <a:r>
              <a:rPr lang="ru-RU" dirty="0"/>
              <a:t>При втором использовании передаются другие значения: </a:t>
            </a:r>
            <a:r>
              <a:rPr lang="ru-RU" dirty="0" err="1"/>
              <a:t>title</a:t>
            </a:r>
            <a:r>
              <a:rPr lang="ru-RU" dirty="0"/>
              <a:t>="Чехол" и </a:t>
            </a:r>
            <a:r>
              <a:rPr lang="ru-RU" dirty="0" err="1"/>
              <a:t>price</a:t>
            </a:r>
            <a:r>
              <a:rPr lang="ru-RU" dirty="0"/>
              <a:t>={900}.</a:t>
            </a:r>
          </a:p>
          <a:p>
            <a:r>
              <a:rPr lang="ru-RU" dirty="0"/>
              <a:t>Компонент остаётся одним и тем же, но результат его отображения зависит от переданных данных.</a:t>
            </a:r>
          </a:p>
          <a:p>
            <a:r>
              <a:rPr lang="ru-RU" dirty="0"/>
              <a:t>Поэтому вместо создания отдельной функции для каждого товара можно использовать один универсальный компонент.</a:t>
            </a:r>
          </a:p>
          <a:p>
            <a:r>
              <a:rPr lang="ru-RU" dirty="0"/>
              <a:t>Это позволяет разделить две составляющие интерфейса:</a:t>
            </a:r>
          </a:p>
          <a:p>
            <a:r>
              <a:rPr lang="ru-RU" dirty="0"/>
              <a:t>Структура компонента определяет, какие элементы будут отображаться и как они расположены.</a:t>
            </a:r>
          </a:p>
          <a:p>
            <a:r>
              <a:rPr lang="ru-RU" dirty="0" err="1"/>
              <a:t>Props</a:t>
            </a:r>
            <a:r>
              <a:rPr lang="ru-RU" dirty="0"/>
              <a:t> определяют, какие данные будут отображаться внутри этой структуры.</a:t>
            </a:r>
          </a:p>
          <a:p>
            <a:r>
              <a:rPr lang="ru-RU" dirty="0"/>
              <a:t>Именно благодаря такому разделению компоненты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можно многократно использовать в разных частях приложения.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подробнее, каким образом компонент получает переданные ему данные.</a:t>
            </a:r>
          </a:p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функциональный компонент может принимать параметр </a:t>
            </a:r>
            <a:r>
              <a:rPr lang="ru-RU" dirty="0" err="1"/>
              <a:t>props</a:t>
            </a:r>
            <a:r>
              <a:rPr lang="ru-RU" dirty="0"/>
              <a:t>.</a:t>
            </a:r>
          </a:p>
          <a:p>
            <a:r>
              <a:rPr lang="ru-RU" dirty="0"/>
              <a:t>Этот параметр представляет собой обычный объект JavaScript, содержащий свойства, указанные при использовании компонента.</a:t>
            </a:r>
          </a:p>
          <a:p>
            <a:r>
              <a:rPr lang="ru-RU" dirty="0"/>
              <a:t>Например:</a:t>
            </a:r>
          </a:p>
          <a:p>
            <a:r>
              <a:rPr lang="en-US" dirty="0"/>
              <a:t>&lt;</a:t>
            </a:r>
            <a:r>
              <a:rPr lang="en-US" dirty="0" err="1"/>
              <a:t>ProductCard</a:t>
            </a:r>
            <a:r>
              <a:rPr lang="en-US" dirty="0"/>
              <a:t> title="</a:t>
            </a:r>
            <a:r>
              <a:rPr lang="en-US" dirty="0" err="1"/>
              <a:t>Наушники</a:t>
            </a:r>
            <a:r>
              <a:rPr lang="en-US" dirty="0"/>
              <a:t>" price={2500} /&gt;</a:t>
            </a:r>
          </a:p>
          <a:p>
            <a:r>
              <a:rPr lang="ru-RU" dirty="0"/>
              <a:t>При таком использовании компонент получает объект, содержащий следующие данные:</a:t>
            </a:r>
            <a:r>
              <a:rPr lang="en-US" dirty="0"/>
              <a:t> { title: "</a:t>
            </a:r>
            <a:r>
              <a:rPr lang="ru-RU" dirty="0"/>
              <a:t>Наушники", </a:t>
            </a:r>
            <a:r>
              <a:rPr lang="en-US" dirty="0"/>
              <a:t>price: 2500 }</a:t>
            </a:r>
          </a:p>
          <a:p>
            <a:r>
              <a:rPr lang="ru-RU" dirty="0"/>
              <a:t>Для обращения к этим значениям используются обычные правила работы с объектами JavaScript.</a:t>
            </a:r>
          </a:p>
          <a:p>
            <a:r>
              <a:rPr lang="ru-RU" dirty="0"/>
              <a:t>Рассмотрим определение компонента:</a:t>
            </a:r>
          </a:p>
          <a:p>
            <a:r>
              <a:rPr lang="ru-RU" dirty="0"/>
              <a:t>В круглых скобках функции указан параметр </a:t>
            </a:r>
            <a:r>
              <a:rPr lang="ru-RU" dirty="0" err="1"/>
              <a:t>props</a:t>
            </a:r>
            <a:r>
              <a:rPr lang="ru-RU" dirty="0"/>
              <a:t>. Через него компонент получает все переданные свойства.</a:t>
            </a:r>
          </a:p>
          <a:p>
            <a:r>
              <a:rPr lang="ru-RU" dirty="0"/>
              <a:t>В первой строке внутри контейнера</a:t>
            </a:r>
            <a:r>
              <a:rPr lang="en-US" dirty="0"/>
              <a:t> Text:</a:t>
            </a:r>
          </a:p>
          <a:p>
            <a:r>
              <a:rPr lang="ru-RU" dirty="0"/>
              <a:t>используется выражение </a:t>
            </a:r>
            <a:r>
              <a:rPr lang="ru-RU" dirty="0" err="1"/>
              <a:t>props.title</a:t>
            </a:r>
            <a:r>
              <a:rPr lang="ru-RU" dirty="0"/>
              <a:t>.</a:t>
            </a:r>
          </a:p>
          <a:p>
            <a:r>
              <a:rPr lang="ru-RU" dirty="0"/>
              <a:t>Оно обращается к полю </a:t>
            </a:r>
            <a:r>
              <a:rPr lang="ru-RU" dirty="0" err="1"/>
              <a:t>title</a:t>
            </a:r>
            <a:r>
              <a:rPr lang="ru-RU" dirty="0"/>
              <a:t> объекта </a:t>
            </a:r>
            <a:r>
              <a:rPr lang="ru-RU" dirty="0" err="1"/>
              <a:t>props</a:t>
            </a:r>
            <a:r>
              <a:rPr lang="ru-RU" dirty="0"/>
              <a:t> и получает название товара.</a:t>
            </a:r>
          </a:p>
          <a:p>
            <a:r>
              <a:rPr lang="ru-RU" dirty="0"/>
              <a:t>Фигурные скобки в JSX позволяют вставлять JavaScript-выражения непосредственно в разметку. Поэтому вместо текста </a:t>
            </a:r>
            <a:r>
              <a:rPr lang="ru-RU" dirty="0" err="1"/>
              <a:t>props.title</a:t>
            </a:r>
            <a:r>
              <a:rPr lang="ru-RU" dirty="0"/>
              <a:t> пользователь увидит значение соответствующего свойства.</a:t>
            </a:r>
          </a:p>
          <a:p>
            <a:r>
              <a:rPr lang="ru-RU" dirty="0"/>
              <a:t>Во второй строке:</a:t>
            </a:r>
          </a:p>
          <a:p>
            <a:r>
              <a:rPr lang="ru-RU" dirty="0"/>
              <a:t>получается значение </a:t>
            </a:r>
            <a:r>
              <a:rPr lang="ru-RU" dirty="0" err="1"/>
              <a:t>props.price</a:t>
            </a:r>
            <a:r>
              <a:rPr lang="ru-RU" dirty="0"/>
              <a:t>, после которого выводится символ рубля.</a:t>
            </a:r>
          </a:p>
          <a:p>
            <a:r>
              <a:rPr lang="ru-RU" dirty="0"/>
              <a:t>Если использовать компонент следующим образом:</a:t>
            </a:r>
          </a:p>
          <a:p>
            <a:r>
              <a:rPr lang="en-US" dirty="0"/>
              <a:t>&lt;</a:t>
            </a:r>
            <a:r>
              <a:rPr lang="en-US" dirty="0" err="1"/>
              <a:t>ProductCard</a:t>
            </a:r>
            <a:r>
              <a:rPr lang="en-US" dirty="0"/>
              <a:t> title="</a:t>
            </a:r>
            <a:r>
              <a:rPr lang="en-US" dirty="0" err="1"/>
              <a:t>Чехол</a:t>
            </a:r>
            <a:r>
              <a:rPr lang="en-US" dirty="0"/>
              <a:t>" price={900} /&gt;</a:t>
            </a:r>
          </a:p>
          <a:p>
            <a:r>
              <a:rPr lang="ru-RU" dirty="0"/>
              <a:t>то результат будет таким:</a:t>
            </a:r>
          </a:p>
          <a:p>
            <a:r>
              <a:rPr lang="ru-RU" dirty="0"/>
              <a:t>Чехол</a:t>
            </a:r>
          </a:p>
          <a:p>
            <a:r>
              <a:rPr lang="ru-RU" b="1" dirty="0"/>
              <a:t>900 ₽</a:t>
            </a:r>
            <a:endParaRPr lang="en-US" b="1" dirty="0"/>
          </a:p>
          <a:p>
            <a:r>
              <a:rPr lang="ru-RU" dirty="0"/>
              <a:t>Важная особенность заключается в том, что функция </a:t>
            </a:r>
            <a:r>
              <a:rPr lang="ru-RU" dirty="0" err="1"/>
              <a:t>ProductCard</a:t>
            </a:r>
            <a:r>
              <a:rPr lang="ru-RU" dirty="0"/>
              <a:t> не содержит конкретного названия товара и его цены. Она описывает только способ отображения полученных значений.</a:t>
            </a:r>
          </a:p>
          <a:p>
            <a:r>
              <a:rPr lang="ru-RU" dirty="0"/>
              <a:t>Обращение к свойствам через точку полностью соответствует синтаксису объектов JavaScript.</a:t>
            </a:r>
          </a:p>
          <a:p>
            <a:r>
              <a:rPr lang="ru-RU" dirty="0"/>
              <a:t>Например, если в объекте имеется поле </a:t>
            </a:r>
            <a:r>
              <a:rPr lang="ru-RU" dirty="0" err="1"/>
              <a:t>price</a:t>
            </a:r>
            <a:r>
              <a:rPr lang="ru-RU" dirty="0"/>
              <a:t>, его значение можно получить через </a:t>
            </a:r>
            <a:r>
              <a:rPr lang="ru-RU" dirty="0" err="1"/>
              <a:t>props.price</a:t>
            </a:r>
            <a:r>
              <a:rPr lang="ru-RU" dirty="0"/>
              <a:t>.</a:t>
            </a:r>
          </a:p>
          <a:p>
            <a:r>
              <a:rPr lang="ru-RU" dirty="0"/>
              <a:t>Если компоненту не передать свойство </a:t>
            </a:r>
            <a:r>
              <a:rPr lang="ru-RU" dirty="0" err="1"/>
              <a:t>price</a:t>
            </a:r>
            <a:r>
              <a:rPr lang="ru-RU" dirty="0"/>
              <a:t>, то его значение будет </a:t>
            </a:r>
            <a:r>
              <a:rPr lang="ru-RU" dirty="0" err="1"/>
              <a:t>undefined</a:t>
            </a:r>
            <a:r>
              <a:rPr lang="ru-RU" dirty="0"/>
              <a:t>. В рассмотренном примере цена не появится, но символ рубля останется, поскольку он записан непосредственно в JSX.</a:t>
            </a:r>
          </a:p>
          <a:p>
            <a:r>
              <a:rPr lang="ru-RU" dirty="0"/>
              <a:t>Таким образом, </a:t>
            </a:r>
            <a:r>
              <a:rPr lang="ru-RU" dirty="0" err="1"/>
              <a:t>props</a:t>
            </a:r>
            <a:r>
              <a:rPr lang="ru-RU" dirty="0"/>
              <a:t> связывают родительский компонент, который предоставляет данные, с дочерним компонентом, который использует их для формирования интерфейса.</a:t>
            </a:r>
          </a:p>
          <a:p>
            <a:endParaRPr lang="ru-RU" b="1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Props</a:t>
            </a:r>
            <a:r>
              <a:rPr lang="ru-RU" dirty="0"/>
              <a:t> могут содержать не только строки и числа. Поскольку </a:t>
            </a:r>
            <a:r>
              <a:rPr lang="ru-RU" dirty="0" err="1"/>
              <a:t>props</a:t>
            </a:r>
            <a:r>
              <a:rPr lang="ru-RU" dirty="0"/>
              <a:t> являются обычными значениями JavaScript, через них можно передавать разные типы данных.</a:t>
            </a:r>
          </a:p>
          <a:p>
            <a:r>
              <a:rPr lang="ru-RU" dirty="0"/>
              <a:t>Рассмотрим основные варианты.</a:t>
            </a:r>
          </a:p>
          <a:p>
            <a:r>
              <a:rPr lang="ru-RU" dirty="0"/>
              <a:t>1. Строковые значения.</a:t>
            </a:r>
          </a:p>
          <a:p>
            <a:r>
              <a:rPr lang="ru-RU" dirty="0"/>
              <a:t>Строка может передаваться непосредственно в кавычках:</a:t>
            </a:r>
            <a:endParaRPr lang="en-US" dirty="0"/>
          </a:p>
          <a:p>
            <a:r>
              <a:rPr lang="ru-RU" dirty="0"/>
              <a:t>2. Числовые значения.</a:t>
            </a:r>
          </a:p>
          <a:p>
            <a:r>
              <a:rPr lang="ru-RU" dirty="0"/>
              <a:t>Числа передаются с использованием фигурных скобок:</a:t>
            </a:r>
          </a:p>
          <a:p>
            <a:r>
              <a:rPr lang="ru-RU" dirty="0"/>
              <a:t>Фигурные скобки означают, что внутри находится JavaScript-выражение. Поэтому значение 2500 будет числом, а не строкой.</a:t>
            </a:r>
          </a:p>
          <a:p>
            <a:r>
              <a:rPr lang="ru-RU" dirty="0"/>
              <a:t>Например, запись </a:t>
            </a:r>
            <a:r>
              <a:rPr lang="ru-RU" dirty="0" err="1"/>
              <a:t>price</a:t>
            </a:r>
            <a:r>
              <a:rPr lang="ru-RU" dirty="0"/>
              <a:t>="2500" передаёт строку. Она может выглядеть при выводе так же, как число, но её тип будет другим.</a:t>
            </a:r>
          </a:p>
          <a:p>
            <a:r>
              <a:rPr lang="ru-RU" dirty="0"/>
              <a:t>Это важно, если в дальнейшем необходимо выполнять арифметические операции с ценой.</a:t>
            </a:r>
          </a:p>
          <a:p>
            <a:r>
              <a:rPr lang="ru-RU" dirty="0"/>
              <a:t>3. Логические значения.</a:t>
            </a:r>
          </a:p>
          <a:p>
            <a:r>
              <a:rPr lang="ru-RU" dirty="0"/>
              <a:t>Для передачи </a:t>
            </a:r>
            <a:r>
              <a:rPr lang="ru-RU" dirty="0" err="1"/>
              <a:t>true</a:t>
            </a:r>
            <a:r>
              <a:rPr lang="ru-RU" dirty="0"/>
              <a:t> и </a:t>
            </a:r>
            <a:r>
              <a:rPr lang="ru-RU" dirty="0" err="1"/>
              <a:t>false</a:t>
            </a:r>
            <a:r>
              <a:rPr lang="ru-RU" dirty="0"/>
              <a:t> также используются фигурные скобки</a:t>
            </a:r>
          </a:p>
          <a:p>
            <a:r>
              <a:rPr lang="ru-RU" dirty="0"/>
              <a:t>Свойство </a:t>
            </a:r>
            <a:r>
              <a:rPr lang="ru-RU" dirty="0" err="1"/>
              <a:t>available</a:t>
            </a:r>
            <a:r>
              <a:rPr lang="ru-RU" dirty="0"/>
              <a:t> может показывать, доступен ли товар для покупки.</a:t>
            </a:r>
          </a:p>
          <a:p>
            <a:r>
              <a:rPr lang="ru-RU" dirty="0"/>
              <a:t>Например, если </a:t>
            </a:r>
            <a:r>
              <a:rPr lang="ru-RU" dirty="0" err="1"/>
              <a:t>available</a:t>
            </a:r>
            <a:r>
              <a:rPr lang="ru-RU" dirty="0"/>
              <a:t> равно </a:t>
            </a:r>
            <a:r>
              <a:rPr lang="ru-RU" dirty="0" err="1"/>
              <a:t>false</a:t>
            </a:r>
            <a:r>
              <a:rPr lang="ru-RU" dirty="0"/>
              <a:t>, кнопку добавления товара в корзину можно сделать неактивной.</a:t>
            </a:r>
          </a:p>
          <a:p>
            <a:r>
              <a:rPr lang="ru-RU" dirty="0"/>
              <a:t>4. Объекты.</a:t>
            </a:r>
          </a:p>
          <a:p>
            <a:r>
              <a:rPr lang="ru-RU" dirty="0"/>
              <a:t>В </a:t>
            </a:r>
            <a:r>
              <a:rPr lang="ru-RU" dirty="0" err="1"/>
              <a:t>props</a:t>
            </a:r>
            <a:r>
              <a:rPr lang="ru-RU" dirty="0"/>
              <a:t> можно передавать целый объект</a:t>
            </a:r>
          </a:p>
          <a:p>
            <a:r>
              <a:rPr lang="ru-RU" dirty="0"/>
              <a:t>Здесь свойство </a:t>
            </a:r>
            <a:r>
              <a:rPr lang="ru-RU" dirty="0" err="1"/>
              <a:t>product</a:t>
            </a:r>
            <a:r>
              <a:rPr lang="ru-RU" dirty="0"/>
              <a:t> получает объект, созданный ранее.</a:t>
            </a:r>
          </a:p>
          <a:p>
            <a:r>
              <a:rPr lang="ru-RU" dirty="0"/>
              <a:t>Внутри компонента можно обращаться к его полям: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Также объект можно создать непосредственно в JSX</a:t>
            </a:r>
            <a:r>
              <a:rPr lang="en-US" dirty="0"/>
              <a:t>: </a:t>
            </a:r>
            <a:r>
              <a:rPr lang="en-US" sz="1200" dirty="0">
                <a:solidFill>
                  <a:srgbClr val="282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product={{ title, price }}</a:t>
            </a:r>
            <a:endParaRPr lang="en-US" sz="12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ru-RU" dirty="0"/>
              <a:t>В данном случае используются две пары фигурных скобок.</a:t>
            </a:r>
          </a:p>
          <a:p>
            <a:r>
              <a:rPr lang="ru-RU" dirty="0"/>
              <a:t>Внешняя пара обозначает JavaScript-выражение внутри JSX.</a:t>
            </a:r>
          </a:p>
          <a:p>
            <a:r>
              <a:rPr lang="ru-RU" dirty="0"/>
              <a:t>Внутренняя пара обозначает создание объекта JavaScript.</a:t>
            </a:r>
          </a:p>
          <a:p>
            <a:r>
              <a:rPr lang="ru-RU" dirty="0"/>
              <a:t>5. Массивы.</a:t>
            </a:r>
          </a:p>
          <a:p>
            <a:r>
              <a:rPr lang="ru-RU" dirty="0"/>
              <a:t>Массив также можно передать через </a:t>
            </a:r>
            <a:r>
              <a:rPr lang="ru-RU" dirty="0" err="1"/>
              <a:t>props</a:t>
            </a:r>
            <a:r>
              <a:rPr lang="ru-RU" dirty="0"/>
              <a:t>:</a:t>
            </a:r>
          </a:p>
          <a:p>
            <a:r>
              <a:rPr lang="ru-RU" dirty="0"/>
              <a:t>&lt;</a:t>
            </a:r>
            <a:r>
              <a:rPr lang="ru-RU" dirty="0" err="1"/>
              <a:t>ProductCard</a:t>
            </a:r>
            <a:r>
              <a:rPr lang="ru-RU" dirty="0"/>
              <a:t> </a:t>
            </a:r>
            <a:r>
              <a:rPr lang="ru-RU" dirty="0" err="1"/>
              <a:t>tags</a:t>
            </a:r>
            <a:r>
              <a:rPr lang="ru-RU" dirty="0"/>
              <a:t>={['новинка', 'хит']} /&gt;</a:t>
            </a:r>
          </a:p>
          <a:p>
            <a:r>
              <a:rPr lang="ru-RU" dirty="0"/>
              <a:t>Компонент получит массив из двух строк.</a:t>
            </a:r>
          </a:p>
          <a:p>
            <a:r>
              <a:rPr lang="ru-RU" dirty="0"/>
              <a:t>Такие данные могут использоваться для отображения категорий товара, меток, характеристик и других наборов значений.</a:t>
            </a:r>
          </a:p>
          <a:p>
            <a:r>
              <a:rPr lang="ru-RU" dirty="0"/>
              <a:t>6. Функции.</a:t>
            </a:r>
          </a:p>
          <a:p>
            <a:r>
              <a:rPr lang="ru-RU" dirty="0"/>
              <a:t>Через </a:t>
            </a:r>
            <a:r>
              <a:rPr lang="ru-RU" dirty="0" err="1"/>
              <a:t>props</a:t>
            </a:r>
            <a:r>
              <a:rPr lang="ru-RU" dirty="0"/>
              <a:t> можно передавать функции:</a:t>
            </a:r>
          </a:p>
          <a:p>
            <a:r>
              <a:rPr lang="ru-RU" dirty="0"/>
              <a:t>&lt;</a:t>
            </a:r>
            <a:r>
              <a:rPr lang="ru-RU" dirty="0" err="1"/>
              <a:t>ProductCard</a:t>
            </a:r>
            <a:r>
              <a:rPr lang="ru-RU" dirty="0"/>
              <a:t> </a:t>
            </a:r>
            <a:r>
              <a:rPr lang="ru-RU" dirty="0" err="1"/>
              <a:t>onAdd</a:t>
            </a:r>
            <a:r>
              <a:rPr lang="ru-RU" dirty="0"/>
              <a:t>={</a:t>
            </a:r>
            <a:r>
              <a:rPr lang="ru-RU" dirty="0" err="1"/>
              <a:t>handleAdd</a:t>
            </a:r>
            <a:r>
              <a:rPr lang="ru-RU" dirty="0"/>
              <a:t>} /&gt;</a:t>
            </a:r>
          </a:p>
          <a:p>
            <a:r>
              <a:rPr lang="ru-RU" dirty="0"/>
              <a:t>Здесь передаётся ссылка на функцию </a:t>
            </a:r>
            <a:r>
              <a:rPr lang="ru-RU" dirty="0" err="1"/>
              <a:t>handleAdd</a:t>
            </a:r>
            <a:r>
              <a:rPr lang="ru-RU" dirty="0"/>
              <a:t>, а не результат её выполнения.</a:t>
            </a:r>
          </a:p>
          <a:p>
            <a:r>
              <a:rPr lang="ru-RU" dirty="0"/>
              <a:t>Дочерний компонент сможет вызвать эту функцию, например, при нажатии на кнопку.</a:t>
            </a:r>
          </a:p>
          <a:p>
            <a:r>
              <a:rPr lang="ru-RU" dirty="0"/>
              <a:t>Особенно удобной является передача целого объекта товара:</a:t>
            </a:r>
          </a:p>
          <a:p>
            <a:r>
              <a:rPr lang="ru-RU" dirty="0"/>
              <a:t>&lt;</a:t>
            </a:r>
            <a:r>
              <a:rPr lang="ru-RU" dirty="0" err="1"/>
              <a:t>ProductCard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={</a:t>
            </a:r>
            <a:r>
              <a:rPr lang="ru-RU" dirty="0" err="1"/>
              <a:t>product</a:t>
            </a:r>
            <a:r>
              <a:rPr lang="ru-RU" dirty="0"/>
              <a:t>} </a:t>
            </a:r>
            <a:r>
              <a:rPr lang="ru-RU" dirty="0" err="1"/>
              <a:t>available</a:t>
            </a:r>
            <a:r>
              <a:rPr lang="ru-RU" dirty="0"/>
              <a:t>={</a:t>
            </a:r>
            <a:r>
              <a:rPr lang="ru-RU" dirty="0" err="1"/>
              <a:t>true</a:t>
            </a:r>
            <a:r>
              <a:rPr lang="ru-RU" dirty="0"/>
              <a:t>} /&gt;</a:t>
            </a:r>
          </a:p>
          <a:p>
            <a:r>
              <a:rPr lang="ru-RU" dirty="0"/>
              <a:t>Вместо множества отдельных свойств компонент получает всю информацию о товаре в одном объекте.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</a:t>
            </a:r>
            <a:r>
              <a:rPr lang="ru-RU" dirty="0" err="1"/>
              <a:t>props</a:t>
            </a:r>
            <a:r>
              <a:rPr lang="ru-RU" dirty="0"/>
              <a:t> часто требуется получить несколько свойств одного объекта.</a:t>
            </a:r>
          </a:p>
          <a:p>
            <a:r>
              <a:rPr lang="ru-RU" dirty="0"/>
              <a:t>Один из способов — обращаться к каждому свойству через точку:</a:t>
            </a:r>
          </a:p>
          <a:p>
            <a:r>
              <a:rPr lang="ru-RU" dirty="0"/>
              <a:t>Этот вариант полностью корректен. Однако при большом количестве свойств постоянное повторение </a:t>
            </a:r>
            <a:r>
              <a:rPr lang="ru-RU" dirty="0" err="1"/>
              <a:t>props</a:t>
            </a:r>
            <a:r>
              <a:rPr lang="ru-RU" dirty="0"/>
              <a:t> делает код более громоздким.</a:t>
            </a:r>
          </a:p>
          <a:p>
            <a:r>
              <a:rPr lang="ru-RU" dirty="0"/>
              <a:t>Для упрощения используется деструктуризация объектов JavaScript.</a:t>
            </a:r>
          </a:p>
          <a:p>
            <a:r>
              <a:rPr lang="ru-RU" dirty="0"/>
              <a:t>Деструктуризация — это синтаксис, позволяющий извлекать значения свойств объекта в отдельные переменные.</a:t>
            </a:r>
          </a:p>
          <a:p>
            <a:r>
              <a:rPr lang="ru-RU" dirty="0"/>
              <a:t>Рассмотрим второй вариант:</a:t>
            </a:r>
          </a:p>
          <a:p>
            <a:r>
              <a:rPr lang="ru-RU" dirty="0"/>
              <a:t>Здесь вместо параметра </a:t>
            </a:r>
            <a:r>
              <a:rPr lang="ru-RU" dirty="0" err="1"/>
              <a:t>props</a:t>
            </a:r>
            <a:r>
              <a:rPr lang="ru-RU" dirty="0"/>
              <a:t> в круглых скобках функции находится конструкция с фигурными скобками.</a:t>
            </a:r>
          </a:p>
          <a:p>
            <a:r>
              <a:rPr lang="ru-RU" dirty="0"/>
              <a:t>Это означает, что объект </a:t>
            </a:r>
            <a:r>
              <a:rPr lang="ru-RU" dirty="0" err="1"/>
              <a:t>props</a:t>
            </a:r>
            <a:r>
              <a:rPr lang="ru-RU" dirty="0"/>
              <a:t> сразу разбирается на отдельные свойства.</a:t>
            </a:r>
          </a:p>
          <a:p>
            <a:r>
              <a:rPr lang="ru-RU" dirty="0"/>
              <a:t>Переменная </a:t>
            </a:r>
            <a:r>
              <a:rPr lang="ru-RU" dirty="0" err="1"/>
              <a:t>title</a:t>
            </a:r>
            <a:r>
              <a:rPr lang="ru-RU" dirty="0"/>
              <a:t> получает значение свойства </a:t>
            </a:r>
            <a:r>
              <a:rPr lang="ru-RU" dirty="0" err="1"/>
              <a:t>title</a:t>
            </a:r>
            <a:r>
              <a:rPr lang="ru-RU" dirty="0"/>
              <a:t>, переменная </a:t>
            </a:r>
            <a:r>
              <a:rPr lang="ru-RU" dirty="0" err="1"/>
              <a:t>price</a:t>
            </a:r>
            <a:r>
              <a:rPr lang="ru-RU" dirty="0"/>
              <a:t> — значение свойства </a:t>
            </a:r>
            <a:r>
              <a:rPr lang="ru-RU" dirty="0" err="1"/>
              <a:t>price</a:t>
            </a:r>
            <a:r>
              <a:rPr lang="ru-RU" dirty="0"/>
              <a:t>, а переменная </a:t>
            </a:r>
            <a:r>
              <a:rPr lang="ru-RU" dirty="0" err="1"/>
              <a:t>inStock</a:t>
            </a:r>
            <a:r>
              <a:rPr lang="ru-RU" dirty="0"/>
              <a:t> — значение свойства </a:t>
            </a:r>
            <a:r>
              <a:rPr lang="ru-RU" dirty="0" err="1"/>
              <a:t>inStock</a:t>
            </a:r>
            <a:r>
              <a:rPr lang="ru-RU" dirty="0"/>
              <a:t>.</a:t>
            </a:r>
          </a:p>
          <a:p>
            <a:r>
              <a:rPr lang="ru-RU" dirty="0"/>
              <a:t>После деструктуризации обращаться к данным можно непосредственно по именам переменных.</a:t>
            </a:r>
          </a:p>
          <a:p>
            <a:r>
              <a:rPr lang="ru-RU" dirty="0" err="1"/>
              <a:t>inStock</a:t>
            </a:r>
            <a:r>
              <a:rPr lang="ru-RU" dirty="0"/>
              <a:t> = </a:t>
            </a:r>
            <a:r>
              <a:rPr lang="ru-RU" dirty="0" err="1"/>
              <a:t>true</a:t>
            </a:r>
            <a:endParaRPr lang="ru-RU" dirty="0"/>
          </a:p>
          <a:p>
            <a:r>
              <a:rPr lang="ru-RU" dirty="0"/>
              <a:t>Здесь указывается значение по умолчанию.</a:t>
            </a:r>
          </a:p>
          <a:p>
            <a:r>
              <a:rPr lang="ru-RU" dirty="0"/>
              <a:t>Оно применяется, если родительский компонент не передал свойство </a:t>
            </a:r>
            <a:r>
              <a:rPr lang="ru-RU" dirty="0" err="1"/>
              <a:t>inStock</a:t>
            </a:r>
            <a:r>
              <a:rPr lang="ru-RU" dirty="0"/>
              <a:t> либо передал значение </a:t>
            </a:r>
            <a:r>
              <a:rPr lang="ru-RU" dirty="0" err="1"/>
              <a:t>undefined</a:t>
            </a:r>
            <a:r>
              <a:rPr lang="ru-RU" dirty="0"/>
              <a:t>.</a:t>
            </a:r>
          </a:p>
          <a:p>
            <a:r>
              <a:rPr lang="ru-RU" dirty="0"/>
              <a:t>Значение по умолчанию не заменяет переданное значение </a:t>
            </a:r>
            <a:r>
              <a:rPr lang="ru-RU" dirty="0" err="1"/>
              <a:t>false</a:t>
            </a:r>
            <a:r>
              <a:rPr lang="ru-RU" dirty="0"/>
              <a:t>, 0, пустую строку или </a:t>
            </a:r>
            <a:r>
              <a:rPr lang="ru-RU" dirty="0" err="1"/>
              <a:t>null</a:t>
            </a:r>
            <a:r>
              <a:rPr lang="ru-RU" dirty="0"/>
              <a:t>. Оно применяется именно при значении </a:t>
            </a:r>
            <a:r>
              <a:rPr lang="ru-RU" dirty="0" err="1"/>
              <a:t>undefined</a:t>
            </a:r>
            <a:r>
              <a:rPr lang="ru-RU" dirty="0"/>
              <a:t>.</a:t>
            </a:r>
          </a:p>
          <a:p>
            <a:r>
              <a:rPr lang="ru-RU" dirty="0"/>
              <a:t>Деструктуризация особенно полезна при создании компонентов с большим количеством свойств. Она делает код компактнее и позволяет сразу увидеть, какие данные ожидает компонент.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используется принцип однонаправленного потока данных.</a:t>
            </a:r>
          </a:p>
          <a:p>
            <a:r>
              <a:rPr lang="ru-RU" dirty="0"/>
              <a:t>Он означает, что данные передаются через </a:t>
            </a:r>
            <a:r>
              <a:rPr lang="ru-RU" dirty="0" err="1"/>
              <a:t>props</a:t>
            </a:r>
            <a:r>
              <a:rPr lang="ru-RU" dirty="0"/>
              <a:t> сверху вниз по дереву компонентов — от родительского компонента к дочернему.</a:t>
            </a:r>
          </a:p>
          <a:p>
            <a:r>
              <a:rPr lang="ru-RU" dirty="0"/>
              <a:t>Например, компонент </a:t>
            </a:r>
            <a:r>
              <a:rPr lang="ru-RU" dirty="0" err="1"/>
              <a:t>CatalogScreen</a:t>
            </a:r>
            <a:r>
              <a:rPr lang="ru-RU" dirty="0"/>
              <a:t> содержит информацию о товарах и передаёт определённый товар компоненту </a:t>
            </a:r>
            <a:r>
              <a:rPr lang="ru-RU" dirty="0" err="1"/>
              <a:t>ProductCard</a:t>
            </a:r>
            <a:r>
              <a:rPr lang="ru-RU" dirty="0"/>
              <a:t>.</a:t>
            </a:r>
          </a:p>
          <a:p>
            <a:r>
              <a:rPr lang="ru-RU" dirty="0"/>
              <a:t>Дочерний компонент получает данные и использует их для отображения интерфейса.</a:t>
            </a:r>
          </a:p>
          <a:p>
            <a:r>
              <a:rPr lang="ru-RU" dirty="0"/>
              <a:t>При этом </a:t>
            </a:r>
            <a:r>
              <a:rPr lang="ru-RU" dirty="0" err="1"/>
              <a:t>props</a:t>
            </a:r>
            <a:r>
              <a:rPr lang="ru-RU" dirty="0"/>
              <a:t> внутри дочернего компонента являются неизменяемыми.</a:t>
            </a:r>
          </a:p>
          <a:p>
            <a:r>
              <a:rPr lang="ru-RU" dirty="0"/>
              <a:t>Это означает, что компонент не должен самостоятельно изменять значения полученных свойств.</a:t>
            </a:r>
          </a:p>
          <a:p>
            <a:r>
              <a:rPr lang="ru-RU" dirty="0"/>
              <a:t>Рассмотрим пример:</a:t>
            </a:r>
            <a:endParaRPr lang="en-US" dirty="0"/>
          </a:p>
          <a:p>
            <a:r>
              <a:rPr lang="ru-RU" dirty="0"/>
              <a:t>Компонент </a:t>
            </a:r>
            <a:r>
              <a:rPr lang="ru-RU" dirty="0" err="1"/>
              <a:t>CatalogScreen</a:t>
            </a:r>
            <a:r>
              <a:rPr lang="ru-RU" dirty="0"/>
              <a:t> передаёт дочернему компоненту название и цену товара.</a:t>
            </a:r>
          </a:p>
          <a:p>
            <a:r>
              <a:rPr lang="ru-RU" dirty="0" err="1"/>
              <a:t>ProductCard</a:t>
            </a:r>
            <a:r>
              <a:rPr lang="ru-RU" dirty="0"/>
              <a:t> получает эти значения и отображает их.</a:t>
            </a:r>
          </a:p>
          <a:p>
            <a:r>
              <a:rPr lang="ru-RU" dirty="0"/>
              <a:t>Если информация о цене изменится, родитель должен передать обновлённое значение при следующем рендере.</a:t>
            </a:r>
          </a:p>
          <a:p>
            <a:r>
              <a:rPr lang="ru-RU" dirty="0"/>
              <a:t>Рендер — это процесс выполнения компонента </a:t>
            </a:r>
            <a:r>
              <a:rPr lang="ru-RU" dirty="0" err="1"/>
              <a:t>React</a:t>
            </a:r>
            <a:r>
              <a:rPr lang="ru-RU" dirty="0"/>
              <a:t> и формирования описания интерфейса на основе актуальных </a:t>
            </a:r>
            <a:r>
              <a:rPr lang="ru-RU" dirty="0" err="1"/>
              <a:t>props</a:t>
            </a:r>
            <a:r>
              <a:rPr lang="ru-RU" dirty="0"/>
              <a:t> и состояния.</a:t>
            </a:r>
          </a:p>
          <a:p>
            <a:r>
              <a:rPr lang="ru-RU" dirty="0"/>
              <a:t>Когда родительский компонент </a:t>
            </a:r>
            <a:r>
              <a:rPr lang="ru-RU" dirty="0" err="1"/>
              <a:t>рендерится</a:t>
            </a:r>
            <a:r>
              <a:rPr lang="ru-RU" dirty="0"/>
              <a:t> повторно с другими значениями, дочерний компонент получает обновлённые </a:t>
            </a:r>
            <a:r>
              <a:rPr lang="ru-RU" dirty="0" err="1"/>
              <a:t>props</a:t>
            </a:r>
            <a:r>
              <a:rPr lang="ru-RU" dirty="0"/>
              <a:t>.</a:t>
            </a:r>
          </a:p>
          <a:p>
            <a:r>
              <a:rPr lang="ru-RU" dirty="0"/>
              <a:t>Однонаправленный поток данных делает поведение приложения более предсказуемым.</a:t>
            </a:r>
          </a:p>
          <a:p>
            <a:r>
              <a:rPr lang="ru-RU" dirty="0"/>
              <a:t>Если на экране отображается неправильная цена, разработчик может проследить, откуда она была передана. Данные не должны независимо и незаметно изменяться внутри разных дочерних компонентов.</a:t>
            </a:r>
          </a:p>
          <a:p>
            <a:r>
              <a:rPr lang="ru-RU" dirty="0"/>
              <a:t>При этом однонаправленная передача данных не означает, что дочерний компонент вообще не может влиять на приложение.</a:t>
            </a:r>
          </a:p>
          <a:p>
            <a:r>
              <a:rPr lang="ru-RU" dirty="0"/>
              <a:t>Дочерний компонент может вызвать функцию, переданную родителем через </a:t>
            </a:r>
            <a:r>
              <a:rPr lang="ru-RU" dirty="0" err="1"/>
              <a:t>props</a:t>
            </a:r>
            <a:r>
              <a:rPr lang="ru-RU" dirty="0"/>
              <a:t>. Таким образом, он сообщает о действии пользователя, а родитель решает, как изменить 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через </a:t>
            </a:r>
            <a:r>
              <a:rPr lang="ru-RU" dirty="0" err="1"/>
              <a:t>props</a:t>
            </a:r>
            <a:r>
              <a:rPr lang="ru-RU" dirty="0"/>
              <a:t> можно передавать не только данные для отображения, но и функции.</a:t>
            </a:r>
          </a:p>
          <a:p>
            <a:r>
              <a:rPr lang="ru-RU" dirty="0"/>
              <a:t>Это особенно важно при разработке интерактивных приложений, в которых пользователь может нажимать кнопки, выбирать товары, вводить данные и выполнять различные действия.</a:t>
            </a:r>
          </a:p>
          <a:p>
            <a:r>
              <a:rPr lang="ru-RU" dirty="0"/>
              <a:t>Предположим, что в карточке товара имеется кнопка «Добавить».</a:t>
            </a:r>
          </a:p>
          <a:p>
            <a:r>
              <a:rPr lang="ru-RU" dirty="0"/>
              <a:t>При нажатии на эту кнопку товар должен быть добавлен в корзину.</a:t>
            </a:r>
          </a:p>
          <a:p>
            <a:r>
              <a:rPr lang="ru-RU" dirty="0"/>
              <a:t>Однако компонент </a:t>
            </a:r>
            <a:r>
              <a:rPr lang="ru-RU" dirty="0" err="1"/>
              <a:t>ProductCard</a:t>
            </a:r>
            <a:r>
              <a:rPr lang="ru-RU" dirty="0"/>
              <a:t> отвечает прежде всего за отображение карточки. Ему необязательно самостоятельно управлять всей корзиной интернет-магазина.</a:t>
            </a:r>
          </a:p>
          <a:p>
            <a:r>
              <a:rPr lang="ru-RU" dirty="0"/>
              <a:t>Эту задачу может выполнять родительский компонент.</a:t>
            </a:r>
          </a:p>
          <a:p>
            <a:r>
              <a:rPr lang="ru-RU" dirty="0"/>
              <a:t>Для организации взаимодействия родитель передаёт дочернему компоненту функцию через </a:t>
            </a:r>
            <a:r>
              <a:rPr lang="ru-RU" dirty="0" err="1"/>
              <a:t>props</a:t>
            </a:r>
            <a:r>
              <a:rPr lang="ru-RU" dirty="0"/>
              <a:t>.</a:t>
            </a:r>
          </a:p>
          <a:p>
            <a:r>
              <a:rPr lang="ru-RU" dirty="0"/>
              <a:t>Рассмотрим код:</a:t>
            </a:r>
          </a:p>
          <a:p>
            <a:r>
              <a:rPr lang="ru-RU" dirty="0"/>
              <a:t>Компонент </a:t>
            </a:r>
            <a:r>
              <a:rPr lang="ru-RU" dirty="0" err="1"/>
              <a:t>ProductCard</a:t>
            </a:r>
            <a:r>
              <a:rPr lang="ru-RU" dirty="0"/>
              <a:t> получает свойство </a:t>
            </a:r>
            <a:r>
              <a:rPr lang="ru-RU" dirty="0" err="1"/>
              <a:t>onAdd</a:t>
            </a:r>
            <a:r>
              <a:rPr lang="ru-RU" dirty="0"/>
              <a:t>.</a:t>
            </a:r>
          </a:p>
          <a:p>
            <a:r>
              <a:rPr lang="ru-RU" dirty="0"/>
              <a:t>В данном случае </a:t>
            </a:r>
            <a:r>
              <a:rPr lang="ru-RU" dirty="0" err="1"/>
              <a:t>onAdd</a:t>
            </a:r>
            <a:r>
              <a:rPr lang="ru-RU" dirty="0"/>
              <a:t> содержит функцию.</a:t>
            </a:r>
          </a:p>
          <a:p>
            <a:r>
              <a:rPr lang="ru-RU" dirty="0"/>
              <a:t>Внутри JSX находится компонент </a:t>
            </a:r>
            <a:r>
              <a:rPr lang="ru-RU" dirty="0" err="1"/>
              <a:t>Pressable</a:t>
            </a:r>
            <a:r>
              <a:rPr lang="ru-RU" dirty="0"/>
              <a:t>, предназначенный для обработки нажатий.</a:t>
            </a:r>
          </a:p>
          <a:p>
            <a:r>
              <a:rPr lang="ru-RU" dirty="0"/>
              <a:t>У </a:t>
            </a:r>
            <a:r>
              <a:rPr lang="ru-RU" dirty="0" err="1"/>
              <a:t>Pressable</a:t>
            </a:r>
            <a:r>
              <a:rPr lang="ru-RU" dirty="0"/>
              <a:t> имеется свойство </a:t>
            </a:r>
            <a:r>
              <a:rPr lang="ru-RU" dirty="0" err="1"/>
              <a:t>onPress</a:t>
            </a:r>
            <a:r>
              <a:rPr lang="ru-RU" dirty="0"/>
              <a:t>, которому передаётся обработчик события.</a:t>
            </a:r>
          </a:p>
          <a:p>
            <a:r>
              <a:rPr lang="ru-RU" dirty="0"/>
              <a:t>Запись:</a:t>
            </a:r>
          </a:p>
          <a:p>
            <a:r>
              <a:rPr lang="ru-RU" dirty="0" err="1"/>
              <a:t>onPress</a:t>
            </a:r>
            <a:r>
              <a:rPr lang="ru-RU" dirty="0"/>
              <a:t>={</a:t>
            </a:r>
            <a:r>
              <a:rPr lang="ru-RU" dirty="0" err="1"/>
              <a:t>onAdd</a:t>
            </a:r>
            <a:r>
              <a:rPr lang="ru-RU" dirty="0"/>
              <a:t>}</a:t>
            </a:r>
          </a:p>
          <a:p>
            <a:r>
              <a:rPr lang="ru-RU" dirty="0"/>
              <a:t>означает, что при нажатии на компонент </a:t>
            </a:r>
            <a:r>
              <a:rPr lang="ru-RU" dirty="0" err="1"/>
              <a:t>Pressable</a:t>
            </a:r>
            <a:r>
              <a:rPr lang="ru-RU" dirty="0"/>
              <a:t> будет вызвана функция, полученная через </a:t>
            </a:r>
            <a:r>
              <a:rPr lang="ru-RU" dirty="0" err="1"/>
              <a:t>props</a:t>
            </a:r>
            <a:r>
              <a:rPr lang="ru-RU" dirty="0"/>
              <a:t>.</a:t>
            </a:r>
          </a:p>
          <a:p>
            <a:r>
              <a:rPr lang="ru-RU" dirty="0"/>
              <a:t>Сам </a:t>
            </a:r>
            <a:r>
              <a:rPr lang="ru-RU" dirty="0" err="1"/>
              <a:t>ProductCard</a:t>
            </a:r>
            <a:r>
              <a:rPr lang="ru-RU" dirty="0"/>
              <a:t> не определяет, что именно должна делать эта функция.</a:t>
            </a:r>
          </a:p>
          <a:p>
            <a:r>
              <a:rPr lang="ru-RU" dirty="0"/>
              <a:t>Теперь рассмотрим использование компонента в родительском компоненте:</a:t>
            </a:r>
          </a:p>
          <a:p>
            <a:r>
              <a:rPr lang="ru-RU" dirty="0"/>
              <a:t>&lt;</a:t>
            </a:r>
            <a:r>
              <a:rPr lang="ru-RU" dirty="0" err="1"/>
              <a:t>ProductCard</a:t>
            </a:r>
            <a:r>
              <a:rPr lang="ru-RU" dirty="0"/>
              <a:t> </a:t>
            </a:r>
            <a:r>
              <a:rPr lang="ru-RU" dirty="0" err="1"/>
              <a:t>onAdd</a:t>
            </a:r>
            <a:r>
              <a:rPr lang="ru-RU" dirty="0"/>
              <a:t>={() =&gt; </a:t>
            </a:r>
            <a:r>
              <a:rPr lang="ru-RU" dirty="0" err="1"/>
              <a:t>addToCart</a:t>
            </a:r>
            <a:r>
              <a:rPr lang="ru-RU" dirty="0"/>
              <a:t>(</a:t>
            </a:r>
            <a:r>
              <a:rPr lang="ru-RU" dirty="0" err="1"/>
              <a:t>product</a:t>
            </a:r>
            <a:r>
              <a:rPr lang="ru-RU" dirty="0"/>
              <a:t>)} /&gt;</a:t>
            </a:r>
          </a:p>
          <a:p>
            <a:r>
              <a:rPr lang="ru-RU" dirty="0"/>
              <a:t>В данном случае через </a:t>
            </a:r>
            <a:r>
              <a:rPr lang="ru-RU" dirty="0" err="1"/>
              <a:t>onAdd</a:t>
            </a:r>
            <a:r>
              <a:rPr lang="ru-RU" dirty="0"/>
              <a:t> передаётся стрелочная функция.</a:t>
            </a:r>
          </a:p>
          <a:p>
            <a:r>
              <a:rPr lang="ru-RU" dirty="0"/>
              <a:t>Когда пользователь нажмёт кнопку, произойдёт вызов:</a:t>
            </a:r>
          </a:p>
          <a:p>
            <a:r>
              <a:rPr lang="ru-RU" dirty="0" err="1"/>
              <a:t>addToCart</a:t>
            </a:r>
            <a:r>
              <a:rPr lang="ru-RU" dirty="0"/>
              <a:t>(</a:t>
            </a:r>
            <a:r>
              <a:rPr lang="ru-RU" dirty="0" err="1"/>
              <a:t>product</a:t>
            </a:r>
            <a:r>
              <a:rPr lang="ru-RU" dirty="0"/>
              <a:t>)</a:t>
            </a:r>
          </a:p>
          <a:p>
            <a:r>
              <a:rPr lang="ru-RU" dirty="0"/>
              <a:t>Функция </a:t>
            </a:r>
            <a:r>
              <a:rPr lang="ru-RU" dirty="0" err="1"/>
              <a:t>addToCart</a:t>
            </a:r>
            <a:r>
              <a:rPr lang="ru-RU" dirty="0"/>
              <a:t> получает объект выбранного товара и может выполнить действия, связанные с его добавлением в корзину.</a:t>
            </a:r>
          </a:p>
          <a:p>
            <a:r>
              <a:rPr lang="ru-RU" dirty="0"/>
              <a:t>Таким образом, компоненты разделяют ответственность:</a:t>
            </a:r>
          </a:p>
          <a:p>
            <a:r>
              <a:rPr lang="ru-RU" dirty="0"/>
              <a:t>Родительский компонент отвечает за обработку данных и выполнение действия.</a:t>
            </a:r>
          </a:p>
          <a:p>
            <a:r>
              <a:rPr lang="ru-RU" dirty="0"/>
              <a:t>Дочерний компонент отвечает за отображение кнопки и вызов переданного обработчика.</a:t>
            </a:r>
          </a:p>
          <a:p>
            <a:r>
              <a:rPr lang="ru-RU" dirty="0"/>
              <a:t>Если необходимо вызвать функцию с определёнными аргументами, удобно использовать стрелочную функцию:</a:t>
            </a:r>
          </a:p>
          <a:p>
            <a:r>
              <a:rPr lang="ru-RU" dirty="0" err="1"/>
              <a:t>onAdd</a:t>
            </a:r>
            <a:r>
              <a:rPr lang="ru-RU" dirty="0"/>
              <a:t>={() =&gt; </a:t>
            </a:r>
            <a:r>
              <a:rPr lang="ru-RU" dirty="0" err="1"/>
              <a:t>addToCart</a:t>
            </a:r>
            <a:r>
              <a:rPr lang="ru-RU" dirty="0"/>
              <a:t>(</a:t>
            </a:r>
            <a:r>
              <a:rPr lang="ru-RU" dirty="0" err="1"/>
              <a:t>product</a:t>
            </a:r>
            <a:r>
              <a:rPr lang="ru-RU" dirty="0"/>
              <a:t>)}</a:t>
            </a:r>
          </a:p>
          <a:p>
            <a:r>
              <a:rPr lang="ru-RU" dirty="0"/>
              <a:t>Стрелочная функция создаётся во время рендера, но её тело выполнится только после вызова обработчика.</a:t>
            </a:r>
          </a:p>
          <a:p>
            <a:r>
              <a:rPr lang="ru-RU" dirty="0"/>
              <a:t>Передача функций через </a:t>
            </a:r>
            <a:r>
              <a:rPr lang="ru-RU" dirty="0" err="1"/>
              <a:t>props</a:t>
            </a:r>
            <a:r>
              <a:rPr lang="ru-RU" dirty="0"/>
              <a:t> — один из основных способов организации взаимодействия между компонентами </a:t>
            </a:r>
            <a:r>
              <a:rPr lang="ru-RU" dirty="0" err="1"/>
              <a:t>React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разработке сложных мобильных приложений часто требуется объединять несколько компонентов в один более крупный элемент интерфейса.</a:t>
            </a:r>
          </a:p>
          <a:p>
            <a:r>
              <a:rPr lang="ru-RU" dirty="0"/>
              <a:t>Такой подход называется композицией компонентов.</a:t>
            </a:r>
          </a:p>
          <a:p>
            <a:r>
              <a:rPr lang="ru-RU" dirty="0"/>
              <a:t>Композиция — это способ построения сложного пользовательского интерфейса путём объединения небольших, самостоятельных и повторно используемых компонентов.</a:t>
            </a:r>
          </a:p>
          <a:p>
            <a:r>
              <a:rPr lang="ru-RU" dirty="0"/>
              <a:t>Ранее мы рассмотрели компонент </a:t>
            </a:r>
            <a:r>
              <a:rPr lang="ru-RU" dirty="0" err="1"/>
              <a:t>ProductCard</a:t>
            </a:r>
            <a:r>
              <a:rPr lang="ru-RU" dirty="0"/>
              <a:t>, отображающий карточку товара. Однако сама карточка тоже может состоять из нескольких частей.</a:t>
            </a:r>
          </a:p>
          <a:p>
            <a:r>
              <a:rPr lang="ru-RU" dirty="0"/>
              <a:t>Например, карточка интернет-магазина содержит изображение товара, его название, цену и кнопку «Добавить».</a:t>
            </a:r>
          </a:p>
          <a:p>
            <a:r>
              <a:rPr lang="ru-RU" dirty="0"/>
              <a:t>Вместо того чтобы реализовывать всю логику внутри одного компонента, можно разделить её на части.</a:t>
            </a:r>
          </a:p>
          <a:p>
            <a:r>
              <a:rPr lang="ru-RU" dirty="0"/>
              <a:t>Компонент </a:t>
            </a:r>
            <a:r>
              <a:rPr lang="ru-RU" dirty="0" err="1"/>
              <a:t>ProductCard</a:t>
            </a:r>
            <a:r>
              <a:rPr lang="ru-RU" dirty="0"/>
              <a:t> будет объединять элементы карточки.</a:t>
            </a:r>
          </a:p>
          <a:p>
            <a:r>
              <a:rPr lang="ru-RU" dirty="0"/>
              <a:t>Встроенный компонент Image будет отвечать за отображение фотографии товара.</a:t>
            </a:r>
          </a:p>
          <a:p>
            <a:r>
              <a:rPr lang="ru-RU" dirty="0"/>
              <a:t>Пользовательский компонент </a:t>
            </a:r>
            <a:r>
              <a:rPr lang="ru-RU" dirty="0" err="1"/>
              <a:t>ProductInfo</a:t>
            </a:r>
            <a:r>
              <a:rPr lang="ru-RU" dirty="0"/>
              <a:t> может отвечать за отображение названия и цены.</a:t>
            </a:r>
          </a:p>
          <a:p>
            <a:r>
              <a:rPr lang="ru-RU" dirty="0"/>
              <a:t>Компонент </a:t>
            </a:r>
            <a:r>
              <a:rPr lang="ru-RU" dirty="0" err="1"/>
              <a:t>Pressable</a:t>
            </a:r>
            <a:r>
              <a:rPr lang="ru-RU" dirty="0"/>
              <a:t> будет использоваться для обработки нажатия на кнопку.</a:t>
            </a:r>
          </a:p>
          <a:p>
            <a:r>
              <a:rPr lang="ru-RU" dirty="0"/>
              <a:t>Таким образом, один компонент создаётся путём объединения других компонентов.</a:t>
            </a:r>
          </a:p>
          <a:p>
            <a:r>
              <a:rPr lang="ru-RU" dirty="0"/>
              <a:t>Этот принцип тесно связан с разделением ответственности.</a:t>
            </a:r>
          </a:p>
          <a:p>
            <a:r>
              <a:rPr lang="ru-RU" dirty="0"/>
              <a:t>Разделение ответственности означает, что каждый компонент выполняет определённую задачу.</a:t>
            </a:r>
          </a:p>
          <a:p>
            <a:r>
              <a:rPr lang="ru-RU" dirty="0"/>
              <a:t>Например, компонент, отвечающий за отображение информации о товаре, не должен одновременно содержать всю логику работы корзины интернет-магазина.</a:t>
            </a:r>
          </a:p>
          <a:p>
            <a:r>
              <a:rPr lang="ru-RU" dirty="0"/>
              <a:t>Подобное разделение позволяет изменять и повторно использовать отдельные части интерфейса.</a:t>
            </a:r>
          </a:p>
          <a:p>
            <a:r>
              <a:rPr lang="ru-RU" dirty="0"/>
              <a:t>Представим, что компонент </a:t>
            </a:r>
            <a:r>
              <a:rPr lang="ru-RU" dirty="0" err="1"/>
              <a:t>ProductInfo</a:t>
            </a:r>
            <a:r>
              <a:rPr lang="ru-RU" dirty="0"/>
              <a:t> отображает название и цену товара.</a:t>
            </a:r>
          </a:p>
          <a:p>
            <a:r>
              <a:rPr lang="ru-RU" dirty="0"/>
              <a:t>Его можно использовать не только на экране каталога, но и на странице избранных товаров или в корзине.</a:t>
            </a:r>
          </a:p>
          <a:p>
            <a:r>
              <a:rPr lang="ru-RU" dirty="0"/>
              <a:t>Если изменится формат отображения цены, достаточно изменить компонент </a:t>
            </a:r>
            <a:r>
              <a:rPr lang="ru-RU" dirty="0" err="1"/>
              <a:t>ProductInfo</a:t>
            </a:r>
            <a:r>
              <a:rPr lang="ru-RU" dirty="0"/>
              <a:t>.</a:t>
            </a:r>
          </a:p>
          <a:p>
            <a:r>
              <a:rPr lang="ru-RU" dirty="0"/>
              <a:t>Композиция также помогает сократить размер отдельных компонентов. Вместо одной функции с большим количеством JSX-разметки приложение состоит из небольших функций с понятными названиями.</a:t>
            </a:r>
          </a:p>
          <a:p>
            <a:r>
              <a:rPr lang="ru-RU" dirty="0"/>
              <a:t>В результате структура интерфейса становится похожей на конструктор: готовые элементы объединяются между собой для создания более сложных экранов.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существует специальное свойство </a:t>
            </a:r>
            <a:r>
              <a:rPr lang="ru-RU" dirty="0" err="1"/>
              <a:t>children</a:t>
            </a:r>
            <a:r>
              <a:rPr lang="ru-RU" dirty="0"/>
              <a:t>, которое позволяет передавать компоненту вложенное содержимое.</a:t>
            </a:r>
          </a:p>
          <a:p>
            <a:r>
              <a:rPr lang="ru-RU" dirty="0"/>
              <a:t>Обычно </a:t>
            </a:r>
            <a:r>
              <a:rPr lang="ru-RU" dirty="0" err="1"/>
              <a:t>props</a:t>
            </a:r>
            <a:r>
              <a:rPr lang="ru-RU" dirty="0"/>
              <a:t> передаются в виде атрибутов:</a:t>
            </a:r>
          </a:p>
          <a:p>
            <a:r>
              <a:rPr lang="ru-RU" dirty="0"/>
              <a:t>&lt;</a:t>
            </a:r>
            <a:r>
              <a:rPr lang="ru-RU" dirty="0" err="1"/>
              <a:t>ProductCard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="Наушники" /&gt;</a:t>
            </a:r>
          </a:p>
          <a:p>
            <a:r>
              <a:rPr lang="ru-RU" dirty="0"/>
              <a:t>Однако иногда необходимо передать не отдельное значение, а целую группу элементов интерфейса.</a:t>
            </a:r>
          </a:p>
          <a:p>
            <a:r>
              <a:rPr lang="ru-RU" dirty="0"/>
              <a:t>Для этого используется </a:t>
            </a:r>
            <a:r>
              <a:rPr lang="ru-RU" dirty="0" err="1"/>
              <a:t>children</a:t>
            </a:r>
            <a:r>
              <a:rPr lang="ru-RU" dirty="0"/>
              <a:t>.</a:t>
            </a:r>
          </a:p>
          <a:p>
            <a:r>
              <a:rPr lang="ru-RU" dirty="0" err="1"/>
              <a:t>Props.children</a:t>
            </a:r>
            <a:r>
              <a:rPr lang="ru-RU" dirty="0"/>
              <a:t> — это содержимое, которое передаётся между открывающим и закрывающим тегами компонента.</a:t>
            </a:r>
          </a:p>
          <a:p>
            <a:r>
              <a:rPr lang="ru-RU" dirty="0"/>
              <a:t>Рассмотрим пример универсального компонента Card:</a:t>
            </a:r>
          </a:p>
          <a:p>
            <a:r>
              <a:rPr lang="ru-RU" dirty="0" err="1"/>
              <a:t>function</a:t>
            </a:r>
            <a:r>
              <a:rPr lang="ru-RU" dirty="0"/>
              <a:t> Card({ </a:t>
            </a:r>
            <a:r>
              <a:rPr lang="ru-RU" dirty="0" err="1"/>
              <a:t>children</a:t>
            </a:r>
            <a:r>
              <a:rPr lang="ru-RU" dirty="0"/>
              <a:t> }) { </a:t>
            </a:r>
            <a:r>
              <a:rPr lang="ru-RU" dirty="0" err="1"/>
              <a:t>return</a:t>
            </a:r>
            <a:r>
              <a:rPr lang="ru-RU" dirty="0"/>
              <a:t> ( &lt;View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styles.card</a:t>
            </a:r>
            <a:r>
              <a:rPr lang="ru-RU" dirty="0"/>
              <a:t>}&gt; {</a:t>
            </a:r>
            <a:r>
              <a:rPr lang="ru-RU" dirty="0" err="1"/>
              <a:t>children</a:t>
            </a:r>
            <a:r>
              <a:rPr lang="ru-RU" dirty="0"/>
              <a:t>} &lt;/View&gt; ); }</a:t>
            </a:r>
          </a:p>
          <a:p>
            <a:r>
              <a:rPr lang="ru-RU" dirty="0"/>
              <a:t>Компонент Card принимает свойство </a:t>
            </a:r>
            <a:r>
              <a:rPr lang="ru-RU" dirty="0" err="1"/>
              <a:t>children</a:t>
            </a:r>
            <a:r>
              <a:rPr lang="ru-RU" dirty="0"/>
              <a:t> с помощью деструктуризации.</a:t>
            </a:r>
          </a:p>
          <a:p>
            <a:r>
              <a:rPr lang="ru-RU" dirty="0"/>
              <a:t>Внутри функции возвращается компонент View, к которому применяется стиль </a:t>
            </a:r>
            <a:r>
              <a:rPr lang="ru-RU" dirty="0" err="1"/>
              <a:t>styles.card</a:t>
            </a:r>
            <a:r>
              <a:rPr lang="ru-RU" dirty="0"/>
              <a:t>.</a:t>
            </a:r>
          </a:p>
          <a:p>
            <a:r>
              <a:rPr lang="ru-RU" dirty="0"/>
              <a:t>Между открывающим и закрывающим тегами View находится выражение:</a:t>
            </a:r>
          </a:p>
          <a:p>
            <a:r>
              <a:rPr lang="ru-RU" dirty="0"/>
              <a:t>{</a:t>
            </a:r>
            <a:r>
              <a:rPr lang="ru-RU" dirty="0" err="1"/>
              <a:t>children</a:t>
            </a:r>
            <a:r>
              <a:rPr lang="ru-RU" dirty="0"/>
              <a:t>}</a:t>
            </a:r>
          </a:p>
          <a:p>
            <a:r>
              <a:rPr lang="ru-RU" dirty="0"/>
              <a:t>Оно означает, что в данном месте будет отображено содержимое, переданное извне.</a:t>
            </a:r>
          </a:p>
          <a:p>
            <a:r>
              <a:rPr lang="ru-RU" dirty="0"/>
              <a:t>Теперь используем компонент:</a:t>
            </a:r>
          </a:p>
          <a:p>
            <a:r>
              <a:rPr lang="ru-RU" dirty="0"/>
              <a:t>&lt;Card&gt; &lt;Text&gt;Наушники&lt;/Text&gt; &lt;Text&gt;2500 ₽&lt;/Text&gt; &lt;/Card&gt;</a:t>
            </a:r>
          </a:p>
          <a:p>
            <a:r>
              <a:rPr lang="ru-RU" dirty="0"/>
              <a:t>В данном случае между тегами &lt;Card&gt; и &lt;/Card&gt; находятся два элемента Text.</a:t>
            </a:r>
          </a:p>
          <a:p>
            <a:r>
              <a:rPr lang="ru-RU" dirty="0"/>
              <a:t>Они будут переданы компоненту Card через свойство </a:t>
            </a:r>
            <a:r>
              <a:rPr lang="ru-RU" dirty="0" err="1"/>
              <a:t>children</a:t>
            </a:r>
            <a:r>
              <a:rPr lang="ru-RU" dirty="0"/>
              <a:t>.</a:t>
            </a:r>
          </a:p>
          <a:p>
            <a:r>
              <a:rPr lang="ru-RU" dirty="0"/>
              <a:t>В результате Card создаст контейнер с определённым оформлением, внутри которого будут отображены название и цена товара.</a:t>
            </a:r>
          </a:p>
          <a:p>
            <a:r>
              <a:rPr lang="ru-RU" dirty="0"/>
              <a:t>При этом сам компонент Card не содержит конкретной информации о товаре.</a:t>
            </a:r>
          </a:p>
          <a:p>
            <a:r>
              <a:rPr lang="ru-RU" dirty="0"/>
              <a:t>Его задача — создать универсальную визуальную обёртку.</a:t>
            </a:r>
          </a:p>
          <a:p>
            <a:r>
              <a:rPr lang="ru-RU" dirty="0" err="1"/>
              <a:t>children</a:t>
            </a:r>
            <a:r>
              <a:rPr lang="ru-RU" dirty="0"/>
              <a:t> позволяет отделить внешний вид контейнера от его содержимого.</a:t>
            </a:r>
          </a:p>
          <a:p>
            <a:r>
              <a:rPr lang="ru-RU" dirty="0"/>
              <a:t>Это особенно полезно при создании универсальных карточек, панелей, блоков оформления и других компонентов, которые должны иметь одинаковый стиль, но разное наполнение.</a:t>
            </a:r>
          </a:p>
          <a:p>
            <a:r>
              <a:rPr lang="ru-RU" dirty="0"/>
              <a:t>Важно понимать, что </a:t>
            </a:r>
            <a:r>
              <a:rPr lang="ru-RU" dirty="0" err="1"/>
              <a:t>children</a:t>
            </a:r>
            <a:r>
              <a:rPr lang="ru-RU" dirty="0"/>
              <a:t> является обычным свойством объекта </a:t>
            </a:r>
            <a:r>
              <a:rPr lang="ru-RU" dirty="0" err="1"/>
              <a:t>props</a:t>
            </a:r>
            <a:r>
              <a:rPr lang="ru-RU" dirty="0"/>
              <a:t>, хотя </a:t>
            </a:r>
            <a:r>
              <a:rPr lang="ru-RU" dirty="0" err="1"/>
              <a:t>React</a:t>
            </a:r>
            <a:r>
              <a:rPr lang="ru-RU" dirty="0"/>
              <a:t> предоставляет удобный синтаксис его передачи между тегами.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пример, в котором несколько компонентов объединяются для создания карточки товара интернет-магазина.</a:t>
            </a:r>
          </a:p>
          <a:p>
            <a:r>
              <a:rPr lang="ru-RU" dirty="0"/>
              <a:t>В данном примере используются три пользовательских компонента: Card, </a:t>
            </a:r>
            <a:r>
              <a:rPr lang="ru-RU" dirty="0" err="1"/>
              <a:t>ProductCard</a:t>
            </a:r>
            <a:r>
              <a:rPr lang="ru-RU" dirty="0"/>
              <a:t> и </a:t>
            </a:r>
            <a:r>
              <a:rPr lang="ru-RU" dirty="0" err="1"/>
              <a:t>ProductInfo</a:t>
            </a:r>
            <a:r>
              <a:rPr lang="ru-RU" dirty="0"/>
              <a:t>.</a:t>
            </a:r>
          </a:p>
          <a:p>
            <a:r>
              <a:rPr lang="ru-RU" dirty="0"/>
              <a:t>Компонент Card отвечает за внешний контейнер и его оформление.</a:t>
            </a:r>
          </a:p>
          <a:p>
            <a:r>
              <a:rPr lang="ru-RU" dirty="0"/>
              <a:t>Компонент </a:t>
            </a:r>
            <a:r>
              <a:rPr lang="ru-RU" dirty="0" err="1"/>
              <a:t>ProductInfo</a:t>
            </a:r>
            <a:r>
              <a:rPr lang="ru-RU" dirty="0"/>
              <a:t> отвечает за отображение информации о товаре.</a:t>
            </a:r>
          </a:p>
          <a:p>
            <a:r>
              <a:rPr lang="ru-RU" dirty="0"/>
              <a:t>Компонент </a:t>
            </a:r>
            <a:r>
              <a:rPr lang="ru-RU" dirty="0" err="1"/>
              <a:t>ProductCard</a:t>
            </a:r>
            <a:r>
              <a:rPr lang="ru-RU" dirty="0"/>
              <a:t> объединяет остальные элементы и формирует готовую карточку.</a:t>
            </a:r>
          </a:p>
          <a:p>
            <a:r>
              <a:rPr lang="ru-RU" dirty="0"/>
              <a:t>Сначала рассмотрим компонент Card:</a:t>
            </a:r>
          </a:p>
          <a:p>
            <a:r>
              <a:rPr lang="ru-RU" dirty="0" err="1"/>
              <a:t>function</a:t>
            </a:r>
            <a:r>
              <a:rPr lang="ru-RU" dirty="0"/>
              <a:t> Card({ </a:t>
            </a:r>
            <a:r>
              <a:rPr lang="ru-RU" dirty="0" err="1"/>
              <a:t>children</a:t>
            </a:r>
            <a:r>
              <a:rPr lang="ru-RU" dirty="0"/>
              <a:t> }) { </a:t>
            </a:r>
            <a:r>
              <a:rPr lang="ru-RU" dirty="0" err="1"/>
              <a:t>return</a:t>
            </a:r>
            <a:r>
              <a:rPr lang="ru-RU" dirty="0"/>
              <a:t> ( &lt;View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styles.card</a:t>
            </a:r>
            <a:r>
              <a:rPr lang="ru-RU" dirty="0"/>
              <a:t>}&gt; {</a:t>
            </a:r>
            <a:r>
              <a:rPr lang="ru-RU" dirty="0" err="1"/>
              <a:t>children</a:t>
            </a:r>
            <a:r>
              <a:rPr lang="ru-RU" dirty="0"/>
              <a:t>} &lt;/View&gt; ); }</a:t>
            </a:r>
          </a:p>
          <a:p>
            <a:r>
              <a:rPr lang="ru-RU" dirty="0"/>
              <a:t>Его задача — создать контейнер со стилем </a:t>
            </a:r>
            <a:r>
              <a:rPr lang="ru-RU" dirty="0" err="1"/>
              <a:t>styles.card</a:t>
            </a:r>
            <a:r>
              <a:rPr lang="ru-RU" dirty="0"/>
              <a:t> и поместить внутрь переданное содержимое.</a:t>
            </a:r>
          </a:p>
          <a:p>
            <a:r>
              <a:rPr lang="ru-RU" dirty="0"/>
              <a:t>Теперь рассмотрим основной компонент:</a:t>
            </a:r>
          </a:p>
          <a:p>
            <a:r>
              <a:rPr lang="en-US" dirty="0"/>
              <a:t>function </a:t>
            </a:r>
            <a:r>
              <a:rPr lang="en-US" dirty="0" err="1"/>
              <a:t>ProductCard</a:t>
            </a:r>
            <a:r>
              <a:rPr lang="en-US" dirty="0"/>
              <a:t>({ product, </a:t>
            </a:r>
            <a:r>
              <a:rPr lang="en-US" dirty="0" err="1"/>
              <a:t>onAdd</a:t>
            </a:r>
            <a:r>
              <a:rPr lang="en-US" dirty="0"/>
              <a:t> }) {</a:t>
            </a:r>
          </a:p>
          <a:p>
            <a:r>
              <a:rPr lang="ru-RU" dirty="0"/>
              <a:t>Компонент </a:t>
            </a:r>
            <a:r>
              <a:rPr lang="ru-RU" dirty="0" err="1"/>
              <a:t>ProductCard</a:t>
            </a:r>
            <a:r>
              <a:rPr lang="ru-RU" dirty="0"/>
              <a:t> принимает два свойства: </a:t>
            </a:r>
            <a:r>
              <a:rPr lang="ru-RU" dirty="0" err="1"/>
              <a:t>product</a:t>
            </a:r>
            <a:r>
              <a:rPr lang="ru-RU" dirty="0"/>
              <a:t> и </a:t>
            </a:r>
            <a:r>
              <a:rPr lang="ru-RU" dirty="0" err="1"/>
              <a:t>onAdd</a:t>
            </a:r>
            <a:r>
              <a:rPr lang="ru-RU" dirty="0"/>
              <a:t>.</a:t>
            </a:r>
          </a:p>
          <a:p>
            <a:r>
              <a:rPr lang="ru-RU" dirty="0"/>
              <a:t>Свойство </a:t>
            </a:r>
            <a:r>
              <a:rPr lang="ru-RU" dirty="0" err="1"/>
              <a:t>product</a:t>
            </a:r>
            <a:r>
              <a:rPr lang="ru-RU" dirty="0"/>
              <a:t> содержит объект с информацией о товаре.</a:t>
            </a:r>
          </a:p>
          <a:p>
            <a:r>
              <a:rPr lang="ru-RU" dirty="0"/>
              <a:t>Свойство </a:t>
            </a:r>
            <a:r>
              <a:rPr lang="ru-RU" dirty="0" err="1"/>
              <a:t>onAdd</a:t>
            </a:r>
            <a:r>
              <a:rPr lang="ru-RU" dirty="0"/>
              <a:t> содержит функцию, которая будет вызвана при нажатии на кнопку добавления.</a:t>
            </a:r>
          </a:p>
          <a:p>
            <a:r>
              <a:rPr lang="ru-RU" dirty="0"/>
              <a:t>Внешним элементом JSX является пользовательский компонент Card.</a:t>
            </a:r>
          </a:p>
          <a:p>
            <a:r>
              <a:rPr lang="ru-RU" dirty="0"/>
              <a:t>Он обеспечивает единое оформление карточки.</a:t>
            </a:r>
          </a:p>
          <a:p>
            <a:r>
              <a:rPr lang="ru-RU" dirty="0"/>
              <a:t>Первым вложенным элементом является Image:</a:t>
            </a:r>
          </a:p>
          <a:p>
            <a:r>
              <a:rPr lang="ru-RU" dirty="0"/>
              <a:t>&lt;Image </a:t>
            </a:r>
            <a:r>
              <a:rPr lang="ru-RU" dirty="0" err="1"/>
              <a:t>source</a:t>
            </a:r>
            <a:r>
              <a:rPr lang="ru-RU" dirty="0"/>
              <a:t>={</a:t>
            </a:r>
            <a:r>
              <a:rPr lang="ru-RU" dirty="0" err="1"/>
              <a:t>product.image</a:t>
            </a:r>
            <a:r>
              <a:rPr lang="ru-RU" dirty="0"/>
              <a:t>}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styles.image</a:t>
            </a:r>
            <a:r>
              <a:rPr lang="ru-RU" dirty="0"/>
              <a:t>} /&gt;</a:t>
            </a:r>
          </a:p>
          <a:p>
            <a:r>
              <a:rPr lang="ru-RU" dirty="0"/>
              <a:t>Свойство </a:t>
            </a:r>
            <a:r>
              <a:rPr lang="ru-RU" dirty="0" err="1"/>
              <a:t>source</a:t>
            </a:r>
            <a:r>
              <a:rPr lang="ru-RU" dirty="0"/>
              <a:t> определяет источник изображения.</a:t>
            </a:r>
          </a:p>
          <a:p>
            <a:r>
              <a:rPr lang="ru-RU" dirty="0"/>
              <a:t>Выражение </a:t>
            </a:r>
            <a:r>
              <a:rPr lang="ru-RU" dirty="0" err="1"/>
              <a:t>product.image</a:t>
            </a:r>
            <a:r>
              <a:rPr lang="ru-RU" dirty="0"/>
              <a:t> обращается к полю </a:t>
            </a:r>
            <a:r>
              <a:rPr lang="ru-RU" dirty="0" err="1"/>
              <a:t>image</a:t>
            </a:r>
            <a:r>
              <a:rPr lang="ru-RU" dirty="0"/>
              <a:t> объекта товара. В данном примере предполагается, что это поле содержит источник изображения в формате, который понимает компонент Image.</a:t>
            </a:r>
          </a:p>
          <a:p>
            <a:r>
              <a:rPr lang="ru-RU" dirty="0"/>
              <a:t>Свойство </a:t>
            </a:r>
            <a:r>
              <a:rPr lang="ru-RU" dirty="0" err="1"/>
              <a:t>style</a:t>
            </a:r>
            <a:r>
              <a:rPr lang="ru-RU" dirty="0"/>
              <a:t> определяет внешний вид изображения, например его ширину, высоту и скругление углов.</a:t>
            </a:r>
          </a:p>
          <a:p>
            <a:r>
              <a:rPr lang="ru-RU" dirty="0"/>
              <a:t>Следующим элементом является компонент </a:t>
            </a:r>
            <a:r>
              <a:rPr lang="ru-RU" dirty="0" err="1"/>
              <a:t>ProductInfo</a:t>
            </a:r>
            <a:r>
              <a:rPr lang="ru-RU" dirty="0"/>
              <a:t>:</a:t>
            </a:r>
          </a:p>
          <a:p>
            <a:r>
              <a:rPr lang="ru-RU" dirty="0"/>
              <a:t>&lt;</a:t>
            </a:r>
            <a:r>
              <a:rPr lang="ru-RU" dirty="0" err="1"/>
              <a:t>ProductInfo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={</a:t>
            </a:r>
            <a:r>
              <a:rPr lang="ru-RU" dirty="0" err="1"/>
              <a:t>product.title</a:t>
            </a:r>
            <a:r>
              <a:rPr lang="ru-RU" dirty="0"/>
              <a:t>} </a:t>
            </a:r>
            <a:r>
              <a:rPr lang="ru-RU" dirty="0" err="1"/>
              <a:t>price</a:t>
            </a:r>
            <a:r>
              <a:rPr lang="ru-RU" dirty="0"/>
              <a:t>={</a:t>
            </a:r>
            <a:r>
              <a:rPr lang="ru-RU" dirty="0" err="1"/>
              <a:t>product.price</a:t>
            </a:r>
            <a:r>
              <a:rPr lang="ru-RU" dirty="0"/>
              <a:t>} /&gt;</a:t>
            </a:r>
          </a:p>
          <a:p>
            <a:r>
              <a:rPr lang="ru-RU" dirty="0"/>
              <a:t>Здесь </a:t>
            </a:r>
            <a:r>
              <a:rPr lang="ru-RU" dirty="0" err="1"/>
              <a:t>ProductCard</a:t>
            </a:r>
            <a:r>
              <a:rPr lang="ru-RU" dirty="0"/>
              <a:t> передаёт дочернему компоненту </a:t>
            </a:r>
            <a:r>
              <a:rPr lang="ru-RU" dirty="0" err="1"/>
              <a:t>ProductInfo</a:t>
            </a:r>
            <a:r>
              <a:rPr lang="ru-RU" dirty="0"/>
              <a:t> название и цену товара.</a:t>
            </a:r>
          </a:p>
          <a:p>
            <a:r>
              <a:rPr lang="ru-RU" dirty="0"/>
              <a:t>Это пример передачи данных через несколько уровней дерева компонентов.</a:t>
            </a:r>
          </a:p>
          <a:p>
            <a:r>
              <a:rPr lang="ru-RU" dirty="0"/>
              <a:t>Сам объект товара получен компонентом </a:t>
            </a:r>
            <a:r>
              <a:rPr lang="ru-RU" dirty="0" err="1"/>
              <a:t>ProductCard</a:t>
            </a:r>
            <a:r>
              <a:rPr lang="ru-RU" dirty="0"/>
              <a:t> через </a:t>
            </a:r>
            <a:r>
              <a:rPr lang="ru-RU" dirty="0" err="1"/>
              <a:t>props</a:t>
            </a:r>
            <a:r>
              <a:rPr lang="ru-RU" dirty="0"/>
              <a:t>, а затем отдельные его поля передаются дальше.</a:t>
            </a:r>
          </a:p>
          <a:p>
            <a:r>
              <a:rPr lang="ru-RU" dirty="0"/>
              <a:t>Для полноты рассмотрим возможную реализацию </a:t>
            </a:r>
            <a:r>
              <a:rPr lang="ru-RU" dirty="0" err="1"/>
              <a:t>ProductInfo</a:t>
            </a:r>
            <a:r>
              <a:rPr lang="ru-RU" dirty="0"/>
              <a:t>:</a:t>
            </a:r>
          </a:p>
          <a:p>
            <a:r>
              <a:rPr lang="ru-RU" dirty="0" err="1"/>
              <a:t>function</a:t>
            </a:r>
            <a:r>
              <a:rPr lang="ru-RU" dirty="0"/>
              <a:t> </a:t>
            </a:r>
            <a:r>
              <a:rPr lang="ru-RU" dirty="0" err="1"/>
              <a:t>ProductInfo</a:t>
            </a:r>
            <a:r>
              <a:rPr lang="ru-RU" dirty="0"/>
              <a:t>({ </a:t>
            </a:r>
            <a:r>
              <a:rPr lang="ru-RU" dirty="0" err="1"/>
              <a:t>title</a:t>
            </a:r>
            <a:r>
              <a:rPr lang="ru-RU" dirty="0"/>
              <a:t>, </a:t>
            </a:r>
            <a:r>
              <a:rPr lang="ru-RU" dirty="0" err="1"/>
              <a:t>price</a:t>
            </a:r>
            <a:r>
              <a:rPr lang="ru-RU" dirty="0"/>
              <a:t> }) { </a:t>
            </a:r>
            <a:r>
              <a:rPr lang="ru-RU" dirty="0" err="1"/>
              <a:t>return</a:t>
            </a:r>
            <a:r>
              <a:rPr lang="ru-RU" dirty="0"/>
              <a:t> ( &lt;View&gt; &lt;Text&gt;{</a:t>
            </a:r>
            <a:r>
              <a:rPr lang="ru-RU" dirty="0" err="1"/>
              <a:t>title</a:t>
            </a:r>
            <a:r>
              <a:rPr lang="ru-RU" dirty="0"/>
              <a:t>}&lt;/Text&gt; &lt;Text&gt;{</a:t>
            </a:r>
            <a:r>
              <a:rPr lang="ru-RU" dirty="0" err="1"/>
              <a:t>price</a:t>
            </a:r>
            <a:r>
              <a:rPr lang="ru-RU" dirty="0"/>
              <a:t>} ₽&lt;/Text&gt; &lt;/View&gt; ); }</a:t>
            </a:r>
          </a:p>
          <a:p>
            <a:r>
              <a:rPr lang="ru-RU" dirty="0"/>
              <a:t>Компонент получает два значения и отображает их с помощью Text.</a:t>
            </a:r>
          </a:p>
          <a:p>
            <a:r>
              <a:rPr lang="ru-RU" dirty="0"/>
              <a:t>Последним элементом карточки является кнопка:</a:t>
            </a:r>
          </a:p>
          <a:p>
            <a:r>
              <a:rPr lang="ru-RU" dirty="0"/>
              <a:t>&lt;</a:t>
            </a:r>
            <a:r>
              <a:rPr lang="ru-RU" dirty="0" err="1"/>
              <a:t>Pressable</a:t>
            </a:r>
            <a:r>
              <a:rPr lang="ru-RU" dirty="0"/>
              <a:t> </a:t>
            </a:r>
            <a:r>
              <a:rPr lang="ru-RU" dirty="0" err="1"/>
              <a:t>onPress</a:t>
            </a:r>
            <a:r>
              <a:rPr lang="ru-RU" dirty="0"/>
              <a:t>={</a:t>
            </a:r>
            <a:r>
              <a:rPr lang="ru-RU" dirty="0" err="1"/>
              <a:t>onAdd</a:t>
            </a:r>
            <a:r>
              <a:rPr lang="ru-RU" dirty="0"/>
              <a:t>}&gt; &lt;Text&gt;Добавить&lt;/Text&gt; &lt;/</a:t>
            </a:r>
            <a:r>
              <a:rPr lang="ru-RU" dirty="0" err="1"/>
              <a:t>Pressable</a:t>
            </a:r>
            <a:r>
              <a:rPr lang="ru-RU" dirty="0"/>
              <a:t>&gt;</a:t>
            </a:r>
          </a:p>
          <a:p>
            <a:r>
              <a:rPr lang="ru-RU" dirty="0"/>
              <a:t>При нажатии на неё вызывается функция, переданная через свойство </a:t>
            </a:r>
            <a:r>
              <a:rPr lang="ru-RU" dirty="0" err="1"/>
              <a:t>onAdd</a:t>
            </a:r>
            <a:r>
              <a:rPr lang="ru-RU" dirty="0"/>
              <a:t>.</a:t>
            </a:r>
          </a:p>
          <a:p>
            <a:r>
              <a:rPr lang="ru-RU" dirty="0"/>
              <a:t>Важно, что здесь одновременно используются несколько механизмов </a:t>
            </a:r>
            <a:r>
              <a:rPr lang="ru-RU" dirty="0" err="1"/>
              <a:t>React</a:t>
            </a:r>
            <a:r>
              <a:rPr lang="ru-RU" dirty="0"/>
              <a:t>:</a:t>
            </a:r>
          </a:p>
          <a:p>
            <a:r>
              <a:rPr lang="ru-RU" dirty="0"/>
              <a:t>Композиция позволяет объединять небольшие компоненты.</a:t>
            </a:r>
          </a:p>
          <a:p>
            <a:r>
              <a:rPr lang="ru-RU" dirty="0" err="1"/>
              <a:t>Props</a:t>
            </a:r>
            <a:r>
              <a:rPr lang="ru-RU" dirty="0"/>
              <a:t> используются для передачи данных и функций.</a:t>
            </a:r>
          </a:p>
          <a:p>
            <a:r>
              <a:rPr lang="ru-RU" dirty="0" err="1"/>
              <a:t>children</a:t>
            </a:r>
            <a:r>
              <a:rPr lang="ru-RU" dirty="0"/>
              <a:t> позволяет передавать содержимое в универсальный контейнер Card.</a:t>
            </a:r>
          </a:p>
          <a:p>
            <a:r>
              <a:rPr lang="ru-RU" dirty="0"/>
              <a:t>Получается следующая структура:</a:t>
            </a:r>
          </a:p>
          <a:p>
            <a:r>
              <a:rPr lang="ru-RU" dirty="0" err="1"/>
              <a:t>ProductCard</a:t>
            </a:r>
            <a:r>
              <a:rPr lang="ru-RU" dirty="0"/>
              <a:t> содержит Card, внутри которого располагаются Image, </a:t>
            </a:r>
            <a:r>
              <a:rPr lang="ru-RU" dirty="0" err="1"/>
              <a:t>ProductInfo</a:t>
            </a:r>
            <a:r>
              <a:rPr lang="ru-RU" dirty="0"/>
              <a:t> и </a:t>
            </a:r>
            <a:r>
              <a:rPr lang="ru-RU" dirty="0" err="1"/>
              <a:t>Pressable</a:t>
            </a:r>
            <a:r>
              <a:rPr lang="ru-RU" dirty="0"/>
              <a:t>.</a:t>
            </a:r>
          </a:p>
          <a:p>
            <a:r>
              <a:rPr lang="ru-RU" dirty="0"/>
              <a:t>В результате мы получаем повторно используемую карточку товара, структуру которой не нужно копировать для каждого нового товара.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предоставляет набор встроенных компонентов, которые используются для построения интерфейса мобильного приложения.</a:t>
            </a:r>
          </a:p>
          <a:p>
            <a:r>
              <a:rPr lang="ru-RU" dirty="0"/>
              <a:t>Эти компоненты решают разные задачи: создание контейнеров, отображение текста, загрузка изображений, обработка нажатий, ввод данных и создание прокручиваемых списков.</a:t>
            </a:r>
          </a:p>
          <a:p>
            <a:r>
              <a:rPr lang="ru-RU" dirty="0"/>
              <a:t>Рассмотрим семь основных компонентов, представленных на слайде.</a:t>
            </a:r>
          </a:p>
          <a:p>
            <a:r>
              <a:rPr lang="ru-RU" dirty="0"/>
              <a:t>View — базовый контейнер интерфейса.</a:t>
            </a:r>
          </a:p>
          <a:p>
            <a:r>
              <a:rPr lang="ru-RU" dirty="0"/>
              <a:t>Он предназначен для группировки других компонентов, построения структуры экрана и организации расположения элементов. Например, с помощью View можно создать область карточки товара или основной контейнер экрана приложения.</a:t>
            </a:r>
          </a:p>
          <a:p>
            <a:r>
              <a:rPr lang="ru-RU" dirty="0"/>
              <a:t>Text — компонент для отображения текста.</a:t>
            </a:r>
          </a:p>
          <a:p>
            <a:r>
              <a:rPr lang="ru-RU" dirty="0"/>
              <a:t>С его помощью выводятся названия товаров, цены, заголовки, описания и другая текстовая информация.</a:t>
            </a:r>
          </a:p>
          <a:p>
            <a:r>
              <a:rPr lang="ru-RU" dirty="0"/>
              <a:t>Image — компонент для отображения изображений.</a:t>
            </a:r>
          </a:p>
          <a:p>
            <a:r>
              <a:rPr lang="ru-RU" dirty="0"/>
              <a:t>Он позволяет показывать изображения, находящиеся непосредственно в проекте приложения, а также загружать изображения по сетевому адресу.</a:t>
            </a:r>
          </a:p>
          <a:p>
            <a:r>
              <a:rPr lang="ru-RU" dirty="0" err="1"/>
              <a:t>Pressable</a:t>
            </a:r>
            <a:r>
              <a:rPr lang="ru-RU" dirty="0"/>
              <a:t> — компонент для обработки взаимодействия пользователя с областью интерфейса.</a:t>
            </a:r>
          </a:p>
          <a:p>
            <a:r>
              <a:rPr lang="ru-RU" dirty="0"/>
              <a:t>Его можно использовать для создания кнопок, интерактивных карточек и других элементов, реагирующих на нажатия.</a:t>
            </a:r>
          </a:p>
          <a:p>
            <a:r>
              <a:rPr lang="ru-RU" dirty="0" err="1"/>
              <a:t>TextInput</a:t>
            </a:r>
            <a:r>
              <a:rPr lang="ru-RU" dirty="0"/>
              <a:t> — компонент для ввода текста с клавиатуры.</a:t>
            </a:r>
          </a:p>
          <a:p>
            <a:r>
              <a:rPr lang="ru-RU" dirty="0"/>
              <a:t>Он применяется в строках поиска, формах авторизации, регистрации и других элементах, в которых пользователь должен вводить данные.</a:t>
            </a:r>
          </a:p>
          <a:p>
            <a:r>
              <a:rPr lang="ru-RU" dirty="0" err="1"/>
              <a:t>ScrollView</a:t>
            </a:r>
            <a:r>
              <a:rPr lang="ru-RU" dirty="0"/>
              <a:t> — прокручиваемый контейнер.</a:t>
            </a:r>
          </a:p>
          <a:p>
            <a:r>
              <a:rPr lang="ru-RU" dirty="0"/>
              <a:t>Он позволяет размещать содержимое, которое не помещается на одном экране, и прокручивать его.</a:t>
            </a:r>
          </a:p>
          <a:p>
            <a:r>
              <a:rPr lang="ru-RU" dirty="0" err="1"/>
              <a:t>FlatList</a:t>
            </a:r>
            <a:r>
              <a:rPr lang="ru-RU" dirty="0"/>
              <a:t> — компонент для эффективного отображения списков данных.</a:t>
            </a:r>
          </a:p>
          <a:p>
            <a:r>
              <a:rPr lang="ru-RU" dirty="0"/>
              <a:t>Он особенно полезен в ситуациях, когда необходимо вывести большое количество однотипных элементов, например каталог товаров.</a:t>
            </a:r>
          </a:p>
          <a:p>
            <a:r>
              <a:rPr lang="ru-RU" dirty="0"/>
              <a:t>При создании интерфейса важно выбирать компонент в соответствии с задачей.</a:t>
            </a:r>
          </a:p>
          <a:p>
            <a:r>
              <a:rPr lang="ru-RU" dirty="0"/>
              <a:t>Например, если требуется отобразить текст, используется Text. Если необходимо расположить несколько компонентов внутри одного блока, используется View.</a:t>
            </a:r>
          </a:p>
          <a:p>
            <a:r>
              <a:rPr lang="ru-RU" dirty="0"/>
              <a:t>Для отдельной страницы товара с фотографиями, характеристиками и описанием может подойти </a:t>
            </a:r>
            <a:r>
              <a:rPr lang="ru-RU" dirty="0" err="1"/>
              <a:t>ScrollView</a:t>
            </a:r>
            <a:r>
              <a:rPr lang="ru-RU" dirty="0"/>
              <a:t>.</a:t>
            </a:r>
          </a:p>
          <a:p>
            <a:r>
              <a:rPr lang="ru-RU" dirty="0"/>
              <a:t>Для каталога из большого количества карточек товаров удобнее использовать </a:t>
            </a:r>
            <a:r>
              <a:rPr lang="ru-RU" dirty="0" err="1"/>
              <a:t>FlatList</a:t>
            </a:r>
            <a:r>
              <a:rPr lang="ru-RU" dirty="0"/>
              <a:t>.</a:t>
            </a:r>
          </a:p>
          <a:p>
            <a:r>
              <a:rPr lang="ru-RU" dirty="0"/>
              <a:t>Все рассмотренные компоненты могут объединяться друг с другом и составлять более сложные пользовательские компоненты.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Одним из самых фундаментальных компонентов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является View.</a:t>
            </a:r>
          </a:p>
          <a:p>
            <a:r>
              <a:rPr lang="ru-RU" dirty="0"/>
              <a:t>По своему назначению он напоминает HTML-элемент </a:t>
            </a:r>
            <a:r>
              <a:rPr lang="ru-RU" dirty="0" err="1"/>
              <a:t>div</a:t>
            </a:r>
            <a:r>
              <a:rPr lang="ru-RU" dirty="0"/>
              <a:t>, применяемый в веб-разработке.</a:t>
            </a:r>
          </a:p>
          <a:p>
            <a:r>
              <a:rPr lang="ru-RU" dirty="0"/>
              <a:t>Однако View не является HTML-тегом. Он представляет собой компонент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, который используется для построения интерфейса мобильного приложения.</a:t>
            </a:r>
          </a:p>
          <a:p>
            <a:r>
              <a:rPr lang="ru-RU" dirty="0"/>
              <a:t>Основная задача View — объединять другие компоненты в логические группы.</a:t>
            </a:r>
          </a:p>
          <a:p>
            <a:r>
              <a:rPr lang="ru-RU" dirty="0"/>
              <a:t>Например, карточка товара может содержать изображение, название и цену. Все эти элементы можно разместить внутри одного контейнера View.</a:t>
            </a:r>
          </a:p>
          <a:p>
            <a:r>
              <a:rPr lang="ru-RU" dirty="0"/>
              <a:t>При этом контейнеры могут вкладываться друг в друга, образуя сложную структуру интерфейса.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&lt;View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styles.card</a:t>
            </a:r>
            <a:r>
              <a:rPr lang="ru-RU" dirty="0"/>
              <a:t>}&gt; &lt;Image </a:t>
            </a:r>
            <a:r>
              <a:rPr lang="ru-RU" dirty="0" err="1"/>
              <a:t>source</a:t>
            </a:r>
            <a:r>
              <a:rPr lang="ru-RU" dirty="0"/>
              <a:t>={</a:t>
            </a:r>
            <a:r>
              <a:rPr lang="ru-RU" dirty="0" err="1"/>
              <a:t>product.image</a:t>
            </a:r>
            <a:r>
              <a:rPr lang="ru-RU" dirty="0"/>
              <a:t>}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styles.image</a:t>
            </a:r>
            <a:r>
              <a:rPr lang="ru-RU" dirty="0"/>
              <a:t>} /&gt; &lt;View </a:t>
            </a:r>
            <a:r>
              <a:rPr lang="ru-RU" dirty="0" err="1"/>
              <a:t>style</a:t>
            </a:r>
            <a:r>
              <a:rPr lang="ru-RU" dirty="0"/>
              <a:t>={styles.info}&gt; &lt;Text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styles.title</a:t>
            </a:r>
            <a:r>
              <a:rPr lang="ru-RU" dirty="0"/>
              <a:t>}&gt; {</a:t>
            </a:r>
            <a:r>
              <a:rPr lang="ru-RU" dirty="0" err="1"/>
              <a:t>product.title</a:t>
            </a:r>
            <a:r>
              <a:rPr lang="ru-RU" dirty="0"/>
              <a:t>} &lt;/Text&gt; &lt;Text&gt;{</a:t>
            </a:r>
            <a:r>
              <a:rPr lang="ru-RU" dirty="0" err="1"/>
              <a:t>product.price</a:t>
            </a:r>
            <a:r>
              <a:rPr lang="ru-RU" dirty="0"/>
              <a:t>} ₽&lt;/Text&gt; &lt;/View&gt; &lt;/View&gt;</a:t>
            </a:r>
          </a:p>
          <a:p>
            <a:r>
              <a:rPr lang="ru-RU" dirty="0"/>
              <a:t>Внешний компонент View является основным контейнером карточки товара.</a:t>
            </a:r>
          </a:p>
          <a:p>
            <a:r>
              <a:rPr lang="ru-RU" dirty="0"/>
              <a:t>К нему применяется стиль </a:t>
            </a:r>
            <a:r>
              <a:rPr lang="ru-RU" dirty="0" err="1"/>
              <a:t>styles.card</a:t>
            </a:r>
            <a:r>
              <a:rPr lang="ru-RU" dirty="0"/>
              <a:t>.</a:t>
            </a:r>
          </a:p>
          <a:p>
            <a:r>
              <a:rPr lang="ru-RU" dirty="0"/>
              <a:t>Этот стиль может определять фон карточки, размеры, внутренние отступы, границы и расположение вложенных элементов.</a:t>
            </a:r>
          </a:p>
          <a:p>
            <a:r>
              <a:rPr lang="ru-RU" dirty="0"/>
              <a:t>Внутри располагается компонент Image, отображающий фотографию товара.</a:t>
            </a:r>
          </a:p>
          <a:p>
            <a:r>
              <a:rPr lang="ru-RU" dirty="0"/>
              <a:t>После изображения находится ещё один компонент View, к которому применяется стиль styles.info.</a:t>
            </a:r>
          </a:p>
          <a:p>
            <a:r>
              <a:rPr lang="ru-RU" dirty="0"/>
              <a:t>Этот вложенный контейнер объединяет текстовую информацию о товаре.</a:t>
            </a:r>
          </a:p>
          <a:p>
            <a:r>
              <a:rPr lang="ru-RU" dirty="0"/>
              <a:t>Внутри него находятся два компонента Text: название и цена.</a:t>
            </a:r>
          </a:p>
          <a:p>
            <a:r>
              <a:rPr lang="ru-RU" dirty="0"/>
              <a:t>Таким образом, в данном примере используются два уровня вложенности контейнеров.</a:t>
            </a:r>
          </a:p>
          <a:p>
            <a:r>
              <a:rPr lang="ru-RU" dirty="0"/>
              <a:t>Внешний View формирует общую структуру карточки.</a:t>
            </a:r>
          </a:p>
          <a:p>
            <a:r>
              <a:rPr lang="ru-RU" dirty="0"/>
              <a:t>Внутренний View группирует название и цену товара.</a:t>
            </a:r>
          </a:p>
          <a:p>
            <a:r>
              <a:rPr lang="ru-RU" dirty="0"/>
              <a:t>Помимо группировки элементов, View используется для оформления интерфейса.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отображения текстовой информации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используется компонент Text.</a:t>
            </a:r>
          </a:p>
          <a:p>
            <a:r>
              <a:rPr lang="ru-RU" dirty="0"/>
              <a:t>Это один из основных компонентов интерфейса, поскольку практически любое мобильное приложение содержит заголовки, подписи, описания, сообщения и другие текстовые элементы.</a:t>
            </a:r>
          </a:p>
          <a:p>
            <a:r>
              <a:rPr lang="ru-RU" dirty="0"/>
              <a:t>Особенность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заключается в том, что обычный текст должен находиться внутри компонента Text.</a:t>
            </a:r>
          </a:p>
          <a:p>
            <a:r>
              <a:rPr lang="ru-RU" dirty="0"/>
              <a:t>Компонент Text может содержать как обычные строки, так и значения JavaScript.</a:t>
            </a:r>
          </a:p>
          <a:p>
            <a:r>
              <a:rPr lang="ru-RU" dirty="0"/>
              <a:t>Рассмотрим пример отображения названия товара:</a:t>
            </a:r>
          </a:p>
          <a:p>
            <a:r>
              <a:rPr lang="ru-RU" dirty="0"/>
              <a:t>&lt;Text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styles.title</a:t>
            </a:r>
            <a:r>
              <a:rPr lang="ru-RU" dirty="0"/>
              <a:t>}&gt; {</a:t>
            </a:r>
            <a:r>
              <a:rPr lang="ru-RU" dirty="0" err="1"/>
              <a:t>product.title</a:t>
            </a:r>
            <a:r>
              <a:rPr lang="ru-RU" dirty="0"/>
              <a:t>} &lt;/Text&gt;</a:t>
            </a:r>
          </a:p>
          <a:p>
            <a:r>
              <a:rPr lang="ru-RU" dirty="0"/>
              <a:t>Здесь с помощью фигурных скобок выводится значение свойства </a:t>
            </a:r>
            <a:r>
              <a:rPr lang="ru-RU" dirty="0" err="1"/>
              <a:t>title</a:t>
            </a:r>
            <a:r>
              <a:rPr lang="ru-RU" dirty="0"/>
              <a:t> объекта </a:t>
            </a:r>
            <a:r>
              <a:rPr lang="ru-RU" dirty="0" err="1"/>
              <a:t>product</a:t>
            </a:r>
            <a:r>
              <a:rPr lang="ru-RU" dirty="0"/>
              <a:t>.</a:t>
            </a:r>
          </a:p>
          <a:p>
            <a:r>
              <a:rPr lang="ru-RU" dirty="0"/>
              <a:t>К компоненту применяется стиль </a:t>
            </a:r>
            <a:r>
              <a:rPr lang="ru-RU" dirty="0" err="1"/>
              <a:t>styles.title</a:t>
            </a:r>
            <a:r>
              <a:rPr lang="ru-RU" dirty="0"/>
              <a:t>, который может задавать размер шрифта, цвет и другие характеристики текста.</a:t>
            </a:r>
          </a:p>
          <a:p>
            <a:r>
              <a:rPr lang="ru-RU" dirty="0"/>
              <a:t>Рассмотрим следующий пример:</a:t>
            </a:r>
          </a:p>
          <a:p>
            <a:r>
              <a:rPr lang="ru-RU" dirty="0"/>
              <a:t>&lt;Text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styles.price</a:t>
            </a:r>
            <a:r>
              <a:rPr lang="ru-RU" dirty="0"/>
              <a:t>}&gt; {</a:t>
            </a:r>
            <a:r>
              <a:rPr lang="ru-RU" dirty="0" err="1"/>
              <a:t>product.price</a:t>
            </a:r>
            <a:r>
              <a:rPr lang="ru-RU" dirty="0"/>
              <a:t>} ₽{' '} &lt;Text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styles.sale</a:t>
            </a:r>
            <a:r>
              <a:rPr lang="ru-RU" dirty="0"/>
              <a:t>}&gt; Скидка 20% &lt;/Text&gt; &lt;/Text&gt;</a:t>
            </a:r>
          </a:p>
          <a:p>
            <a:r>
              <a:rPr lang="ru-RU" dirty="0"/>
              <a:t>Внешний компонент Text отображает цену товара.</a:t>
            </a:r>
          </a:p>
          <a:p>
            <a:r>
              <a:rPr lang="ru-RU" dirty="0"/>
              <a:t>Выражение:</a:t>
            </a:r>
          </a:p>
          <a:p>
            <a:r>
              <a:rPr lang="ru-RU" dirty="0"/>
              <a:t>{</a:t>
            </a:r>
            <a:r>
              <a:rPr lang="ru-RU" dirty="0" err="1"/>
              <a:t>product.price</a:t>
            </a:r>
            <a:r>
              <a:rPr lang="ru-RU" dirty="0"/>
              <a:t>}</a:t>
            </a:r>
          </a:p>
          <a:p>
            <a:r>
              <a:rPr lang="ru-RU" dirty="0"/>
              <a:t>выводит числовое значение цены.</a:t>
            </a:r>
          </a:p>
          <a:p>
            <a:r>
              <a:rPr lang="ru-RU" dirty="0"/>
              <a:t>После него расположен символ рубля.</a:t>
            </a:r>
          </a:p>
          <a:p>
            <a:r>
              <a:rPr lang="ru-RU" dirty="0"/>
              <a:t>Далее находится запись:</a:t>
            </a:r>
          </a:p>
          <a:p>
            <a:r>
              <a:rPr lang="ru-RU" dirty="0"/>
              <a:t>{' '}</a:t>
            </a:r>
          </a:p>
          <a:p>
            <a:r>
              <a:rPr lang="ru-RU" dirty="0"/>
              <a:t>Это JavaScript-выражение, содержащее строку из одного пробела.</a:t>
            </a:r>
          </a:p>
          <a:p>
            <a:r>
              <a:rPr lang="ru-RU" dirty="0"/>
              <a:t>Оно используется, чтобы явно добавить пробел между ценой и текстом скидки.</a:t>
            </a:r>
          </a:p>
          <a:p>
            <a:r>
              <a:rPr lang="ru-RU" dirty="0"/>
              <a:t>Внутри внешнего компонента Text располагается ещё один Text, содержащий сообщение «Скидка 20%».</a:t>
            </a:r>
          </a:p>
          <a:p>
            <a:r>
              <a:rPr lang="ru-RU" dirty="0"/>
              <a:t>К вложенному компоненту применяется отдельный стиль </a:t>
            </a:r>
            <a:r>
              <a:rPr lang="ru-RU" dirty="0" err="1"/>
              <a:t>styles.sale</a:t>
            </a:r>
            <a:r>
              <a:rPr lang="ru-RU" dirty="0"/>
              <a:t>.</a:t>
            </a:r>
          </a:p>
          <a:p>
            <a:r>
              <a:rPr lang="ru-RU" dirty="0"/>
              <a:t>Благодаря этому часть строки можно оформить иначе, например выделить скидку другим цветом.</a:t>
            </a:r>
          </a:p>
          <a:p>
            <a:r>
              <a:rPr lang="ru-RU" dirty="0"/>
              <a:t>Таким образом, Text поддерживает вложенность, позволяющую форматировать отдельные фрагменты текста.</a:t>
            </a:r>
          </a:p>
          <a:p>
            <a:r>
              <a:rPr lang="ru-RU" dirty="0"/>
              <a:t>Это удобно, когда в одной строке необходимо использовать разные размеры, начертания или цвета шрифта.</a:t>
            </a:r>
          </a:p>
          <a:p>
            <a:r>
              <a:rPr lang="ru-RU" dirty="0"/>
              <a:t>Например, основную цену можно сделать чёрной, а сообщение о скидке — красным.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Компонент Image предназначен для отображения изображений в мобильном приложении.</a:t>
            </a:r>
          </a:p>
          <a:p>
            <a:r>
              <a:rPr lang="ru-RU" dirty="0"/>
              <a:t>Он используется для фотографий товаров, аватаров пользователей, иллюстраций, иконок и других графических элементов.</a:t>
            </a:r>
          </a:p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изображение может загружаться из разных источников.</a:t>
            </a:r>
          </a:p>
          <a:p>
            <a:r>
              <a:rPr lang="ru-RU" dirty="0"/>
              <a:t>Наиболее распространены два варианта: локальный файл проекта и сетевое изображение.</a:t>
            </a:r>
          </a:p>
          <a:p>
            <a:r>
              <a:rPr lang="ru-RU" b="1" dirty="0"/>
              <a:t>Локальное изображение</a:t>
            </a:r>
          </a:p>
          <a:p>
            <a:r>
              <a:rPr lang="ru-RU" dirty="0"/>
              <a:t>Локальное изображение — это графический файл, который находится непосредственно в папке проекта.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&lt;Image </a:t>
            </a:r>
            <a:r>
              <a:rPr lang="ru-RU" dirty="0" err="1"/>
              <a:t>source</a:t>
            </a:r>
            <a:r>
              <a:rPr lang="ru-RU" dirty="0"/>
              <a:t>={</a:t>
            </a:r>
            <a:r>
              <a:rPr lang="ru-RU" dirty="0" err="1"/>
              <a:t>require</a:t>
            </a:r>
            <a:r>
              <a:rPr lang="ru-RU" dirty="0"/>
              <a:t>('./</a:t>
            </a:r>
            <a:r>
              <a:rPr lang="ru-RU" dirty="0" err="1"/>
              <a:t>img</a:t>
            </a:r>
            <a:r>
              <a:rPr lang="ru-RU" dirty="0"/>
              <a:t>/case.png')}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styles.image</a:t>
            </a:r>
            <a:r>
              <a:rPr lang="ru-RU" dirty="0"/>
              <a:t>} /&gt;</a:t>
            </a:r>
          </a:p>
          <a:p>
            <a:r>
              <a:rPr lang="ru-RU" dirty="0"/>
              <a:t>Свойство </a:t>
            </a:r>
            <a:r>
              <a:rPr lang="ru-RU" dirty="0" err="1"/>
              <a:t>source</a:t>
            </a:r>
            <a:r>
              <a:rPr lang="ru-RU" dirty="0"/>
              <a:t> определяет источник изображения.</a:t>
            </a:r>
          </a:p>
          <a:p>
            <a:r>
              <a:rPr lang="ru-RU" dirty="0"/>
              <a:t>В данном случае используется функция </a:t>
            </a:r>
            <a:r>
              <a:rPr lang="ru-RU" dirty="0" err="1"/>
              <a:t>require</a:t>
            </a:r>
            <a:r>
              <a:rPr lang="ru-RU" dirty="0"/>
              <a:t>(), которой передаётся путь к файлу.</a:t>
            </a:r>
          </a:p>
          <a:p>
            <a:r>
              <a:rPr lang="ru-RU" dirty="0"/>
              <a:t>Путь ./</a:t>
            </a:r>
            <a:r>
              <a:rPr lang="ru-RU" dirty="0" err="1"/>
              <a:t>img</a:t>
            </a:r>
            <a:r>
              <a:rPr lang="ru-RU" dirty="0"/>
              <a:t>/case.png означает, что изображение case.png находится в папке </a:t>
            </a:r>
            <a:r>
              <a:rPr lang="ru-RU" dirty="0" err="1"/>
              <a:t>img</a:t>
            </a:r>
            <a:r>
              <a:rPr lang="ru-RU" dirty="0"/>
              <a:t> относительно файла с данным кодом.</a:t>
            </a:r>
          </a:p>
          <a:p>
            <a:r>
              <a:rPr lang="ru-RU" dirty="0"/>
              <a:t>При использовании такого способа путь к изображению обычно должен быть известен заранее и записан непосредственно в </a:t>
            </a:r>
            <a:r>
              <a:rPr lang="ru-RU" dirty="0" err="1"/>
              <a:t>require</a:t>
            </a:r>
            <a:r>
              <a:rPr lang="ru-RU" dirty="0"/>
              <a:t>().</a:t>
            </a:r>
          </a:p>
          <a:p>
            <a:r>
              <a:rPr lang="ru-RU" dirty="0"/>
              <a:t>Свойство </a:t>
            </a:r>
            <a:r>
              <a:rPr lang="ru-RU" dirty="0" err="1"/>
              <a:t>style</a:t>
            </a:r>
            <a:r>
              <a:rPr lang="ru-RU" dirty="0"/>
              <a:t> задаёт оформление изображения.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 err="1"/>
              <a:t>image</a:t>
            </a:r>
            <a:r>
              <a:rPr lang="ru-RU" dirty="0"/>
              <a:t>: { </a:t>
            </a:r>
            <a:r>
              <a:rPr lang="ru-RU" dirty="0" err="1"/>
              <a:t>width</a:t>
            </a:r>
            <a:r>
              <a:rPr lang="ru-RU" dirty="0"/>
              <a:t>: 150, </a:t>
            </a:r>
            <a:r>
              <a:rPr lang="ru-RU" dirty="0" err="1"/>
              <a:t>height</a:t>
            </a:r>
            <a:r>
              <a:rPr lang="ru-RU" dirty="0"/>
              <a:t>: 150 }</a:t>
            </a:r>
          </a:p>
          <a:p>
            <a:r>
              <a:rPr lang="ru-RU" dirty="0"/>
              <a:t>Этот стиль задаёт ширину и высоту изображения.</a:t>
            </a:r>
          </a:p>
          <a:p>
            <a:r>
              <a:rPr lang="ru-RU" b="1" dirty="0"/>
              <a:t>Сетевое изображение</a:t>
            </a:r>
          </a:p>
          <a:p>
            <a:r>
              <a:rPr lang="ru-RU" dirty="0"/>
              <a:t>Сетевое изображение загружается по адресу, полученному из интернета.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&lt;Image </a:t>
            </a:r>
            <a:r>
              <a:rPr lang="ru-RU" dirty="0" err="1"/>
              <a:t>source</a:t>
            </a:r>
            <a:r>
              <a:rPr lang="ru-RU" dirty="0"/>
              <a:t>={{ </a:t>
            </a:r>
            <a:r>
              <a:rPr lang="ru-RU" dirty="0" err="1"/>
              <a:t>uri</a:t>
            </a:r>
            <a:r>
              <a:rPr lang="ru-RU" dirty="0"/>
              <a:t>: </a:t>
            </a:r>
            <a:r>
              <a:rPr lang="ru-RU" dirty="0" err="1"/>
              <a:t>product.imageUrl</a:t>
            </a:r>
            <a:r>
              <a:rPr lang="ru-RU" dirty="0"/>
              <a:t> }}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styles.image</a:t>
            </a:r>
            <a:r>
              <a:rPr lang="ru-RU" dirty="0"/>
              <a:t>} /&gt;</a:t>
            </a:r>
          </a:p>
          <a:p>
            <a:r>
              <a:rPr lang="ru-RU" dirty="0"/>
              <a:t>Здесь в свойство </a:t>
            </a:r>
            <a:r>
              <a:rPr lang="ru-RU" dirty="0" err="1"/>
              <a:t>source</a:t>
            </a:r>
            <a:r>
              <a:rPr lang="ru-RU" dirty="0"/>
              <a:t> передаётся объект с полем </a:t>
            </a:r>
            <a:r>
              <a:rPr lang="ru-RU" dirty="0" err="1"/>
              <a:t>uri</a:t>
            </a:r>
            <a:r>
              <a:rPr lang="ru-RU" dirty="0"/>
              <a:t>.</a:t>
            </a:r>
          </a:p>
          <a:p>
            <a:r>
              <a:rPr lang="ru-RU" dirty="0"/>
              <a:t>Поле </a:t>
            </a:r>
            <a:r>
              <a:rPr lang="ru-RU" dirty="0" err="1"/>
              <a:t>uri</a:t>
            </a:r>
            <a:r>
              <a:rPr lang="ru-RU" dirty="0"/>
              <a:t> содержит адрес изображения.</a:t>
            </a:r>
          </a:p>
          <a:p>
            <a:r>
              <a:rPr lang="ru-RU" dirty="0"/>
              <a:t>Например, объект товара может иметь следующую структуру:</a:t>
            </a:r>
          </a:p>
          <a:p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 = { </a:t>
            </a:r>
            <a:r>
              <a:rPr lang="ru-RU" dirty="0" err="1"/>
              <a:t>title</a:t>
            </a:r>
            <a:r>
              <a:rPr lang="ru-RU" dirty="0"/>
              <a:t>: "Наушники", </a:t>
            </a:r>
            <a:r>
              <a:rPr lang="ru-RU" dirty="0" err="1"/>
              <a:t>imageUrl</a:t>
            </a:r>
            <a:r>
              <a:rPr lang="ru-RU" dirty="0"/>
              <a:t>: "https://example.com/headphones.png" };</a:t>
            </a:r>
          </a:p>
          <a:p>
            <a:r>
              <a:rPr lang="ru-RU" dirty="0"/>
              <a:t>Тогда </a:t>
            </a:r>
            <a:r>
              <a:rPr lang="ru-RU" dirty="0" err="1"/>
              <a:t>product.imageUrl</a:t>
            </a:r>
            <a:r>
              <a:rPr lang="ru-RU" dirty="0"/>
              <a:t> содержит строку с адресом изображения.</a:t>
            </a:r>
          </a:p>
          <a:p>
            <a:r>
              <a:rPr lang="ru-RU" dirty="0"/>
              <a:t>Обратите внимание: при использовании сетевого изображения недостаточно передать только строку адреса непосредственно в </a:t>
            </a:r>
            <a:r>
              <a:rPr lang="ru-RU" dirty="0" err="1"/>
              <a:t>source</a:t>
            </a:r>
            <a:r>
              <a:rPr lang="ru-RU" dirty="0"/>
              <a:t>.</a:t>
            </a:r>
          </a:p>
          <a:p>
            <a:r>
              <a:rPr lang="ru-RU" dirty="0"/>
              <a:t>Необходимо использовать объект с полем </a:t>
            </a:r>
            <a:r>
              <a:rPr lang="ru-RU" dirty="0" err="1"/>
              <a:t>uri</a:t>
            </a:r>
            <a:r>
              <a:rPr lang="ru-RU" dirty="0"/>
              <a:t>.</a:t>
            </a:r>
          </a:p>
          <a:p>
            <a:r>
              <a:rPr lang="ru-RU" dirty="0"/>
              <a:t>Кроме того, для сетевых изображений необходимо задавать размеры, поскольку они не определяются заранее автоматически.</a:t>
            </a:r>
          </a:p>
          <a:p>
            <a:r>
              <a:rPr lang="ru-RU" dirty="0"/>
              <a:t>У локальных изображений, подключённых через статический </a:t>
            </a:r>
            <a:r>
              <a:rPr lang="ru-RU" dirty="0" err="1"/>
              <a:t>require</a:t>
            </a:r>
            <a:r>
              <a:rPr lang="ru-RU" dirty="0"/>
              <a:t>(),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может определить естественные размеры по файлу.</a:t>
            </a:r>
          </a:p>
          <a:p>
            <a:r>
              <a:rPr lang="ru-RU" b="1" dirty="0"/>
              <a:t>Режимы масштабирования</a:t>
            </a:r>
          </a:p>
          <a:p>
            <a:r>
              <a:rPr lang="ru-RU" dirty="0"/>
              <a:t>Изображения могут иметь разные пропорции. Например, фотография товара может быть прямоугольной, а область, в которой она должна отображаться, — квадратной.</a:t>
            </a:r>
          </a:p>
          <a:p>
            <a:r>
              <a:rPr lang="ru-RU" dirty="0"/>
              <a:t>Для управления размещением изображения используется свойство </a:t>
            </a:r>
            <a:r>
              <a:rPr lang="ru-RU" dirty="0" err="1"/>
              <a:t>resizeMode</a:t>
            </a:r>
            <a:r>
              <a:rPr lang="ru-RU" dirty="0"/>
              <a:t>.</a:t>
            </a:r>
          </a:p>
          <a:p>
            <a:r>
              <a:rPr lang="ru-RU" dirty="0"/>
              <a:t>Рассмотрим два распространённых значения.</a:t>
            </a:r>
            <a:endParaRPr lang="en-US" dirty="0"/>
          </a:p>
          <a:p>
            <a:r>
              <a:rPr lang="ru-RU" dirty="0"/>
              <a:t>При значении </a:t>
            </a:r>
            <a:r>
              <a:rPr lang="ru-RU" dirty="0" err="1"/>
              <a:t>cover</a:t>
            </a:r>
            <a:r>
              <a:rPr lang="ru-RU" dirty="0"/>
              <a:t> изображение масштабируется так, чтобы полностью заполнить заданную область. Если пропорции фотографии и контейнера отличаются, часть изображения обрезается.</a:t>
            </a:r>
          </a:p>
          <a:p>
            <a:r>
              <a:rPr lang="ru-RU" dirty="0"/>
              <a:t>При значении </a:t>
            </a:r>
            <a:r>
              <a:rPr lang="ru-RU" dirty="0" err="1"/>
              <a:t>contain</a:t>
            </a:r>
            <a:r>
              <a:rPr lang="ru-RU" dirty="0"/>
              <a:t> изображение масштабируется так, чтобы полностью помещаться в заданной области. В этом случае фотография видна целиком, но могут оставаться пустые пространства.</a:t>
            </a:r>
          </a:p>
          <a:p>
            <a:r>
              <a:rPr lang="ru-RU" dirty="0"/>
              <a:t>Для каталога товаров значение </a:t>
            </a:r>
            <a:r>
              <a:rPr lang="ru-RU" dirty="0" err="1"/>
              <a:t>contain</a:t>
            </a:r>
            <a:r>
              <a:rPr lang="ru-RU" dirty="0"/>
              <a:t> может быть полезно, если необходимо показывать предметы целиком.</a:t>
            </a:r>
          </a:p>
          <a:p>
            <a:r>
              <a:rPr lang="ru-RU" dirty="0"/>
              <a:t>Значение </a:t>
            </a:r>
            <a:r>
              <a:rPr lang="ru-RU" dirty="0" err="1"/>
              <a:t>cover</a:t>
            </a:r>
            <a:r>
              <a:rPr lang="ru-RU" dirty="0"/>
              <a:t> подходит, когда важнее заполнить изображением всю область карточки.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компоненты, которые получают данные через </a:t>
            </a:r>
            <a:r>
              <a:rPr lang="ru-RU" dirty="0" err="1"/>
              <a:t>props</a:t>
            </a:r>
            <a:r>
              <a:rPr lang="ru-RU" dirty="0"/>
              <a:t> и отображают их на экране.</a:t>
            </a:r>
          </a:p>
          <a:p>
            <a:r>
              <a:rPr lang="ru-RU" dirty="0"/>
              <a:t>Однако современные мобильные приложения должны не только отображать информацию, но и реагировать на действия пользователя.</a:t>
            </a:r>
          </a:p>
          <a:p>
            <a:r>
              <a:rPr lang="ru-RU" dirty="0"/>
              <a:t>Например, после нажатия на кнопку «Добавить» может появиться сообщение «Товар добавлен».</a:t>
            </a:r>
          </a:p>
          <a:p>
            <a:r>
              <a:rPr lang="ru-RU" dirty="0"/>
              <a:t>Для реализации такого поведения компоненту необходимо запоминать, произошло ли нажатие.</a:t>
            </a:r>
          </a:p>
          <a:p>
            <a:r>
              <a:rPr lang="ru-RU" dirty="0"/>
              <a:t>Обычная локальная переменная JavaScript не позволяет автоматически обновлять интерфейс </a:t>
            </a:r>
            <a:r>
              <a:rPr lang="ru-RU" dirty="0" err="1"/>
              <a:t>React</a:t>
            </a:r>
            <a:r>
              <a:rPr lang="ru-RU" dirty="0"/>
              <a:t> при изменении её значения.</a:t>
            </a:r>
          </a:p>
          <a:p>
            <a:r>
              <a:rPr lang="ru-RU" dirty="0"/>
              <a:t>Для хранения изменяющихся данных в </a:t>
            </a:r>
            <a:r>
              <a:rPr lang="ru-RU" dirty="0" err="1"/>
              <a:t>React</a:t>
            </a:r>
            <a:r>
              <a:rPr lang="ru-RU" dirty="0"/>
              <a:t> используется состояние, или </a:t>
            </a:r>
            <a:r>
              <a:rPr lang="ru-RU" dirty="0" err="1"/>
              <a:t>state</a:t>
            </a:r>
            <a:r>
              <a:rPr lang="ru-RU" dirty="0"/>
              <a:t>.</a:t>
            </a:r>
          </a:p>
          <a:p>
            <a:r>
              <a:rPr lang="ru-RU" dirty="0"/>
              <a:t>Состояние — это данные, которые компонент сохраняет между рендерами и изменение которых может вызывать обновление интерфейса.</a:t>
            </a:r>
          </a:p>
          <a:p>
            <a:r>
              <a:rPr lang="ru-RU" dirty="0"/>
              <a:t>Для работы с состоянием в функциональных компонентах используется хук </a:t>
            </a:r>
            <a:r>
              <a:rPr lang="ru-RU" dirty="0" err="1"/>
              <a:t>useState</a:t>
            </a:r>
            <a:r>
              <a:rPr lang="ru-RU" dirty="0"/>
              <a:t>.</a:t>
            </a:r>
          </a:p>
          <a:p>
            <a:r>
              <a:rPr lang="ru-RU" dirty="0"/>
              <a:t>Хук — это специальная функция </a:t>
            </a:r>
            <a:r>
              <a:rPr lang="ru-RU" dirty="0" err="1"/>
              <a:t>React</a:t>
            </a:r>
            <a:r>
              <a:rPr lang="ru-RU" dirty="0"/>
              <a:t>, позволяющая использовать возможности </a:t>
            </a:r>
            <a:r>
              <a:rPr lang="ru-RU" dirty="0" err="1"/>
              <a:t>React</a:t>
            </a:r>
            <a:r>
              <a:rPr lang="ru-RU" dirty="0"/>
              <a:t> внутри функциональных компонентов.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В первой строке выполняется импорт </a:t>
            </a:r>
            <a:r>
              <a:rPr lang="ru-RU" dirty="0" err="1"/>
              <a:t>useState</a:t>
            </a:r>
            <a:r>
              <a:rPr lang="ru-RU" dirty="0"/>
              <a:t> из библиотеки </a:t>
            </a:r>
            <a:r>
              <a:rPr lang="ru-RU" dirty="0" err="1"/>
              <a:t>react</a:t>
            </a:r>
            <a:r>
              <a:rPr lang="ru-RU" dirty="0"/>
              <a:t>.</a:t>
            </a:r>
          </a:p>
          <a:p>
            <a:r>
              <a:rPr lang="ru-RU" dirty="0"/>
              <a:t>Далее объявляется функциональный компонент </a:t>
            </a:r>
            <a:r>
              <a:rPr lang="ru-RU" dirty="0" err="1"/>
              <a:t>ProductCard</a:t>
            </a:r>
            <a:r>
              <a:rPr lang="ru-RU" dirty="0"/>
              <a:t>, принимающий объект </a:t>
            </a:r>
            <a:r>
              <a:rPr lang="ru-RU" dirty="0" err="1"/>
              <a:t>product</a:t>
            </a:r>
            <a:r>
              <a:rPr lang="ru-RU" dirty="0"/>
              <a:t>.</a:t>
            </a:r>
          </a:p>
          <a:p>
            <a:r>
              <a:rPr lang="ru-RU" dirty="0"/>
              <a:t>Внутри компонента находится конструкция:</a:t>
            </a:r>
          </a:p>
          <a:p>
            <a:r>
              <a:rPr lang="ru-RU" dirty="0" err="1"/>
              <a:t>const</a:t>
            </a:r>
            <a:r>
              <a:rPr lang="ru-RU" dirty="0"/>
              <a:t> [</a:t>
            </a:r>
            <a:r>
              <a:rPr lang="ru-RU" dirty="0" err="1"/>
              <a:t>added</a:t>
            </a:r>
            <a:r>
              <a:rPr lang="ru-RU" dirty="0"/>
              <a:t>, </a:t>
            </a:r>
            <a:r>
              <a:rPr lang="ru-RU" dirty="0" err="1"/>
              <a:t>setAdded</a:t>
            </a:r>
            <a:r>
              <a:rPr lang="ru-RU" dirty="0"/>
              <a:t>] = </a:t>
            </a:r>
            <a:r>
              <a:rPr lang="ru-RU" dirty="0" err="1"/>
              <a:t>useState</a:t>
            </a:r>
            <a:r>
              <a:rPr lang="ru-RU" dirty="0"/>
              <a:t>(</a:t>
            </a:r>
            <a:r>
              <a:rPr lang="ru-RU" dirty="0" err="1"/>
              <a:t>false</a:t>
            </a:r>
            <a:r>
              <a:rPr lang="ru-RU" dirty="0"/>
              <a:t>);</a:t>
            </a:r>
          </a:p>
          <a:p>
            <a:r>
              <a:rPr lang="ru-RU" dirty="0"/>
              <a:t>Рассмотрим её подробнее.</a:t>
            </a:r>
          </a:p>
          <a:p>
            <a:r>
              <a:rPr lang="ru-RU" dirty="0"/>
              <a:t>Функция </a:t>
            </a:r>
            <a:r>
              <a:rPr lang="ru-RU" dirty="0" err="1"/>
              <a:t>useState</a:t>
            </a:r>
            <a:r>
              <a:rPr lang="ru-RU" dirty="0"/>
              <a:t>(</a:t>
            </a:r>
            <a:r>
              <a:rPr lang="ru-RU" dirty="0" err="1"/>
              <a:t>false</a:t>
            </a:r>
            <a:r>
              <a:rPr lang="ru-RU" dirty="0"/>
              <a:t>) создаёт состояние с начальным значением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r>
              <a:rPr lang="ru-RU" dirty="0"/>
              <a:t>Вызов </a:t>
            </a:r>
            <a:r>
              <a:rPr lang="ru-RU" dirty="0" err="1"/>
              <a:t>useState</a:t>
            </a:r>
            <a:r>
              <a:rPr lang="ru-RU" dirty="0"/>
              <a:t> возвращает массив из двух элементов.</a:t>
            </a:r>
          </a:p>
          <a:p>
            <a:r>
              <a:rPr lang="ru-RU" dirty="0"/>
              <a:t>Первый элемент — текущее значение состояния.</a:t>
            </a:r>
          </a:p>
          <a:p>
            <a:r>
              <a:rPr lang="ru-RU" dirty="0"/>
              <a:t>Второй элемент — функция, с помощью которой состояние можно обновить.</a:t>
            </a:r>
          </a:p>
          <a:p>
            <a:r>
              <a:rPr lang="ru-RU" dirty="0"/>
              <a:t>С помощью деструктуризации массива мы получаем две переменные:</a:t>
            </a:r>
          </a:p>
          <a:p>
            <a:r>
              <a:rPr lang="ru-RU" dirty="0" err="1"/>
              <a:t>added</a:t>
            </a:r>
            <a:r>
              <a:rPr lang="ru-RU" dirty="0"/>
              <a:t> — текущее значение, показывающее, добавлен ли товар.</a:t>
            </a:r>
          </a:p>
          <a:p>
            <a:r>
              <a:rPr lang="ru-RU" dirty="0" err="1"/>
              <a:t>setAdded</a:t>
            </a:r>
            <a:r>
              <a:rPr lang="ru-RU" dirty="0"/>
              <a:t> — функция изменения значения </a:t>
            </a:r>
            <a:r>
              <a:rPr lang="ru-RU" dirty="0" err="1"/>
              <a:t>added</a:t>
            </a:r>
            <a:r>
              <a:rPr lang="ru-RU" dirty="0"/>
              <a:t>.</a:t>
            </a:r>
          </a:p>
          <a:p>
            <a:r>
              <a:rPr lang="ru-RU" dirty="0"/>
              <a:t>Первоначально </a:t>
            </a:r>
            <a:r>
              <a:rPr lang="ru-RU" dirty="0" err="1"/>
              <a:t>added</a:t>
            </a:r>
            <a:r>
              <a:rPr lang="ru-RU" dirty="0"/>
              <a:t> равно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r>
              <a:rPr lang="ru-RU" dirty="0"/>
              <a:t>Теперь рассмотрим компонент </a:t>
            </a:r>
            <a:r>
              <a:rPr lang="ru-RU" dirty="0" err="1"/>
              <a:t>Pressable</a:t>
            </a:r>
            <a:r>
              <a:rPr lang="ru-RU" dirty="0"/>
              <a:t>:</a:t>
            </a:r>
          </a:p>
          <a:p>
            <a:r>
              <a:rPr lang="ru-RU" dirty="0"/>
              <a:t>&lt;</a:t>
            </a:r>
            <a:r>
              <a:rPr lang="ru-RU" dirty="0" err="1"/>
              <a:t>Pressable</a:t>
            </a:r>
            <a:r>
              <a:rPr lang="ru-RU" dirty="0"/>
              <a:t> </a:t>
            </a:r>
            <a:r>
              <a:rPr lang="ru-RU" dirty="0" err="1"/>
              <a:t>onPress</a:t>
            </a:r>
            <a:r>
              <a:rPr lang="ru-RU" dirty="0"/>
              <a:t>={() =&gt; </a:t>
            </a:r>
            <a:r>
              <a:rPr lang="ru-RU" dirty="0" err="1"/>
              <a:t>setAdded</a:t>
            </a:r>
            <a:r>
              <a:rPr lang="ru-RU" dirty="0"/>
              <a:t>(</a:t>
            </a:r>
            <a:r>
              <a:rPr lang="ru-RU" dirty="0" err="1"/>
              <a:t>true</a:t>
            </a:r>
            <a:r>
              <a:rPr lang="ru-RU" dirty="0"/>
              <a:t>)} &gt; &lt;Text&gt;Добавить&lt;/Text&gt; &lt;/</a:t>
            </a:r>
            <a:r>
              <a:rPr lang="ru-RU" dirty="0" err="1"/>
              <a:t>Pressable</a:t>
            </a:r>
            <a:r>
              <a:rPr lang="ru-RU" dirty="0"/>
              <a:t>&gt;</a:t>
            </a:r>
          </a:p>
          <a:p>
            <a:r>
              <a:rPr lang="ru-RU" dirty="0"/>
              <a:t>В свойство </a:t>
            </a:r>
            <a:r>
              <a:rPr lang="ru-RU" dirty="0" err="1"/>
              <a:t>onPress</a:t>
            </a:r>
            <a:r>
              <a:rPr lang="ru-RU" dirty="0"/>
              <a:t> передана стрелочная функция.</a:t>
            </a:r>
          </a:p>
          <a:p>
            <a:r>
              <a:rPr lang="ru-RU" dirty="0"/>
              <a:t>При нажатии на кнопку она вызывает:</a:t>
            </a:r>
          </a:p>
          <a:p>
            <a:r>
              <a:rPr lang="ru-RU" dirty="0" err="1"/>
              <a:t>setAdded</a:t>
            </a:r>
            <a:r>
              <a:rPr lang="ru-RU" dirty="0"/>
              <a:t>(</a:t>
            </a:r>
            <a:r>
              <a:rPr lang="ru-RU" dirty="0" err="1"/>
              <a:t>true</a:t>
            </a:r>
            <a:r>
              <a:rPr lang="ru-RU" dirty="0"/>
              <a:t>);</a:t>
            </a:r>
          </a:p>
          <a:p>
            <a:r>
              <a:rPr lang="ru-RU" dirty="0"/>
              <a:t>Это обновляет состояние компонента, устанавливая значение </a:t>
            </a:r>
            <a:r>
              <a:rPr lang="ru-RU" dirty="0" err="1"/>
              <a:t>added</a:t>
            </a:r>
            <a:r>
              <a:rPr lang="ru-RU" dirty="0"/>
              <a:t> в </a:t>
            </a:r>
            <a:r>
              <a:rPr lang="ru-RU" dirty="0" err="1"/>
              <a:t>true</a:t>
            </a:r>
            <a:r>
              <a:rPr lang="ru-RU" dirty="0"/>
              <a:t>.</a:t>
            </a:r>
          </a:p>
          <a:p>
            <a:r>
              <a:rPr lang="ru-RU" dirty="0" err="1"/>
              <a:t>React</a:t>
            </a:r>
            <a:r>
              <a:rPr lang="ru-RU" dirty="0"/>
              <a:t> обрабатывает обновление состояния и выполняет повторный рендер компонента, если обновление требует изменения интерфейса.</a:t>
            </a:r>
          </a:p>
          <a:p>
            <a:r>
              <a:rPr lang="ru-RU" dirty="0"/>
              <a:t>После этого выполняется следующая проверка:</a:t>
            </a:r>
          </a:p>
          <a:p>
            <a:r>
              <a:rPr lang="ru-RU" dirty="0"/>
              <a:t>{</a:t>
            </a:r>
            <a:r>
              <a:rPr lang="ru-RU" dirty="0" err="1"/>
              <a:t>added</a:t>
            </a:r>
            <a:r>
              <a:rPr lang="ru-RU" dirty="0"/>
              <a:t> &amp;&amp; &lt;Text&gt;Товар добавлен&lt;/Text&gt;}</a:t>
            </a:r>
          </a:p>
          <a:p>
            <a:r>
              <a:rPr lang="ru-RU" dirty="0"/>
              <a:t>Здесь используется логический оператор &amp;&amp;.</a:t>
            </a:r>
          </a:p>
          <a:p>
            <a:r>
              <a:rPr lang="ru-RU" dirty="0"/>
              <a:t>Это пример условного рендеринга.</a:t>
            </a:r>
          </a:p>
          <a:p>
            <a:r>
              <a:rPr lang="ru-RU" dirty="0"/>
              <a:t>Если значение </a:t>
            </a:r>
            <a:r>
              <a:rPr lang="ru-RU" dirty="0" err="1"/>
              <a:t>added</a:t>
            </a:r>
            <a:r>
              <a:rPr lang="ru-RU" dirty="0"/>
              <a:t> равно </a:t>
            </a:r>
            <a:r>
              <a:rPr lang="ru-RU" dirty="0" err="1"/>
              <a:t>true</a:t>
            </a:r>
            <a:r>
              <a:rPr lang="ru-RU" dirty="0"/>
              <a:t>, то выражение возвращает компонент Text, который отображается на экране.</a:t>
            </a:r>
          </a:p>
          <a:p>
            <a:r>
              <a:rPr lang="ru-RU" dirty="0"/>
              <a:t>Если </a:t>
            </a:r>
            <a:r>
              <a:rPr lang="ru-RU" dirty="0" err="1"/>
              <a:t>added</a:t>
            </a:r>
            <a:r>
              <a:rPr lang="ru-RU" dirty="0"/>
              <a:t> равно </a:t>
            </a:r>
            <a:r>
              <a:rPr lang="ru-RU" dirty="0" err="1"/>
              <a:t>false</a:t>
            </a:r>
            <a:r>
              <a:rPr lang="ru-RU" dirty="0"/>
              <a:t>, сообщение не отображается.</a:t>
            </a:r>
          </a:p>
          <a:p>
            <a:r>
              <a:rPr lang="ru-RU" dirty="0"/>
              <a:t>Таким образом, до нажатия пользователь видит только кнопку.</a:t>
            </a:r>
          </a:p>
          <a:p>
            <a:r>
              <a:rPr lang="ru-RU" dirty="0"/>
              <a:t>После нажатия под кнопкой появляется текст «Товар добавлен».</a:t>
            </a:r>
          </a:p>
          <a:p>
            <a:r>
              <a:rPr lang="ru-RU" dirty="0"/>
              <a:t>Важно различать </a:t>
            </a:r>
            <a:r>
              <a:rPr lang="ru-RU" dirty="0" err="1"/>
              <a:t>props</a:t>
            </a:r>
            <a:r>
              <a:rPr lang="ru-RU" dirty="0"/>
              <a:t> и состояние.</a:t>
            </a:r>
          </a:p>
          <a:p>
            <a:r>
              <a:rPr lang="ru-RU" dirty="0" err="1"/>
              <a:t>Props</a:t>
            </a:r>
            <a:r>
              <a:rPr lang="ru-RU" dirty="0"/>
              <a:t> передаются компоненту извне, обычно родительским компонентом.</a:t>
            </a:r>
          </a:p>
          <a:p>
            <a:r>
              <a:rPr lang="ru-RU" dirty="0"/>
              <a:t>State хранится и обновляется самим компонентом, который его создал.</a:t>
            </a:r>
          </a:p>
          <a:p>
            <a:r>
              <a:rPr lang="ru-RU" dirty="0"/>
              <a:t>В данном примере </a:t>
            </a:r>
            <a:r>
              <a:rPr lang="ru-RU" dirty="0" err="1"/>
              <a:t>product</a:t>
            </a:r>
            <a:r>
              <a:rPr lang="ru-RU" dirty="0"/>
              <a:t> является входным свойством, а </a:t>
            </a:r>
            <a:r>
              <a:rPr lang="ru-RU" dirty="0" err="1"/>
              <a:t>added</a:t>
            </a:r>
            <a:r>
              <a:rPr lang="ru-RU" dirty="0"/>
              <a:t> — внутренним состоянием.</a:t>
            </a:r>
          </a:p>
          <a:p>
            <a:r>
              <a:rPr lang="ru-RU" dirty="0"/>
              <a:t>Состояние позволяет создавать динамические интерфейсы, которые изменяются в зависимости от действий пользователя.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Компонент </a:t>
            </a:r>
            <a:r>
              <a:rPr lang="ru-RU" dirty="0" err="1"/>
              <a:t>Pressable</a:t>
            </a:r>
            <a:r>
              <a:rPr lang="ru-RU" dirty="0"/>
              <a:t> используется для создания интерактивных областей пользовательского интерфейса.</a:t>
            </a:r>
          </a:p>
          <a:p>
            <a:r>
              <a:rPr lang="ru-RU" dirty="0"/>
              <a:t>Он позволяет обрабатывать нажатия и изменять визуальное оформление элемента в зависимости от взаимодействия пользователя.</a:t>
            </a:r>
          </a:p>
          <a:p>
            <a:r>
              <a:rPr lang="ru-RU" dirty="0"/>
              <a:t>Например, с помощью </a:t>
            </a:r>
            <a:r>
              <a:rPr lang="ru-RU" dirty="0" err="1"/>
              <a:t>Pressable</a:t>
            </a:r>
            <a:r>
              <a:rPr lang="ru-RU" dirty="0"/>
              <a:t> можно создать кнопку добавления товара в корзину.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Внешним компонентом является </a:t>
            </a:r>
            <a:r>
              <a:rPr lang="ru-RU" dirty="0" err="1"/>
              <a:t>Pressable</a:t>
            </a:r>
            <a:r>
              <a:rPr lang="ru-RU" dirty="0"/>
              <a:t>.</a:t>
            </a:r>
          </a:p>
          <a:p>
            <a:r>
              <a:rPr lang="ru-RU" dirty="0"/>
              <a:t>Внутри него расположен компонент Text, который выводит надпись «Добавить».</a:t>
            </a:r>
          </a:p>
          <a:p>
            <a:r>
              <a:rPr lang="ru-RU" dirty="0"/>
              <a:t>Рассмотрим используемые свойства.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onPress</a:t>
            </a:r>
            <a:endParaRPr lang="ru-RU" b="1" dirty="0"/>
          </a:p>
          <a:p>
            <a:r>
              <a:rPr lang="ru-RU" dirty="0" err="1"/>
              <a:t>onPress</a:t>
            </a:r>
            <a:r>
              <a:rPr lang="ru-RU" dirty="0"/>
              <a:t>={() =&gt; </a:t>
            </a:r>
            <a:r>
              <a:rPr lang="ru-RU" dirty="0" err="1"/>
              <a:t>setAdded</a:t>
            </a:r>
            <a:r>
              <a:rPr lang="ru-RU" dirty="0"/>
              <a:t>(</a:t>
            </a:r>
            <a:r>
              <a:rPr lang="ru-RU" dirty="0" err="1"/>
              <a:t>true</a:t>
            </a:r>
            <a:r>
              <a:rPr lang="ru-RU" dirty="0"/>
              <a:t>)}</a:t>
            </a:r>
          </a:p>
          <a:p>
            <a:r>
              <a:rPr lang="ru-RU" dirty="0"/>
              <a:t>Свойство </a:t>
            </a:r>
            <a:r>
              <a:rPr lang="ru-RU" dirty="0" err="1"/>
              <a:t>onPress</a:t>
            </a:r>
            <a:r>
              <a:rPr lang="ru-RU" dirty="0"/>
              <a:t> определяет функцию, вызываемую при нажатии.</a:t>
            </a:r>
          </a:p>
          <a:p>
            <a:r>
              <a:rPr lang="ru-RU" dirty="0"/>
              <a:t>В данном случае вызывается </a:t>
            </a:r>
            <a:r>
              <a:rPr lang="ru-RU" dirty="0" err="1"/>
              <a:t>setAdded</a:t>
            </a:r>
            <a:r>
              <a:rPr lang="ru-RU" dirty="0"/>
              <a:t>(</a:t>
            </a:r>
            <a:r>
              <a:rPr lang="ru-RU" dirty="0" err="1"/>
              <a:t>true</a:t>
            </a:r>
            <a:r>
              <a:rPr lang="ru-RU" dirty="0"/>
              <a:t>), которая изменяет состояние компонента.</a:t>
            </a:r>
          </a:p>
          <a:p>
            <a:r>
              <a:rPr lang="ru-RU" dirty="0"/>
              <a:t>После обновления состояния на экране может появиться сообщение о добавлении товара.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disabled</a:t>
            </a:r>
            <a:endParaRPr lang="ru-RU" b="1" dirty="0"/>
          </a:p>
          <a:p>
            <a:r>
              <a:rPr lang="ru-RU" dirty="0" err="1"/>
              <a:t>disabled</a:t>
            </a:r>
            <a:r>
              <a:rPr lang="ru-RU" dirty="0"/>
              <a:t>={!</a:t>
            </a:r>
            <a:r>
              <a:rPr lang="ru-RU" dirty="0" err="1"/>
              <a:t>product.available</a:t>
            </a:r>
            <a:r>
              <a:rPr lang="ru-RU" dirty="0"/>
              <a:t>}</a:t>
            </a:r>
          </a:p>
          <a:p>
            <a:r>
              <a:rPr lang="ru-RU" dirty="0"/>
              <a:t>Свойство </a:t>
            </a:r>
            <a:r>
              <a:rPr lang="ru-RU" dirty="0" err="1"/>
              <a:t>disabled</a:t>
            </a:r>
            <a:r>
              <a:rPr lang="ru-RU" dirty="0"/>
              <a:t> определяет, может ли пользователь взаимодействовать с кнопкой.</a:t>
            </a:r>
          </a:p>
          <a:p>
            <a:r>
              <a:rPr lang="ru-RU" dirty="0"/>
              <a:t>Оно принимает логическое значение.</a:t>
            </a:r>
          </a:p>
          <a:p>
            <a:r>
              <a:rPr lang="ru-RU" dirty="0"/>
              <a:t>В данном примере используется выражение:</a:t>
            </a:r>
          </a:p>
          <a:p>
            <a:r>
              <a:rPr lang="ru-RU" dirty="0"/>
              <a:t>!</a:t>
            </a:r>
            <a:r>
              <a:rPr lang="ru-RU" dirty="0" err="1"/>
              <a:t>product.available</a:t>
            </a:r>
            <a:endParaRPr lang="ru-RU" dirty="0"/>
          </a:p>
          <a:p>
            <a:r>
              <a:rPr lang="ru-RU" dirty="0"/>
              <a:t>Оператор ! обозначает логическое отрицание.</a:t>
            </a:r>
          </a:p>
          <a:p>
            <a:r>
              <a:rPr lang="ru-RU" dirty="0"/>
              <a:t>Если </a:t>
            </a:r>
            <a:r>
              <a:rPr lang="ru-RU" dirty="0" err="1"/>
              <a:t>product.available</a:t>
            </a:r>
            <a:r>
              <a:rPr lang="ru-RU" dirty="0"/>
              <a:t> равно </a:t>
            </a:r>
            <a:r>
              <a:rPr lang="ru-RU" dirty="0" err="1"/>
              <a:t>true</a:t>
            </a:r>
            <a:r>
              <a:rPr lang="ru-RU" dirty="0"/>
              <a:t>, то !</a:t>
            </a:r>
            <a:r>
              <a:rPr lang="ru-RU" dirty="0" err="1"/>
              <a:t>product.available</a:t>
            </a:r>
            <a:r>
              <a:rPr lang="ru-RU" dirty="0"/>
              <a:t> будет равно </a:t>
            </a:r>
            <a:r>
              <a:rPr lang="ru-RU" dirty="0" err="1"/>
              <a:t>false</a:t>
            </a:r>
            <a:r>
              <a:rPr lang="ru-RU" dirty="0"/>
              <a:t>. Кнопка останется доступной.</a:t>
            </a:r>
          </a:p>
          <a:p>
            <a:r>
              <a:rPr lang="ru-RU" dirty="0"/>
              <a:t>Если </a:t>
            </a:r>
            <a:r>
              <a:rPr lang="ru-RU" dirty="0" err="1"/>
              <a:t>product.available</a:t>
            </a:r>
            <a:r>
              <a:rPr lang="ru-RU" dirty="0"/>
              <a:t> равно </a:t>
            </a:r>
            <a:r>
              <a:rPr lang="ru-RU" dirty="0" err="1"/>
              <a:t>false</a:t>
            </a:r>
            <a:r>
              <a:rPr lang="ru-RU" dirty="0"/>
              <a:t>, результат отрицания будет </a:t>
            </a:r>
            <a:r>
              <a:rPr lang="ru-RU" dirty="0" err="1"/>
              <a:t>true</a:t>
            </a:r>
            <a:r>
              <a:rPr lang="ru-RU" dirty="0"/>
              <a:t>. Кнопка станет неактивной.</a:t>
            </a:r>
          </a:p>
          <a:p>
            <a:r>
              <a:rPr lang="ru-RU" dirty="0"/>
              <a:t>Таким образом, пользователь не сможет добавить недоступный товар через эту кнопку.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style</a:t>
            </a:r>
            <a:endParaRPr lang="ru-RU" b="1" dirty="0"/>
          </a:p>
          <a:p>
            <a:r>
              <a:rPr lang="ru-RU" dirty="0"/>
              <a:t>Особенность </a:t>
            </a:r>
            <a:r>
              <a:rPr lang="ru-RU" dirty="0" err="1"/>
              <a:t>Pressable</a:t>
            </a:r>
            <a:r>
              <a:rPr lang="ru-RU" dirty="0"/>
              <a:t> заключается в том, что его свойству </a:t>
            </a:r>
            <a:r>
              <a:rPr lang="ru-RU" dirty="0" err="1"/>
              <a:t>style</a:t>
            </a:r>
            <a:r>
              <a:rPr lang="ru-RU" dirty="0"/>
              <a:t> можно передавать не только готовый объект стилей, но и функцию.</a:t>
            </a:r>
          </a:p>
          <a:p>
            <a:r>
              <a:rPr lang="ru-RU" dirty="0"/>
              <a:t>Рассмотрим выражение:</a:t>
            </a:r>
          </a:p>
          <a:p>
            <a:r>
              <a:rPr lang="ru-RU" dirty="0" err="1"/>
              <a:t>style</a:t>
            </a:r>
            <a:r>
              <a:rPr lang="ru-RU" dirty="0"/>
              <a:t>={({ </a:t>
            </a:r>
            <a:r>
              <a:rPr lang="ru-RU" dirty="0" err="1"/>
              <a:t>pressed</a:t>
            </a:r>
            <a:r>
              <a:rPr lang="ru-RU" dirty="0"/>
              <a:t> }) =&gt; [ </a:t>
            </a:r>
            <a:r>
              <a:rPr lang="ru-RU" dirty="0" err="1"/>
              <a:t>styles.button</a:t>
            </a:r>
            <a:r>
              <a:rPr lang="ru-RU" dirty="0"/>
              <a:t>, </a:t>
            </a:r>
            <a:r>
              <a:rPr lang="ru-RU" dirty="0" err="1"/>
              <a:t>pressed</a:t>
            </a:r>
            <a:r>
              <a:rPr lang="ru-RU" dirty="0"/>
              <a:t> &amp;&amp; </a:t>
            </a:r>
            <a:r>
              <a:rPr lang="ru-RU" dirty="0" err="1"/>
              <a:t>styles.buttonPressed</a:t>
            </a:r>
            <a:r>
              <a:rPr lang="ru-RU" dirty="0"/>
              <a:t>, ]}</a:t>
            </a:r>
          </a:p>
          <a:p>
            <a:r>
              <a:rPr lang="ru-RU" dirty="0"/>
              <a:t>Здесь передаётся стрелочная функция, которая принимает объект с информацией о состоянии нажатия.</a:t>
            </a:r>
          </a:p>
          <a:p>
            <a:r>
              <a:rPr lang="ru-RU" dirty="0"/>
              <a:t>Из этого объекта с помощью деструктуризации извлекается свойство </a:t>
            </a:r>
            <a:r>
              <a:rPr lang="ru-RU" dirty="0" err="1"/>
              <a:t>pressed</a:t>
            </a:r>
            <a:r>
              <a:rPr lang="ru-RU" dirty="0"/>
              <a:t>.</a:t>
            </a:r>
          </a:p>
          <a:p>
            <a:r>
              <a:rPr lang="ru-RU" dirty="0" err="1"/>
              <a:t>pressed</a:t>
            </a:r>
            <a:r>
              <a:rPr lang="ru-RU" dirty="0"/>
              <a:t> — логическое значение, показывающее, находится ли компонент в нажатом состоянии.</a:t>
            </a:r>
          </a:p>
          <a:p>
            <a:r>
              <a:rPr lang="ru-RU" dirty="0"/>
              <a:t>Функция возвращает массив стилей.</a:t>
            </a:r>
          </a:p>
          <a:p>
            <a:r>
              <a:rPr lang="ru-RU" dirty="0"/>
              <a:t>Первый элемент массива:</a:t>
            </a:r>
          </a:p>
          <a:p>
            <a:r>
              <a:rPr lang="ru-RU" dirty="0" err="1"/>
              <a:t>styles.button</a:t>
            </a:r>
            <a:endParaRPr lang="ru-RU" dirty="0"/>
          </a:p>
          <a:p>
            <a:r>
              <a:rPr lang="ru-RU" dirty="0"/>
              <a:t>содержит основные стили кнопки.</a:t>
            </a:r>
          </a:p>
          <a:p>
            <a:r>
              <a:rPr lang="ru-RU" dirty="0"/>
              <a:t>Второй элемент:</a:t>
            </a:r>
          </a:p>
          <a:p>
            <a:r>
              <a:rPr lang="ru-RU" dirty="0" err="1"/>
              <a:t>pressed</a:t>
            </a:r>
            <a:r>
              <a:rPr lang="ru-RU" dirty="0"/>
              <a:t> &amp;&amp; </a:t>
            </a:r>
            <a:r>
              <a:rPr lang="ru-RU" dirty="0" err="1"/>
              <a:t>styles.buttonPressed</a:t>
            </a:r>
            <a:endParaRPr lang="ru-RU" dirty="0"/>
          </a:p>
          <a:p>
            <a:r>
              <a:rPr lang="ru-RU" dirty="0"/>
              <a:t>подключает дополнительные стили, когда </a:t>
            </a:r>
            <a:r>
              <a:rPr lang="ru-RU" dirty="0" err="1"/>
              <a:t>pressed</a:t>
            </a:r>
            <a:r>
              <a:rPr lang="ru-RU" dirty="0"/>
              <a:t> равно </a:t>
            </a:r>
            <a:r>
              <a:rPr lang="ru-RU" dirty="0" err="1"/>
              <a:t>true</a:t>
            </a:r>
            <a:r>
              <a:rPr lang="ru-RU" dirty="0"/>
              <a:t>.</a:t>
            </a:r>
          </a:p>
          <a:p>
            <a:r>
              <a:rPr lang="ru-RU" dirty="0"/>
              <a:t>В результате пользователь получает визуальную обратную связь.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Компонент </a:t>
            </a:r>
            <a:r>
              <a:rPr lang="ru-RU" dirty="0" err="1"/>
              <a:t>TextInput</a:t>
            </a:r>
            <a:r>
              <a:rPr lang="ru-RU" dirty="0"/>
              <a:t> предназначен для ввода текстовой информации пользователем.</a:t>
            </a:r>
          </a:p>
          <a:p>
            <a:r>
              <a:rPr lang="ru-RU" dirty="0"/>
              <a:t>Он используется в поисковых строках, формах регистрации, полях ввода логина и пароля, формах обратной связи и других интерфейсах.</a:t>
            </a:r>
          </a:p>
          <a:p>
            <a:r>
              <a:rPr lang="ru-RU" dirty="0"/>
              <a:t>При взаимодействии с </a:t>
            </a:r>
            <a:r>
              <a:rPr lang="ru-RU" dirty="0" err="1"/>
              <a:t>TextInput</a:t>
            </a:r>
            <a:r>
              <a:rPr lang="ru-RU" dirty="0"/>
              <a:t> пользователь может вводить данные с помощью экранной или физической клавиатуры.</a:t>
            </a:r>
          </a:p>
          <a:p>
            <a:r>
              <a:rPr lang="ru-RU" dirty="0"/>
              <a:t>Рассмотрим пример создания строки поиска товаров.</a:t>
            </a:r>
          </a:p>
          <a:p>
            <a:r>
              <a:rPr lang="ru-RU" dirty="0"/>
              <a:t>Данный фрагмент предполагается использовать внутри функционального компонента.</a:t>
            </a:r>
          </a:p>
          <a:p>
            <a:r>
              <a:rPr lang="ru-RU" dirty="0"/>
              <a:t>В первой строке создаётся состояние:</a:t>
            </a:r>
          </a:p>
          <a:p>
            <a:r>
              <a:rPr lang="ru-RU" dirty="0" err="1"/>
              <a:t>const</a:t>
            </a:r>
            <a:r>
              <a:rPr lang="ru-RU" dirty="0"/>
              <a:t> [</a:t>
            </a:r>
            <a:r>
              <a:rPr lang="ru-RU" dirty="0" err="1"/>
              <a:t>query</a:t>
            </a:r>
            <a:r>
              <a:rPr lang="ru-RU" dirty="0"/>
              <a:t>, </a:t>
            </a:r>
            <a:r>
              <a:rPr lang="ru-RU" dirty="0" err="1"/>
              <a:t>setQuery</a:t>
            </a:r>
            <a:r>
              <a:rPr lang="ru-RU" dirty="0"/>
              <a:t>] = </a:t>
            </a:r>
            <a:r>
              <a:rPr lang="ru-RU" dirty="0" err="1"/>
              <a:t>useState</a:t>
            </a:r>
            <a:r>
              <a:rPr lang="ru-RU" dirty="0"/>
              <a:t>('');</a:t>
            </a:r>
          </a:p>
          <a:p>
            <a:r>
              <a:rPr lang="ru-RU" dirty="0"/>
              <a:t>Переменная </a:t>
            </a:r>
            <a:r>
              <a:rPr lang="ru-RU" dirty="0" err="1"/>
              <a:t>query</a:t>
            </a:r>
            <a:r>
              <a:rPr lang="ru-RU" dirty="0"/>
              <a:t> хранит текст, введённый пользователем.</a:t>
            </a:r>
          </a:p>
          <a:p>
            <a:r>
              <a:rPr lang="ru-RU" dirty="0"/>
              <a:t>Функция </a:t>
            </a:r>
            <a:r>
              <a:rPr lang="ru-RU" dirty="0" err="1"/>
              <a:t>setQuery</a:t>
            </a:r>
            <a:r>
              <a:rPr lang="ru-RU" dirty="0"/>
              <a:t> используется для изменения этого текста.</a:t>
            </a:r>
          </a:p>
          <a:p>
            <a:r>
              <a:rPr lang="ru-RU" dirty="0"/>
              <a:t>Начальное значение представляет собой пустую строку ''.</a:t>
            </a:r>
          </a:p>
          <a:p>
            <a:r>
              <a:rPr lang="ru-RU" dirty="0"/>
              <a:t>Далее создаётся компонент </a:t>
            </a:r>
            <a:r>
              <a:rPr lang="ru-RU" dirty="0" err="1"/>
              <a:t>TextInput</a:t>
            </a:r>
            <a:r>
              <a:rPr lang="ru-RU" dirty="0"/>
              <a:t>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style</a:t>
            </a:r>
            <a:endParaRPr lang="ru-RU" b="1" dirty="0"/>
          </a:p>
          <a:p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styles.input</a:t>
            </a:r>
            <a:r>
              <a:rPr lang="ru-RU" dirty="0"/>
              <a:t>}</a:t>
            </a:r>
          </a:p>
          <a:p>
            <a:r>
              <a:rPr lang="ru-RU" dirty="0"/>
              <a:t>Определяет оформление поля ввода: его размеры, фон, границы, отступы и другие свойства.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placeholder</a:t>
            </a:r>
            <a:endParaRPr lang="ru-RU" b="1" dirty="0"/>
          </a:p>
          <a:p>
            <a:r>
              <a:rPr lang="ru-RU" dirty="0" err="1"/>
              <a:t>placeholder</a:t>
            </a:r>
            <a:r>
              <a:rPr lang="ru-RU" dirty="0"/>
              <a:t>="Поиск товаров"</a:t>
            </a:r>
          </a:p>
          <a:p>
            <a:r>
              <a:rPr lang="ru-RU" dirty="0"/>
              <a:t>Содержит текст-подсказку, который отображается внутри поля, пока пользователь не ввёл значение.</a:t>
            </a:r>
          </a:p>
          <a:p>
            <a:r>
              <a:rPr lang="ru-RU" dirty="0"/>
              <a:t>При вводе текста подсказка перестаёт отображаться.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value</a:t>
            </a:r>
            <a:endParaRPr lang="ru-RU" b="1" dirty="0"/>
          </a:p>
          <a:p>
            <a:r>
              <a:rPr lang="ru-RU" dirty="0" err="1"/>
              <a:t>value</a:t>
            </a:r>
            <a:r>
              <a:rPr lang="ru-RU" dirty="0"/>
              <a:t>={</a:t>
            </a:r>
            <a:r>
              <a:rPr lang="ru-RU" dirty="0" err="1"/>
              <a:t>query</a:t>
            </a:r>
            <a:r>
              <a:rPr lang="ru-RU" dirty="0"/>
              <a:t>}</a:t>
            </a:r>
          </a:p>
          <a:p>
            <a:r>
              <a:rPr lang="ru-RU" dirty="0"/>
              <a:t>Определяет текущее текстовое значение поля.</a:t>
            </a:r>
          </a:p>
          <a:p>
            <a:r>
              <a:rPr lang="ru-RU" dirty="0"/>
              <a:t>В данном случае значение берётся из состояния </a:t>
            </a:r>
            <a:r>
              <a:rPr lang="ru-RU" dirty="0" err="1"/>
              <a:t>query</a:t>
            </a:r>
            <a:r>
              <a:rPr lang="ru-RU" dirty="0"/>
              <a:t>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onChangeText</a:t>
            </a:r>
            <a:endParaRPr lang="ru-RU" b="1" dirty="0"/>
          </a:p>
          <a:p>
            <a:r>
              <a:rPr lang="ru-RU" dirty="0" err="1"/>
              <a:t>onChangeText</a:t>
            </a:r>
            <a:r>
              <a:rPr lang="ru-RU" dirty="0"/>
              <a:t>={</a:t>
            </a:r>
            <a:r>
              <a:rPr lang="ru-RU" dirty="0" err="1"/>
              <a:t>setQuery</a:t>
            </a:r>
            <a:r>
              <a:rPr lang="ru-RU" dirty="0"/>
              <a:t>}</a:t>
            </a:r>
          </a:p>
          <a:p>
            <a:r>
              <a:rPr lang="ru-RU" dirty="0"/>
              <a:t>Содержит функцию, которая вызывается при изменении текста.</a:t>
            </a:r>
          </a:p>
          <a:p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передаёт этой функции новое строковое значение поля ввода.</a:t>
            </a:r>
          </a:p>
          <a:p>
            <a:r>
              <a:rPr lang="ru-RU" dirty="0"/>
              <a:t>Поскольку </a:t>
            </a:r>
            <a:r>
              <a:rPr lang="ru-RU" dirty="0" err="1"/>
              <a:t>setQuery</a:t>
            </a:r>
            <a:r>
              <a:rPr lang="ru-RU" dirty="0"/>
              <a:t> является функцией обновления состояния, новый текст сохраняется в </a:t>
            </a:r>
            <a:r>
              <a:rPr lang="ru-RU" dirty="0" err="1"/>
              <a:t>query</a:t>
            </a:r>
            <a:r>
              <a:rPr lang="ru-RU" dirty="0"/>
              <a:t>.</a:t>
            </a:r>
          </a:p>
          <a:p>
            <a:r>
              <a:rPr lang="ru-RU" dirty="0"/>
              <a:t>Рассмотрим последовательность работы.</a:t>
            </a:r>
          </a:p>
          <a:p>
            <a:r>
              <a:rPr lang="ru-RU" dirty="0"/>
              <a:t>Первоначально </a:t>
            </a:r>
            <a:r>
              <a:rPr lang="ru-RU" dirty="0" err="1"/>
              <a:t>query</a:t>
            </a:r>
            <a:r>
              <a:rPr lang="ru-RU" dirty="0"/>
              <a:t> равно пустой строке.</a:t>
            </a:r>
          </a:p>
          <a:p>
            <a:r>
              <a:rPr lang="ru-RU" dirty="0"/>
              <a:t>Пользователь вводит текст «Наушники».</a:t>
            </a:r>
          </a:p>
          <a:p>
            <a:r>
              <a:rPr lang="ru-RU" dirty="0"/>
              <a:t>При изменении текста вызывается </a:t>
            </a:r>
            <a:r>
              <a:rPr lang="ru-RU" dirty="0" err="1"/>
              <a:t>setQuery</a:t>
            </a:r>
            <a:r>
              <a:rPr lang="ru-RU" dirty="0"/>
              <a:t> с новым значением.</a:t>
            </a:r>
          </a:p>
          <a:p>
            <a:r>
              <a:rPr lang="ru-RU" dirty="0"/>
              <a:t>Состояние </a:t>
            </a:r>
            <a:r>
              <a:rPr lang="ru-RU" dirty="0" err="1"/>
              <a:t>query</a:t>
            </a:r>
            <a:r>
              <a:rPr lang="ru-RU" dirty="0"/>
              <a:t> обновляется.</a:t>
            </a:r>
          </a:p>
          <a:p>
            <a:r>
              <a:rPr lang="ru-RU" dirty="0" err="1"/>
              <a:t>React</a:t>
            </a:r>
            <a:r>
              <a:rPr lang="ru-RU" dirty="0"/>
              <a:t> выполняет повторный рендер компонента.</a:t>
            </a:r>
          </a:p>
          <a:p>
            <a:r>
              <a:rPr lang="ru-RU" dirty="0"/>
              <a:t>Поскольку </a:t>
            </a:r>
            <a:r>
              <a:rPr lang="ru-RU" dirty="0" err="1"/>
              <a:t>value</a:t>
            </a:r>
            <a:r>
              <a:rPr lang="ru-RU" dirty="0"/>
              <a:t> связано с </a:t>
            </a:r>
            <a:r>
              <a:rPr lang="ru-RU" dirty="0" err="1"/>
              <a:t>query</a:t>
            </a:r>
            <a:r>
              <a:rPr lang="ru-RU" dirty="0"/>
              <a:t>, поле отображает актуальный текст.</a:t>
            </a:r>
          </a:p>
          <a:p>
            <a:r>
              <a:rPr lang="ru-RU" dirty="0"/>
              <a:t>Кроме того, под полем находится:</a:t>
            </a:r>
          </a:p>
          <a:p>
            <a:r>
              <a:rPr lang="ru-RU" dirty="0"/>
              <a:t>&lt;Text&gt;Ищем: {</a:t>
            </a:r>
            <a:r>
              <a:rPr lang="ru-RU" dirty="0" err="1"/>
              <a:t>query</a:t>
            </a:r>
            <a:r>
              <a:rPr lang="ru-RU" dirty="0"/>
              <a:t>}&lt;/Text&gt;</a:t>
            </a:r>
          </a:p>
          <a:p>
            <a:r>
              <a:rPr lang="ru-RU" dirty="0"/>
              <a:t>Поэтому после ввода слова «Наушники» пользователь увидит</a:t>
            </a:r>
            <a:r>
              <a:rPr lang="en-US" dirty="0"/>
              <a:t> </a:t>
            </a:r>
            <a:r>
              <a:rPr lang="ru-RU" dirty="0"/>
              <a:t>текст «Ищем наушники»</a:t>
            </a:r>
          </a:p>
          <a:p>
            <a:r>
              <a:rPr lang="ru-RU" dirty="0"/>
              <a:t>Такая связь между состоянием и полем ввода называется управляемым вводом.</a:t>
            </a:r>
          </a:p>
          <a:p>
            <a:r>
              <a:rPr lang="ru-RU" dirty="0"/>
              <a:t>Дополнительно </a:t>
            </a:r>
            <a:r>
              <a:rPr lang="ru-RU" dirty="0" err="1"/>
              <a:t>TextInput</a:t>
            </a:r>
            <a:r>
              <a:rPr lang="ru-RU" dirty="0"/>
              <a:t> поддерживает другие свойства.</a:t>
            </a:r>
          </a:p>
          <a:p>
            <a:r>
              <a:rPr lang="ru-RU" dirty="0" err="1"/>
              <a:t>keyboardType</a:t>
            </a:r>
            <a:r>
              <a:rPr lang="ru-RU" dirty="0"/>
              <a:t> позволяет выбирать тип клавиатуры. Например, </a:t>
            </a:r>
            <a:r>
              <a:rPr lang="ru-RU" dirty="0" err="1"/>
              <a:t>numeric</a:t>
            </a:r>
            <a:r>
              <a:rPr lang="ru-RU" dirty="0"/>
              <a:t> предназначен для числового ввода, а </a:t>
            </a:r>
            <a:r>
              <a:rPr lang="ru-RU" dirty="0" err="1"/>
              <a:t>email-address</a:t>
            </a:r>
            <a:r>
              <a:rPr lang="ru-RU" dirty="0"/>
              <a:t> — для ввода адреса электронной почты.</a:t>
            </a:r>
          </a:p>
          <a:p>
            <a:r>
              <a:rPr lang="ru-RU" dirty="0" err="1"/>
              <a:t>secureTextEntry</a:t>
            </a:r>
            <a:r>
              <a:rPr lang="ru-RU" dirty="0"/>
              <a:t> позволяет скрывать вводимые символы, что применяется в полях пароля.</a:t>
            </a:r>
          </a:p>
          <a:p>
            <a:r>
              <a:rPr lang="ru-RU" dirty="0" err="1"/>
              <a:t>multiline</a:t>
            </a:r>
            <a:r>
              <a:rPr lang="ru-RU" dirty="0"/>
              <a:t> разрешает вводить текст в несколько строк.</a:t>
            </a:r>
          </a:p>
          <a:p>
            <a:r>
              <a:rPr lang="ru-RU" dirty="0"/>
              <a:t>Таким образом, </a:t>
            </a:r>
            <a:r>
              <a:rPr lang="ru-RU" dirty="0" err="1"/>
              <a:t>TextInput</a:t>
            </a:r>
            <a:r>
              <a:rPr lang="ru-RU" dirty="0"/>
              <a:t> является основным компонентом для получения текстовых данных от пользователя.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мобильных приложениях часто возникают ситуации, когда содержимое страницы не помещается на одном экране.</a:t>
            </a:r>
          </a:p>
          <a:p>
            <a:r>
              <a:rPr lang="ru-RU" dirty="0"/>
              <a:t>Например, подробная страница товара может содержать большую фотографию, название, описание, технические характеристики и отзывы покупателей.</a:t>
            </a:r>
          </a:p>
          <a:p>
            <a:r>
              <a:rPr lang="ru-RU" dirty="0"/>
              <a:t>Для отображения такого содержимого применяется компонент </a:t>
            </a:r>
            <a:r>
              <a:rPr lang="ru-RU" dirty="0" err="1"/>
              <a:t>ScrollView</a:t>
            </a:r>
            <a:r>
              <a:rPr lang="ru-RU" dirty="0"/>
              <a:t>.</a:t>
            </a:r>
          </a:p>
          <a:p>
            <a:r>
              <a:rPr lang="ru-RU" dirty="0" err="1"/>
              <a:t>ScrollView</a:t>
            </a:r>
            <a:r>
              <a:rPr lang="ru-RU" dirty="0"/>
              <a:t> — это прокручиваемый контейнер, позволяющий пользователю просматривать содержимое, выходящее за пределы видимой области экрана.</a:t>
            </a:r>
          </a:p>
          <a:p>
            <a:r>
              <a:rPr lang="ru-RU" dirty="0"/>
              <a:t>По умолчанию прокрутка выполняется вертикально.</a:t>
            </a:r>
          </a:p>
          <a:p>
            <a:r>
              <a:rPr lang="ru-RU" dirty="0"/>
              <a:t>Это означает, что пользователь может перемещаться по содержимому сверху вниз и обратно.</a:t>
            </a:r>
          </a:p>
          <a:p>
            <a:r>
              <a:rPr lang="ru-RU" dirty="0"/>
              <a:t>Для горизонтальной прокрутки используется свойство </a:t>
            </a:r>
            <a:r>
              <a:rPr lang="ru-RU" dirty="0" err="1"/>
              <a:t>horizontal</a:t>
            </a:r>
            <a:r>
              <a:rPr lang="ru-RU" dirty="0"/>
              <a:t>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Здесь </a:t>
            </a:r>
            <a:r>
              <a:rPr lang="ru-RU" dirty="0" err="1"/>
              <a:t>ScrollView</a:t>
            </a:r>
            <a:r>
              <a:rPr lang="ru-RU" dirty="0"/>
              <a:t> является внешним контейнером страницы товара.</a:t>
            </a:r>
          </a:p>
          <a:p>
            <a:r>
              <a:rPr lang="ru-RU" dirty="0"/>
              <a:t>Внутри находятся изображение, название и описание.</a:t>
            </a:r>
          </a:p>
          <a:p>
            <a:r>
              <a:rPr lang="ru-RU" dirty="0"/>
              <a:t>Если общая высота содержимого превышает доступную высоту контейнера, пользователь может прокручивать страницу.</a:t>
            </a:r>
          </a:p>
          <a:p>
            <a:r>
              <a:rPr lang="ru-RU" dirty="0"/>
              <a:t>Рассмотрим основные свойства.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style</a:t>
            </a:r>
            <a:endParaRPr lang="ru-RU" b="1" dirty="0"/>
          </a:p>
          <a:p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styles.screen</a:t>
            </a:r>
            <a:r>
              <a:rPr lang="ru-RU" dirty="0"/>
              <a:t>}</a:t>
            </a:r>
          </a:p>
          <a:p>
            <a:r>
              <a:rPr lang="ru-RU" dirty="0"/>
              <a:t>Определяет оформление самого прокручиваемого контейнера.</a:t>
            </a:r>
          </a:p>
          <a:p>
            <a:r>
              <a:rPr lang="ru-RU" dirty="0"/>
              <a:t>Например, можно задать размер контейнера, цвет фона и другие свойства.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contentContainerStyle</a:t>
            </a:r>
            <a:endParaRPr lang="ru-RU" b="1" dirty="0"/>
          </a:p>
          <a:p>
            <a:r>
              <a:rPr lang="ru-RU" dirty="0" err="1"/>
              <a:t>contentContainerStyle</a:t>
            </a:r>
            <a:r>
              <a:rPr lang="ru-RU" dirty="0"/>
              <a:t>={</a:t>
            </a:r>
            <a:r>
              <a:rPr lang="ru-RU" dirty="0" err="1"/>
              <a:t>styles.content</a:t>
            </a:r>
            <a:r>
              <a:rPr lang="ru-RU" dirty="0"/>
              <a:t>}</a:t>
            </a:r>
          </a:p>
          <a:p>
            <a:r>
              <a:rPr lang="ru-RU" dirty="0"/>
              <a:t>Определяет оформление внутреннего контейнера содержимого.</a:t>
            </a:r>
          </a:p>
          <a:p>
            <a:r>
              <a:rPr lang="ru-RU" dirty="0"/>
              <a:t>Это важное отличие от обычного </a:t>
            </a:r>
            <a:r>
              <a:rPr lang="ru-RU" dirty="0" err="1"/>
              <a:t>style</a:t>
            </a:r>
            <a:r>
              <a:rPr lang="ru-RU" dirty="0"/>
              <a:t>.</a:t>
            </a:r>
          </a:p>
          <a:p>
            <a:r>
              <a:rPr lang="ru-RU" dirty="0"/>
              <a:t>Например, с его помощью можно задать внутренние отступы между краем страницы и расположенными внутри элементами.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horizontal</a:t>
            </a:r>
            <a:endParaRPr lang="ru-RU" b="1" dirty="0"/>
          </a:p>
          <a:p>
            <a:r>
              <a:rPr lang="ru-RU" dirty="0"/>
              <a:t>Если указать:</a:t>
            </a:r>
          </a:p>
          <a:p>
            <a:r>
              <a:rPr lang="ru-RU" dirty="0"/>
              <a:t>&lt;</a:t>
            </a:r>
            <a:r>
              <a:rPr lang="ru-RU" dirty="0" err="1"/>
              <a:t>ScrollView</a:t>
            </a:r>
            <a:r>
              <a:rPr lang="ru-RU" dirty="0"/>
              <a:t> </a:t>
            </a:r>
            <a:r>
              <a:rPr lang="ru-RU" dirty="0" err="1"/>
              <a:t>horizontal</a:t>
            </a:r>
            <a:r>
              <a:rPr lang="ru-RU" dirty="0"/>
              <a:t>&gt;</a:t>
            </a:r>
          </a:p>
          <a:p>
            <a:r>
              <a:rPr lang="ru-RU" dirty="0"/>
              <a:t>то содержимое будет прокручиваться по горизонтали.</a:t>
            </a:r>
          </a:p>
          <a:p>
            <a:r>
              <a:rPr lang="ru-RU" dirty="0"/>
              <a:t>Такой вариант может применяться для горизонтальных подборок товаров или галерей.</a:t>
            </a:r>
          </a:p>
          <a:p>
            <a:r>
              <a:rPr lang="ru-RU" dirty="0"/>
              <a:t>Следует учитывать особенность </a:t>
            </a:r>
            <a:r>
              <a:rPr lang="ru-RU" dirty="0" err="1"/>
              <a:t>ScrollView</a:t>
            </a:r>
            <a:r>
              <a:rPr lang="ru-RU" dirty="0"/>
              <a:t>: он обычно создаёт всё вложенное содержимое сразу.</a:t>
            </a:r>
          </a:p>
          <a:p>
            <a:r>
              <a:rPr lang="ru-RU" dirty="0"/>
              <a:t>Если внутри находится несколько изображений и текстовых блоков, это не создаёт существенной проблемы.</a:t>
            </a:r>
          </a:p>
          <a:p>
            <a:r>
              <a:rPr lang="ru-RU" dirty="0"/>
              <a:t>Однако если поместить в </a:t>
            </a:r>
            <a:r>
              <a:rPr lang="ru-RU" dirty="0" err="1"/>
              <a:t>ScrollView</a:t>
            </a:r>
            <a:r>
              <a:rPr lang="ru-RU" dirty="0"/>
              <a:t> сотни карточек товаров, приложение будет вынуждено создавать большое количество элементов, даже если пользователь видит только несколько из них.</a:t>
            </a:r>
          </a:p>
          <a:p>
            <a:r>
              <a:rPr lang="ru-RU" dirty="0"/>
              <a:t>Поэтому </a:t>
            </a:r>
            <a:r>
              <a:rPr lang="ru-RU" dirty="0" err="1"/>
              <a:t>ScrollView</a:t>
            </a:r>
            <a:r>
              <a:rPr lang="ru-RU" dirty="0"/>
              <a:t> лучше подходит для относительно небольшого объёма разнородного содержимого.</a:t>
            </a:r>
          </a:p>
          <a:p>
            <a:r>
              <a:rPr lang="ru-RU" dirty="0"/>
              <a:t>Для длинных списков существует другой компонент — </a:t>
            </a:r>
            <a:r>
              <a:rPr lang="ru-RU" dirty="0" err="1"/>
              <a:t>FlatList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 многих мобильных приложениях необходимо отображать большое количество однотипных элементов.</a:t>
            </a:r>
          </a:p>
          <a:p>
            <a:r>
              <a:rPr lang="ru-RU" dirty="0"/>
              <a:t>Например, интернет-магазин может содержать сотни или тысячи товаров.</a:t>
            </a:r>
          </a:p>
          <a:p>
            <a:r>
              <a:rPr lang="ru-RU" dirty="0"/>
              <a:t>Для таких задач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предоставляет компонент </a:t>
            </a:r>
            <a:r>
              <a:rPr lang="ru-RU" dirty="0" err="1"/>
              <a:t>FlatList</a:t>
            </a:r>
            <a:r>
              <a:rPr lang="ru-RU" dirty="0"/>
              <a:t>.</a:t>
            </a:r>
          </a:p>
          <a:p>
            <a:r>
              <a:rPr lang="ru-RU" dirty="0" err="1"/>
              <a:t>FlatList</a:t>
            </a:r>
            <a:r>
              <a:rPr lang="ru-RU" dirty="0"/>
              <a:t> — это компонент для эффективного отображения прокручиваемых списков на основе массива данных.</a:t>
            </a:r>
          </a:p>
          <a:p>
            <a:r>
              <a:rPr lang="ru-RU" dirty="0"/>
              <a:t>Основное преимущество </a:t>
            </a:r>
            <a:r>
              <a:rPr lang="ru-RU" dirty="0" err="1"/>
              <a:t>FlatList</a:t>
            </a:r>
            <a:r>
              <a:rPr lang="ru-RU" dirty="0"/>
              <a:t> заключается в использовании механизма виртуализации.</a:t>
            </a:r>
          </a:p>
          <a:p>
            <a:r>
              <a:rPr lang="ru-RU" dirty="0"/>
              <a:t>Виртуализация означает, что компонент работает с ограниченным окном элементов списка, расположенных на экране и поблизости от него, вместо одновременного создания всего длинного списка.</a:t>
            </a:r>
          </a:p>
          <a:p>
            <a:r>
              <a:rPr lang="ru-RU" dirty="0"/>
              <a:t>Это позволяет уменьшить затраты ресурсов и повысить производительность приложения.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Компонент использует три основных свойства.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data</a:t>
            </a:r>
            <a:endParaRPr lang="ru-RU" b="1" dirty="0"/>
          </a:p>
          <a:p>
            <a:r>
              <a:rPr lang="ru-RU" dirty="0" err="1"/>
              <a:t>data</a:t>
            </a:r>
            <a:r>
              <a:rPr lang="ru-RU" dirty="0"/>
              <a:t>={</a:t>
            </a:r>
            <a:r>
              <a:rPr lang="ru-RU" dirty="0" err="1"/>
              <a:t>products</a:t>
            </a:r>
            <a:r>
              <a:rPr lang="ru-RU" dirty="0"/>
              <a:t>}</a:t>
            </a:r>
          </a:p>
          <a:p>
            <a:r>
              <a:rPr lang="ru-RU" dirty="0"/>
              <a:t>В свойство </a:t>
            </a:r>
            <a:r>
              <a:rPr lang="ru-RU" dirty="0" err="1"/>
              <a:t>data</a:t>
            </a:r>
            <a:r>
              <a:rPr lang="ru-RU" dirty="0"/>
              <a:t> передаётся массив объектов.</a:t>
            </a:r>
          </a:p>
          <a:p>
            <a:r>
              <a:rPr lang="ru-RU" dirty="0"/>
              <a:t>Каждый объект массива содержит информацию об отдельном товаре.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renderItem</a:t>
            </a:r>
            <a:endParaRPr lang="ru-RU" b="1" dirty="0"/>
          </a:p>
          <a:p>
            <a:r>
              <a:rPr lang="ru-RU" dirty="0" err="1"/>
              <a:t>renderItem</a:t>
            </a:r>
            <a:r>
              <a:rPr lang="ru-RU" dirty="0"/>
              <a:t>={({ </a:t>
            </a:r>
            <a:r>
              <a:rPr lang="ru-RU" dirty="0" err="1"/>
              <a:t>item</a:t>
            </a:r>
            <a:r>
              <a:rPr lang="ru-RU" dirty="0"/>
              <a:t> }) =&gt; ( &lt;</a:t>
            </a:r>
            <a:r>
              <a:rPr lang="ru-RU" dirty="0" err="1"/>
              <a:t>ProductCard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={</a:t>
            </a:r>
            <a:r>
              <a:rPr lang="ru-RU" dirty="0" err="1"/>
              <a:t>item</a:t>
            </a:r>
            <a:r>
              <a:rPr lang="ru-RU" dirty="0"/>
              <a:t>} </a:t>
            </a:r>
            <a:r>
              <a:rPr lang="ru-RU" dirty="0" err="1"/>
              <a:t>onAdd</a:t>
            </a:r>
            <a:r>
              <a:rPr lang="ru-RU" dirty="0"/>
              <a:t>={() =&gt; </a:t>
            </a:r>
            <a:r>
              <a:rPr lang="ru-RU" dirty="0" err="1"/>
              <a:t>addProduct</a:t>
            </a:r>
            <a:r>
              <a:rPr lang="ru-RU" dirty="0"/>
              <a:t>(</a:t>
            </a:r>
            <a:r>
              <a:rPr lang="ru-RU" dirty="0" err="1"/>
              <a:t>item</a:t>
            </a:r>
            <a:r>
              <a:rPr lang="ru-RU" dirty="0"/>
              <a:t>)} /&gt; )}</a:t>
            </a:r>
          </a:p>
          <a:p>
            <a:r>
              <a:rPr lang="ru-RU" dirty="0"/>
              <a:t>Свойство </a:t>
            </a:r>
            <a:r>
              <a:rPr lang="ru-RU" dirty="0" err="1"/>
              <a:t>renderItem</a:t>
            </a:r>
            <a:r>
              <a:rPr lang="ru-RU" dirty="0"/>
              <a:t> принимает функцию, которая определяет способ отображения одного элемента списка.</a:t>
            </a:r>
          </a:p>
          <a:p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вызывает эту функцию для элементов, которые необходимо отобразить.</a:t>
            </a:r>
          </a:p>
          <a:p>
            <a:r>
              <a:rPr lang="ru-RU" dirty="0"/>
              <a:t>Функция получает объект с информацией об элементе. Из него с помощью деструктуризации извлекается свойство </a:t>
            </a:r>
            <a:r>
              <a:rPr lang="ru-RU" dirty="0" err="1"/>
              <a:t>item</a:t>
            </a:r>
            <a:r>
              <a:rPr lang="ru-RU" dirty="0"/>
              <a:t>.</a:t>
            </a:r>
          </a:p>
          <a:p>
            <a:r>
              <a:rPr lang="ru-RU" dirty="0" err="1"/>
              <a:t>item</a:t>
            </a:r>
            <a:r>
              <a:rPr lang="ru-RU" dirty="0"/>
              <a:t> содержит текущий объект товара.</a:t>
            </a:r>
          </a:p>
          <a:p>
            <a:r>
              <a:rPr lang="ru-RU" dirty="0"/>
              <a:t>Далее этот объект передаётся в компонент </a:t>
            </a:r>
            <a:r>
              <a:rPr lang="ru-RU" dirty="0" err="1"/>
              <a:t>ProductCard</a:t>
            </a:r>
            <a:r>
              <a:rPr lang="ru-RU" dirty="0"/>
              <a:t> через свойство </a:t>
            </a:r>
            <a:r>
              <a:rPr lang="ru-RU" dirty="0" err="1"/>
              <a:t>product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для каждого элемента массива формируется карточка товара с соответствующими данными.</a:t>
            </a:r>
          </a:p>
          <a:p>
            <a:r>
              <a:rPr lang="ru-RU" dirty="0"/>
              <a:t>Также компоненту передаётся функция:</a:t>
            </a:r>
          </a:p>
          <a:p>
            <a:r>
              <a:rPr lang="ru-RU" dirty="0" err="1"/>
              <a:t>onAdd</a:t>
            </a:r>
            <a:r>
              <a:rPr lang="ru-RU" dirty="0"/>
              <a:t>={() =&gt; </a:t>
            </a:r>
            <a:r>
              <a:rPr lang="ru-RU" dirty="0" err="1"/>
              <a:t>addProduct</a:t>
            </a:r>
            <a:r>
              <a:rPr lang="ru-RU" dirty="0"/>
              <a:t>(</a:t>
            </a:r>
            <a:r>
              <a:rPr lang="ru-RU" dirty="0" err="1"/>
              <a:t>item</a:t>
            </a:r>
            <a:r>
              <a:rPr lang="ru-RU" dirty="0"/>
              <a:t>)}</a:t>
            </a:r>
          </a:p>
          <a:p>
            <a:r>
              <a:rPr lang="ru-RU" dirty="0"/>
              <a:t>Она позволяет обрабатывать добавление именно текущего товара в корзину.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keyExtractor</a:t>
            </a:r>
            <a:endParaRPr lang="ru-RU" b="1" dirty="0"/>
          </a:p>
          <a:p>
            <a:r>
              <a:rPr lang="ru-RU" dirty="0" err="1"/>
              <a:t>keyExtractor</a:t>
            </a:r>
            <a:r>
              <a:rPr lang="ru-RU" dirty="0"/>
              <a:t>={(</a:t>
            </a:r>
            <a:r>
              <a:rPr lang="ru-RU" dirty="0" err="1"/>
              <a:t>item</a:t>
            </a:r>
            <a:r>
              <a:rPr lang="ru-RU" dirty="0"/>
              <a:t>) =&gt; item.id}</a:t>
            </a:r>
          </a:p>
          <a:p>
            <a:r>
              <a:rPr lang="ru-RU" dirty="0"/>
              <a:t>Свойство </a:t>
            </a:r>
            <a:r>
              <a:rPr lang="ru-RU" dirty="0" err="1"/>
              <a:t>keyExtractor</a:t>
            </a:r>
            <a:r>
              <a:rPr lang="ru-RU" dirty="0"/>
              <a:t> используется для получения уникального ключа каждого элемента списка.</a:t>
            </a:r>
          </a:p>
          <a:p>
            <a:r>
              <a:rPr lang="ru-RU" dirty="0"/>
              <a:t>В данном примере в качестве ключа используется поле </a:t>
            </a:r>
            <a:r>
              <a:rPr lang="ru-RU" dirty="0" err="1"/>
              <a:t>id</a:t>
            </a:r>
            <a:r>
              <a:rPr lang="ru-RU" dirty="0"/>
              <a:t> объекта товара.</a:t>
            </a:r>
          </a:p>
          <a:p>
            <a:r>
              <a:rPr lang="ru-RU" dirty="0"/>
              <a:t>У каждого товара должен быть собственный устойчивый идентификатор.</a:t>
            </a:r>
          </a:p>
          <a:p>
            <a:r>
              <a:rPr lang="ru-RU" dirty="0"/>
              <a:t>Ключи позволяют </a:t>
            </a:r>
            <a:r>
              <a:rPr lang="ru-RU" dirty="0" err="1"/>
              <a:t>React</a:t>
            </a:r>
            <a:r>
              <a:rPr lang="ru-RU" dirty="0"/>
              <a:t> отслеживать элементы при обновлении списка и правильно сопоставлять прежние элементы с новыми.</a:t>
            </a:r>
          </a:p>
          <a:p>
            <a:r>
              <a:rPr lang="ru-RU" dirty="0"/>
              <a:t>Например, если один товар удаляется или добавляется, </a:t>
            </a:r>
            <a:r>
              <a:rPr lang="ru-RU" dirty="0" err="1"/>
              <a:t>React</a:t>
            </a:r>
            <a:r>
              <a:rPr lang="ru-RU" dirty="0"/>
              <a:t> использует ключи для определения того, какие элементы изменились.</a:t>
            </a:r>
          </a:p>
          <a:p>
            <a:r>
              <a:rPr lang="ru-RU" dirty="0"/>
              <a:t>В качестве ключей лучше использовать устойчивые идентификаторы объектов, а не их позиции в массиве, если порядок элементов может изменяться.</a:t>
            </a:r>
          </a:p>
          <a:p>
            <a:r>
              <a:rPr lang="ru-RU" dirty="0"/>
              <a:t>Таким образом, </a:t>
            </a:r>
            <a:r>
              <a:rPr lang="ru-RU" dirty="0" err="1"/>
              <a:t>FlatList</a:t>
            </a:r>
            <a:r>
              <a:rPr lang="ru-RU" dirty="0"/>
              <a:t> объединяет несколько механизмов: работу с массивами JavaScript, пользовательские компоненты, передачу </a:t>
            </a:r>
            <a:r>
              <a:rPr lang="ru-RU" dirty="0" err="1"/>
              <a:t>props</a:t>
            </a:r>
            <a:r>
              <a:rPr lang="ru-RU" dirty="0"/>
              <a:t> и эффективное отображение списков.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компоненты </a:t>
            </a:r>
            <a:r>
              <a:rPr lang="ru-RU" dirty="0" err="1"/>
              <a:t>ScrollView</a:t>
            </a:r>
            <a:r>
              <a:rPr lang="ru-RU" dirty="0"/>
              <a:t> и </a:t>
            </a:r>
            <a:r>
              <a:rPr lang="ru-RU" dirty="0" err="1"/>
              <a:t>FlatList</a:t>
            </a:r>
            <a:r>
              <a:rPr lang="ru-RU" dirty="0"/>
              <a:t> предназначены для отображения прокручиваемого содержимого.</a:t>
            </a:r>
          </a:p>
          <a:p>
            <a:r>
              <a:rPr lang="ru-RU" dirty="0"/>
              <a:t>Однако между ними существует принципиальная разница, связанная с обработкой вложенных элементов.</a:t>
            </a:r>
          </a:p>
          <a:p>
            <a:r>
              <a:rPr lang="ru-RU" dirty="0" err="1"/>
              <a:t>ScrollView</a:t>
            </a:r>
            <a:r>
              <a:rPr lang="ru-RU" dirty="0"/>
              <a:t> предназначен прежде всего для относительно небольшого количества компонентов, которые необходимо разместить в прокручиваемом контейнере.</a:t>
            </a:r>
          </a:p>
          <a:p>
            <a:r>
              <a:rPr lang="ru-RU" dirty="0"/>
              <a:t>Например, страница товара может состоять из изображения, названия, цены, описания, характеристик и нескольких отзывов.</a:t>
            </a:r>
          </a:p>
          <a:p>
            <a:r>
              <a:rPr lang="ru-RU" dirty="0"/>
              <a:t>Все эти элементы имеют разные назначения и разную структуру.</a:t>
            </a:r>
          </a:p>
          <a:p>
            <a:r>
              <a:rPr lang="ru-RU" dirty="0"/>
              <a:t>В таком случае удобно использовать </a:t>
            </a:r>
            <a:r>
              <a:rPr lang="ru-RU" dirty="0" err="1"/>
              <a:t>ScrollView</a:t>
            </a:r>
            <a:r>
              <a:rPr lang="ru-RU" dirty="0"/>
              <a:t>, потому что он позволяет свободно размещать разнородное содержимое в необходимом порядке.</a:t>
            </a:r>
          </a:p>
          <a:p>
            <a:r>
              <a:rPr lang="ru-RU" dirty="0"/>
              <a:t>Однако </a:t>
            </a:r>
            <a:r>
              <a:rPr lang="ru-RU" dirty="0" err="1"/>
              <a:t>ScrollView</a:t>
            </a:r>
            <a:r>
              <a:rPr lang="ru-RU" dirty="0"/>
              <a:t> создаёт вложенные </a:t>
            </a:r>
            <a:r>
              <a:rPr lang="ru-RU" dirty="0" err="1"/>
              <a:t>React</a:t>
            </a:r>
            <a:r>
              <a:rPr lang="ru-RU" dirty="0"/>
              <a:t>-элементы и их представления сразу, что может приводить к повышенному расходу памяти при большом количестве данных.</a:t>
            </a:r>
          </a:p>
          <a:p>
            <a:r>
              <a:rPr lang="ru-RU" dirty="0" err="1"/>
              <a:t>FlatList</a:t>
            </a:r>
            <a:r>
              <a:rPr lang="ru-RU" dirty="0"/>
              <a:t>, напротив, специально предназначен для отображения повторяющихся элементов на основе массива.</a:t>
            </a:r>
          </a:p>
          <a:p>
            <a:r>
              <a:rPr lang="ru-RU" dirty="0"/>
              <a:t>Например, каталог интернет-магазина может содержать несколько сотен товаров.</a:t>
            </a:r>
          </a:p>
          <a:p>
            <a:r>
              <a:rPr lang="ru-RU" dirty="0"/>
              <a:t>Каждый товар отображается с использованием одного компонента </a:t>
            </a:r>
            <a:r>
              <a:rPr lang="ru-RU" dirty="0" err="1"/>
              <a:t>ProductCard</a:t>
            </a:r>
            <a:r>
              <a:rPr lang="ru-RU" dirty="0"/>
              <a:t>, но с разными входными данными.</a:t>
            </a:r>
          </a:p>
          <a:p>
            <a:r>
              <a:rPr lang="ru-RU" dirty="0"/>
              <a:t>В таком случае </a:t>
            </a:r>
            <a:r>
              <a:rPr lang="ru-RU" dirty="0" err="1"/>
              <a:t>FlatList</a:t>
            </a:r>
            <a:r>
              <a:rPr lang="ru-RU" dirty="0"/>
              <a:t> позволяет эффективнее управлять созданием и отображением карточек.</a:t>
            </a:r>
          </a:p>
          <a:p>
            <a:r>
              <a:rPr lang="ru-RU" dirty="0"/>
              <a:t>Рассмотрим сравнение в таблице:</a:t>
            </a:r>
          </a:p>
          <a:p>
            <a:r>
              <a:rPr lang="ru-RU" dirty="0"/>
              <a:t>Таким образом, если необходимо создать страницу с фотографией товара, его описанием и характеристиками, можно выбрать </a:t>
            </a:r>
            <a:r>
              <a:rPr lang="ru-RU" dirty="0" err="1"/>
              <a:t>ScrollView</a:t>
            </a:r>
            <a:r>
              <a:rPr lang="ru-RU" dirty="0"/>
              <a:t>.</a:t>
            </a:r>
          </a:p>
          <a:p>
            <a:r>
              <a:rPr lang="ru-RU" dirty="0"/>
              <a:t>Если требуется вывести большой список товаров из массива, лучше использовать </a:t>
            </a:r>
            <a:r>
              <a:rPr lang="ru-RU" dirty="0" err="1"/>
              <a:t>FlatList</a:t>
            </a:r>
            <a:r>
              <a:rPr lang="ru-RU" dirty="0"/>
              <a:t>.</a:t>
            </a:r>
          </a:p>
          <a:p>
            <a:r>
              <a:rPr lang="ru-RU" dirty="0"/>
              <a:t>Важно учитывать, что </a:t>
            </a:r>
            <a:r>
              <a:rPr lang="ru-RU" dirty="0" err="1"/>
              <a:t>FlatList</a:t>
            </a:r>
            <a:r>
              <a:rPr lang="ru-RU" dirty="0"/>
              <a:t> также является прокручиваемым компонентом. Поэтому помещать его внутрь вертикального </a:t>
            </a:r>
            <a:r>
              <a:rPr lang="ru-RU" dirty="0" err="1"/>
              <a:t>ScrollView</a:t>
            </a:r>
            <a:r>
              <a:rPr lang="ru-RU" dirty="0"/>
              <a:t> с тем же направлением прокрутки в обычном каталоге не требуется.</a:t>
            </a:r>
          </a:p>
          <a:p>
            <a:r>
              <a:rPr lang="ru-RU" dirty="0"/>
              <a:t>Выбор подходящего компонента влияет не только на удобство написания кода, но и на производительность мобильного приложения.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создания структуры интерфейса необходимо определить внешний вид компонентов.</a:t>
            </a:r>
          </a:p>
          <a:p>
            <a:r>
              <a:rPr lang="ru-RU" dirty="0"/>
              <a:t>Для этого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используется система стилей.</a:t>
            </a:r>
          </a:p>
          <a:p>
            <a:r>
              <a:rPr lang="ru-RU" dirty="0"/>
              <a:t>Стили позволяют управлять цветами, размерами, отступами, границами, шрифтами и расположением элементов.</a:t>
            </a:r>
          </a:p>
          <a:p>
            <a:r>
              <a:rPr lang="ru-RU" dirty="0"/>
              <a:t>В отличие от обычной веб-разработки, где оформление чаще всего задаётся с помощью CSS,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стили описываются объектами JavaScript.</a:t>
            </a:r>
          </a:p>
          <a:p>
            <a:r>
              <a:rPr lang="ru-RU" dirty="0"/>
              <a:t>Для передачи стилей используется свойство </a:t>
            </a:r>
            <a:r>
              <a:rPr lang="ru-RU" dirty="0" err="1"/>
              <a:t>style</a:t>
            </a:r>
            <a:r>
              <a:rPr lang="ru-RU" dirty="0"/>
              <a:t>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В данном примере стили записаны непосредственно внутри JSX.</a:t>
            </a:r>
          </a:p>
          <a:p>
            <a:r>
              <a:rPr lang="ru-RU" dirty="0"/>
              <a:t>Такой способ называется </a:t>
            </a:r>
            <a:r>
              <a:rPr lang="ru-RU" dirty="0" err="1"/>
              <a:t>inline</a:t>
            </a:r>
            <a:r>
              <a:rPr lang="ru-RU" dirty="0"/>
              <a:t>-стилизацией, или встроенными стилями.</a:t>
            </a:r>
          </a:p>
          <a:p>
            <a:r>
              <a:rPr lang="ru-RU" dirty="0"/>
              <a:t>Разберём свойства внешнего контейнера.</a:t>
            </a:r>
          </a:p>
          <a:p>
            <a:r>
              <a:rPr lang="ru-RU" dirty="0" err="1"/>
              <a:t>backgroundColor</a:t>
            </a:r>
            <a:r>
              <a:rPr lang="ru-RU" dirty="0"/>
              <a:t>: '#FFFFFF'</a:t>
            </a:r>
          </a:p>
          <a:p>
            <a:r>
              <a:rPr lang="ru-RU" dirty="0"/>
              <a:t>Свойство </a:t>
            </a:r>
            <a:r>
              <a:rPr lang="ru-RU" dirty="0" err="1"/>
              <a:t>backgroundColor</a:t>
            </a:r>
            <a:r>
              <a:rPr lang="ru-RU" dirty="0"/>
              <a:t> задаёт цвет фона.</a:t>
            </a:r>
          </a:p>
          <a:p>
            <a:r>
              <a:rPr lang="ru-RU" dirty="0"/>
              <a:t>Значение #FFFFFF представляет собой белый цвет в шестнадцатеричном формате.</a:t>
            </a:r>
          </a:p>
          <a:p>
            <a:r>
              <a:rPr lang="ru-RU" dirty="0" err="1"/>
              <a:t>borderRadius</a:t>
            </a:r>
            <a:r>
              <a:rPr lang="ru-RU" dirty="0"/>
              <a:t>: 12</a:t>
            </a:r>
          </a:p>
          <a:p>
            <a:r>
              <a:rPr lang="ru-RU" dirty="0"/>
              <a:t>Свойство </a:t>
            </a:r>
            <a:r>
              <a:rPr lang="ru-RU" dirty="0" err="1"/>
              <a:t>borderRadius</a:t>
            </a:r>
            <a:r>
              <a:rPr lang="ru-RU" dirty="0"/>
              <a:t> задаёт радиус скругления углов.</a:t>
            </a:r>
          </a:p>
          <a:p>
            <a:r>
              <a:rPr lang="ru-RU" dirty="0"/>
              <a:t>Чем больше значение, тем сильнее скругляются углы контейнера.</a:t>
            </a:r>
          </a:p>
          <a:p>
            <a:r>
              <a:rPr lang="ru-RU" dirty="0" err="1"/>
              <a:t>padding</a:t>
            </a:r>
            <a:r>
              <a:rPr lang="ru-RU" dirty="0"/>
              <a:t>: 16</a:t>
            </a:r>
          </a:p>
          <a:p>
            <a:r>
              <a:rPr lang="ru-RU" dirty="0"/>
              <a:t>Свойство </a:t>
            </a:r>
            <a:r>
              <a:rPr lang="ru-RU" dirty="0" err="1"/>
              <a:t>padding</a:t>
            </a:r>
            <a:r>
              <a:rPr lang="ru-RU" dirty="0"/>
              <a:t> задаёт внутренний отступ между границами контейнера и его содержимым.</a:t>
            </a:r>
          </a:p>
          <a:p>
            <a:r>
              <a:rPr lang="ru-RU" dirty="0" err="1"/>
              <a:t>flexDirection</a:t>
            </a:r>
            <a:r>
              <a:rPr lang="ru-RU" dirty="0"/>
              <a:t>: '</a:t>
            </a:r>
            <a:r>
              <a:rPr lang="ru-RU" dirty="0" err="1"/>
              <a:t>row</a:t>
            </a:r>
            <a:r>
              <a:rPr lang="ru-RU" dirty="0"/>
              <a:t>'</a:t>
            </a:r>
          </a:p>
          <a:p>
            <a:r>
              <a:rPr lang="ru-RU" dirty="0"/>
              <a:t>Свойство </a:t>
            </a:r>
            <a:r>
              <a:rPr lang="ru-RU" dirty="0" err="1"/>
              <a:t>flexDirection</a:t>
            </a:r>
            <a:r>
              <a:rPr lang="ru-RU" dirty="0"/>
              <a:t> определяет направление расположения дочерних элементов.</a:t>
            </a:r>
          </a:p>
          <a:p>
            <a:r>
              <a:rPr lang="ru-RU" dirty="0"/>
              <a:t>Значение </a:t>
            </a:r>
            <a:r>
              <a:rPr lang="ru-RU" dirty="0" err="1"/>
              <a:t>row</a:t>
            </a:r>
            <a:r>
              <a:rPr lang="ru-RU" dirty="0"/>
              <a:t> означает горизонтальное размещение.</a:t>
            </a:r>
          </a:p>
          <a:p>
            <a:r>
              <a:rPr lang="ru-RU" dirty="0"/>
              <a:t>Теперь рассмотрим стили текста:</a:t>
            </a:r>
          </a:p>
          <a:p>
            <a:r>
              <a:rPr lang="ru-RU" dirty="0" err="1"/>
              <a:t>fontSize</a:t>
            </a:r>
            <a:r>
              <a:rPr lang="ru-RU" dirty="0"/>
              <a:t>: 16, </a:t>
            </a:r>
            <a:r>
              <a:rPr lang="ru-RU" dirty="0" err="1"/>
              <a:t>color</a:t>
            </a:r>
            <a:r>
              <a:rPr lang="ru-RU" dirty="0"/>
              <a:t>: '#28251D'</a:t>
            </a:r>
          </a:p>
          <a:p>
            <a:r>
              <a:rPr lang="ru-RU" dirty="0" err="1"/>
              <a:t>fontSize</a:t>
            </a:r>
            <a:r>
              <a:rPr lang="ru-RU" dirty="0"/>
              <a:t> определяет размер шрифта.</a:t>
            </a:r>
          </a:p>
          <a:p>
            <a:r>
              <a:rPr lang="ru-RU" dirty="0" err="1"/>
              <a:t>color</a:t>
            </a:r>
            <a:r>
              <a:rPr lang="ru-RU" dirty="0"/>
              <a:t> задаёт цвет текста.</a:t>
            </a:r>
          </a:p>
          <a:p>
            <a:r>
              <a:rPr lang="ru-RU" dirty="0"/>
              <a:t>Важная особенность синтаксиса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заключается в использовании </a:t>
            </a:r>
            <a:r>
              <a:rPr lang="ru-RU" dirty="0" err="1"/>
              <a:t>camelCase</a:t>
            </a:r>
            <a:r>
              <a:rPr lang="ru-RU" dirty="0"/>
              <a:t> для названий стилевых свойств.</a:t>
            </a:r>
          </a:p>
          <a:p>
            <a:r>
              <a:rPr lang="ru-RU" dirty="0"/>
              <a:t>Например, вместо CSS-свойства </a:t>
            </a:r>
            <a:r>
              <a:rPr lang="ru-RU" dirty="0" err="1"/>
              <a:t>background-color</a:t>
            </a:r>
            <a:r>
              <a:rPr lang="ru-RU" dirty="0"/>
              <a:t> используется </a:t>
            </a:r>
            <a:r>
              <a:rPr lang="ru-RU" dirty="0" err="1"/>
              <a:t>backgroundColor</a:t>
            </a:r>
            <a:r>
              <a:rPr lang="ru-RU" dirty="0"/>
              <a:t>.</a:t>
            </a:r>
          </a:p>
          <a:p>
            <a:r>
              <a:rPr lang="ru-RU" dirty="0"/>
              <a:t>Вместо </a:t>
            </a:r>
            <a:r>
              <a:rPr lang="ru-RU" dirty="0" err="1"/>
              <a:t>font-size</a:t>
            </a:r>
            <a:r>
              <a:rPr lang="ru-RU" dirty="0"/>
              <a:t> применяется </a:t>
            </a:r>
            <a:r>
              <a:rPr lang="ru-RU" dirty="0" err="1"/>
              <a:t>fontSize</a:t>
            </a:r>
            <a:r>
              <a:rPr lang="ru-RU" dirty="0"/>
              <a:t>.</a:t>
            </a:r>
          </a:p>
          <a:p>
            <a:r>
              <a:rPr lang="ru-RU" dirty="0"/>
              <a:t>В JavaScript-объекте каждое свойство записывается как пара «ключ — значение».</a:t>
            </a:r>
          </a:p>
          <a:p>
            <a:r>
              <a:rPr lang="ru-RU" dirty="0"/>
              <a:t>Если в JSX необходимо передать объект стилей непосредственно, используются две пары фигурных скобок:</a:t>
            </a:r>
          </a:p>
          <a:p>
            <a:r>
              <a:rPr lang="ru-RU" dirty="0" err="1"/>
              <a:t>style</a:t>
            </a:r>
            <a:r>
              <a:rPr lang="ru-RU" dirty="0"/>
              <a:t>={{ </a:t>
            </a:r>
            <a:r>
              <a:rPr lang="ru-RU" dirty="0" err="1"/>
              <a:t>padding</a:t>
            </a:r>
            <a:r>
              <a:rPr lang="ru-RU" dirty="0"/>
              <a:t>: 16 }}</a:t>
            </a:r>
          </a:p>
          <a:p>
            <a:r>
              <a:rPr lang="ru-RU" dirty="0"/>
              <a:t>Внешняя пара обозначает JavaScript-выражение в JSX.</a:t>
            </a:r>
          </a:p>
          <a:p>
            <a:r>
              <a:rPr lang="ru-RU" dirty="0"/>
              <a:t>Внутренняя пара — объект JavaScript.</a:t>
            </a:r>
          </a:p>
          <a:p>
            <a:r>
              <a:rPr lang="ru-RU" dirty="0"/>
              <a:t>Числовые значения размеров обычно записываются без единиц измерения.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 err="1"/>
              <a:t>padding</a:t>
            </a:r>
            <a:r>
              <a:rPr lang="ru-RU" dirty="0"/>
              <a:t>: 16</a:t>
            </a:r>
          </a:p>
          <a:p>
            <a:r>
              <a:rPr lang="ru-RU" dirty="0"/>
              <a:t>вместо CSS-записи:</a:t>
            </a:r>
          </a:p>
          <a:p>
            <a:r>
              <a:rPr lang="ru-RU" dirty="0" err="1"/>
              <a:t>padding</a:t>
            </a:r>
            <a:r>
              <a:rPr lang="ru-RU" dirty="0"/>
              <a:t>: 16px;</a:t>
            </a:r>
          </a:p>
          <a:p>
            <a:r>
              <a:rPr lang="ru-RU" dirty="0"/>
              <a:t>Числовые размеры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выражаются в логических единицах, независимых от физической плотности пикселей экрана.</a:t>
            </a:r>
          </a:p>
          <a:p>
            <a:r>
              <a:rPr lang="ru-RU" dirty="0" err="1"/>
              <a:t>Inline</a:t>
            </a:r>
            <a:r>
              <a:rPr lang="ru-RU" dirty="0"/>
              <a:t>-стили удобны для небольших примеров, но при создании сложного приложения их использование может приводить к повторению одинакового кода.</a:t>
            </a:r>
          </a:p>
          <a:p>
            <a:r>
              <a:rPr lang="ru-RU" dirty="0"/>
              <a:t>Для организации стилей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предоставляет специальный инструмент </a:t>
            </a:r>
            <a:r>
              <a:rPr lang="ru-RU" dirty="0" err="1"/>
              <a:t>StyleSheet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разработке приложения часто возникает необходимость применять одинаковые стили к нескольким компонентам.</a:t>
            </a:r>
          </a:p>
          <a:p>
            <a:r>
              <a:rPr lang="ru-RU" dirty="0"/>
              <a:t>Например, карточки всех товаров должны иметь одинаковый фон, одинаковые внутренние отступы и одинаковое скругление углов.</a:t>
            </a:r>
          </a:p>
          <a:p>
            <a:r>
              <a:rPr lang="ru-RU" dirty="0"/>
              <a:t>Если каждый раз записывать полный набор свойств непосредственно в JSX, код будет повторяться.</a:t>
            </a:r>
          </a:p>
          <a:p>
            <a:r>
              <a:rPr lang="ru-RU" dirty="0"/>
              <a:t>Для организации и повторного использования стилей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предоставляет </a:t>
            </a:r>
            <a:r>
              <a:rPr lang="ru-RU" dirty="0" err="1"/>
              <a:t>StyleSheet</a:t>
            </a:r>
            <a:r>
              <a:rPr lang="ru-RU" dirty="0"/>
              <a:t>.</a:t>
            </a:r>
          </a:p>
          <a:p>
            <a:r>
              <a:rPr lang="ru-RU" dirty="0" err="1"/>
              <a:t>StyleSheet.create</a:t>
            </a:r>
            <a:r>
              <a:rPr lang="ru-RU" dirty="0"/>
              <a:t>() позволяет создать объект с именованными наборами стилей, которые затем используются в различных компонентах.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Сначала создаётся константа </a:t>
            </a:r>
            <a:r>
              <a:rPr lang="ru-RU" dirty="0" err="1"/>
              <a:t>styles</a:t>
            </a:r>
            <a:r>
              <a:rPr lang="ru-RU" dirty="0"/>
              <a:t>.</a:t>
            </a:r>
          </a:p>
          <a:p>
            <a:r>
              <a:rPr lang="ru-RU" dirty="0"/>
              <a:t>Ей присваивается результат вызова </a:t>
            </a:r>
            <a:r>
              <a:rPr lang="ru-RU" dirty="0" err="1"/>
              <a:t>StyleSheet.create</a:t>
            </a:r>
            <a:r>
              <a:rPr lang="ru-RU" dirty="0"/>
              <a:t>().</a:t>
            </a:r>
          </a:p>
          <a:p>
            <a:r>
              <a:rPr lang="ru-RU" dirty="0"/>
              <a:t>В качестве аргумента передаётся объект JavaScript.</a:t>
            </a:r>
          </a:p>
          <a:p>
            <a:r>
              <a:rPr lang="ru-RU" dirty="0"/>
              <a:t>Внутри этого объекта находятся три именованных набора стилей: </a:t>
            </a:r>
            <a:r>
              <a:rPr lang="ru-RU" dirty="0" err="1"/>
              <a:t>container</a:t>
            </a:r>
            <a:r>
              <a:rPr lang="ru-RU" dirty="0"/>
              <a:t>, </a:t>
            </a:r>
            <a:r>
              <a:rPr lang="ru-RU" dirty="0" err="1"/>
              <a:t>card</a:t>
            </a:r>
            <a:r>
              <a:rPr lang="ru-RU" dirty="0"/>
              <a:t> и </a:t>
            </a:r>
            <a:r>
              <a:rPr lang="ru-RU" dirty="0" err="1"/>
              <a:t>title</a:t>
            </a:r>
            <a:r>
              <a:rPr lang="ru-RU" dirty="0"/>
              <a:t>.</a:t>
            </a:r>
          </a:p>
          <a:p>
            <a:r>
              <a:rPr lang="ru-RU" dirty="0"/>
              <a:t>Каждый из них представляет собой отдельный объект с параметрами оформления.</a:t>
            </a:r>
          </a:p>
          <a:p>
            <a:r>
              <a:rPr lang="ru-RU" b="1" dirty="0"/>
              <a:t>Стиль </a:t>
            </a:r>
            <a:r>
              <a:rPr lang="ru-RU" b="1" dirty="0" err="1"/>
              <a:t>container</a:t>
            </a:r>
            <a:endParaRPr lang="ru-RU" b="1" dirty="0"/>
          </a:p>
          <a:p>
            <a:r>
              <a:rPr lang="ru-RU" dirty="0" err="1"/>
              <a:t>container</a:t>
            </a:r>
            <a:r>
              <a:rPr lang="ru-RU" dirty="0"/>
              <a:t>: { </a:t>
            </a:r>
            <a:r>
              <a:rPr lang="ru-RU" dirty="0" err="1"/>
              <a:t>flex</a:t>
            </a:r>
            <a:r>
              <a:rPr lang="ru-RU" dirty="0"/>
              <a:t>: 1, </a:t>
            </a:r>
            <a:r>
              <a:rPr lang="ru-RU" dirty="0" err="1"/>
              <a:t>padding</a:t>
            </a:r>
            <a:r>
              <a:rPr lang="ru-RU" dirty="0"/>
              <a:t>: 16, </a:t>
            </a:r>
            <a:r>
              <a:rPr lang="ru-RU" dirty="0" err="1"/>
              <a:t>gap</a:t>
            </a:r>
            <a:r>
              <a:rPr lang="ru-RU" dirty="0"/>
              <a:t>: 12 }</a:t>
            </a:r>
          </a:p>
          <a:p>
            <a:r>
              <a:rPr lang="ru-RU" dirty="0"/>
              <a:t>Свойство </a:t>
            </a:r>
            <a:r>
              <a:rPr lang="ru-RU" dirty="0" err="1"/>
              <a:t>flex</a:t>
            </a:r>
            <a:r>
              <a:rPr lang="ru-RU" dirty="0"/>
              <a:t>: 1 позволяет контейнеру гибко занимать доступное пространство в пределах родительского </a:t>
            </a:r>
            <a:r>
              <a:rPr lang="ru-RU" dirty="0" err="1"/>
              <a:t>Flexbox</a:t>
            </a:r>
            <a:r>
              <a:rPr lang="ru-RU" dirty="0"/>
              <a:t>-контейнера.</a:t>
            </a:r>
          </a:p>
          <a:p>
            <a:r>
              <a:rPr lang="ru-RU" dirty="0"/>
              <a:t>Свойство </a:t>
            </a:r>
            <a:r>
              <a:rPr lang="ru-RU" dirty="0" err="1"/>
              <a:t>padding</a:t>
            </a:r>
            <a:r>
              <a:rPr lang="ru-RU" dirty="0"/>
              <a:t>: 16 задаёт внутренние отступы.</a:t>
            </a:r>
          </a:p>
          <a:p>
            <a:r>
              <a:rPr lang="ru-RU" dirty="0"/>
              <a:t>Свойство </a:t>
            </a:r>
            <a:r>
              <a:rPr lang="ru-RU" dirty="0" err="1"/>
              <a:t>gap</a:t>
            </a:r>
            <a:r>
              <a:rPr lang="ru-RU" dirty="0"/>
              <a:t>: 12 задаёт расстояние между дочерними элементами.</a:t>
            </a:r>
          </a:p>
          <a:p>
            <a:r>
              <a:rPr lang="ru-RU" b="1" dirty="0"/>
              <a:t>Стиль </a:t>
            </a:r>
            <a:r>
              <a:rPr lang="ru-RU" b="1" dirty="0" err="1"/>
              <a:t>card</a:t>
            </a:r>
            <a:endParaRPr lang="ru-RU" b="1" dirty="0"/>
          </a:p>
          <a:p>
            <a:r>
              <a:rPr lang="ru-RU" dirty="0" err="1"/>
              <a:t>card</a:t>
            </a:r>
            <a:r>
              <a:rPr lang="ru-RU" dirty="0"/>
              <a:t>: { </a:t>
            </a:r>
            <a:r>
              <a:rPr lang="ru-RU" dirty="0" err="1"/>
              <a:t>backgroundColor</a:t>
            </a:r>
            <a:r>
              <a:rPr lang="ru-RU" dirty="0"/>
              <a:t>: '#FFFFFF', </a:t>
            </a:r>
            <a:r>
              <a:rPr lang="ru-RU" dirty="0" err="1"/>
              <a:t>borderRadius</a:t>
            </a:r>
            <a:r>
              <a:rPr lang="ru-RU" dirty="0"/>
              <a:t>: 12, </a:t>
            </a:r>
            <a:r>
              <a:rPr lang="ru-RU" dirty="0" err="1"/>
              <a:t>padding</a:t>
            </a:r>
            <a:r>
              <a:rPr lang="ru-RU" dirty="0"/>
              <a:t>: 16 }</a:t>
            </a:r>
          </a:p>
          <a:p>
            <a:r>
              <a:rPr lang="ru-RU" dirty="0"/>
              <a:t>Этот набор определяет оформление карточки: белый фон, скруглённые углы и внутренние отступы.</a:t>
            </a:r>
          </a:p>
          <a:p>
            <a:r>
              <a:rPr lang="ru-RU" b="1" dirty="0"/>
              <a:t>Стиль </a:t>
            </a:r>
            <a:r>
              <a:rPr lang="ru-RU" b="1" dirty="0" err="1"/>
              <a:t>title</a:t>
            </a:r>
            <a:endParaRPr lang="ru-RU" b="1" dirty="0"/>
          </a:p>
          <a:p>
            <a:r>
              <a:rPr lang="ru-RU" dirty="0" err="1"/>
              <a:t>title</a:t>
            </a:r>
            <a:r>
              <a:rPr lang="ru-RU" dirty="0"/>
              <a:t>: { </a:t>
            </a:r>
            <a:r>
              <a:rPr lang="ru-RU" dirty="0" err="1"/>
              <a:t>fontSize</a:t>
            </a:r>
            <a:r>
              <a:rPr lang="ru-RU" dirty="0"/>
              <a:t>: 16, </a:t>
            </a:r>
            <a:r>
              <a:rPr lang="ru-RU" dirty="0" err="1"/>
              <a:t>fontWeight</a:t>
            </a:r>
            <a:r>
              <a:rPr lang="ru-RU" dirty="0"/>
              <a:t>: '600' }</a:t>
            </a:r>
          </a:p>
          <a:p>
            <a:r>
              <a:rPr lang="ru-RU" dirty="0"/>
              <a:t>Свойство </a:t>
            </a:r>
            <a:r>
              <a:rPr lang="ru-RU" dirty="0" err="1"/>
              <a:t>fontSize</a:t>
            </a:r>
            <a:r>
              <a:rPr lang="ru-RU" dirty="0"/>
              <a:t> задаёт размер текста.</a:t>
            </a:r>
          </a:p>
          <a:p>
            <a:r>
              <a:rPr lang="ru-RU" dirty="0"/>
              <a:t>Свойство </a:t>
            </a:r>
            <a:r>
              <a:rPr lang="ru-RU" dirty="0" err="1"/>
              <a:t>fontWeight</a:t>
            </a:r>
            <a:r>
              <a:rPr lang="ru-RU" dirty="0"/>
              <a:t> определяет насыщенность шрифта.</a:t>
            </a:r>
          </a:p>
          <a:p>
            <a:r>
              <a:rPr lang="ru-RU" dirty="0"/>
              <a:t>Значение '600' соответствует полужирному начертанию, если оно поддерживается используемым шрифтом.</a:t>
            </a:r>
          </a:p>
          <a:p>
            <a:r>
              <a:rPr lang="ru-RU" dirty="0"/>
              <a:t>Теперь рассмотрим применение стилей:</a:t>
            </a:r>
          </a:p>
          <a:p>
            <a:r>
              <a:rPr lang="ru-RU" dirty="0"/>
              <a:t>&lt;View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styles.container</a:t>
            </a:r>
            <a:r>
              <a:rPr lang="ru-RU" dirty="0"/>
              <a:t>}&gt; &lt;View </a:t>
            </a:r>
            <a:r>
              <a:rPr lang="ru-RU" dirty="0" err="1"/>
              <a:t>style</a:t>
            </a:r>
            <a:r>
              <a:rPr lang="ru-RU" dirty="0"/>
              <a:t>={</a:t>
            </a:r>
            <a:r>
              <a:rPr lang="ru-RU" dirty="0" err="1"/>
              <a:t>styles.card</a:t>
            </a:r>
            <a:r>
              <a:rPr lang="ru-RU" dirty="0"/>
              <a:t>}&gt; &lt;Text&gt;Товар&lt;/Text&gt; &lt;/View&gt; &lt;/View&gt;</a:t>
            </a:r>
          </a:p>
          <a:p>
            <a:r>
              <a:rPr lang="ru-RU" dirty="0"/>
              <a:t>Внешнему контейнеру передаётся </a:t>
            </a:r>
            <a:r>
              <a:rPr lang="ru-RU" dirty="0" err="1"/>
              <a:t>styles.container</a:t>
            </a:r>
            <a:r>
              <a:rPr lang="ru-RU" dirty="0"/>
              <a:t>.</a:t>
            </a:r>
          </a:p>
          <a:p>
            <a:r>
              <a:rPr lang="ru-RU" dirty="0"/>
              <a:t>Вложенному контейнеру передаётся </a:t>
            </a:r>
            <a:r>
              <a:rPr lang="ru-RU" dirty="0" err="1"/>
              <a:t>styles.card</a:t>
            </a:r>
            <a:r>
              <a:rPr lang="ru-RU" dirty="0"/>
              <a:t>.</a:t>
            </a:r>
          </a:p>
          <a:p>
            <a:r>
              <a:rPr lang="ru-RU" dirty="0"/>
              <a:t>Обращение к стилям выполняется по тем же правилам, что и обращение к свойствам объектов JavaScript.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 err="1"/>
              <a:t>styles.card</a:t>
            </a:r>
            <a:endParaRPr lang="ru-RU" dirty="0"/>
          </a:p>
          <a:p>
            <a:r>
              <a:rPr lang="ru-RU" dirty="0"/>
              <a:t>означает получение свойства </a:t>
            </a:r>
            <a:r>
              <a:rPr lang="ru-RU" dirty="0" err="1"/>
              <a:t>card</a:t>
            </a:r>
            <a:r>
              <a:rPr lang="ru-RU" dirty="0"/>
              <a:t> объекта </a:t>
            </a:r>
            <a:r>
              <a:rPr lang="ru-RU" dirty="0" err="1"/>
              <a:t>styles</a:t>
            </a:r>
            <a:r>
              <a:rPr lang="ru-RU" dirty="0"/>
              <a:t>.</a:t>
            </a:r>
          </a:p>
          <a:p>
            <a:r>
              <a:rPr lang="ru-RU" dirty="0"/>
              <a:t>Важное преимущество такого подхода заключается в повторном использовании.</a:t>
            </a:r>
          </a:p>
          <a:p>
            <a:r>
              <a:rPr lang="ru-RU" dirty="0"/>
              <a:t>Если десять карточек используют </a:t>
            </a:r>
            <a:r>
              <a:rPr lang="ru-RU" dirty="0" err="1"/>
              <a:t>styles.card</a:t>
            </a:r>
            <a:r>
              <a:rPr lang="ru-RU" dirty="0"/>
              <a:t>, то для изменения их оформления достаточно изменить соответствующий набор стилей в одном месте.</a:t>
            </a:r>
          </a:p>
          <a:p>
            <a:r>
              <a:rPr lang="ru-RU" dirty="0"/>
              <a:t>Кроме того, именованные стили улучшают читаемость программного кода. По выражению </a:t>
            </a:r>
            <a:r>
              <a:rPr lang="ru-RU" dirty="0" err="1"/>
              <a:t>styles.title</a:t>
            </a:r>
            <a:r>
              <a:rPr lang="ru-RU" dirty="0"/>
              <a:t> можно понять, что набор предназначен для оформления заголовка.</a:t>
            </a:r>
          </a:p>
          <a:p>
            <a:r>
              <a:rPr lang="ru-RU" dirty="0"/>
              <a:t>Среда разработки также может предоставлять подсказки и предупреждать об ошибках в названиях стилевых свойств.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один компонент может использовать несколько наборов стилей одновременно.</a:t>
            </a:r>
          </a:p>
          <a:p>
            <a:r>
              <a:rPr lang="ru-RU" dirty="0"/>
              <a:t>Это необходимо, когда элемент имеет базовое оформление, но в определённых условиях должен выглядеть иначе.</a:t>
            </a:r>
          </a:p>
          <a:p>
            <a:r>
              <a:rPr lang="ru-RU" dirty="0"/>
              <a:t>Например, выбранная карточка товара может иметь дополнительную рамку.</a:t>
            </a:r>
          </a:p>
          <a:p>
            <a:r>
              <a:rPr lang="ru-RU" dirty="0"/>
              <a:t>Кнопка может изменять цвет во время нажатия или становиться неактивной, если товар отсутствует.</a:t>
            </a:r>
          </a:p>
          <a:p>
            <a:r>
              <a:rPr lang="ru-RU" dirty="0"/>
              <a:t>Для объединения стилей свойство </a:t>
            </a:r>
            <a:r>
              <a:rPr lang="ru-RU" dirty="0" err="1"/>
              <a:t>style</a:t>
            </a:r>
            <a:r>
              <a:rPr lang="ru-RU" dirty="0"/>
              <a:t> может принимать массив.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/>
              <a:t>&lt;View </a:t>
            </a:r>
            <a:r>
              <a:rPr lang="ru-RU" dirty="0" err="1"/>
              <a:t>style</a:t>
            </a:r>
            <a:r>
              <a:rPr lang="ru-RU" dirty="0"/>
              <a:t>={[ </a:t>
            </a:r>
            <a:r>
              <a:rPr lang="ru-RU" dirty="0" err="1"/>
              <a:t>styles.card</a:t>
            </a:r>
            <a:r>
              <a:rPr lang="ru-RU" dirty="0"/>
              <a:t>, </a:t>
            </a:r>
            <a:r>
              <a:rPr lang="ru-RU" dirty="0" err="1"/>
              <a:t>selected</a:t>
            </a:r>
            <a:r>
              <a:rPr lang="ru-RU" dirty="0"/>
              <a:t> &amp;&amp; </a:t>
            </a:r>
            <a:r>
              <a:rPr lang="ru-RU" dirty="0" err="1"/>
              <a:t>styles.cardSelected</a:t>
            </a:r>
            <a:r>
              <a:rPr lang="ru-RU" dirty="0"/>
              <a:t> ]} /&gt;</a:t>
            </a:r>
          </a:p>
          <a:p>
            <a:r>
              <a:rPr lang="ru-RU" dirty="0"/>
              <a:t>Здесь в </a:t>
            </a:r>
            <a:r>
              <a:rPr lang="ru-RU" dirty="0" err="1"/>
              <a:t>style</a:t>
            </a:r>
            <a:r>
              <a:rPr lang="ru-RU" dirty="0"/>
              <a:t> передаётся массив из двух элементов.</a:t>
            </a:r>
          </a:p>
          <a:p>
            <a:r>
              <a:rPr lang="ru-RU" dirty="0"/>
              <a:t>Первый элемент:</a:t>
            </a:r>
          </a:p>
          <a:p>
            <a:r>
              <a:rPr lang="ru-RU" dirty="0" err="1"/>
              <a:t>styles.card</a:t>
            </a:r>
            <a:endParaRPr lang="ru-RU" dirty="0"/>
          </a:p>
          <a:p>
            <a:r>
              <a:rPr lang="ru-RU" dirty="0"/>
              <a:t>содержит основной набор стилей карточки.</a:t>
            </a:r>
          </a:p>
          <a:p>
            <a:r>
              <a:rPr lang="ru-RU" dirty="0"/>
              <a:t>Он применяется всегда.</a:t>
            </a:r>
          </a:p>
          <a:p>
            <a:r>
              <a:rPr lang="ru-RU" dirty="0"/>
              <a:t>Второй элемент:</a:t>
            </a:r>
          </a:p>
          <a:p>
            <a:r>
              <a:rPr lang="ru-RU" dirty="0" err="1"/>
              <a:t>selected</a:t>
            </a:r>
            <a:r>
              <a:rPr lang="ru-RU" dirty="0"/>
              <a:t> &amp;&amp; </a:t>
            </a:r>
            <a:r>
              <a:rPr lang="ru-RU" dirty="0" err="1"/>
              <a:t>styles.cardSelected</a:t>
            </a:r>
            <a:endParaRPr lang="ru-RU" dirty="0"/>
          </a:p>
          <a:p>
            <a:r>
              <a:rPr lang="ru-RU" dirty="0"/>
              <a:t>использует логический оператор &amp;&amp;.</a:t>
            </a:r>
          </a:p>
          <a:p>
            <a:r>
              <a:rPr lang="ru-RU" dirty="0"/>
              <a:t>Если значение </a:t>
            </a:r>
            <a:r>
              <a:rPr lang="ru-RU" dirty="0" err="1"/>
              <a:t>selected</a:t>
            </a:r>
            <a:r>
              <a:rPr lang="ru-RU" dirty="0"/>
              <a:t> равно </a:t>
            </a:r>
            <a:r>
              <a:rPr lang="ru-RU" dirty="0" err="1"/>
              <a:t>true</a:t>
            </a:r>
            <a:r>
              <a:rPr lang="ru-RU" dirty="0"/>
              <a:t>, то выражение возвращает объект </a:t>
            </a:r>
            <a:r>
              <a:rPr lang="ru-RU" dirty="0" err="1"/>
              <a:t>styles.cardSelected</a:t>
            </a:r>
            <a:r>
              <a:rPr lang="ru-RU" dirty="0"/>
              <a:t>.</a:t>
            </a:r>
          </a:p>
          <a:p>
            <a:r>
              <a:rPr lang="ru-RU" dirty="0"/>
              <a:t>Если </a:t>
            </a:r>
            <a:r>
              <a:rPr lang="ru-RU" dirty="0" err="1"/>
              <a:t>selected</a:t>
            </a:r>
            <a:r>
              <a:rPr lang="ru-RU" dirty="0"/>
              <a:t> равно </a:t>
            </a:r>
            <a:r>
              <a:rPr lang="ru-RU" dirty="0" err="1"/>
              <a:t>false</a:t>
            </a:r>
            <a:r>
              <a:rPr lang="ru-RU" dirty="0"/>
              <a:t>, дополнительный набор стилей не применяется.</a:t>
            </a:r>
          </a:p>
          <a:p>
            <a:r>
              <a:rPr lang="ru-RU" dirty="0"/>
              <a:t>Таким образом, можно изменять внешний вид карточки в зависимости от условия.</a:t>
            </a:r>
          </a:p>
          <a:p>
            <a:r>
              <a:rPr lang="ru-RU" dirty="0"/>
              <a:t>Теперь рассмотрим более сложный пример с кнопкой:</a:t>
            </a:r>
          </a:p>
          <a:p>
            <a:r>
              <a:rPr lang="ru-RU" dirty="0"/>
              <a:t>Здесь объединяются три набора стилей.</a:t>
            </a:r>
          </a:p>
          <a:p>
            <a:r>
              <a:rPr lang="ru-RU" dirty="0" err="1"/>
              <a:t>styles.button</a:t>
            </a:r>
            <a:r>
              <a:rPr lang="ru-RU" dirty="0"/>
              <a:t> — основные стили кнопки.</a:t>
            </a:r>
          </a:p>
          <a:p>
            <a:r>
              <a:rPr lang="ru-RU" dirty="0" err="1"/>
              <a:t>styles.buttonPressed</a:t>
            </a:r>
            <a:r>
              <a:rPr lang="ru-RU" dirty="0"/>
              <a:t> — стили, применяемые во время нажатия.</a:t>
            </a:r>
          </a:p>
          <a:p>
            <a:r>
              <a:rPr lang="ru-RU" dirty="0" err="1"/>
              <a:t>styles.buttonDisabled</a:t>
            </a:r>
            <a:r>
              <a:rPr lang="ru-RU" dirty="0"/>
              <a:t> — стили недоступной кнопки.</a:t>
            </a:r>
          </a:p>
          <a:p>
            <a:r>
              <a:rPr lang="ru-RU" dirty="0"/>
              <a:t>Если пользователь нажимает на активную кнопку, применяется </a:t>
            </a:r>
            <a:r>
              <a:rPr lang="ru-RU" dirty="0" err="1"/>
              <a:t>buttonPressed</a:t>
            </a:r>
            <a:r>
              <a:rPr lang="ru-RU" dirty="0"/>
              <a:t>.</a:t>
            </a:r>
          </a:p>
          <a:p>
            <a:r>
              <a:rPr lang="ru-RU" dirty="0"/>
              <a:t>Если товар недоступен, условие !</a:t>
            </a:r>
            <a:r>
              <a:rPr lang="ru-RU" dirty="0" err="1"/>
              <a:t>product.available</a:t>
            </a:r>
            <a:r>
              <a:rPr lang="ru-RU" dirty="0"/>
              <a:t> возвращает </a:t>
            </a:r>
            <a:r>
              <a:rPr lang="ru-RU" dirty="0" err="1"/>
              <a:t>true</a:t>
            </a:r>
            <a:r>
              <a:rPr lang="ru-RU" dirty="0"/>
              <a:t>, и к кнопке добавляются стили </a:t>
            </a:r>
            <a:r>
              <a:rPr lang="ru-RU" dirty="0" err="1"/>
              <a:t>buttonDisabled</a:t>
            </a:r>
            <a:r>
              <a:rPr lang="ru-RU" dirty="0"/>
              <a:t>.</a:t>
            </a:r>
          </a:p>
          <a:p>
            <a:r>
              <a:rPr lang="ru-RU" dirty="0"/>
              <a:t>Одновременно свойство </a:t>
            </a:r>
            <a:r>
              <a:rPr lang="ru-RU" dirty="0" err="1"/>
              <a:t>disabled</a:t>
            </a:r>
            <a:r>
              <a:rPr lang="ru-RU" dirty="0"/>
              <a:t> блокирует обработку нажатий.</a:t>
            </a:r>
          </a:p>
          <a:p>
            <a:r>
              <a:rPr lang="ru-RU" dirty="0"/>
              <a:t>Важно различать эти механизмы: условный стиль меняет внешний вид кнопки, а </a:t>
            </a:r>
            <a:r>
              <a:rPr lang="ru-RU" dirty="0" err="1"/>
              <a:t>disabled</a:t>
            </a:r>
            <a:r>
              <a:rPr lang="ru-RU" dirty="0"/>
              <a:t> управляет возможностью взаимодействия.</a:t>
            </a:r>
          </a:p>
          <a:p>
            <a:r>
              <a:rPr lang="ru-RU" dirty="0"/>
              <a:t>Таким образом, условное применение стилей позволяет создавать интерфейсы, визуально отражающие текущее состояние элементов.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разработке мобильных приложений необходимо управлять расположением элементов на экране.</a:t>
            </a:r>
          </a:p>
          <a:p>
            <a:r>
              <a:rPr lang="ru-RU" dirty="0"/>
              <a:t>Например, изображение товара может располагаться над названием либо слева от него.</a:t>
            </a:r>
          </a:p>
          <a:p>
            <a:r>
              <a:rPr lang="ru-RU" dirty="0"/>
              <a:t>Кнопки могут находиться друг под другом или в одной строке.</a:t>
            </a:r>
          </a:p>
          <a:p>
            <a:r>
              <a:rPr lang="ru-RU" dirty="0"/>
              <a:t>Для организации такого расположения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используется система </a:t>
            </a:r>
            <a:r>
              <a:rPr lang="ru-RU" dirty="0" err="1"/>
              <a:t>Flexbox</a:t>
            </a:r>
            <a:r>
              <a:rPr lang="ru-RU" dirty="0"/>
              <a:t>.</a:t>
            </a:r>
          </a:p>
          <a:p>
            <a:r>
              <a:rPr lang="ru-RU" dirty="0" err="1"/>
              <a:t>Flexbox</a:t>
            </a:r>
            <a:r>
              <a:rPr lang="ru-RU" dirty="0"/>
              <a:t> — это система размещения элементов, которая позволяет управлять направлением, выравниванием и распределением доступного пространства внутри контейнера.</a:t>
            </a:r>
          </a:p>
          <a:p>
            <a:r>
              <a:rPr lang="ru-RU" dirty="0"/>
              <a:t>Основной принцип </a:t>
            </a:r>
            <a:r>
              <a:rPr lang="ru-RU" dirty="0" err="1"/>
              <a:t>Flexbox</a:t>
            </a:r>
            <a:r>
              <a:rPr lang="ru-RU" dirty="0"/>
              <a:t> заключается в том, что расположение дочерних элементов определяется свойствами родительского контейнера.</a:t>
            </a:r>
          </a:p>
          <a:p>
            <a:r>
              <a:rPr lang="ru-RU" dirty="0"/>
              <a:t>В </a:t>
            </a:r>
            <a:r>
              <a:rPr lang="ru-RU" dirty="0" err="1"/>
              <a:t>Flexbox</a:t>
            </a:r>
            <a:r>
              <a:rPr lang="ru-RU" dirty="0"/>
              <a:t> используются две оси:</a:t>
            </a:r>
          </a:p>
          <a:p>
            <a:r>
              <a:rPr lang="ru-RU" dirty="0"/>
              <a:t>Главная ось — направление, вдоль которого располагаются дочерние элементы.</a:t>
            </a:r>
          </a:p>
          <a:p>
            <a:r>
              <a:rPr lang="ru-RU" dirty="0"/>
              <a:t>Поперечная ось — направление, перпендикулярное главной оси.</a:t>
            </a:r>
          </a:p>
          <a:p>
            <a:r>
              <a:rPr lang="ru-RU" dirty="0"/>
              <a:t>Главная ось определяется свойством </a:t>
            </a:r>
            <a:r>
              <a:rPr lang="ru-RU" dirty="0" err="1"/>
              <a:t>flexDirection</a:t>
            </a:r>
            <a:r>
              <a:rPr lang="ru-RU" dirty="0"/>
              <a:t>.</a:t>
            </a:r>
          </a:p>
          <a:p>
            <a:r>
              <a:rPr lang="ru-RU" dirty="0"/>
              <a:t>Рассмотрим два основных значения.</a:t>
            </a:r>
          </a:p>
          <a:p>
            <a:r>
              <a:rPr lang="ru-RU" b="1" dirty="0" err="1"/>
              <a:t>flexDirection</a:t>
            </a:r>
            <a:r>
              <a:rPr lang="ru-RU" b="1" dirty="0"/>
              <a:t>: '</a:t>
            </a:r>
            <a:r>
              <a:rPr lang="ru-RU" b="1" dirty="0" err="1"/>
              <a:t>column</a:t>
            </a:r>
            <a:r>
              <a:rPr lang="ru-RU" b="1" dirty="0"/>
              <a:t>'</a:t>
            </a:r>
          </a:p>
          <a:p>
            <a:r>
              <a:rPr lang="ru-RU" dirty="0"/>
              <a:t>При значении </a:t>
            </a:r>
            <a:r>
              <a:rPr lang="ru-RU" dirty="0" err="1"/>
              <a:t>column</a:t>
            </a:r>
            <a:r>
              <a:rPr lang="ru-RU" dirty="0"/>
              <a:t> дочерние элементы располагаются вертикально, сверху вниз.</a:t>
            </a:r>
          </a:p>
          <a:p>
            <a:r>
              <a:rPr lang="ru-RU" dirty="0"/>
              <a:t>Это значение используется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по умолчанию.</a:t>
            </a:r>
          </a:p>
          <a:p>
            <a:r>
              <a:rPr lang="ru-RU" dirty="0"/>
              <a:t>Если внутри контейнера находятся три компонента, они будут отображаться один под другим.</a:t>
            </a:r>
          </a:p>
          <a:p>
            <a:r>
              <a:rPr lang="ru-RU" dirty="0"/>
              <a:t>Главная ось направлена сверху вниз.</a:t>
            </a:r>
          </a:p>
          <a:p>
            <a:r>
              <a:rPr lang="ru-RU" dirty="0"/>
              <a:t>Поперечная ось направлена горизонтально.</a:t>
            </a:r>
          </a:p>
          <a:p>
            <a:r>
              <a:rPr lang="ru-RU" b="1" dirty="0" err="1"/>
              <a:t>flexDirection</a:t>
            </a:r>
            <a:r>
              <a:rPr lang="ru-RU" b="1" dirty="0"/>
              <a:t>: '</a:t>
            </a:r>
            <a:r>
              <a:rPr lang="ru-RU" b="1" dirty="0" err="1"/>
              <a:t>row</a:t>
            </a:r>
            <a:r>
              <a:rPr lang="ru-RU" b="1" dirty="0"/>
              <a:t>'</a:t>
            </a:r>
          </a:p>
          <a:p>
            <a:r>
              <a:rPr lang="ru-RU" dirty="0"/>
              <a:t>При значении </a:t>
            </a:r>
            <a:r>
              <a:rPr lang="ru-RU" dirty="0" err="1"/>
              <a:t>row</a:t>
            </a:r>
            <a:r>
              <a:rPr lang="ru-RU" dirty="0"/>
              <a:t> дочерние элементы располагаются горизонтально, слева направо при обычном направлении письма.</a:t>
            </a:r>
          </a:p>
          <a:p>
            <a:r>
              <a:rPr lang="ru-RU" dirty="0"/>
              <a:t>Теперь главная ось становится горизонтальной, а поперечная — вертикальной.</a:t>
            </a:r>
          </a:p>
          <a:p>
            <a:r>
              <a:rPr lang="ru-RU" dirty="0"/>
              <a:t>Поскольку у родительского контейнера указано:</a:t>
            </a:r>
          </a:p>
          <a:p>
            <a:r>
              <a:rPr lang="ru-RU" dirty="0" err="1"/>
              <a:t>flexDirection</a:t>
            </a:r>
            <a:r>
              <a:rPr lang="ru-RU" dirty="0"/>
              <a:t>: '</a:t>
            </a:r>
            <a:r>
              <a:rPr lang="ru-RU" dirty="0" err="1"/>
              <a:t>row</a:t>
            </a:r>
            <a:r>
              <a:rPr lang="ru-RU" dirty="0"/>
              <a:t>'</a:t>
            </a:r>
          </a:p>
          <a:p>
            <a:r>
              <a:rPr lang="ru-RU" dirty="0"/>
              <a:t>изображение и текст располагаются горизонтально.</a:t>
            </a:r>
          </a:p>
          <a:p>
            <a:r>
              <a:rPr lang="ru-RU" dirty="0"/>
              <a:t>Если заменить значение на </a:t>
            </a:r>
            <a:r>
              <a:rPr lang="ru-RU" dirty="0" err="1"/>
              <a:t>column</a:t>
            </a:r>
            <a:r>
              <a:rPr lang="ru-RU" dirty="0"/>
              <a:t>, изображение и название будут расположены вертикально.</a:t>
            </a:r>
          </a:p>
          <a:p>
            <a:r>
              <a:rPr lang="ru-RU" dirty="0"/>
              <a:t>Важно помнить, что при изменении </a:t>
            </a:r>
            <a:r>
              <a:rPr lang="ru-RU" dirty="0" err="1"/>
              <a:t>flexDirection</a:t>
            </a:r>
            <a:r>
              <a:rPr lang="ru-RU" dirty="0"/>
              <a:t> меняется не только расположение элементов, но и направление главной и поперечной осей.</a:t>
            </a:r>
          </a:p>
          <a:p>
            <a:r>
              <a:rPr lang="ru-RU" dirty="0"/>
              <a:t>Это влияет на работу свойств выравнивания, которые мы рассмотрим далее.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Flexbox</a:t>
            </a:r>
            <a:r>
              <a:rPr lang="ru-RU" dirty="0"/>
              <a:t> позволяет не только изменять направление расположения компонентов, но и управлять их выравниванием внутри контейнера.</a:t>
            </a:r>
          </a:p>
          <a:p>
            <a:r>
              <a:rPr lang="ru-RU" dirty="0"/>
              <a:t>Для этого используются свойства </a:t>
            </a:r>
            <a:r>
              <a:rPr lang="ru-RU" dirty="0" err="1"/>
              <a:t>justifyContent</a:t>
            </a:r>
            <a:r>
              <a:rPr lang="ru-RU" dirty="0"/>
              <a:t>, </a:t>
            </a:r>
            <a:r>
              <a:rPr lang="ru-RU" dirty="0" err="1"/>
              <a:t>alignItems</a:t>
            </a:r>
            <a:r>
              <a:rPr lang="ru-RU" dirty="0"/>
              <a:t> и </a:t>
            </a:r>
            <a:r>
              <a:rPr lang="ru-RU" dirty="0" err="1"/>
              <a:t>alignSelf</a:t>
            </a:r>
            <a:r>
              <a:rPr lang="ru-RU" dirty="0"/>
              <a:t>.</a:t>
            </a:r>
          </a:p>
          <a:p>
            <a:r>
              <a:rPr lang="ru-RU" dirty="0"/>
              <a:t>Каждое из них решает собственную задачу.</a:t>
            </a:r>
          </a:p>
          <a:p>
            <a:r>
              <a:rPr lang="ru-RU" b="1" dirty="0" err="1"/>
              <a:t>justifyContent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justifyContent</a:t>
            </a:r>
            <a:r>
              <a:rPr lang="ru-RU" dirty="0"/>
              <a:t> определяет расположение дочерних элементов вдоль главной оси контейнера.</a:t>
            </a:r>
          </a:p>
          <a:p>
            <a:r>
              <a:rPr lang="ru-RU" dirty="0"/>
              <a:t>Рассмотрим несколько значений.</a:t>
            </a:r>
          </a:p>
          <a:p>
            <a:r>
              <a:rPr lang="ru-RU" dirty="0" err="1"/>
              <a:t>flex-start</a:t>
            </a:r>
            <a:r>
              <a:rPr lang="ru-RU" dirty="0"/>
              <a:t> — элементы располагаются в начале главной оси.</a:t>
            </a:r>
          </a:p>
          <a:p>
            <a:r>
              <a:rPr lang="ru-RU" dirty="0" err="1"/>
              <a:t>center</a:t>
            </a:r>
            <a:r>
              <a:rPr lang="ru-RU" dirty="0"/>
              <a:t> — элементы располагаются по центру главной оси.</a:t>
            </a:r>
          </a:p>
          <a:p>
            <a:r>
              <a:rPr lang="ru-RU" dirty="0" err="1"/>
              <a:t>flex-end</a:t>
            </a:r>
            <a:r>
              <a:rPr lang="ru-RU" dirty="0"/>
              <a:t> — элементы располагаются в конце главной оси.</a:t>
            </a:r>
          </a:p>
          <a:p>
            <a:r>
              <a:rPr lang="ru-RU" dirty="0" err="1"/>
              <a:t>space-between</a:t>
            </a:r>
            <a:r>
              <a:rPr lang="ru-RU" dirty="0"/>
              <a:t> — первый элемент располагается у начала главной оси, последний — у конца, а свободное пространство равномерно распределяется между соседними элементами.</a:t>
            </a:r>
          </a:p>
          <a:p>
            <a:r>
              <a:rPr lang="ru-RU" dirty="0"/>
              <a:t>Например, если используется горизонтальный контейнер с двумя кнопками, </a:t>
            </a:r>
            <a:r>
              <a:rPr lang="ru-RU" dirty="0" err="1"/>
              <a:t>space-between</a:t>
            </a:r>
            <a:r>
              <a:rPr lang="ru-RU" dirty="0"/>
              <a:t> позволяет разместить одну кнопку у левого края, а другую — у правого.</a:t>
            </a:r>
          </a:p>
          <a:p>
            <a:r>
              <a:rPr lang="ru-RU" b="1" dirty="0" err="1"/>
              <a:t>alignItems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alignItems</a:t>
            </a:r>
            <a:r>
              <a:rPr lang="ru-RU" dirty="0"/>
              <a:t> определяет выравнивание дочерних элементов вдоль поперечной оси.</a:t>
            </a:r>
          </a:p>
          <a:p>
            <a:r>
              <a:rPr lang="ru-RU" dirty="0"/>
              <a:t>При </a:t>
            </a:r>
            <a:r>
              <a:rPr lang="ru-RU" dirty="0" err="1"/>
              <a:t>flexDirection</a:t>
            </a:r>
            <a:r>
              <a:rPr lang="ru-RU" dirty="0"/>
              <a:t>: '</a:t>
            </a:r>
            <a:r>
              <a:rPr lang="ru-RU" dirty="0" err="1"/>
              <a:t>row</a:t>
            </a:r>
            <a:r>
              <a:rPr lang="ru-RU" dirty="0"/>
              <a:t>' поперечная ось обычно является вертикальной.</a:t>
            </a:r>
          </a:p>
          <a:p>
            <a:r>
              <a:rPr lang="ru-RU" dirty="0"/>
              <a:t>Поэтому значение:</a:t>
            </a:r>
          </a:p>
          <a:p>
            <a:r>
              <a:rPr lang="ru-RU" dirty="0" err="1"/>
              <a:t>alignItems</a:t>
            </a:r>
            <a:r>
              <a:rPr lang="ru-RU" dirty="0"/>
              <a:t>: '</a:t>
            </a:r>
            <a:r>
              <a:rPr lang="ru-RU" dirty="0" err="1"/>
              <a:t>center</a:t>
            </a:r>
            <a:r>
              <a:rPr lang="ru-RU" dirty="0"/>
              <a:t>'</a:t>
            </a:r>
          </a:p>
          <a:p>
            <a:r>
              <a:rPr lang="ru-RU" dirty="0"/>
              <a:t>позволяет выровнять элементы по вертикальному центру строки.</a:t>
            </a:r>
          </a:p>
          <a:p>
            <a:r>
              <a:rPr lang="ru-RU" dirty="0"/>
              <a:t>При </a:t>
            </a:r>
            <a:r>
              <a:rPr lang="ru-RU" dirty="0" err="1"/>
              <a:t>flexDirection</a:t>
            </a:r>
            <a:r>
              <a:rPr lang="ru-RU" dirty="0"/>
              <a:t>: '</a:t>
            </a:r>
            <a:r>
              <a:rPr lang="ru-RU" dirty="0" err="1"/>
              <a:t>column</a:t>
            </a:r>
            <a:r>
              <a:rPr lang="ru-RU" dirty="0"/>
              <a:t>' поперечная ось обычно горизонтальная, поэтому такое же значение будет выравнивать элементы по горизонтальному центру.</a:t>
            </a:r>
          </a:p>
          <a:p>
            <a:r>
              <a:rPr lang="ru-RU" dirty="0"/>
              <a:t>Значение </a:t>
            </a:r>
            <a:r>
              <a:rPr lang="ru-RU" dirty="0" err="1"/>
              <a:t>stretch</a:t>
            </a:r>
            <a:r>
              <a:rPr lang="ru-RU" dirty="0"/>
              <a:t> позволяет растягивать элементы вдоль поперечной оси, если их соответствующий размер не задан явно и условия размещения это допускают.</a:t>
            </a:r>
          </a:p>
          <a:p>
            <a:r>
              <a:rPr lang="ru-RU" dirty="0"/>
              <a:t>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</a:t>
            </a:r>
            <a:r>
              <a:rPr lang="ru-RU" dirty="0" err="1"/>
              <a:t>stretch</a:t>
            </a:r>
            <a:r>
              <a:rPr lang="ru-RU" dirty="0"/>
              <a:t> используется для </a:t>
            </a:r>
            <a:r>
              <a:rPr lang="ru-RU" dirty="0" err="1"/>
              <a:t>alignItems</a:t>
            </a:r>
            <a:r>
              <a:rPr lang="ru-RU" dirty="0"/>
              <a:t> по умолчанию.</a:t>
            </a:r>
          </a:p>
          <a:p>
            <a:r>
              <a:rPr lang="ru-RU" b="1" dirty="0" err="1"/>
              <a:t>alignSelf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alignSelf</a:t>
            </a:r>
            <a:r>
              <a:rPr lang="ru-RU" dirty="0"/>
              <a:t> позволяет задать индивидуальное выравнивание отдельному дочернему элементу.</a:t>
            </a:r>
          </a:p>
          <a:p>
            <a:r>
              <a:rPr lang="ru-RU" dirty="0"/>
              <a:t>Например, если все элементы контейнера выравниваются по центру, одному из них можно задать другое расположение.</a:t>
            </a:r>
          </a:p>
          <a:p>
            <a:r>
              <a:rPr lang="ru-RU" dirty="0"/>
              <a:t>Рассмотрим пример, представленный на слайде:</a:t>
            </a:r>
          </a:p>
          <a:p>
            <a:r>
              <a:rPr lang="ru-RU" dirty="0"/>
              <a:t>Внешний View является </a:t>
            </a:r>
            <a:r>
              <a:rPr lang="ru-RU" dirty="0" err="1"/>
              <a:t>Flexbox</a:t>
            </a:r>
            <a:r>
              <a:rPr lang="ru-RU" dirty="0"/>
              <a:t>-контейнером.</a:t>
            </a:r>
          </a:p>
          <a:p>
            <a:r>
              <a:rPr lang="ru-RU" dirty="0"/>
              <a:t>Свойство:</a:t>
            </a:r>
          </a:p>
          <a:p>
            <a:r>
              <a:rPr lang="ru-RU" dirty="0" err="1"/>
              <a:t>flexDirection</a:t>
            </a:r>
            <a:r>
              <a:rPr lang="ru-RU" dirty="0"/>
              <a:t>: '</a:t>
            </a:r>
            <a:r>
              <a:rPr lang="ru-RU" dirty="0" err="1"/>
              <a:t>row</a:t>
            </a:r>
            <a:r>
              <a:rPr lang="ru-RU" dirty="0"/>
              <a:t>'</a:t>
            </a:r>
          </a:p>
          <a:p>
            <a:r>
              <a:rPr lang="ru-RU" dirty="0"/>
              <a:t>располагает цену и кнопку горизонтально.</a:t>
            </a:r>
          </a:p>
          <a:p>
            <a:r>
              <a:rPr lang="ru-RU" dirty="0"/>
              <a:t>Свойство:</a:t>
            </a:r>
          </a:p>
          <a:p>
            <a:r>
              <a:rPr lang="ru-RU" dirty="0" err="1"/>
              <a:t>justifyContent</a:t>
            </a:r>
            <a:r>
              <a:rPr lang="ru-RU" dirty="0"/>
              <a:t>: '</a:t>
            </a:r>
            <a:r>
              <a:rPr lang="ru-RU" dirty="0" err="1"/>
              <a:t>space-between</a:t>
            </a:r>
            <a:r>
              <a:rPr lang="ru-RU" dirty="0"/>
              <a:t>'</a:t>
            </a:r>
          </a:p>
          <a:p>
            <a:r>
              <a:rPr lang="ru-RU" dirty="0"/>
              <a:t>размещает цену у начала главной оси, а кнопку — у противоположного края доступного пространства.</a:t>
            </a:r>
          </a:p>
          <a:p>
            <a:r>
              <a:rPr lang="ru-RU" dirty="0"/>
              <a:t>Свойство:</a:t>
            </a:r>
          </a:p>
          <a:p>
            <a:r>
              <a:rPr lang="ru-RU" dirty="0" err="1"/>
              <a:t>alignItems</a:t>
            </a:r>
            <a:r>
              <a:rPr lang="ru-RU" dirty="0"/>
              <a:t>: '</a:t>
            </a:r>
            <a:r>
              <a:rPr lang="ru-RU" dirty="0" err="1"/>
              <a:t>center</a:t>
            </a:r>
            <a:r>
              <a:rPr lang="ru-RU" dirty="0"/>
              <a:t>'</a:t>
            </a:r>
          </a:p>
          <a:p>
            <a:r>
              <a:rPr lang="ru-RU" dirty="0"/>
              <a:t>выравнивает оба элемента по центру поперечной оси.</a:t>
            </a:r>
          </a:p>
          <a:p>
            <a:r>
              <a:rPr lang="ru-RU" dirty="0"/>
              <a:t>В результате получается горизонтальная строка, в которой цена располагается с одной стороны, а кнопка — с другой.</a:t>
            </a:r>
          </a:p>
          <a:p>
            <a:r>
              <a:rPr lang="ru-RU" dirty="0"/>
              <a:t>Главное различие между двумя основными свойствами можно сформулировать следующим образом:</a:t>
            </a:r>
          </a:p>
          <a:p>
            <a:r>
              <a:rPr lang="ru-RU" dirty="0" err="1"/>
              <a:t>justifyContent</a:t>
            </a:r>
            <a:r>
              <a:rPr lang="ru-RU" dirty="0"/>
              <a:t> управляет размещением вдоль главной оси.</a:t>
            </a:r>
          </a:p>
          <a:p>
            <a:r>
              <a:rPr lang="ru-RU" dirty="0" err="1"/>
              <a:t>alignItems</a:t>
            </a:r>
            <a:r>
              <a:rPr lang="ru-RU" dirty="0"/>
              <a:t> управляет размещением вдоль поперечной оси.</a:t>
            </a:r>
          </a:p>
          <a:p>
            <a:r>
              <a:rPr lang="ru-RU" dirty="0"/>
              <a:t>При изменении направления </a:t>
            </a:r>
            <a:r>
              <a:rPr lang="ru-RU" dirty="0" err="1"/>
              <a:t>flexDirection</a:t>
            </a:r>
            <a:r>
              <a:rPr lang="ru-RU" dirty="0"/>
              <a:t> физические направления действия этих свойств тоже изменяются.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направления и выравнивания элементов, </a:t>
            </a:r>
            <a:r>
              <a:rPr lang="ru-RU" dirty="0" err="1"/>
              <a:t>Flexbox</a:t>
            </a:r>
            <a:r>
              <a:rPr lang="ru-RU" dirty="0"/>
              <a:t> позволяет управлять распределением свободного пространства внутри контейнера.</a:t>
            </a:r>
          </a:p>
          <a:p>
            <a:r>
              <a:rPr lang="ru-RU" dirty="0"/>
              <a:t>Это особенно важно при разработке мобильных приложений, поскольку устройства имеют разные размеры экранов.</a:t>
            </a:r>
          </a:p>
          <a:p>
            <a:r>
              <a:rPr lang="ru-RU" dirty="0"/>
              <a:t>Например, одна и та же карточка товара должна корректно отображаться как на небольшом смартфоне, так и на большом планшете.</a:t>
            </a:r>
          </a:p>
          <a:p>
            <a:r>
              <a:rPr lang="ru-RU" dirty="0"/>
              <a:t>Для управления размерами элементов используются свойства </a:t>
            </a:r>
            <a:r>
              <a:rPr lang="ru-RU" dirty="0" err="1"/>
              <a:t>flex</a:t>
            </a:r>
            <a:r>
              <a:rPr lang="ru-RU" dirty="0"/>
              <a:t>, </a:t>
            </a:r>
            <a:r>
              <a:rPr lang="ru-RU" dirty="0" err="1"/>
              <a:t>flexGrow</a:t>
            </a:r>
            <a:r>
              <a:rPr lang="ru-RU" dirty="0"/>
              <a:t>, </a:t>
            </a:r>
            <a:r>
              <a:rPr lang="ru-RU" dirty="0" err="1"/>
              <a:t>flexShrink</a:t>
            </a:r>
            <a:r>
              <a:rPr lang="ru-RU" dirty="0"/>
              <a:t> и </a:t>
            </a:r>
            <a:r>
              <a:rPr lang="ru-RU" dirty="0" err="1"/>
              <a:t>flexBasis</a:t>
            </a:r>
            <a:r>
              <a:rPr lang="ru-RU" dirty="0"/>
              <a:t>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flex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flex</a:t>
            </a:r>
            <a:r>
              <a:rPr lang="ru-RU" dirty="0"/>
              <a:t> позволяет задавать гибкое распределение пространства между элементами.</a:t>
            </a:r>
          </a:p>
          <a:p>
            <a:r>
              <a:rPr lang="ru-RU" dirty="0"/>
              <a:t>Если Оба имеют значение </a:t>
            </a:r>
            <a:r>
              <a:rPr lang="ru-RU" dirty="0" err="1"/>
              <a:t>flex</a:t>
            </a:r>
            <a:r>
              <a:rPr lang="ru-RU" dirty="0"/>
              <a:t>: 1.</a:t>
            </a:r>
          </a:p>
          <a:p>
            <a:r>
              <a:rPr lang="ru-RU" dirty="0"/>
              <a:t>При одинаковых условиях размещения они распределяют доступное пространство поровну.</a:t>
            </a:r>
          </a:p>
          <a:p>
            <a:r>
              <a:rPr lang="ru-RU" dirty="0"/>
              <a:t>Теперь изменим значения: Первый элемент имеет </a:t>
            </a:r>
            <a:r>
              <a:rPr lang="ru-RU" dirty="0" err="1"/>
              <a:t>flex</a:t>
            </a:r>
            <a:r>
              <a:rPr lang="ru-RU" dirty="0"/>
              <a:t>: 1, второй — </a:t>
            </a:r>
            <a:r>
              <a:rPr lang="ru-RU" dirty="0" err="1"/>
              <a:t>flex</a:t>
            </a:r>
            <a:r>
              <a:rPr lang="ru-RU" dirty="0"/>
              <a:t>: 2.</a:t>
            </a:r>
          </a:p>
          <a:p>
            <a:r>
              <a:rPr lang="ru-RU" dirty="0"/>
              <a:t>В данном простом случае доступное пространство будет распределено в отношении 1:2.</a:t>
            </a:r>
          </a:p>
          <a:p>
            <a:r>
              <a:rPr lang="ru-RU" dirty="0"/>
              <a:t>Таким образом, </a:t>
            </a:r>
            <a:r>
              <a:rPr lang="ru-RU" dirty="0" err="1"/>
              <a:t>Flexbox</a:t>
            </a:r>
            <a:r>
              <a:rPr lang="ru-RU" dirty="0"/>
              <a:t> позволяет распределять доступное пространство без необходимости вручную задавать точную ширину каждого компонента.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flexGrow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flexGrow</a:t>
            </a:r>
            <a:r>
              <a:rPr lang="ru-RU" dirty="0"/>
              <a:t> определяет возможность элемента увеличивать свой размер при наличии свободного пространства.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 err="1"/>
              <a:t>flexGrow</a:t>
            </a:r>
            <a:r>
              <a:rPr lang="ru-RU" dirty="0"/>
              <a:t>: 1</a:t>
            </a:r>
          </a:p>
          <a:p>
            <a:r>
              <a:rPr lang="ru-RU" dirty="0"/>
              <a:t>означает, что элемент может увеличиваться и занимать доступное пространство в соответствии с правилами </a:t>
            </a:r>
            <a:r>
              <a:rPr lang="ru-RU" dirty="0" err="1"/>
              <a:t>Flexbox</a:t>
            </a:r>
            <a:r>
              <a:rPr lang="ru-RU" dirty="0"/>
              <a:t>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flexShrink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flexShrink</a:t>
            </a:r>
            <a:r>
              <a:rPr lang="ru-RU" dirty="0"/>
              <a:t> определяет возможность элемента уменьшаться, если суммарный размер содержимого превышает размер контейнера.</a:t>
            </a:r>
          </a:p>
          <a:p>
            <a:r>
              <a:rPr lang="ru-RU" dirty="0"/>
              <a:t>Это может быть необходимо, когда несколько элементов должны поместиться в одну строку.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flexBasis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flexBasis</a:t>
            </a:r>
            <a:r>
              <a:rPr lang="ru-RU" dirty="0"/>
              <a:t> задаёт базовый размер элемента вдоль главной оси, который используется при расчёте распределения пространства.</a:t>
            </a:r>
          </a:p>
          <a:p>
            <a:r>
              <a:rPr lang="ru-RU" dirty="0"/>
              <a:t>В сочетании с </a:t>
            </a:r>
            <a:r>
              <a:rPr lang="ru-RU" dirty="0" err="1"/>
              <a:t>flexGrow</a:t>
            </a:r>
            <a:r>
              <a:rPr lang="ru-RU" dirty="0"/>
              <a:t> и </a:t>
            </a:r>
            <a:r>
              <a:rPr lang="ru-RU" dirty="0" err="1"/>
              <a:t>flexShrink</a:t>
            </a:r>
            <a:r>
              <a:rPr lang="ru-RU" dirty="0"/>
              <a:t> оно позволяет более точно управлять гибкими размерами компонентов.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gap</a:t>
            </a:r>
            <a:endParaRPr lang="ru-RU" b="1" dirty="0"/>
          </a:p>
          <a:p>
            <a:r>
              <a:rPr lang="ru-RU" dirty="0"/>
              <a:t>Свойство </a:t>
            </a:r>
            <a:r>
              <a:rPr lang="ru-RU" dirty="0" err="1"/>
              <a:t>gap</a:t>
            </a:r>
            <a:r>
              <a:rPr lang="ru-RU" dirty="0"/>
              <a:t> задаёт расстояние между дочерними элементами контейнера.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 err="1"/>
              <a:t>searchRow</a:t>
            </a:r>
            <a:r>
              <a:rPr lang="ru-RU" dirty="0"/>
              <a:t>: { </a:t>
            </a:r>
            <a:r>
              <a:rPr lang="ru-RU" dirty="0" err="1"/>
              <a:t>flexDirection</a:t>
            </a:r>
            <a:r>
              <a:rPr lang="ru-RU" dirty="0"/>
              <a:t>: '</a:t>
            </a:r>
            <a:r>
              <a:rPr lang="ru-RU" dirty="0" err="1"/>
              <a:t>row</a:t>
            </a:r>
            <a:r>
              <a:rPr lang="ru-RU" dirty="0"/>
              <a:t>', </a:t>
            </a:r>
            <a:r>
              <a:rPr lang="ru-RU" dirty="0" err="1"/>
              <a:t>gap</a:t>
            </a:r>
            <a:r>
              <a:rPr lang="ru-RU" dirty="0"/>
              <a:t>: 8 }</a:t>
            </a:r>
          </a:p>
          <a:p>
            <a:r>
              <a:rPr lang="ru-RU" dirty="0"/>
              <a:t>В данном случае элементы располагаются горизонтально, а расстояние между соседними элементами составляет 8 логических единиц.</a:t>
            </a:r>
          </a:p>
          <a:p>
            <a:r>
              <a:rPr lang="ru-RU" dirty="0"/>
              <a:t>Преимущество </a:t>
            </a:r>
            <a:r>
              <a:rPr lang="ru-RU" dirty="0" err="1"/>
              <a:t>gap</a:t>
            </a:r>
            <a:r>
              <a:rPr lang="ru-RU" dirty="0"/>
              <a:t> заключается в том, что расстояния задаются на уровне контейнера, без необходимости прописывать отдельные внешние отступы каждому элементу.</a:t>
            </a:r>
          </a:p>
          <a:p>
            <a:r>
              <a:rPr lang="ru-RU" b="1" dirty="0"/>
              <a:t>Свойство </a:t>
            </a:r>
            <a:r>
              <a:rPr lang="ru-RU" b="1" dirty="0" err="1"/>
              <a:t>flexWrap</a:t>
            </a:r>
            <a:endParaRPr lang="ru-RU" b="1" dirty="0"/>
          </a:p>
          <a:p>
            <a:r>
              <a:rPr lang="ru-RU" dirty="0"/>
              <a:t>По умолчанию элементы </a:t>
            </a:r>
            <a:r>
              <a:rPr lang="ru-RU" dirty="0" err="1"/>
              <a:t>Flexbox</a:t>
            </a:r>
            <a:r>
              <a:rPr lang="ru-RU" dirty="0"/>
              <a:t> располагаются в пределах одной линии вдоль главной оси.</a:t>
            </a:r>
          </a:p>
          <a:p>
            <a:r>
              <a:rPr lang="ru-RU" dirty="0"/>
              <a:t>Однако иногда необходимо разрешить перенос элементов на следующую строку.</a:t>
            </a:r>
          </a:p>
          <a:p>
            <a:r>
              <a:rPr lang="ru-RU" dirty="0"/>
              <a:t>Для этого используется:</a:t>
            </a:r>
          </a:p>
          <a:p>
            <a:r>
              <a:rPr lang="ru-RU" dirty="0" err="1"/>
              <a:t>flexWrap</a:t>
            </a:r>
            <a:r>
              <a:rPr lang="ru-RU" dirty="0"/>
              <a:t>: '</a:t>
            </a:r>
            <a:r>
              <a:rPr lang="ru-RU" dirty="0" err="1"/>
              <a:t>wrap</a:t>
            </a:r>
            <a:r>
              <a:rPr lang="ru-RU" dirty="0"/>
              <a:t>'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 err="1"/>
              <a:t>tags</a:t>
            </a:r>
            <a:r>
              <a:rPr lang="ru-RU" dirty="0"/>
              <a:t>: { </a:t>
            </a:r>
            <a:r>
              <a:rPr lang="ru-RU" dirty="0" err="1"/>
              <a:t>flexDirection</a:t>
            </a:r>
            <a:r>
              <a:rPr lang="ru-RU" dirty="0"/>
              <a:t>: '</a:t>
            </a:r>
            <a:r>
              <a:rPr lang="ru-RU" dirty="0" err="1"/>
              <a:t>row</a:t>
            </a:r>
            <a:r>
              <a:rPr lang="ru-RU" dirty="0"/>
              <a:t>', </a:t>
            </a:r>
            <a:r>
              <a:rPr lang="ru-RU" dirty="0" err="1"/>
              <a:t>flexWrap</a:t>
            </a:r>
            <a:r>
              <a:rPr lang="ru-RU" dirty="0"/>
              <a:t>: '</a:t>
            </a:r>
            <a:r>
              <a:rPr lang="ru-RU" dirty="0" err="1"/>
              <a:t>wrap</a:t>
            </a:r>
            <a:r>
              <a:rPr lang="ru-RU" dirty="0"/>
              <a:t>', </a:t>
            </a:r>
            <a:r>
              <a:rPr lang="ru-RU" dirty="0" err="1"/>
              <a:t>gap</a:t>
            </a:r>
            <a:r>
              <a:rPr lang="ru-RU" dirty="0"/>
              <a:t>: 8 }</a:t>
            </a:r>
          </a:p>
          <a:p>
            <a:r>
              <a:rPr lang="ru-RU" dirty="0"/>
              <a:t>Такой стиль подходит для отображения меток товаров.</a:t>
            </a:r>
          </a:p>
          <a:p>
            <a:r>
              <a:rPr lang="ru-RU" dirty="0"/>
              <a:t>Например, товар может иметь следующие метки: «Новинка», «Популярное», «Скидка», «Бесплатная доставка».</a:t>
            </a:r>
          </a:p>
          <a:p>
            <a:r>
              <a:rPr lang="ru-RU" dirty="0"/>
              <a:t>Если все метки не помещаются в одну строку, они могут переноситься на следующую.</a:t>
            </a:r>
          </a:p>
          <a:p>
            <a:r>
              <a:rPr lang="ru-RU" dirty="0"/>
              <a:t>Благодаря этому интерфейс сохраняет удобство использования даже на небольших экранах.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Мобильные приложения запускаются на устройствах с разными размерами экранов.</a:t>
            </a:r>
          </a:p>
          <a:p>
            <a:r>
              <a:rPr lang="ru-RU" dirty="0"/>
              <a:t>Один пользователь может открыть приложение на небольшом смартфоне, другой — на планшете.</a:t>
            </a:r>
          </a:p>
          <a:p>
            <a:r>
              <a:rPr lang="ru-RU" dirty="0"/>
              <a:t>Кроме того, пользователь может повернуть устройство, изменив ориентацию экрана с вертикальной на горизонтальную.</a:t>
            </a:r>
          </a:p>
          <a:p>
            <a:r>
              <a:rPr lang="ru-RU" dirty="0"/>
              <a:t>Поэтому интерфейс должен уметь приспосабливаться к изменению доступного пространства.</a:t>
            </a:r>
          </a:p>
          <a:p>
            <a:r>
              <a:rPr lang="ru-RU" dirty="0"/>
              <a:t>Такой подход называется адаптивной вёрсткой.</a:t>
            </a:r>
          </a:p>
          <a:p>
            <a:r>
              <a:rPr lang="ru-RU" dirty="0"/>
              <a:t>Адаптивная вёрстка — это организация интерфейса, при которой размеры и расположение компонентов изменяются в зависимости от характеристик экрана.</a:t>
            </a:r>
          </a:p>
          <a:p>
            <a:r>
              <a:rPr lang="ru-RU" dirty="0"/>
              <a:t>Одним из способов реализации адаптивности в 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 является использование хука </a:t>
            </a:r>
            <a:r>
              <a:rPr lang="ru-RU" dirty="0" err="1"/>
              <a:t>useWindowDimensions</a:t>
            </a:r>
            <a:r>
              <a:rPr lang="ru-RU" dirty="0"/>
              <a:t>.</a:t>
            </a:r>
          </a:p>
          <a:p>
            <a:r>
              <a:rPr lang="ru-RU" dirty="0"/>
              <a:t>Рассмотрим пример:</a:t>
            </a:r>
          </a:p>
          <a:p>
            <a:r>
              <a:rPr lang="ru-RU" dirty="0" err="1"/>
              <a:t>import</a:t>
            </a:r>
            <a:r>
              <a:rPr lang="ru-RU" dirty="0"/>
              <a:t> { </a:t>
            </a:r>
            <a:r>
              <a:rPr lang="ru-RU" dirty="0" err="1"/>
              <a:t>useWindowDimensions</a:t>
            </a:r>
            <a:r>
              <a:rPr lang="ru-RU" dirty="0"/>
              <a:t> } </a:t>
            </a:r>
            <a:r>
              <a:rPr lang="ru-RU" dirty="0" err="1"/>
              <a:t>from</a:t>
            </a:r>
            <a:r>
              <a:rPr lang="ru-RU" dirty="0"/>
              <a:t> '</a:t>
            </a:r>
            <a:r>
              <a:rPr lang="ru-RU" dirty="0" err="1"/>
              <a:t>react-native</a:t>
            </a:r>
            <a:r>
              <a:rPr lang="ru-RU" dirty="0"/>
              <a:t>';</a:t>
            </a:r>
          </a:p>
          <a:p>
            <a:r>
              <a:rPr lang="ru-RU" dirty="0"/>
              <a:t>В первой строке импортируется хук </a:t>
            </a:r>
            <a:r>
              <a:rPr lang="ru-RU" dirty="0" err="1"/>
              <a:t>useWindowDimensions</a:t>
            </a:r>
            <a:r>
              <a:rPr lang="ru-RU" dirty="0"/>
              <a:t>.</a:t>
            </a:r>
          </a:p>
          <a:p>
            <a:r>
              <a:rPr lang="ru-RU" dirty="0"/>
              <a:t>Он позволяет получать актуальные размеры окна приложения.</a:t>
            </a:r>
          </a:p>
          <a:p>
            <a:r>
              <a:rPr lang="ru-RU" dirty="0"/>
              <a:t>Далее внутри функционального компонента используется:</a:t>
            </a:r>
          </a:p>
          <a:p>
            <a:r>
              <a:rPr lang="ru-RU" dirty="0" err="1"/>
              <a:t>const</a:t>
            </a:r>
            <a:r>
              <a:rPr lang="ru-RU" dirty="0"/>
              <a:t> { </a:t>
            </a:r>
            <a:r>
              <a:rPr lang="ru-RU" dirty="0" err="1"/>
              <a:t>width</a:t>
            </a:r>
            <a:r>
              <a:rPr lang="ru-RU" dirty="0"/>
              <a:t> } = </a:t>
            </a:r>
            <a:r>
              <a:rPr lang="ru-RU" dirty="0" err="1"/>
              <a:t>useWindowDimensions</a:t>
            </a:r>
            <a:r>
              <a:rPr lang="ru-RU" dirty="0"/>
              <a:t>();</a:t>
            </a:r>
          </a:p>
          <a:p>
            <a:r>
              <a:rPr lang="ru-RU" dirty="0"/>
              <a:t>Хук возвращает объект с размерами окна.</a:t>
            </a:r>
          </a:p>
          <a:p>
            <a:r>
              <a:rPr lang="ru-RU" dirty="0"/>
              <a:t>С помощью деструктуризации из него извлекается свойство </a:t>
            </a:r>
            <a:r>
              <a:rPr lang="ru-RU" dirty="0" err="1"/>
              <a:t>width</a:t>
            </a:r>
            <a:r>
              <a:rPr lang="ru-RU" dirty="0"/>
              <a:t>, содержащее текущую ширину.</a:t>
            </a:r>
          </a:p>
          <a:p>
            <a:r>
              <a:rPr lang="ru-RU" dirty="0"/>
              <a:t>После этого создаётся переменная:</a:t>
            </a:r>
          </a:p>
          <a:p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isWide</a:t>
            </a:r>
            <a:r>
              <a:rPr lang="ru-RU" dirty="0"/>
              <a:t> = </a:t>
            </a:r>
            <a:r>
              <a:rPr lang="ru-RU" dirty="0" err="1"/>
              <a:t>width</a:t>
            </a:r>
            <a:r>
              <a:rPr lang="ru-RU" dirty="0"/>
              <a:t> &gt;= 700;</a:t>
            </a:r>
          </a:p>
          <a:p>
            <a:r>
              <a:rPr lang="ru-RU" dirty="0"/>
              <a:t>В результате сравнения получается логическое значение.</a:t>
            </a:r>
          </a:p>
          <a:p>
            <a:r>
              <a:rPr lang="ru-RU" dirty="0"/>
              <a:t>Если ширина окна составляет 700 или более логических единиц, </a:t>
            </a:r>
            <a:r>
              <a:rPr lang="ru-RU" dirty="0" err="1"/>
              <a:t>isWide</a:t>
            </a:r>
            <a:r>
              <a:rPr lang="ru-RU" dirty="0"/>
              <a:t> будет равно </a:t>
            </a:r>
            <a:r>
              <a:rPr lang="ru-RU" dirty="0" err="1"/>
              <a:t>true</a:t>
            </a:r>
            <a:r>
              <a:rPr lang="ru-RU" dirty="0"/>
              <a:t>.</a:t>
            </a:r>
          </a:p>
          <a:p>
            <a:r>
              <a:rPr lang="ru-RU" dirty="0"/>
              <a:t>Если ширина меньше 700, значение будет равно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r>
              <a:rPr lang="ru-RU" dirty="0"/>
              <a:t>Это условие можно использовать для выбора оформления карточки</a:t>
            </a:r>
          </a:p>
          <a:p>
            <a:r>
              <a:rPr lang="en-US" dirty="0"/>
              <a:t>&lt;View style={[ </a:t>
            </a:r>
            <a:r>
              <a:rPr lang="en-US" dirty="0" err="1"/>
              <a:t>styles.card</a:t>
            </a:r>
            <a:r>
              <a:rPr lang="en-US" dirty="0"/>
              <a:t>, </a:t>
            </a:r>
            <a:r>
              <a:rPr lang="en-US" dirty="0" err="1"/>
              <a:t>isWide</a:t>
            </a:r>
            <a:r>
              <a:rPr lang="en-US" dirty="0"/>
              <a:t> &amp;&amp; </a:t>
            </a:r>
            <a:r>
              <a:rPr lang="en-US" dirty="0" err="1"/>
              <a:t>styles.cardHorizontal</a:t>
            </a:r>
            <a:r>
              <a:rPr lang="en-US" dirty="0"/>
              <a:t> ]} &gt;</a:t>
            </a:r>
          </a:p>
          <a:p>
            <a:r>
              <a:rPr lang="ru-RU" dirty="0"/>
              <a:t>Здесь компоненту передаётся массив стилей.</a:t>
            </a:r>
          </a:p>
          <a:p>
            <a:r>
              <a:rPr lang="en-US" dirty="0" err="1"/>
              <a:t>styles.card</a:t>
            </a:r>
            <a:r>
              <a:rPr lang="en-US" dirty="0"/>
              <a:t> </a:t>
            </a:r>
            <a:r>
              <a:rPr lang="ru-RU" dirty="0"/>
              <a:t>применяется всегда.</a:t>
            </a:r>
          </a:p>
          <a:p>
            <a:r>
              <a:rPr lang="en-US" dirty="0" err="1"/>
              <a:t>styles.cardHorizontal</a:t>
            </a:r>
            <a:r>
              <a:rPr lang="en-US" dirty="0"/>
              <a:t> </a:t>
            </a:r>
            <a:r>
              <a:rPr lang="ru-RU" dirty="0"/>
              <a:t>применяется только при условии, что </a:t>
            </a:r>
            <a:r>
              <a:rPr lang="en-US" dirty="0" err="1"/>
              <a:t>isWide</a:t>
            </a:r>
            <a:r>
              <a:rPr lang="en-US" dirty="0"/>
              <a:t> </a:t>
            </a:r>
            <a:r>
              <a:rPr lang="ru-RU" dirty="0"/>
              <a:t>равно </a:t>
            </a:r>
            <a:r>
              <a:rPr lang="en-US" dirty="0"/>
              <a:t>true.</a:t>
            </a:r>
          </a:p>
          <a:p>
            <a:r>
              <a:rPr lang="ru-RU" dirty="0"/>
              <a:t>Помимо изменения направления элементов, адаптивность может обеспечиваться гибкими размерами.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 err="1"/>
              <a:t>width</a:t>
            </a:r>
            <a:r>
              <a:rPr lang="ru-RU" dirty="0"/>
              <a:t>: '50%'</a:t>
            </a:r>
          </a:p>
          <a:p>
            <a:r>
              <a:rPr lang="ru-RU" dirty="0"/>
              <a:t>задаёт ширину элемента в размере половины соответствующей ширины родительского контейнера.</a:t>
            </a:r>
          </a:p>
          <a:p>
            <a:r>
              <a:rPr lang="ru-RU" dirty="0"/>
              <a:t>Свойство:</a:t>
            </a:r>
          </a:p>
          <a:p>
            <a:r>
              <a:rPr lang="ru-RU" dirty="0" err="1"/>
              <a:t>maxWidth</a:t>
            </a:r>
            <a:r>
              <a:rPr lang="ru-RU" dirty="0"/>
              <a:t>: 500</a:t>
            </a:r>
          </a:p>
          <a:p>
            <a:r>
              <a:rPr lang="ru-RU" dirty="0"/>
              <a:t>ограничивает максимальную ширину элемента.</a:t>
            </a:r>
          </a:p>
          <a:p>
            <a:r>
              <a:rPr lang="ru-RU" dirty="0"/>
              <a:t>Это удобно на больших экранах, когда карточка не должна бесконечно растягиваться.</a:t>
            </a:r>
          </a:p>
          <a:p>
            <a:r>
              <a:rPr lang="ru-RU" dirty="0"/>
              <a:t>Свойство:</a:t>
            </a:r>
          </a:p>
          <a:p>
            <a:r>
              <a:rPr lang="ru-RU" dirty="0" err="1"/>
              <a:t>aspectRatio</a:t>
            </a:r>
            <a:r>
              <a:rPr lang="ru-RU" dirty="0"/>
              <a:t>: 1</a:t>
            </a:r>
          </a:p>
          <a:p>
            <a:r>
              <a:rPr lang="ru-RU" dirty="0"/>
              <a:t>позволяет сохранять заданное соотношение ширины и высоты.</a:t>
            </a:r>
          </a:p>
          <a:p>
            <a:r>
              <a:rPr lang="ru-RU" dirty="0"/>
              <a:t>В данном случае значение 1 означает соотношение 1:1, то есть квадратную форму.</a:t>
            </a:r>
          </a:p>
          <a:p>
            <a:r>
              <a:rPr lang="ru-RU" dirty="0"/>
              <a:t>Это особенно полезно для изображений товаров.</a:t>
            </a:r>
          </a:p>
          <a:p>
            <a:r>
              <a:rPr lang="ru-RU" dirty="0"/>
              <a:t>Важным преимуществом </a:t>
            </a:r>
            <a:r>
              <a:rPr lang="ru-RU" dirty="0" err="1"/>
              <a:t>useWindowDimensions</a:t>
            </a:r>
            <a:r>
              <a:rPr lang="ru-RU" dirty="0"/>
              <a:t> является то, что размеры обновляются при изменении окна приложения, в том числе при повороте устройства.</a:t>
            </a:r>
          </a:p>
          <a:p>
            <a:r>
              <a:rPr lang="ru-RU" dirty="0"/>
              <a:t>Благодаря этому интерфейс может автоматически переходить от вертикального расположения элементов к горизонтальному и обратно.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объединим полученные знания в одном примере — экране каталога интернет-магазина.</a:t>
            </a:r>
          </a:p>
          <a:p>
            <a:r>
              <a:rPr lang="ru-RU" dirty="0"/>
              <a:t>Такой экран должен отображать строку поиска и список товаров.</a:t>
            </a:r>
          </a:p>
          <a:p>
            <a:r>
              <a:rPr lang="ru-RU" dirty="0"/>
              <a:t>Пользователь должен иметь возможность вводить поисковый запрос, просматривать подходящие товары и нажимать кнопку добавления товара в корзину.</a:t>
            </a:r>
          </a:p>
          <a:p>
            <a:r>
              <a:rPr lang="ru-RU" dirty="0"/>
              <a:t>Для реализации этого интерфейса используются пользовательские компоненты, </a:t>
            </a:r>
            <a:r>
              <a:rPr lang="ru-RU" dirty="0" err="1"/>
              <a:t>props</a:t>
            </a:r>
            <a:r>
              <a:rPr lang="ru-RU" dirty="0"/>
              <a:t>, состояние, обработчики событий, </a:t>
            </a:r>
            <a:r>
              <a:rPr lang="ru-RU" dirty="0" err="1"/>
              <a:t>FlatList</a:t>
            </a:r>
            <a:r>
              <a:rPr lang="ru-RU" dirty="0"/>
              <a:t>, </a:t>
            </a:r>
            <a:r>
              <a:rPr lang="ru-RU" dirty="0" err="1"/>
              <a:t>StyleSheet</a:t>
            </a:r>
            <a:r>
              <a:rPr lang="ru-RU" dirty="0"/>
              <a:t> и </a:t>
            </a:r>
            <a:r>
              <a:rPr lang="ru-RU" dirty="0" err="1"/>
              <a:t>Flexbox</a:t>
            </a:r>
            <a:r>
              <a:rPr lang="ru-RU" dirty="0"/>
              <a:t>.</a:t>
            </a:r>
          </a:p>
          <a:p>
            <a:r>
              <a:rPr lang="ru-RU" dirty="0"/>
              <a:t>Рассмотрим разметку основного компонента:</a:t>
            </a:r>
          </a:p>
          <a:p>
            <a:r>
              <a:rPr lang="ru-RU" dirty="0"/>
              <a:t>Внешним компонентом является View.</a:t>
            </a:r>
          </a:p>
          <a:p>
            <a:r>
              <a:rPr lang="ru-RU" dirty="0"/>
              <a:t>К нему применяется стиль </a:t>
            </a:r>
            <a:r>
              <a:rPr lang="ru-RU" dirty="0" err="1"/>
              <a:t>styles.screen</a:t>
            </a:r>
            <a:r>
              <a:rPr lang="ru-RU" dirty="0"/>
              <a:t>, который определяет оформление экрана.</a:t>
            </a:r>
          </a:p>
          <a:p>
            <a:r>
              <a:rPr lang="ru-RU" dirty="0"/>
              <a:t>Внутри расположены два основных компонента: </a:t>
            </a:r>
            <a:r>
              <a:rPr lang="ru-RU" dirty="0" err="1"/>
              <a:t>SearchField</a:t>
            </a:r>
            <a:r>
              <a:rPr lang="ru-RU" dirty="0"/>
              <a:t> и </a:t>
            </a:r>
            <a:r>
              <a:rPr lang="ru-RU" dirty="0" err="1"/>
              <a:t>FlatList</a:t>
            </a:r>
            <a:r>
              <a:rPr lang="ru-RU" dirty="0"/>
              <a:t>.</a:t>
            </a:r>
          </a:p>
          <a:p>
            <a:r>
              <a:rPr lang="ru-RU" b="1" dirty="0"/>
              <a:t>Компонент </a:t>
            </a:r>
            <a:r>
              <a:rPr lang="ru-RU" b="1" dirty="0" err="1"/>
              <a:t>SearchField</a:t>
            </a:r>
            <a:endParaRPr lang="ru-RU" b="1" dirty="0"/>
          </a:p>
          <a:p>
            <a:r>
              <a:rPr lang="ru-RU" dirty="0"/>
              <a:t>&lt;</a:t>
            </a:r>
            <a:r>
              <a:rPr lang="ru-RU" dirty="0" err="1"/>
              <a:t>SearchField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={</a:t>
            </a:r>
            <a:r>
              <a:rPr lang="ru-RU" dirty="0" err="1"/>
              <a:t>query</a:t>
            </a:r>
            <a:r>
              <a:rPr lang="ru-RU" dirty="0"/>
              <a:t>} </a:t>
            </a:r>
            <a:r>
              <a:rPr lang="ru-RU" dirty="0" err="1"/>
              <a:t>onChange</a:t>
            </a:r>
            <a:r>
              <a:rPr lang="ru-RU" dirty="0"/>
              <a:t>={</a:t>
            </a:r>
            <a:r>
              <a:rPr lang="ru-RU" dirty="0" err="1"/>
              <a:t>setQuery</a:t>
            </a:r>
            <a:r>
              <a:rPr lang="ru-RU" dirty="0"/>
              <a:t>} /&gt;</a:t>
            </a:r>
          </a:p>
          <a:p>
            <a:r>
              <a:rPr lang="ru-RU" dirty="0" err="1"/>
              <a:t>SearchField</a:t>
            </a:r>
            <a:r>
              <a:rPr lang="ru-RU" dirty="0"/>
              <a:t> — это пользовательский компонент, отвечающий за поле поиска.</a:t>
            </a:r>
          </a:p>
          <a:p>
            <a:r>
              <a:rPr lang="ru-RU" dirty="0"/>
              <a:t>Он получает два свойства.</a:t>
            </a:r>
          </a:p>
          <a:p>
            <a:r>
              <a:rPr lang="ru-RU" dirty="0" err="1"/>
              <a:t>value</a:t>
            </a:r>
            <a:r>
              <a:rPr lang="ru-RU" dirty="0"/>
              <a:t> содержит текущий поисковый запрос.</a:t>
            </a:r>
          </a:p>
          <a:p>
            <a:r>
              <a:rPr lang="ru-RU" dirty="0" err="1"/>
              <a:t>onChange</a:t>
            </a:r>
            <a:r>
              <a:rPr lang="ru-RU" dirty="0"/>
              <a:t> содержит функцию, позволяющую изменить этот запрос.</a:t>
            </a:r>
          </a:p>
          <a:p>
            <a:r>
              <a:rPr lang="ru-RU" dirty="0"/>
              <a:t>В данном случае значение </a:t>
            </a:r>
            <a:r>
              <a:rPr lang="ru-RU" dirty="0" err="1"/>
              <a:t>query</a:t>
            </a:r>
            <a:r>
              <a:rPr lang="ru-RU" dirty="0"/>
              <a:t> хранится в состоянии родительского компонента.</a:t>
            </a:r>
          </a:p>
          <a:p>
            <a:r>
              <a:rPr lang="ru-RU" dirty="0"/>
              <a:t>Функция </a:t>
            </a:r>
            <a:r>
              <a:rPr lang="ru-RU" dirty="0" err="1"/>
              <a:t>setQuery</a:t>
            </a:r>
            <a:r>
              <a:rPr lang="ru-RU" dirty="0"/>
              <a:t> обновляет это состояние.</a:t>
            </a:r>
          </a:p>
          <a:p>
            <a:r>
              <a:rPr lang="ru-RU" dirty="0"/>
              <a:t>При вводе текста в поисковое поле новое значение передаётся родительскому компоненту через функцию </a:t>
            </a:r>
            <a:r>
              <a:rPr lang="ru-RU" dirty="0" err="1"/>
              <a:t>onChange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мы видим взаимодействие родительского и дочернего компонентов через </a:t>
            </a:r>
            <a:r>
              <a:rPr lang="ru-RU" dirty="0" err="1"/>
              <a:t>props</a:t>
            </a:r>
            <a:r>
              <a:rPr lang="ru-RU" dirty="0"/>
              <a:t>.</a:t>
            </a:r>
          </a:p>
          <a:p>
            <a:r>
              <a:rPr lang="ru-RU" b="1" dirty="0"/>
              <a:t>Компонент </a:t>
            </a:r>
            <a:r>
              <a:rPr lang="ru-RU" b="1" dirty="0" err="1"/>
              <a:t>FlatList</a:t>
            </a:r>
            <a:endParaRPr lang="ru-RU" b="1" dirty="0"/>
          </a:p>
          <a:p>
            <a:r>
              <a:rPr lang="ru-RU" dirty="0"/>
              <a:t>&lt;</a:t>
            </a:r>
            <a:r>
              <a:rPr lang="ru-RU" dirty="0" err="1"/>
              <a:t>FlatList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={</a:t>
            </a:r>
            <a:r>
              <a:rPr lang="ru-RU" dirty="0" err="1"/>
              <a:t>visible</a:t>
            </a:r>
            <a:r>
              <a:rPr lang="ru-RU" dirty="0"/>
              <a:t>} </a:t>
            </a:r>
            <a:r>
              <a:rPr lang="ru-RU" dirty="0" err="1"/>
              <a:t>keyExtractor</a:t>
            </a:r>
            <a:r>
              <a:rPr lang="ru-RU" dirty="0"/>
              <a:t>={(</a:t>
            </a:r>
            <a:r>
              <a:rPr lang="ru-RU" dirty="0" err="1"/>
              <a:t>item</a:t>
            </a:r>
            <a:r>
              <a:rPr lang="ru-RU" dirty="0"/>
              <a:t>) =&gt; item.id} </a:t>
            </a:r>
            <a:r>
              <a:rPr lang="ru-RU" dirty="0" err="1"/>
              <a:t>renderItem</a:t>
            </a:r>
            <a:r>
              <a:rPr lang="ru-RU" dirty="0"/>
              <a:t>={({ </a:t>
            </a:r>
            <a:r>
              <a:rPr lang="ru-RU" dirty="0" err="1"/>
              <a:t>item</a:t>
            </a:r>
            <a:r>
              <a:rPr lang="ru-RU" dirty="0"/>
              <a:t> }) =&gt; ( &lt;</a:t>
            </a:r>
            <a:r>
              <a:rPr lang="ru-RU" dirty="0" err="1"/>
              <a:t>ProductCard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={</a:t>
            </a:r>
            <a:r>
              <a:rPr lang="ru-RU" dirty="0" err="1"/>
              <a:t>item</a:t>
            </a:r>
            <a:r>
              <a:rPr lang="ru-RU" dirty="0"/>
              <a:t>} </a:t>
            </a:r>
            <a:r>
              <a:rPr lang="ru-RU" dirty="0" err="1"/>
              <a:t>onAdd</a:t>
            </a:r>
            <a:r>
              <a:rPr lang="ru-RU" dirty="0"/>
              <a:t>={() =&gt; </a:t>
            </a:r>
            <a:r>
              <a:rPr lang="ru-RU" dirty="0" err="1"/>
              <a:t>addProduct</a:t>
            </a:r>
            <a:r>
              <a:rPr lang="ru-RU" dirty="0"/>
              <a:t>(</a:t>
            </a:r>
            <a:r>
              <a:rPr lang="ru-RU" dirty="0" err="1"/>
              <a:t>item</a:t>
            </a:r>
            <a:r>
              <a:rPr lang="ru-RU" dirty="0"/>
              <a:t>)} /&gt; )} /&gt;</a:t>
            </a:r>
          </a:p>
          <a:p>
            <a:r>
              <a:rPr lang="ru-RU" dirty="0"/>
              <a:t>Компонент </a:t>
            </a:r>
            <a:r>
              <a:rPr lang="ru-RU" dirty="0" err="1"/>
              <a:t>FlatList</a:t>
            </a:r>
            <a:r>
              <a:rPr lang="ru-RU" dirty="0"/>
              <a:t> отображает список товаров.</a:t>
            </a:r>
          </a:p>
          <a:p>
            <a:r>
              <a:rPr lang="ru-RU" dirty="0"/>
              <a:t>В свойство </a:t>
            </a:r>
            <a:r>
              <a:rPr lang="ru-RU" dirty="0" err="1"/>
              <a:t>data</a:t>
            </a:r>
            <a:r>
              <a:rPr lang="ru-RU" dirty="0"/>
              <a:t> передаётся массив </a:t>
            </a:r>
            <a:r>
              <a:rPr lang="ru-RU" dirty="0" err="1"/>
              <a:t>visible</a:t>
            </a:r>
            <a:r>
              <a:rPr lang="ru-RU" dirty="0"/>
              <a:t>.</a:t>
            </a:r>
          </a:p>
          <a:p>
            <a:r>
              <a:rPr lang="ru-RU" dirty="0"/>
              <a:t>Этот массив содержит товары, которые должны отображаться с учётом поискового запроса.</a:t>
            </a:r>
          </a:p>
          <a:p>
            <a:r>
              <a:rPr lang="ru-RU" dirty="0"/>
              <a:t>Свойство </a:t>
            </a:r>
            <a:r>
              <a:rPr lang="ru-RU" dirty="0" err="1"/>
              <a:t>keyExtractor</a:t>
            </a:r>
            <a:r>
              <a:rPr lang="ru-RU" dirty="0"/>
              <a:t> получает уникальные идентификаторы товаров.</a:t>
            </a:r>
          </a:p>
          <a:p>
            <a:r>
              <a:rPr lang="ru-RU" dirty="0"/>
              <a:t>Свойство </a:t>
            </a:r>
            <a:r>
              <a:rPr lang="ru-RU" dirty="0" err="1"/>
              <a:t>renderItem</a:t>
            </a:r>
            <a:r>
              <a:rPr lang="ru-RU" dirty="0"/>
              <a:t> создаёт компонент </a:t>
            </a:r>
            <a:r>
              <a:rPr lang="ru-RU" dirty="0" err="1"/>
              <a:t>ProductCard</a:t>
            </a:r>
            <a:r>
              <a:rPr lang="ru-RU" dirty="0"/>
              <a:t> для каждого элемента списка.</a:t>
            </a:r>
          </a:p>
          <a:p>
            <a:r>
              <a:rPr lang="ru-RU" dirty="0"/>
              <a:t>Каждая карточка получает два свойства:</a:t>
            </a:r>
          </a:p>
          <a:p>
            <a:r>
              <a:rPr lang="ru-RU" dirty="0" err="1"/>
              <a:t>product</a:t>
            </a:r>
            <a:r>
              <a:rPr lang="ru-RU" dirty="0"/>
              <a:t> — объект текущего товара.</a:t>
            </a:r>
          </a:p>
          <a:p>
            <a:r>
              <a:rPr lang="ru-RU" dirty="0" err="1"/>
              <a:t>onAdd</a:t>
            </a:r>
            <a:r>
              <a:rPr lang="ru-RU" dirty="0"/>
              <a:t> — функция обработки добавления товара.</a:t>
            </a:r>
          </a:p>
          <a:p>
            <a:r>
              <a:rPr lang="ru-RU" dirty="0"/>
              <a:t>Рассмотрим последовательность взаимодействия.</a:t>
            </a:r>
          </a:p>
          <a:p>
            <a:r>
              <a:rPr lang="ru-RU" dirty="0"/>
              <a:t>Первоначально компонент отображает все товары.</a:t>
            </a:r>
          </a:p>
          <a:p>
            <a:r>
              <a:rPr lang="ru-RU" dirty="0"/>
              <a:t>Пользователь вводит текст в </a:t>
            </a:r>
            <a:r>
              <a:rPr lang="ru-RU" dirty="0" err="1"/>
              <a:t>SearchField</a:t>
            </a:r>
            <a:r>
              <a:rPr lang="ru-RU" dirty="0"/>
              <a:t>.</a:t>
            </a:r>
          </a:p>
          <a:p>
            <a:r>
              <a:rPr lang="ru-RU" dirty="0"/>
              <a:t>Компонент вызывает переданную ему функцию </a:t>
            </a:r>
            <a:r>
              <a:rPr lang="ru-RU" dirty="0" err="1"/>
              <a:t>onChange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dirty="0" err="1"/>
              <a:t>setQuery</a:t>
            </a:r>
            <a:r>
              <a:rPr lang="ru-RU" dirty="0"/>
              <a:t> изменяет состояние поискового запроса.</a:t>
            </a:r>
          </a:p>
          <a:p>
            <a:r>
              <a:rPr lang="ru-RU" dirty="0" err="1"/>
              <a:t>React</a:t>
            </a:r>
            <a:r>
              <a:rPr lang="ru-RU" dirty="0"/>
              <a:t> выполняет повторный рендер компонента с обновлённым состоянием.</a:t>
            </a:r>
          </a:p>
          <a:p>
            <a:r>
              <a:rPr lang="ru-RU" dirty="0"/>
              <a:t>Массив </a:t>
            </a:r>
            <a:r>
              <a:rPr lang="ru-RU" dirty="0" err="1"/>
              <a:t>visible</a:t>
            </a:r>
            <a:r>
              <a:rPr lang="ru-RU" dirty="0"/>
              <a:t> формируется заново с учётом актуального запроса.</a:t>
            </a:r>
          </a:p>
          <a:p>
            <a:r>
              <a:rPr lang="ru-RU" dirty="0" err="1"/>
              <a:t>FlatList</a:t>
            </a:r>
            <a:r>
              <a:rPr lang="ru-RU" dirty="0"/>
              <a:t> получает обновлённый массив через </a:t>
            </a:r>
            <a:r>
              <a:rPr lang="ru-RU" dirty="0" err="1"/>
              <a:t>data</a:t>
            </a:r>
            <a:r>
              <a:rPr lang="ru-RU" dirty="0"/>
              <a:t>.</a:t>
            </a:r>
          </a:p>
          <a:p>
            <a:r>
              <a:rPr lang="ru-RU" dirty="0"/>
              <a:t>В результате на экране отображаются только подходящие товары.</a:t>
            </a:r>
          </a:p>
          <a:p>
            <a:r>
              <a:rPr lang="ru-RU" dirty="0"/>
              <a:t>Когда пользователь нажимает кнопку «Добавить» в определённой карточке, вызывается функция:</a:t>
            </a:r>
          </a:p>
          <a:p>
            <a:r>
              <a:rPr lang="ru-RU" dirty="0" err="1"/>
              <a:t>addProduct</a:t>
            </a:r>
            <a:r>
              <a:rPr lang="ru-RU" dirty="0"/>
              <a:t>(</a:t>
            </a:r>
            <a:r>
              <a:rPr lang="ru-RU" dirty="0" err="1"/>
              <a:t>item</a:t>
            </a:r>
            <a:r>
              <a:rPr lang="ru-RU" dirty="0"/>
              <a:t>)</a:t>
            </a:r>
          </a:p>
          <a:p>
            <a:r>
              <a:rPr lang="ru-RU" dirty="0"/>
              <a:t>Она получает именно тот объект товара, которому соответствует нажатая карточка.</a:t>
            </a:r>
          </a:p>
          <a:p>
            <a:r>
              <a:rPr lang="ru-RU" dirty="0"/>
              <a:t>В данном примере функция </a:t>
            </a:r>
            <a:r>
              <a:rPr lang="ru-RU" dirty="0" err="1"/>
              <a:t>addProduct</a:t>
            </a:r>
            <a:r>
              <a:rPr lang="ru-RU" dirty="0"/>
              <a:t> предполагается определённой в родительском компоненте.</a:t>
            </a:r>
          </a:p>
          <a:p>
            <a:r>
              <a:rPr lang="ru-RU" dirty="0"/>
              <a:t>Таким образом, все рассмотренные механизмы объединяются в одном интерфейсе.</a:t>
            </a:r>
          </a:p>
          <a:p>
            <a:r>
              <a:rPr lang="ru-RU" dirty="0"/>
              <a:t>Композиция формирует структуру экрана.</a:t>
            </a:r>
          </a:p>
          <a:p>
            <a:r>
              <a:rPr lang="ru-RU" dirty="0" err="1"/>
              <a:t>Props</a:t>
            </a:r>
            <a:r>
              <a:rPr lang="ru-RU" dirty="0"/>
              <a:t> обеспечивают передачу данных и функций.</a:t>
            </a:r>
          </a:p>
          <a:p>
            <a:r>
              <a:rPr lang="ru-RU" dirty="0"/>
              <a:t>Состояние хранит поисковый запрос.</a:t>
            </a:r>
          </a:p>
          <a:p>
            <a:r>
              <a:rPr lang="ru-RU" dirty="0" err="1"/>
              <a:t>FlatList</a:t>
            </a:r>
            <a:r>
              <a:rPr lang="ru-RU" dirty="0"/>
              <a:t> отображает каталог.</a:t>
            </a:r>
          </a:p>
          <a:p>
            <a:r>
              <a:rPr lang="ru-RU" dirty="0" err="1"/>
              <a:t>StyleSheet</a:t>
            </a:r>
            <a:r>
              <a:rPr lang="ru-RU" dirty="0"/>
              <a:t> задаёт оформление.</a:t>
            </a:r>
          </a:p>
          <a:p>
            <a:r>
              <a:rPr lang="ru-RU" dirty="0" err="1"/>
              <a:t>Flexbox</a:t>
            </a:r>
            <a:r>
              <a:rPr lang="ru-RU" dirty="0"/>
              <a:t> управляет расположением элементов.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62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440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19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02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692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43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49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21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62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143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55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7108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2644599" y="1660232"/>
            <a:ext cx="6256805" cy="62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defTabSz="685800">
              <a:buClr>
                <a:srgbClr val="000000"/>
              </a:buClr>
              <a:defRPr/>
            </a:pPr>
            <a:r>
              <a:rPr lang="ru-RU" sz="1200" b="1" kern="0" dirty="0">
                <a:solidFill>
                  <a:srgbClr val="283CF5"/>
                </a:solidFill>
                <a:latin typeface="Arial"/>
                <a:cs typeface="Arial"/>
              </a:rPr>
              <a:t>Свойства </a:t>
            </a:r>
            <a:r>
              <a:rPr lang="ru-RU" sz="1200" b="1" kern="0" dirty="0" err="1">
                <a:solidFill>
                  <a:srgbClr val="283CF5"/>
                </a:solidFill>
                <a:latin typeface="Arial"/>
                <a:cs typeface="Arial"/>
              </a:rPr>
              <a:t>props</a:t>
            </a:r>
            <a:r>
              <a:rPr lang="ru-RU" sz="1200" b="1" kern="0" dirty="0">
                <a:solidFill>
                  <a:srgbClr val="283CF5"/>
                </a:solidFill>
                <a:latin typeface="Arial"/>
                <a:cs typeface="Arial"/>
              </a:rPr>
              <a:t>. Основные компоненты </a:t>
            </a:r>
            <a:r>
              <a:rPr lang="en-US" sz="1200" b="1" kern="0" dirty="0">
                <a:solidFill>
                  <a:srgbClr val="283CF5"/>
                </a:solidFill>
                <a:latin typeface="Arial"/>
                <a:cs typeface="Arial"/>
              </a:rPr>
              <a:t>React Native. View, Text, Image, Pressable, </a:t>
            </a:r>
            <a:r>
              <a:rPr lang="en-US" sz="1200" b="1" kern="0" dirty="0" err="1">
                <a:solidFill>
                  <a:srgbClr val="283CF5"/>
                </a:solidFill>
                <a:latin typeface="Arial"/>
                <a:cs typeface="Arial"/>
              </a:rPr>
              <a:t>TextInput</a:t>
            </a:r>
            <a:r>
              <a:rPr lang="en-US" sz="1200" b="1" kern="0" dirty="0">
                <a:solidFill>
                  <a:srgbClr val="283CF5"/>
                </a:solidFill>
                <a:latin typeface="Arial"/>
                <a:cs typeface="Arial"/>
              </a:rPr>
              <a:t>, </a:t>
            </a:r>
            <a:r>
              <a:rPr lang="en-US" sz="1200" b="1" kern="0" dirty="0" err="1">
                <a:solidFill>
                  <a:srgbClr val="283CF5"/>
                </a:solidFill>
                <a:latin typeface="Arial"/>
                <a:cs typeface="Arial"/>
              </a:rPr>
              <a:t>ScrollView</a:t>
            </a:r>
            <a:r>
              <a:rPr lang="en-US" sz="1200" b="1" kern="0" dirty="0">
                <a:solidFill>
                  <a:srgbClr val="283CF5"/>
                </a:solidFill>
                <a:latin typeface="Arial"/>
                <a:cs typeface="Arial"/>
              </a:rPr>
              <a:t> </a:t>
            </a:r>
            <a:r>
              <a:rPr lang="ru-RU" sz="1200" b="1" kern="0" dirty="0">
                <a:solidFill>
                  <a:srgbClr val="283CF5"/>
                </a:solidFill>
                <a:latin typeface="Arial"/>
                <a:cs typeface="Arial"/>
              </a:rPr>
              <a:t>и </a:t>
            </a:r>
            <a:r>
              <a:rPr lang="en-US" sz="1200" b="1" kern="0" dirty="0" err="1">
                <a:solidFill>
                  <a:srgbClr val="283CF5"/>
                </a:solidFill>
                <a:latin typeface="Arial"/>
                <a:cs typeface="Arial"/>
              </a:rPr>
              <a:t>FlatList</a:t>
            </a:r>
            <a:r>
              <a:rPr lang="en-US" sz="1200" b="1" kern="0" dirty="0">
                <a:solidFill>
                  <a:srgbClr val="283CF5"/>
                </a:solidFill>
                <a:latin typeface="Arial"/>
                <a:cs typeface="Arial"/>
              </a:rPr>
              <a:t>. </a:t>
            </a:r>
            <a:r>
              <a:rPr lang="ru-RU" sz="1200" b="1" kern="0" dirty="0">
                <a:solidFill>
                  <a:srgbClr val="283CF5"/>
                </a:solidFill>
                <a:latin typeface="Arial"/>
                <a:cs typeface="Arial"/>
              </a:rPr>
              <a:t>Стилизация с помощью </a:t>
            </a:r>
            <a:r>
              <a:rPr lang="en-US" sz="1200" b="1" kern="0" dirty="0" err="1">
                <a:solidFill>
                  <a:srgbClr val="283CF5"/>
                </a:solidFill>
                <a:latin typeface="Arial"/>
                <a:cs typeface="Arial"/>
              </a:rPr>
              <a:t>StyleSheet</a:t>
            </a:r>
            <a:r>
              <a:rPr lang="en-US" sz="1200" b="1" kern="0" dirty="0">
                <a:solidFill>
                  <a:srgbClr val="283CF5"/>
                </a:solidFill>
                <a:latin typeface="Arial"/>
                <a:cs typeface="Arial"/>
              </a:rPr>
              <a:t>. Flexbox </a:t>
            </a:r>
            <a:r>
              <a:rPr lang="ru-RU" sz="1200" b="1" kern="0" dirty="0">
                <a:solidFill>
                  <a:srgbClr val="283CF5"/>
                </a:solidFill>
                <a:latin typeface="Arial"/>
                <a:cs typeface="Arial"/>
              </a:rPr>
              <a:t>и адаптивное размещение элементов.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2791556" y="3891906"/>
            <a:ext cx="591390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defTabSz="685800">
              <a:buClr>
                <a:srgbClr val="000000"/>
              </a:buClr>
              <a:defRPr/>
            </a:pPr>
            <a:r>
              <a:rPr lang="ru-RU" kern="0" dirty="0">
                <a:solidFill>
                  <a:srgbClr val="FFFFFF"/>
                </a:solidFill>
                <a:latin typeface="Arial"/>
                <a:cs typeface="Arial"/>
              </a:rPr>
              <a:t>Преподаватель: Евдошенко Неля </a:t>
            </a:r>
            <a:r>
              <a:rPr lang="ru-RU" kern="0" dirty="0" err="1">
                <a:solidFill>
                  <a:srgbClr val="FFFFFF"/>
                </a:solidFill>
                <a:latin typeface="Arial"/>
                <a:cs typeface="Arial"/>
              </a:rPr>
              <a:t>Ильнуровна</a:t>
            </a:r>
            <a:endParaRPr sz="788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2791557" y="2468115"/>
            <a:ext cx="6109847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defTabSz="685800">
              <a:buClr>
                <a:srgbClr val="000000"/>
              </a:buClr>
              <a:defRPr/>
            </a:pPr>
            <a:r>
              <a:rPr lang="ru-RU" sz="2400" dirty="0">
                <a:solidFill>
                  <a:prstClr val="white"/>
                </a:solidFill>
                <a:latin typeface="KyivType Sans Heavy" panose="00000900000000000000" pitchFamily="50" charset="-52"/>
                <a:cs typeface="Arial"/>
              </a:rPr>
              <a:t>Дисциплина: Разработка мобильных приложений</a:t>
            </a:r>
            <a:endParaRPr sz="90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Повторение: компонент и JSX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Функциональный компонент — функция, которая возвращает описание интерфейса на JSX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компонента начинается с заглавной буквы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Встроенные компоненты (View, Text, Image…) даёт React Native; пользовательские пишем мы сами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компонент можно использовать в разметке много раз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2618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PRODUCTCARD.JS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64608" y="1536192"/>
            <a:ext cx="36210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View, Text }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'react-native'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ProductCard()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&gt;Наушники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&gt;2500 ₽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 макета экрана к компонентам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Делим интерфейс на самостоятельные части — будущие компоненты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Родительские компоненты содержат дочерние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вместе образует дерево компонентов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каталога: CatalogScreen → SearchField + список ProductCard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32588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CatalogScreen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0" cy="32004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66360" y="2148840"/>
            <a:ext cx="1920240" cy="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66360" y="2148840"/>
            <a:ext cx="0" cy="32004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2148840"/>
            <a:ext cx="0" cy="54864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4688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SearchField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154680"/>
            <a:ext cx="0" cy="13716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291840"/>
            <a:ext cx="1737360" cy="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291840"/>
            <a:ext cx="0" cy="13716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3291840"/>
            <a:ext cx="0" cy="137160"/>
          </a:xfrm>
          <a:prstGeom prst="line">
            <a:avLst/>
          </a:prstGeom>
          <a:noFill/>
          <a:ln w="19050">
            <a:solidFill>
              <a:srgbClr val="D4D1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68112" y="3429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05472" y="34290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87968" y="349300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6908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25420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дочерние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компонентов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нужны props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одинаковой структуры, но данные разные. Копируем разметку — при изменении дизайна правим каждую копию.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600200" cy="1463040"/>
          </a:xfrm>
          <a:prstGeom prst="roundRect">
            <a:avLst>
              <a:gd name="adj" fmla="val 2500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Наушники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 ₽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2514600"/>
            <a:ext cx="1600200" cy="1463040"/>
          </a:xfrm>
          <a:prstGeom prst="roundRect">
            <a:avLst>
              <a:gd name="adj" fmla="val 2500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5146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Чехол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разметка ×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016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6276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входные данные компонента. Один ProductCard описывает структуру, а данные передаются снаружи при каждом использовании.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83480" y="2468880"/>
            <a:ext cx="3474720" cy="1554480"/>
          </a:xfrm>
          <a:prstGeom prst="roundRect">
            <a:avLst>
              <a:gd name="adj" fmla="val 41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4648" y="2587752"/>
            <a:ext cx="3072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title=</a:t>
            </a:r>
            <a:r>
              <a:rPr lang="en-US" sz="11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"Наушники"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price={2500} /&gt;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title=</a:t>
            </a:r>
            <a:r>
              <a:rPr lang="en-US" sz="11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"Чехол"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price={900} /&gt;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Передача и получение props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4000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0759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81912"/>
            <a:ext cx="3575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</a:t>
            </a:r>
            <a:r>
              <a:rPr lang="en-US" sz="11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"Наушники"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price={2500}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977640" cy="1325880"/>
          </a:xfrm>
          <a:prstGeom prst="roundRect">
            <a:avLst>
              <a:gd name="adj" fmla="val 482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4495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ОДИН ТОВАР — ТОТ ЖЕ КОМПОНЕНТ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3319272"/>
            <a:ext cx="3575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</a:t>
            </a:r>
            <a:r>
              <a:rPr lang="en-US" sz="11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"Чехол"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price={900}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977640" cy="3063240"/>
          </a:xfrm>
          <a:prstGeom prst="roundRect">
            <a:avLst>
              <a:gd name="adj" fmla="val 2090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30759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КОМПОНЕНТА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10328" y="1581912"/>
            <a:ext cx="35753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ProductCard(props)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&gt;{props.title}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&gt;{props.price} ₽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4343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обычный объект: свойства читаем как поля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Типы значений в props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486400" cy="2764536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записывается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title="Наушники"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кавычках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price={2500}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фигурных скобках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Логическое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available={true}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фигурных скобках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Объект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product={{ title, price }}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двойные скобки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Массив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tags={['новинка', 'хит']}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внутри скобок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onAdd={handleAdd}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вызова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234440"/>
            <a:ext cx="2468880" cy="2286000"/>
          </a:xfrm>
          <a:prstGeom prst="roundRect">
            <a:avLst>
              <a:gd name="adj" fmla="val 2800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419088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И ПРИЗНАК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19088" y="1627632"/>
            <a:ext cx="20665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product={product}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available={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product удобно передавать целиком, а не по одному полю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Деструктуризация и значения по умолчанию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2514600"/>
          </a:xfrm>
          <a:prstGeom prst="roundRect">
            <a:avLst>
              <a:gd name="adj" fmla="val 2545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0759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ОБЪЕКТ PROPS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81912"/>
            <a:ext cx="3575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ProductCard(props) {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&gt;{props.title}</a:t>
            </a: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&gt;{props.price} ₽</a:t>
            </a: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2514600"/>
          </a:xfrm>
          <a:prstGeom prst="roundRect">
            <a:avLst>
              <a:gd name="adj" fmla="val 2545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30759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ДЕСТРУКТУРИЗАЦИЕЙ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10328" y="1581912"/>
            <a:ext cx="3575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title, price, inStock =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&gt;{title}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&gt;{price} ₽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по умолчанию применяется, когда свойство </a:t>
            </a: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отсутствует или равно undefined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inStock останется true, если родитель не передал это свойство. Если передано значение (в том числе false) — используется оно.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Однонаправленная передача данных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передаются только сверху вниз: от родителя к дочернему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Полученные props нельзя изменять внутри дочернего компонента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другие данные — родитель передаёт их при следующем рендере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весь интерфейс остаётся предсказуемым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3258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CatalogScreen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120640" y="32918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Дочерний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965960"/>
            <a:ext cx="0" cy="868680"/>
          </a:xfrm>
          <a:prstGeom prst="line">
            <a:avLst/>
          </a:prstGeom>
          <a:noFill/>
          <a:ln w="31750">
            <a:solidFill>
              <a:srgbClr val="01696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63524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12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props 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3200400"/>
            <a:ext cx="0" cy="0"/>
          </a:xfrm>
          <a:prstGeom prst="line">
            <a:avLst/>
          </a:prstGeom>
          <a:noFill/>
          <a:ln w="25400">
            <a:solidFill>
              <a:srgbClr val="A12C7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12064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идут в одну сторону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0AB84A-817A-9062-3196-D8AF0BCC29B6}"/>
              </a:ext>
            </a:extLst>
          </p:cNvPr>
          <p:cNvSpPr txBox="1"/>
          <p:nvPr/>
        </p:nvSpPr>
        <p:spPr>
          <a:xfrm>
            <a:off x="480060" y="3327618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CatalogScreen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ProductCard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="Наушники"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={2500}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/&gt;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Функции в props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Компонент-ребёнок не знает, что делать с нажатием, — родитель передаёт ему обработчик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— такое же значение, как строка или число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Передаём ссылку: onAdd={handleAdd}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при рендере — ошибка: onAdd={handleAdd()}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2618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ВНУТРИ КАРТОЧКИ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64608" y="1536192"/>
            <a:ext cx="36210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ProductCard({ onAdd })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&lt;Pressable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onPress={onAdd}&gt;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&gt;Добавить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&lt;/Pressable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родитель решает, что произойдёт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onAdd={() =&gt; addToCart(product)}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композиция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Сложный интерфейс собираем из небольших компонентов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отвечает за одну задачу — разделение ответственности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переиспользуются в разных экранах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товара = изображение + описание + кнопка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3200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0" y="178308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— фото товара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256032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ProductInfo — название и цена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333756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Pressable — кнопка «Добавить»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блок — отдельный компонент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Свойство children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записано между открывающим и закрывающим тегами, попадает в props.children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Компонент-обёртка решает, где это содержимое окажется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не знает заранее, что внутри, — он универсален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2618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CARD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64608" y="1536192"/>
            <a:ext cx="36210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Card({ children }) {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style={styles.card}&gt;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содержимое — снаружи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&gt;Наушники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&gt;2500 ₽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&lt;/Card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 композиции: разбор кода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794760"/>
          </a:xfrm>
          <a:prstGeom prst="roundRect">
            <a:avLst>
              <a:gd name="adj" fmla="val 1687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70432"/>
            <a:ext cx="7827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КОМПОНЕНТА ВМЕСТО КОПИЙ РАЗМЕТКИ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78272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Card({ children })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style={styles.card}&gt;{children}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ProductCard({ product, onAdd })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&lt;Image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source={product.image} style={styles.image} /&gt;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&lt;ProductInfo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title={product.title} price={product.price} /&gt;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&lt;Pressable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onPress={onAdd}&gt;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&gt;Добавить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&lt;/Pressable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&lt;/Card</a:t>
            </a: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Обзор основных компонентов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Компонент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Назначение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Где в каталоге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View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контейнер, группировка элементов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обёртка карточки, экран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отображение текста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название и цена товара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Image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изображения — локальные и сетевые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фото товара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Pressable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обработка нажатий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кнопка «Добавить»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TextInput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ввод текста с клавиатуры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поле поиска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ScrollView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прокручиваемый контейнер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страница товара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FlatList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производительный список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каталог товаров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выбора: какая задача интерфейса — такой компонент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— контейнер интерфейса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фундаментальный компонент — аналог div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Группирует элементы и создаёт вложенную структуру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Поддерживает фон, границы, отступы — оформление контейнера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Размещает дочерние компоненты через Flexbox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2618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ИЗ КОНТЕЙНЕРОВ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64608" y="1536192"/>
            <a:ext cx="36210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style={styles.card}&gt;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&lt;Image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source={product.image}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style={styles.image} /&gt;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style={styles.info}&gt;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style={styles.title}&gt;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{product.title}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&gt;{product.price} ₽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— отображение текста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текст в интерфейсе живёт внутри Text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значений JavaScript — через фигурные скобки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можно вкладывать в Text — для оформления фрагментов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текстовый узел вне Text — ошибка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2618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НАЗВАНИЕ, ЦЕНА И СКИДКА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64608" y="1536192"/>
            <a:ext cx="36210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style={styles.title}&gt;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{product.title}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style={styles.price}&gt;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{product.price} ₽{</a:t>
            </a:r>
            <a:r>
              <a:rPr lang="en-US" sz="11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style={styles.sale}&gt;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Скидка 20%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1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— отображение изображений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3200400"/>
          </a:xfrm>
          <a:prstGeom prst="roundRect">
            <a:avLst>
              <a:gd name="adj" fmla="val 2333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ИСТОЧНИКА ИЗОБРАЖЕНИЯ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9495" y="1490472"/>
            <a:ext cx="3801337" cy="2464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локальный файл — из папки проекта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&lt;Image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source={require(</a:t>
            </a:r>
            <a:r>
              <a:rPr lang="en-US" sz="11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'./img/case.png'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style={styles.image} /&gt;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сетевое — адрес в объекте uri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&lt;Image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source={{ uri: product.imageUrl }}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style={styles.image} /&gt;</a:t>
            </a:r>
            <a:endParaRPr lang="en-US" sz="1100" dirty="0">
              <a:solidFill>
                <a:srgbClr val="D8D7D3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endParaRPr lang="en-US" sz="1100" dirty="0">
              <a:solidFill>
                <a:srgbClr val="D8D7D3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cs typeface="Courier New" pitchFamily="34" charset="-120"/>
              </a:rPr>
              <a:t>const product = {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cs typeface="Courier New" pitchFamily="34" charset="-120"/>
              </a:rPr>
              <a:t>title: "</a:t>
            </a:r>
            <a:r>
              <a:rPr lang="ru-RU" sz="1100" dirty="0">
                <a:solidFill>
                  <a:srgbClr val="D8D7D3"/>
                </a:solidFill>
                <a:latin typeface="Courier New" pitchFamily="34" charset="0"/>
                <a:cs typeface="Courier New" pitchFamily="34" charset="-120"/>
              </a:rPr>
              <a:t>Наушники", </a:t>
            </a:r>
            <a:r>
              <a:rPr lang="en-US" sz="1100" dirty="0" err="1">
                <a:solidFill>
                  <a:srgbClr val="D8D7D3"/>
                </a:solidFill>
                <a:latin typeface="Courier New" pitchFamily="34" charset="0"/>
                <a:cs typeface="Courier New" pitchFamily="34" charset="-120"/>
              </a:rPr>
              <a:t>imageUrl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cs typeface="Courier New" pitchFamily="34" charset="-120"/>
              </a:rPr>
              <a:t>:"https://example.com/headphones.png" };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0055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resizeMode: как фото вписывается в рамку</a:t>
            </a:r>
            <a:endParaRPr lang="en-US" sz="1250" dirty="0"/>
          </a:p>
        </p:txBody>
      </p:sp>
      <p:pic>
        <p:nvPicPr>
          <p:cNvPr id="1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233095"/>
            <a:ext cx="1234440" cy="1234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— заполняет весь кадр,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лишнее обрезается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90372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— всё фото видно,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бокам пустые поля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9204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изображение в одной и той же рамке — меняется только resizeMode.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92040" y="3611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Сетевым изображениям обязательно задавайте размеры — они неизвестны заранее. Локальные через require() определяются автоматически.</a:t>
            </a:r>
            <a:endParaRPr lang="en-US" sz="1150" dirty="0"/>
          </a:p>
        </p:txBody>
      </p:sp>
      <p:pic>
        <p:nvPicPr>
          <p:cNvPr id="1026" name="Picture 2" descr="LAMAX BASE1 - Wireless headphones | SPORTISIMO.COM">
            <a:extLst>
              <a:ext uri="{FF2B5EF4-FFF2-40B4-BE49-F238E27FC236}">
                <a16:creationId xmlns:a16="http://schemas.microsoft.com/office/drawing/2014/main" id="{9C83034E-39CB-7E3B-A815-91808B1C2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445" y="1271015"/>
            <a:ext cx="1234441" cy="123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Минимальное введение в состояние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Интерфейсу нужно запоминать изменяющиеся данные: введённый текст, факт нажатия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возвращает пару: текущее значение и функцию обновления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функции обновления меняет состояние и вызывает повторный рендер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принадлежит компоненту; props приходят извне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611880"/>
          </a:xfrm>
          <a:prstGeom prst="roundRect">
            <a:avLst>
              <a:gd name="adj" fmla="val 1772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2618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ПОСЛЕ НАЖАТИЯ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64608" y="1536192"/>
            <a:ext cx="36210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useState }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ProductCard({ product }) 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[added, setAdded] = useState(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&lt;Pressable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onPress={() =&gt; setAdded(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&gt;Добавить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&lt;/Pressable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{added &amp;&amp;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&gt;Товар добавлен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Pressable — обработка нажатий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«ДОБАВИТЬ»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8953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&lt;Pressable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onPress={() =&gt; setAdded(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disabled={!product.available}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style={({ pressed }) =&gt; [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styles.button,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pressed &amp;&amp; styles.buttonPressed,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]}&gt;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style={styles.buttonText}&gt;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Добавить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&lt;/Pressable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onPress — обработчик нажатия, передаём функцию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может быть функцией: получает состояние pressed и возвращает стили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нажатия: подсветка или прозрачность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отключает нажатия — для недоступного товара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TextInput — ввод данных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ПОИСКА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8953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внутри функционального компонента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[query, setQuery] = useState(</a:t>
            </a:r>
            <a:r>
              <a:rPr lang="en-US" sz="10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&lt;TextInput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style={styles.input}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placeholder=</a:t>
            </a:r>
            <a:r>
              <a:rPr lang="en-US" sz="10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"Поиск товаров"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value={query}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onChangeText={setQuery}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&gt;Ищем: {query}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подсказка до ввода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onChangeText — связываем ввод с состоянием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keyboardType — тип клавиатуры: numeric, email-address…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secureTextEntry — скрытый ввод для паролей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multiline — многострочное поле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ScrollView — прокрутка содержимого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ПОДРОБНАЯ СТРАНИЦА ТОВАРА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8953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&lt;ScrollView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style={styles.screen}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contentContainerStyle={styles.content}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&lt;Image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source={product.image}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style={styles.hero} /&gt;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style={styles.title}&gt;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{product.title}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&gt;{product.description}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&lt;/ScrollView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небольшого объёма разнородного содержимого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Прокрутка по вертикали — по умолчанию, horizontal — по горизонтали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— сам контейнер прокрутки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contentContainerStyle — обёртка содержимого: отступы внутри прокрутки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FlatList — отображение списка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ИЗ МАССИВА ТОВАРОВ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8953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&lt;FlatList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data={products}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keyExtractor={(item) =&gt; item.id}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renderItem={({ item }) =&gt; (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product={item}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onAdd={() =&gt; addProduct(item)}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массив данных для отображения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renderItem — функция: получает { item } и возвращает карточку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keyExtractor — уникальный устойчивый ключ каждого элемента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помогают React отслеживать элементы при обновлении списка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Виртуализация: рендерится ограниченное окно — видимые и близкие к экрану элементы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REACT NATIVE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ScrollView или FlatList?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38160" y="4864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1649073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всё содержимое сразу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Небольшая страница с разным содержимым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страница товара — фото, описание, отзывы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1649073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Виртуализация: рендерится ограниченное окно элементов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список однотипных данных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каталог из сотен товаров</a:t>
            </a:r>
            <a:endParaRPr lang="en-US" sz="1200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29B8B67-A5F6-BC48-908D-B15F87FB4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843019"/>
              </p:ext>
            </p:extLst>
          </p:nvPr>
        </p:nvGraphicFramePr>
        <p:xfrm>
          <a:off x="642246" y="3050155"/>
          <a:ext cx="7815954" cy="18739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05318">
                  <a:extLst>
                    <a:ext uri="{9D8B030D-6E8A-4147-A177-3AD203B41FA5}">
                      <a16:colId xmlns:a16="http://schemas.microsoft.com/office/drawing/2014/main" val="1152495236"/>
                    </a:ext>
                  </a:extLst>
                </a:gridCol>
                <a:gridCol w="2605318">
                  <a:extLst>
                    <a:ext uri="{9D8B030D-6E8A-4147-A177-3AD203B41FA5}">
                      <a16:colId xmlns:a16="http://schemas.microsoft.com/office/drawing/2014/main" val="1463528976"/>
                    </a:ext>
                  </a:extLst>
                </a:gridCol>
                <a:gridCol w="2605318">
                  <a:extLst>
                    <a:ext uri="{9D8B030D-6E8A-4147-A177-3AD203B41FA5}">
                      <a16:colId xmlns:a16="http://schemas.microsoft.com/office/drawing/2014/main" val="4027636222"/>
                    </a:ext>
                  </a:extLst>
                </a:gridCol>
              </a:tblGrid>
              <a:tr h="227814">
                <a:tc>
                  <a:txBody>
                    <a:bodyPr/>
                    <a:lstStyle/>
                    <a:p>
                      <a:r>
                        <a:rPr lang="ru-RU" sz="1200" b="1" dirty="0">
                          <a:latin typeface="+mn-lt"/>
                          <a:cs typeface="Courier New" panose="02070309020205020404" pitchFamily="49" charset="0"/>
                        </a:rPr>
                        <a:t>Характеристика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+mn-lt"/>
                          <a:cs typeface="Courier New" panose="02070309020205020404" pitchFamily="49" charset="0"/>
                        </a:rPr>
                        <a:t>ScrollView</a:t>
                      </a:r>
                      <a:endParaRPr lang="en-US" sz="12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+mn-lt"/>
                          <a:cs typeface="Courier New" panose="02070309020205020404" pitchFamily="49" charset="0"/>
                        </a:rPr>
                        <a:t>FlatList</a:t>
                      </a:r>
                      <a:endParaRPr lang="en-US" sz="12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marL="90620" marR="90620" marT="45310" marB="45310" anchor="ctr"/>
                </a:tc>
                <a:extLst>
                  <a:ext uri="{0D108BD9-81ED-4DB2-BD59-A6C34878D82A}">
                    <a16:rowId xmlns:a16="http://schemas.microsoft.com/office/drawing/2014/main" val="1665027641"/>
                  </a:ext>
                </a:extLst>
              </a:tr>
              <a:tr h="331746"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Назначение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Прокручиваемая область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Список элементов</a:t>
                      </a:r>
                    </a:p>
                  </a:txBody>
                  <a:tcPr marL="90620" marR="90620" marT="45310" marB="45310" anchor="ctr"/>
                </a:tc>
                <a:extLst>
                  <a:ext uri="{0D108BD9-81ED-4DB2-BD59-A6C34878D82A}">
                    <a16:rowId xmlns:a16="http://schemas.microsoft.com/office/drawing/2014/main" val="3085712807"/>
                  </a:ext>
                </a:extLst>
              </a:tr>
              <a:tr h="331746"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Содержимое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Разнородные компоненты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Обычно однотипные элементы</a:t>
                      </a:r>
                    </a:p>
                  </a:txBody>
                  <a:tcPr marL="90620" marR="90620" marT="45310" marB="45310" anchor="ctr"/>
                </a:tc>
                <a:extLst>
                  <a:ext uri="{0D108BD9-81ED-4DB2-BD59-A6C34878D82A}">
                    <a16:rowId xmlns:a16="http://schemas.microsoft.com/office/drawing/2014/main" val="171919519"/>
                  </a:ext>
                </a:extLst>
              </a:tr>
              <a:tr h="227814"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Создание элементов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Всё содержимое сразу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Ограниченное окно</a:t>
                      </a:r>
                    </a:p>
                  </a:txBody>
                  <a:tcPr marL="90620" marR="90620" marT="45310" marB="45310" anchor="ctr"/>
                </a:tc>
                <a:extLst>
                  <a:ext uri="{0D108BD9-81ED-4DB2-BD59-A6C34878D82A}">
                    <a16:rowId xmlns:a16="http://schemas.microsoft.com/office/drawing/2014/main" val="3639068639"/>
                  </a:ext>
                </a:extLst>
              </a:tr>
              <a:tr h="331746"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Источник данных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Вложенные </a:t>
                      </a:r>
                      <a:r>
                        <a:rPr lang="en-US" sz="1200">
                          <a:latin typeface="+mn-lt"/>
                          <a:cs typeface="Courier New" panose="02070309020205020404" pitchFamily="49" charset="0"/>
                        </a:rPr>
                        <a:t>JSX-</a:t>
                      </a:r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элементы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Массив </a:t>
                      </a:r>
                      <a:r>
                        <a:rPr lang="en-US" sz="1200">
                          <a:latin typeface="+mn-lt"/>
                          <a:cs typeface="Courier New" panose="02070309020205020404" pitchFamily="49" charset="0"/>
                        </a:rPr>
                        <a:t>data</a:t>
                      </a:r>
                    </a:p>
                  </a:txBody>
                  <a:tcPr marL="90620" marR="90620" marT="45310" marB="45310" anchor="ctr"/>
                </a:tc>
                <a:extLst>
                  <a:ext uri="{0D108BD9-81ED-4DB2-BD59-A6C34878D82A}">
                    <a16:rowId xmlns:a16="http://schemas.microsoft.com/office/drawing/2014/main" val="667527812"/>
                  </a:ext>
                </a:extLst>
              </a:tr>
              <a:tr h="331746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  <a:cs typeface="Courier New" panose="02070309020205020404" pitchFamily="49" charset="0"/>
                        </a:rPr>
                        <a:t>Пример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+mn-lt"/>
                          <a:cs typeface="Courier New" panose="02070309020205020404" pitchFamily="49" charset="0"/>
                        </a:rPr>
                        <a:t>Подробная страница товара</a:t>
                      </a:r>
                    </a:p>
                  </a:txBody>
                  <a:tcPr marL="90620" marR="90620" marT="45310" marB="45310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+mn-lt"/>
                          <a:cs typeface="Courier New" panose="02070309020205020404" pitchFamily="49" charset="0"/>
                        </a:rPr>
                        <a:t>Каталог товаров</a:t>
                      </a:r>
                    </a:p>
                  </a:txBody>
                  <a:tcPr marL="90620" marR="90620" marT="45310" marB="45310" anchor="ctr"/>
                </a:tc>
                <a:extLst>
                  <a:ext uri="{0D108BD9-81ED-4DB2-BD59-A6C34878D82A}">
                    <a16:rowId xmlns:a16="http://schemas.microsoft.com/office/drawing/2014/main" val="2016021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задаются стили в React Native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— обычный объект JavaScript, передаётся как prop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свойств — в camelCase: backgroundColor, borderRadius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Числовые размеры — без единиц: padding: 16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Inline-объект удобен для быстрого примера, но дублируется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2618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КОНТЕЙНЕРА И ТЕКСТА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64608" y="1536192"/>
            <a:ext cx="36210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backgroundColor: </a:t>
            </a:r>
            <a:r>
              <a:rPr lang="en-US" sz="10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'#FFFFFF'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borderRadius: 12,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16,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flexDirection: </a:t>
            </a:r>
            <a:r>
              <a:rPr lang="en-US" sz="10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'row'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style={{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fontSize: 16,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</a:t>
            </a:r>
            <a:r>
              <a:rPr lang="en-US" sz="10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'#28251D'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Наушники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StyleSheet.create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480560" cy="3520440"/>
          </a:xfrm>
          <a:prstGeom prst="roundRect">
            <a:avLst>
              <a:gd name="adj" fmla="val 1818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ИМЕНОВАННЫЕ НАБОРЫ СТИЛЕЙ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4078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styles = StyleSheet.create({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container: { flex: 1, padding: 16, gap: 12 },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card: 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backgroundColor: </a:t>
            </a:r>
            <a:r>
              <a:rPr lang="en-US" sz="10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'#FFFFFF'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borderRadius: 12,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16,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{ fontSize: 16, fontWeight: </a:t>
            </a:r>
            <a:r>
              <a:rPr lang="en-US" sz="10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'600'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использование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style={styles.container}&gt;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style={styles.card}&gt;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&gt;Товар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128016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 карточки собраны в одном месте — styles.card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имя используется в любом количестве мест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свойств: размеры, отступы, цвет, границы, текст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IDE — подсказки и статическая проверка имён свойств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Объединение и условное применение стилей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ЭЛЕМЕНТ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895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style={[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styles.card,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 &amp;&amp; styles.cardSelected,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 /&gt;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1051560"/>
            <a:ext cx="3794760" cy="3749040"/>
          </a:xfrm>
          <a:prstGeom prst="roundRect">
            <a:avLst>
              <a:gd name="adj" fmla="val 1707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3208" y="117043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КНОПКА: СОСТОЯНИЕ И ДОСТУПНОСТЬ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93208" y="1444752"/>
            <a:ext cx="339242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&lt;Pressable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disabled={!product.available}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style={({ pressed }) =&gt; [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styles.button,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pressed &amp;&amp; styles.buttonPressed,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!product.available &amp;&amp;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styles.buttonDisabled,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]}&gt;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&gt;Добавить</a:t>
            </a: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&lt;/Pressable</a:t>
            </a: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принимает массив — стили применяются по порядку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Последующие значения перекрывают предыдущие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и null в массиве игнорируются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Условный стиль: &amp;&amp; подключает набор, когда условие истинно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оформляют выбранную карточку и недоступную кнопку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Flexbox: контейнер и две оси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раскладывает детей вдоль главной оси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flexDirection задаёт главную ось: column или row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React Native по умолчанию column — сверху вниз (в вебе — row)</a:t>
            </a:r>
            <a:endParaRPr lang="en-US" sz="14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Поперечная ось перпендикулярна главной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1554480" cy="21031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150876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205740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260604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463040"/>
            <a:ext cx="0" cy="1920240"/>
          </a:xfrm>
          <a:prstGeom prst="line">
            <a:avLst/>
          </a:prstGeom>
          <a:noFill/>
          <a:ln w="31750">
            <a:solidFill>
              <a:srgbClr val="01696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463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flexDirection: 'column'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↓ · поперечная 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1508760"/>
            <a:ext cx="502920" cy="1280160"/>
          </a:xfrm>
          <a:prstGeom prst="roundRect">
            <a:avLst>
              <a:gd name="adj" fmla="val 5455"/>
            </a:avLst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508760"/>
            <a:ext cx="502920" cy="1280160"/>
          </a:xfrm>
          <a:prstGeom prst="roundRect">
            <a:avLst>
              <a:gd name="adj" fmla="val 5455"/>
            </a:avLst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508760"/>
            <a:ext cx="502920" cy="1280160"/>
          </a:xfrm>
          <a:prstGeom prst="roundRect">
            <a:avLst>
              <a:gd name="adj" fmla="val 5455"/>
            </a:avLst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3108960"/>
            <a:ext cx="1828800" cy="0"/>
          </a:xfrm>
          <a:prstGeom prst="line">
            <a:avLst/>
          </a:prstGeom>
          <a:noFill/>
          <a:ln w="31750">
            <a:solidFill>
              <a:srgbClr val="01696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76656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flexDirection: 'row'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→ · поперечная 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ось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67912"/>
            <a:ext cx="3529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изображение рядом с описанием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style={{ flexDirection: </a:t>
            </a:r>
            <a:r>
              <a:rPr lang="en-US" sz="12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'row'</a:t>
            </a:r>
            <a:r>
              <a:rPr lang="en-US" sz="12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}}&gt;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Выравнивание элементов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justifyContent — вдоль главной оси: flex-start, center, flex-end, space-between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alignItems — вдоль поперечной оси: stretch (по умолчанию), center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alignSelf — индивидуальное выравнивание одного элемента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4023360" cy="2057400"/>
          </a:xfrm>
          <a:prstGeom prst="roundRect">
            <a:avLst>
              <a:gd name="adj" fmla="val 3111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1635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РЯДОМ С КНОПКОЙ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3090672"/>
            <a:ext cx="3621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style={{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flexDirection: </a:t>
            </a:r>
            <a:r>
              <a:rPr lang="en-US" sz="10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'row'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justifyContent: </a:t>
            </a:r>
            <a:r>
              <a:rPr lang="en-US" sz="10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'space-between'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alignItems: </a:t>
            </a:r>
            <a:r>
              <a:rPr lang="en-US" sz="10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'center'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&gt;{product.price} ₽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&lt;Pressable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&gt;Добавить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&lt;/Pressable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0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justifyContent (главная ось →)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4630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5361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0096" y="15361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50992" y="15361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flex-start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19202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8112" y="19933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9008" y="19933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19933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938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377440"/>
            <a:ext cx="2286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4505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79008" y="24505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8816" y="2450592"/>
            <a:ext cx="237744" cy="237744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space-between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alignItems (поперечная ось ↓)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154680"/>
            <a:ext cx="1051560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7488" y="3246120"/>
            <a:ext cx="822960" cy="59436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23760" y="3154680"/>
            <a:ext cx="1051560" cy="777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3401568"/>
            <a:ext cx="594360" cy="27432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justifyContent отвечает «где вдоль оси», alignItems — «как поперёк оси»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Распределение пространства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— доля свободного места вдоль главной оси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flexGrow — рост, flexShrink — сжатие, flexBasis — базовый размер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промежутки между элементами без margin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flexWrap: 'wrap' — перенос элементов на новую строку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114800" cy="1874520"/>
          </a:xfrm>
          <a:prstGeom prst="roundRect">
            <a:avLst>
              <a:gd name="adj" fmla="val 3415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6207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ПОИСКА И МЕТКИ ТОВАРА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3136392"/>
            <a:ext cx="3712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внутри StyleSheet.create({...})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searchRow: { flexDirection: </a:t>
            </a:r>
            <a:r>
              <a:rPr lang="en-US" sz="11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'row'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gap: 8 },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side: { flex: 2 },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 { flexDirection: </a:t>
            </a:r>
            <a:r>
              <a:rPr lang="en-US" sz="11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'row'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flexWrap: </a:t>
            </a:r>
            <a:r>
              <a:rPr lang="en-US" sz="110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'wrap'</a:t>
            </a:r>
            <a:r>
              <a:rPr lang="en-US" sz="11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 и  flex: 1  →  поровну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536192"/>
            <a:ext cx="1874520" cy="41148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1536192"/>
            <a:ext cx="1874520" cy="41148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 и  flex: 2  →  1 :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404872"/>
            <a:ext cx="1252728" cy="41148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404872"/>
            <a:ext cx="2514600" cy="41148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8 — равные промежутки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273552"/>
            <a:ext cx="868680" cy="36576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9592" y="3273552"/>
            <a:ext cx="868680" cy="36576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12864" y="3273552"/>
            <a:ext cx="868680" cy="36576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46136" y="3273552"/>
            <a:ext cx="868680" cy="36576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flexWrap: 'wrap' — перенос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414223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59552" y="414223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4142232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526280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9552" y="4526280"/>
            <a:ext cx="5669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142232"/>
            <a:ext cx="2514600" cy="704088"/>
          </a:xfrm>
          <a:prstGeom prst="rect">
            <a:avLst/>
          </a:prstGeom>
          <a:solidFill>
            <a:srgbClr val="F7F6F2"/>
          </a:solidFill>
          <a:ln w="15875">
            <a:solidFill>
              <a:srgbClr val="01696F"/>
            </a:solidFill>
            <a:prstDash val="dash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Адаптация к размеру экрана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97680" cy="2697480"/>
          </a:xfrm>
          <a:prstGeom prst="roundRect">
            <a:avLst>
              <a:gd name="adj" fmla="val 2373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РАЗМЕРЫ ОКНА В КОМПОНЕНТЕ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895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useWindowDimensions }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E8AF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'react-native'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89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внутри функционального компонента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width } = useWindowDimensions();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isWide = width &gt;= 700;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style={[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styles.card,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isWide &amp;&amp; styles.cardHorizontal,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размеры вместо фиксированной ширины всего интерфейса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Проценты: width: "50%"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maxWidth ограничивает, aspectRatio сохраняет пропорции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useWindowDimensions обновляется при повороте экрана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Узкий экран — вертикальная карточка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1508760"/>
            <a:ext cx="1188720" cy="2286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1645920"/>
            <a:ext cx="914400" cy="82296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Наушники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49240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 ₽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49240" y="3017520"/>
            <a:ext cx="914400" cy="2743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Широкий экран — горизонтальная карточка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4297680"/>
            <a:ext cx="34747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4D1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4407408"/>
            <a:ext cx="548640" cy="457200"/>
          </a:xfrm>
          <a:prstGeom prst="rect">
            <a:avLst/>
          </a:prstGeom>
          <a:solidFill>
            <a:srgbClr val="BCE2E7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4407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Наушники · 2500 ₽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4681728"/>
            <a:ext cx="777240" cy="2560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6817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449538" y="2423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&lt; 700</a:t>
            </a:r>
            <a:endParaRPr lang="en-US" sz="750" dirty="0"/>
          </a:p>
          <a:p>
            <a:pPr marL="0" indent="0">
              <a:buNone/>
            </a:pPr>
            <a:r>
              <a:rPr lang="en-US" sz="750" dirty="0" err="1">
                <a:solidFill>
                  <a:srgbClr val="7A7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flexDirection:column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772400" y="378561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7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≥ 700</a:t>
            </a:r>
            <a:endParaRPr lang="en-US" sz="750" dirty="0"/>
          </a:p>
          <a:p>
            <a:pPr marL="0" indent="0">
              <a:buNone/>
            </a:pPr>
            <a:r>
              <a:rPr lang="en-US" sz="750" dirty="0" err="1">
                <a:solidFill>
                  <a:srgbClr val="7A7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flexDirection</a:t>
            </a:r>
            <a:r>
              <a:rPr lang="en-US" sz="750" dirty="0">
                <a:solidFill>
                  <a:srgbClr val="7A79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row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Итоговый пример: экран каталога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212080" cy="3749040"/>
          </a:xfrm>
          <a:prstGeom prst="roundRect">
            <a:avLst>
              <a:gd name="adj" fmla="val 1707"/>
            </a:avLst>
          </a:prstGeom>
          <a:solidFill>
            <a:srgbClr val="1C1B19"/>
          </a:solidFill>
          <a:ln w="9525">
            <a:solidFill>
              <a:srgbClr val="39383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CATALOGSCREEN — РАЗМЕТКА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4809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&lt;View</a:t>
            </a: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style={styles.screen}&gt;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&lt;SearchField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value={query}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onChange={setQuery} /&gt;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&lt;FlatList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data={visible}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keyExtractor={(item) =&gt; item.id}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renderItem={({ item }) =&gt; (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product={item}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onAdd={() =&gt; addProduct(item)} /&gt;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)} /&gt;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FC4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&lt;/View</a:t>
            </a:r>
            <a:r>
              <a:rPr lang="en-US" sz="1400" dirty="0">
                <a:solidFill>
                  <a:srgbClr val="D8D7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234440"/>
            <a:ext cx="365760" cy="365760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188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— массив PRODUCTS и состояние поиска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365760" cy="365760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— SearchField, FlatList, ProductCard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971800"/>
            <a:ext cx="365760" cy="365760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— onChangeText и onAdd через props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840480"/>
            <a:ext cx="365760" cy="365760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 — StyleSheet и Flexbox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12432</Words>
  <Application>Microsoft Office PowerPoint</Application>
  <PresentationFormat>Экран (16:9)</PresentationFormat>
  <Paragraphs>1480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30</vt:i4>
      </vt:variant>
    </vt:vector>
  </HeadingPairs>
  <TitlesOfParts>
    <vt:vector size="38" baseType="lpstr">
      <vt:lpstr>Aptos</vt:lpstr>
      <vt:lpstr>Arial</vt:lpstr>
      <vt:lpstr>Calibri</vt:lpstr>
      <vt:lpstr>Courier New</vt:lpstr>
      <vt:lpstr>KyivType Sans Heavy</vt:lpstr>
      <vt:lpstr>Trebuchet MS</vt:lpstr>
      <vt:lpstr>Office Theme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Наиля Мавлюдова</cp:lastModifiedBy>
  <cp:revision>4</cp:revision>
  <dcterms:created xsi:type="dcterms:W3CDTF">2026-10-25T16:10:34Z</dcterms:created>
  <dcterms:modified xsi:type="dcterms:W3CDTF">2026-10-25T17:43:45Z</dcterms:modified>
</cp:coreProperties>
</file>