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7" r:id="rId2"/>
    <p:sldId id="258" r:id="rId3"/>
    <p:sldId id="259" r:id="rId4"/>
    <p:sldId id="260" r:id="rId5"/>
    <p:sldId id="261" r:id="rId6"/>
    <p:sldId id="262" r:id="rId7"/>
    <p:sldId id="263" r:id="rId8"/>
    <p:sldId id="266" r:id="rId9"/>
    <p:sldId id="264" r:id="rId10"/>
    <p:sldId id="265" r:id="rId11"/>
    <p:sldId id="267" r:id="rId12"/>
    <p:sldId id="268" r:id="rId13"/>
    <p:sldId id="269" r:id="rId14"/>
    <p:sldId id="270" r:id="rId15"/>
    <p:sldId id="271"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953" autoAdjust="0"/>
  </p:normalViewPr>
  <p:slideViewPr>
    <p:cSldViewPr snapToGrid="0">
      <p:cViewPr varScale="1">
        <p:scale>
          <a:sx n="98" d="100"/>
          <a:sy n="98" d="100"/>
        </p:scale>
        <p:origin x="54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F45B18-1855-46E0-9F76-0C216B9BA256}" type="datetimeFigureOut">
              <a:rPr lang="ru-RU" smtClean="0"/>
              <a:t>25.09.26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CB5EB2-E792-4FE0-8BEE-08C3259AEF6A}" type="slidenum">
              <a:rPr lang="ru-RU" smtClean="0"/>
              <a:t>‹#›</a:t>
            </a:fld>
            <a:endParaRPr lang="ru-RU"/>
          </a:p>
        </p:txBody>
      </p:sp>
    </p:spTree>
    <p:extLst>
      <p:ext uri="{BB962C8B-B14F-4D97-AF65-F5344CB8AC3E}">
        <p14:creationId xmlns:p14="http://schemas.microsoft.com/office/powerpoint/2010/main" val="411486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EB6EA5-BBE7-43BF-8BFD-25EDB7B77679}" type="slidenum">
              <a:rPr kumimoji="0" lang="ru-RU" sz="1200" b="0" i="0" u="none" strike="noStrike" kern="1200" cap="none" spc="0" normalizeH="0" baseline="0" noProof="0" smtClean="0">
                <a:ln>
                  <a:noFill/>
                </a:ln>
                <a:solidFill>
                  <a:prstClr val="black"/>
                </a:solidFill>
                <a:effectLst/>
                <a:uLnTx/>
                <a:uFillTx/>
                <a:latin typeface="Aptos" panose="02110004020202020204"/>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ru-RU" sz="1200" b="0" i="0" u="none" strike="noStrike" kern="1200" cap="none" spc="0" normalizeH="0" baseline="0" noProof="0">
              <a:ln>
                <a:noFill/>
              </a:ln>
              <a:solidFill>
                <a:prstClr val="black"/>
              </a:solidFill>
              <a:effectLst/>
              <a:uLnTx/>
              <a:uFillTx/>
              <a:latin typeface="Aptos" panose="02110004020202020204"/>
              <a:ea typeface="Calibri"/>
              <a:cs typeface="Calibri"/>
            </a:endParaRPr>
          </a:p>
        </p:txBody>
      </p:sp>
    </p:spTree>
    <p:extLst>
      <p:ext uri="{BB962C8B-B14F-4D97-AF65-F5344CB8AC3E}">
        <p14:creationId xmlns:p14="http://schemas.microsoft.com/office/powerpoint/2010/main" val="3644537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450215" algn="just" defTabSz="914400" rtl="0" eaLnBrk="1" fontAlgn="auto" latinLnBrk="0" hangingPunct="1">
              <a:lnSpc>
                <a:spcPct val="150000"/>
              </a:lnSpc>
              <a:spcBef>
                <a:spcPts val="0"/>
              </a:spcBef>
              <a:spcAft>
                <a:spcPts val="0"/>
              </a:spcAft>
              <a:buClrTx/>
              <a:buSzTx/>
              <a:buFontTx/>
              <a:buNone/>
              <a:tabLst/>
              <a:defRPr/>
            </a:pPr>
            <a:r>
              <a:rPr lang="en-US" sz="1800" dirty="0" err="1">
                <a:latin typeface="Times New Roman" panose="02020603050405020304" pitchFamily="18" charset="0"/>
                <a:ea typeface="Instrument Sans Medium" pitchFamily="34" charset="-122"/>
                <a:cs typeface="Times New Roman" panose="02020603050405020304" pitchFamily="18" charset="0"/>
              </a:rPr>
              <a:t>Массив</a:t>
            </a:r>
            <a:r>
              <a:rPr lang="en-US" sz="1800" dirty="0">
                <a:latin typeface="Times New Roman" panose="02020603050405020304" pitchFamily="18" charset="0"/>
                <a:ea typeface="Instrument Sans Medium" pitchFamily="34" charset="-122"/>
                <a:cs typeface="Times New Roman" panose="02020603050405020304" pitchFamily="18" charset="0"/>
              </a:rPr>
              <a:t> в JavaScript </a:t>
            </a:r>
            <a:r>
              <a:rPr lang="ru-RU" sz="1800" dirty="0">
                <a:latin typeface="Times New Roman" panose="02020603050405020304" pitchFamily="18" charset="0"/>
                <a:ea typeface="Instrument Sans Medium" pitchFamily="34" charset="-122"/>
                <a:cs typeface="Times New Roman" panose="02020603050405020304" pitchFamily="18" charset="0"/>
              </a:rPr>
              <a:t>-</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это</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упорядоченная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коллекция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значений</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объединённых</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под</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одним</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именем</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Каждый</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элемент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хранится</a:t>
            </a:r>
            <a:r>
              <a:rPr lang="en-US" sz="1800" dirty="0">
                <a:latin typeface="Times New Roman" panose="02020603050405020304" pitchFamily="18" charset="0"/>
                <a:ea typeface="Instrument Sans Medium" pitchFamily="34" charset="-122"/>
                <a:cs typeface="Times New Roman" panose="02020603050405020304" pitchFamily="18" charset="0"/>
              </a:rPr>
              <a:t> в </a:t>
            </a:r>
            <a:r>
              <a:rPr lang="en-US" sz="1800" dirty="0" err="1">
                <a:latin typeface="Times New Roman" panose="02020603050405020304" pitchFamily="18" charset="0"/>
                <a:ea typeface="Instrument Sans Medium" pitchFamily="34" charset="-122"/>
                <a:cs typeface="Times New Roman" panose="02020603050405020304" pitchFamily="18" charset="0"/>
              </a:rPr>
              <a:t>отдельной</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ячейке</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памяти</a:t>
            </a:r>
            <a:r>
              <a:rPr lang="en-US" sz="1800" dirty="0">
                <a:latin typeface="Times New Roman" panose="02020603050405020304" pitchFamily="18" charset="0"/>
                <a:ea typeface="Instrument Sans Medium" pitchFamily="34" charset="-122"/>
                <a:cs typeface="Times New Roman" panose="02020603050405020304" pitchFamily="18" charset="0"/>
              </a:rPr>
              <a:t> и </a:t>
            </a:r>
            <a:r>
              <a:rPr lang="en-US" sz="1800" dirty="0" err="1">
                <a:latin typeface="Times New Roman" panose="02020603050405020304" pitchFamily="18" charset="0"/>
                <a:ea typeface="Instrument Sans Medium" pitchFamily="34" charset="-122"/>
                <a:cs typeface="Times New Roman" panose="02020603050405020304" pitchFamily="18" charset="0"/>
              </a:rPr>
              <a:t>доступен</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через</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числовой</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индекс</a:t>
            </a:r>
            <a:r>
              <a:rPr lang="en-US" sz="1800" dirty="0">
                <a:latin typeface="Times New Roman" panose="02020603050405020304" pitchFamily="18" charset="0"/>
                <a:ea typeface="Instrument Sans Medium" pitchFamily="34" charset="-122"/>
                <a:cs typeface="Times New Roman" panose="02020603050405020304" pitchFamily="18" charset="0"/>
              </a:rPr>
              <a:t>. JavaScript-</a:t>
            </a:r>
            <a:r>
              <a:rPr lang="en-US" sz="1800" dirty="0" err="1">
                <a:latin typeface="Times New Roman" panose="02020603050405020304" pitchFamily="18" charset="0"/>
                <a:ea typeface="Instrument Sans Medium" pitchFamily="34" charset="-122"/>
                <a:cs typeface="Times New Roman" panose="02020603050405020304" pitchFamily="18" charset="0"/>
              </a:rPr>
              <a:t>массивы</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являются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объектами</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особого</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типа</a:t>
            </a:r>
            <a:r>
              <a:rPr lang="en-US" sz="1800" dirty="0">
                <a:latin typeface="Times New Roman" panose="02020603050405020304" pitchFamily="18" charset="0"/>
                <a:ea typeface="Instrument Sans Medium" pitchFamily="34" charset="-122"/>
                <a:cs typeface="Times New Roman" panose="02020603050405020304" pitchFamily="18" charset="0"/>
              </a:rPr>
              <a:t> с </a:t>
            </a:r>
            <a:r>
              <a:rPr lang="en-US" sz="1800" dirty="0" err="1">
                <a:latin typeface="Times New Roman" panose="02020603050405020304" pitchFamily="18" charset="0"/>
                <a:ea typeface="Instrument Sans Medium" pitchFamily="34" charset="-122"/>
                <a:cs typeface="Times New Roman" panose="02020603050405020304" pitchFamily="18" charset="0"/>
              </a:rPr>
              <a:t>уникальным</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поведением</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они</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динамичны</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гетерогенны</a:t>
            </a:r>
            <a:r>
              <a:rPr lang="en-US" sz="1800" dirty="0">
                <a:latin typeface="Times New Roman" panose="02020603050405020304" pitchFamily="18" charset="0"/>
                <a:ea typeface="Instrument Sans Medium" pitchFamily="34" charset="-122"/>
                <a:cs typeface="Times New Roman" panose="02020603050405020304" pitchFamily="18" charset="0"/>
              </a:rPr>
              <a:t> и </a:t>
            </a:r>
            <a:r>
              <a:rPr lang="en-US" sz="1800" dirty="0" err="1">
                <a:latin typeface="Times New Roman" panose="02020603050405020304" pitchFamily="18" charset="0"/>
                <a:ea typeface="Instrument Sans Medium" pitchFamily="34" charset="-122"/>
                <a:cs typeface="Times New Roman" panose="02020603050405020304" pitchFamily="18" charset="0"/>
              </a:rPr>
              <a:t>поддерживают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широкий</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спектр</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встроенных</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методов</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Существует два способа создания массива. Первый способ называется литеральным синтаксисом. Именно он используется чаще всего. Квадратные скобки означают создание массива. Внутри скобок через запятую перечисляются элементы. Такой синтаксис считается наиболее удобным, поэтому в большинстве современных проектов разработчики используют именно его.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Второй способ основан на использовании конструктора </a:t>
            </a:r>
            <a:r>
              <a:rPr lang="ru-RU" sz="1800" kern="100" dirty="0" err="1">
                <a:effectLst/>
                <a:latin typeface="Times New Roman" panose="02020603050405020304" pitchFamily="18" charset="0"/>
                <a:ea typeface="Aptos"/>
                <a:cs typeface="Times New Roman" panose="02020603050405020304" pitchFamily="18" charset="0"/>
              </a:rPr>
              <a:t>new</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Array</a:t>
            </a:r>
            <a:r>
              <a:rPr lang="ru-RU" sz="1800" kern="100" dirty="0">
                <a:effectLst/>
                <a:latin typeface="Times New Roman" panose="02020603050405020304" pitchFamily="18" charset="0"/>
                <a:ea typeface="Aptos"/>
                <a:cs typeface="Times New Roman" panose="02020603050405020304" pitchFamily="18" charset="0"/>
              </a:rPr>
              <a:t>(). На первый взгляд кажется, что здесь создается массив с единственным элементом — числом пять. Однако это распространенное заблуждение. На самом деле JavaScript воспринимает единственное числовое значение как указание размера массива. В результате создается массив длиной пять, но без заполненных элементов. Такие элементы называют пустыми ячейками. То есть массив имеет длину пять, но в нем пока отсутствуют реальные значения.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другой пример. </a:t>
            </a: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arr3 = </a:t>
            </a:r>
            <a:r>
              <a:rPr lang="ru-RU" sz="1800" kern="100" dirty="0" err="1">
                <a:effectLst/>
                <a:latin typeface="Times New Roman" panose="02020603050405020304" pitchFamily="18" charset="0"/>
                <a:ea typeface="Aptos"/>
                <a:cs typeface="Times New Roman" panose="02020603050405020304" pitchFamily="18" charset="0"/>
              </a:rPr>
              <a:t>new</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Array</a:t>
            </a:r>
            <a:r>
              <a:rPr lang="ru-RU" sz="1800" kern="100" dirty="0">
                <a:effectLst/>
                <a:latin typeface="Times New Roman" panose="02020603050405020304" pitchFamily="18" charset="0"/>
                <a:ea typeface="Aptos"/>
                <a:cs typeface="Times New Roman" panose="02020603050405020304" pitchFamily="18" charset="0"/>
              </a:rPr>
              <a:t>(1, 2, 3);</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Здесь ситуация совершенно другая. Поскольку в конструктор передано несколько аргументов, JavaScript воспринимает их как элементы массива. В результате получится обычный массив, содержащий три числа. Из-за этой особенности использование конструктора </a:t>
            </a:r>
            <a:r>
              <a:rPr lang="ru-RU" sz="1800" kern="100" dirty="0" err="1">
                <a:effectLst/>
                <a:latin typeface="Times New Roman" panose="02020603050405020304" pitchFamily="18" charset="0"/>
                <a:ea typeface="Aptos"/>
                <a:cs typeface="Times New Roman" panose="02020603050405020304" pitchFamily="18" charset="0"/>
              </a:rPr>
              <a:t>new</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Array</a:t>
            </a:r>
            <a:r>
              <a:rPr lang="ru-RU" sz="1800" kern="100" dirty="0">
                <a:effectLst/>
                <a:latin typeface="Times New Roman" panose="02020603050405020304" pitchFamily="18" charset="0"/>
                <a:ea typeface="Aptos"/>
                <a:cs typeface="Times New Roman" panose="02020603050405020304" pitchFamily="18" charset="0"/>
              </a:rPr>
              <a:t>() требует большей осторожности. Если случайно передать одно число вместо нескольких значений, программа создаст совершенно другой массив, чем ожидалось. Именно поэтому большинство разработчиков предпочитает использовать квадратные скобки. Они проще, понятнее и практически исключают подобные ошибки.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Следующая важная особенность массивов — индексация.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Каждый элемент массива располагается на определенной позиции. Эта позиция называется индексом. Именно индекс позволяет быстро получить доступ к нужному элементу.</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 </a:t>
            </a: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["яблоко", "груша", "слива"];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Этот массив состоит из трех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Очень важно помнить, что индексация в JavaScript начинается не с единицы, а с нуля.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Получение элемента выполняется при помощи квадратных скобок. console.log(</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Программа обращается к элементу с индексом ноль и выводит слово «яблоко».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Таким образом, индекс является адресом элемента внутри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слайде также показан еще один пример для получения последнего значения массива с использованием свойства </a:t>
            </a:r>
            <a:r>
              <a:rPr lang="en-US" sz="1800" kern="100" dirty="0">
                <a:effectLst/>
                <a:latin typeface="Times New Roman" panose="02020603050405020304" pitchFamily="18" charset="0"/>
                <a:ea typeface="Aptos"/>
                <a:cs typeface="Times New Roman" panose="02020603050405020304" pitchFamily="18" charset="0"/>
              </a:rPr>
              <a:t>length</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console.log(fruits[</a:t>
            </a:r>
            <a:r>
              <a:rPr lang="en-US" sz="1800" kern="100" dirty="0" err="1">
                <a:effectLst/>
                <a:latin typeface="Times New Roman" panose="02020603050405020304" pitchFamily="18" charset="0"/>
                <a:ea typeface="Aptos"/>
                <a:cs typeface="Times New Roman" panose="02020603050405020304" pitchFamily="18" charset="0"/>
              </a:rPr>
              <a:t>fruits.length</a:t>
            </a:r>
            <a:r>
              <a:rPr lang="en-US" sz="1800" kern="100" dirty="0">
                <a:effectLst/>
                <a:latin typeface="Times New Roman" panose="02020603050405020304" pitchFamily="18" charset="0"/>
                <a:ea typeface="Aptos"/>
                <a:cs typeface="Times New Roman" panose="02020603050405020304" pitchFamily="18" charset="0"/>
              </a:rPr>
              <a:t> - 1]);</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попытаться получить значение по индексу, которого нет в массиве, программа не завершится с ошибкой. Вместо этого она вернет специальное значение </a:t>
            </a:r>
            <a:r>
              <a:rPr lang="ru-RU" sz="1800" kern="100" dirty="0" err="1">
                <a:effectLst/>
                <a:latin typeface="Times New Roman" panose="02020603050405020304" pitchFamily="18" charset="0"/>
                <a:ea typeface="Aptos"/>
                <a:cs typeface="Times New Roman" panose="02020603050405020304" pitchFamily="18" charset="0"/>
              </a:rPr>
              <a:t>undefined</a:t>
            </a:r>
            <a:r>
              <a:rPr lang="ru-RU" sz="1800" kern="100" dirty="0">
                <a:effectLst/>
                <a:latin typeface="Times New Roman" panose="02020603050405020304" pitchFamily="18" charset="0"/>
                <a:ea typeface="Aptos"/>
                <a:cs typeface="Times New Roman" panose="02020603050405020304" pitchFamily="18" charset="0"/>
              </a:rPr>
              <a:t>. Это означает, что элемента по указанному индексу не существует. Такое поведение языка позволяет избежать аварийного завершения программы, однако требует внимательности со стороны разработчика. Если неожиданно появляется </a:t>
            </a:r>
            <a:r>
              <a:rPr lang="ru-RU" sz="1800" kern="100" dirty="0" err="1">
                <a:effectLst/>
                <a:latin typeface="Times New Roman" panose="02020603050405020304" pitchFamily="18" charset="0"/>
                <a:ea typeface="Aptos"/>
                <a:cs typeface="Times New Roman" panose="02020603050405020304" pitchFamily="18" charset="0"/>
              </a:rPr>
              <a:t>undefined</a:t>
            </a:r>
            <a:r>
              <a:rPr lang="ru-RU" sz="1800" kern="100" dirty="0">
                <a:effectLst/>
                <a:latin typeface="Times New Roman" panose="02020603050405020304" pitchFamily="18" charset="0"/>
                <a:ea typeface="Aptos"/>
                <a:cs typeface="Times New Roman" panose="02020603050405020304" pitchFamily="18" charset="0"/>
              </a:rPr>
              <a:t>, чаще всего причина заключается в неправильном индексе или в том, что массив содержит меньше элементов, чем предполагалось.</a:t>
            </a: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2</a:t>
            </a:fld>
            <a:endParaRPr lang="ru-RU"/>
          </a:p>
        </p:txBody>
      </p:sp>
    </p:spTree>
    <p:extLst>
      <p:ext uri="{BB962C8B-B14F-4D97-AF65-F5344CB8AC3E}">
        <p14:creationId xmlns:p14="http://schemas.microsoft.com/office/powerpoint/2010/main" val="2366285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Одной из причин высокой популярности JavaScript является его гибкость. Это особенно хорошо заметно при работе с массивами. В отличие от многих других языков программирования, JavaScript не накладывает строгих ограничений на содержимое массива. Мы можем свободно изменять элементы, увеличивать размер массива во время выполнения программы и даже хранить в одном массиве значения совершенно разных типов. Именно благодаря этой особенности JavaScript хорошо подходит для разработки динамических веб- и мобильных приложений, где структура данных может постоянно изменяться.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Начнем с самого простого — изменения существующих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Предположим, у нас есть массив: </a:t>
            </a: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arr</a:t>
            </a:r>
            <a:r>
              <a:rPr lang="ru-RU" sz="1800" kern="100" dirty="0">
                <a:effectLst/>
                <a:latin typeface="Times New Roman" panose="02020603050405020304" pitchFamily="18" charset="0"/>
                <a:ea typeface="Aptos"/>
                <a:cs typeface="Times New Roman" panose="02020603050405020304" pitchFamily="18" charset="0"/>
              </a:rPr>
              <a:t> = [10, 20, 30];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необходимо изменить одно из значений, достаточно обратиться к нему по индексу и присвоить новое значение. Обратите внимание, что изменился только второй элемент. Первый и третий остались без изменений. Это очень важная особенность массивов. Нет необходимости создавать новый массив целиком, если нужно изменить только одно значение. Достаточно обратиться к нужному индексу.</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Подобная операция постоянно используется в мобильных приложениях. Например, пользователь изменил свое имя в профиле. Приложение получает новую информацию и заменяет старое значение новым. Или интернет-магазин обновил цену товара. Нет необходимости заново загружать весь каталог — можно изменить только один элемент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Следующий пример на слайде показывает еще одну особенность JavaScript.</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arr</a:t>
            </a:r>
            <a:r>
              <a:rPr lang="ru-RU" sz="1800" kern="100" dirty="0">
                <a:effectLst/>
                <a:latin typeface="Times New Roman" panose="02020603050405020304" pitchFamily="18" charset="0"/>
                <a:ea typeface="Aptos"/>
                <a:cs typeface="Times New Roman" panose="02020603050405020304" pitchFamily="18" charset="0"/>
              </a:rPr>
              <a:t>[5] = 50;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первый взгляд может показаться, что произойдет ошибка. Ведь в массиве всего три элемента, а мы пытаемся обратиться к шестому.</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Однако JavaScript ведет себя иначе.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этой строки массив автоматически увеличится.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Его содержимое станет следующим: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[10, 99, 30, </a:t>
            </a:r>
            <a:r>
              <a:rPr lang="ru-RU" sz="1800" kern="100" dirty="0" err="1">
                <a:effectLst/>
                <a:latin typeface="Times New Roman" panose="02020603050405020304" pitchFamily="18" charset="0"/>
                <a:ea typeface="Aptos"/>
                <a:cs typeface="Times New Roman" panose="02020603050405020304" pitchFamily="18" charset="0"/>
              </a:rPr>
              <a:t>empty</a:t>
            </a:r>
            <a:r>
              <a:rPr lang="ru-RU" sz="1800" kern="100" dirty="0">
                <a:effectLst/>
                <a:latin typeface="Times New Roman" panose="02020603050405020304" pitchFamily="18" charset="0"/>
                <a:ea typeface="Aptos"/>
                <a:cs typeface="Times New Roman" panose="02020603050405020304" pitchFamily="18" charset="0"/>
              </a:rPr>
              <a:t>, </a:t>
            </a:r>
            <a:r>
              <a:rPr lang="en-US" sz="1800" dirty="0">
                <a:latin typeface="Times New Roman" panose="02020603050405020304" pitchFamily="18" charset="0"/>
                <a:ea typeface="Consolas" pitchFamily="34" charset="-122"/>
                <a:cs typeface="Times New Roman" panose="02020603050405020304" pitchFamily="18" charset="0"/>
              </a:rPr>
              <a:t>empty</a:t>
            </a:r>
            <a:r>
              <a:rPr lang="ru-RU" sz="1800" dirty="0">
                <a:latin typeface="Times New Roman" panose="02020603050405020304" pitchFamily="18" charset="0"/>
                <a:ea typeface="Consolas" pitchFamily="34" charset="-122"/>
                <a:cs typeface="Times New Roman" panose="02020603050405020304" pitchFamily="18" charset="0"/>
              </a:rPr>
              <a:t>,</a:t>
            </a:r>
            <a:r>
              <a:rPr lang="ru-RU" sz="1800" kern="100" dirty="0">
                <a:effectLst/>
                <a:latin typeface="Times New Roman" panose="02020603050405020304" pitchFamily="18" charset="0"/>
                <a:ea typeface="Aptos"/>
                <a:cs typeface="Times New Roman" panose="02020603050405020304" pitchFamily="18" charset="0"/>
              </a:rPr>
              <a:t> 50]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Размер массива увеличился до шести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Возникает закономерный вопрос: что произошло с индексами 3 и 4?</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Поскольку мы сразу записали значение в элемент с индексом 5, JavaScript автоматически создал промежуточные пустые позиции. Такие массивы называют </a:t>
            </a:r>
            <a:r>
              <a:rPr lang="ru-RU" sz="1800" b="1" kern="100" dirty="0">
                <a:effectLst/>
                <a:latin typeface="Times New Roman" panose="02020603050405020304" pitchFamily="18" charset="0"/>
                <a:ea typeface="Aptos"/>
                <a:cs typeface="Times New Roman" panose="02020603050405020304" pitchFamily="18" charset="0"/>
              </a:rPr>
              <a:t>разреженными</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Важно понимать, что в этих позициях не хранится значение </a:t>
            </a:r>
            <a:r>
              <a:rPr lang="ru-RU" sz="1800" kern="100" dirty="0" err="1">
                <a:effectLst/>
                <a:latin typeface="Times New Roman" panose="02020603050405020304" pitchFamily="18" charset="0"/>
                <a:ea typeface="Aptos"/>
                <a:cs typeface="Times New Roman" panose="02020603050405020304" pitchFamily="18" charset="0"/>
              </a:rPr>
              <a:t>undefined</a:t>
            </a:r>
            <a:r>
              <a:rPr lang="ru-RU" sz="1800" kern="100" dirty="0">
                <a:effectLst/>
                <a:latin typeface="Times New Roman" panose="02020603050405020304" pitchFamily="18" charset="0"/>
                <a:ea typeface="Aptos"/>
                <a:cs typeface="Times New Roman" panose="02020603050405020304" pitchFamily="18" charset="0"/>
              </a:rPr>
              <a:t>. Внутри массива находятся пустые ячейки, которые JavaScript отображает как </a:t>
            </a:r>
            <a:r>
              <a:rPr lang="ru-RU" sz="1800" kern="100" dirty="0" err="1">
                <a:effectLst/>
                <a:latin typeface="Times New Roman" panose="02020603050405020304" pitchFamily="18" charset="0"/>
                <a:ea typeface="Aptos"/>
                <a:cs typeface="Times New Roman" panose="02020603050405020304" pitchFamily="18" charset="0"/>
              </a:rPr>
              <a:t>empty</a:t>
            </a:r>
            <a:r>
              <a:rPr lang="ru-RU" sz="1800" kern="100" dirty="0">
                <a:effectLst/>
                <a:latin typeface="Times New Roman" panose="02020603050405020304" pitchFamily="18" charset="0"/>
                <a:ea typeface="Aptos"/>
                <a:cs typeface="Times New Roman" panose="02020603050405020304" pitchFamily="18" charset="0"/>
              </a:rPr>
              <a:t>. Но если попытаться прочитать такую ячейку, результатом действительно будет </a:t>
            </a:r>
            <a:r>
              <a:rPr lang="ru-RU" sz="1800" kern="100" dirty="0" err="1">
                <a:effectLst/>
                <a:latin typeface="Times New Roman" panose="02020603050405020304" pitchFamily="18" charset="0"/>
                <a:ea typeface="Aptos"/>
                <a:cs typeface="Times New Roman" panose="02020603050405020304" pitchFamily="18" charset="0"/>
              </a:rPr>
              <a:t>undefined</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console.log(</a:t>
            </a:r>
            <a:r>
              <a:rPr lang="en-US" sz="1800" kern="100" dirty="0" err="1">
                <a:effectLst/>
                <a:latin typeface="Times New Roman" panose="02020603050405020304" pitchFamily="18" charset="0"/>
                <a:ea typeface="Aptos"/>
                <a:cs typeface="Times New Roman" panose="02020603050405020304" pitchFamily="18" charset="0"/>
              </a:rPr>
              <a:t>arr</a:t>
            </a:r>
            <a:r>
              <a:rPr lang="en-US" sz="1800" kern="100" dirty="0">
                <a:effectLst/>
                <a:latin typeface="Times New Roman" panose="02020603050405020304" pitchFamily="18" charset="0"/>
                <a:ea typeface="Aptos"/>
                <a:cs typeface="Times New Roman" panose="02020603050405020304" pitchFamily="18" charset="0"/>
              </a:rPr>
              <a:t>[3]);</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выведет</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undefined</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означает, что по данному индексу отсутствует значение, которое можно использовать в программе.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Еще одна строка примера показывает работу свойства </a:t>
            </a:r>
            <a:r>
              <a:rPr lang="ru-RU" sz="1800" kern="100" dirty="0" err="1">
                <a:effectLst/>
                <a:latin typeface="Times New Roman" panose="02020603050405020304" pitchFamily="18" charset="0"/>
                <a:ea typeface="Aptos"/>
                <a:cs typeface="Times New Roman" panose="02020603050405020304" pitchFamily="18" charset="0"/>
              </a:rPr>
              <a:t>length</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console.log(</a:t>
            </a:r>
            <a:r>
              <a:rPr lang="ru-RU" sz="1800" kern="100" dirty="0" err="1">
                <a:effectLst/>
                <a:latin typeface="Times New Roman" panose="02020603050405020304" pitchFamily="18" charset="0"/>
                <a:ea typeface="Aptos"/>
                <a:cs typeface="Times New Roman" panose="02020603050405020304" pitchFamily="18" charset="0"/>
              </a:rPr>
              <a:t>arr.length</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увеличения массива программа выведет число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6</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говорит о том, что свойство </a:t>
            </a:r>
            <a:r>
              <a:rPr lang="ru-RU" sz="1800" kern="100" dirty="0" err="1">
                <a:effectLst/>
                <a:latin typeface="Times New Roman" panose="02020603050405020304" pitchFamily="18" charset="0"/>
                <a:ea typeface="Aptos"/>
                <a:cs typeface="Times New Roman" panose="02020603050405020304" pitchFamily="18" charset="0"/>
              </a:rPr>
              <a:t>length</a:t>
            </a:r>
            <a:r>
              <a:rPr lang="ru-RU" sz="1800" kern="100" dirty="0">
                <a:effectLst/>
                <a:latin typeface="Times New Roman" panose="02020603050405020304" pitchFamily="18" charset="0"/>
                <a:ea typeface="Aptos"/>
                <a:cs typeface="Times New Roman" panose="02020603050405020304" pitchFamily="18" charset="0"/>
              </a:rPr>
              <a:t> автоматически изменяется при изменении размера массива.</a:t>
            </a: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Следующая особенность JavaScript называется </a:t>
            </a:r>
            <a:r>
              <a:rPr lang="ru-RU" sz="1800" b="1" kern="100" dirty="0">
                <a:effectLst/>
                <a:latin typeface="Times New Roman" panose="02020603050405020304" pitchFamily="18" charset="0"/>
                <a:ea typeface="Aptos"/>
                <a:cs typeface="Times New Roman" panose="02020603050405020304" pitchFamily="18" charset="0"/>
              </a:rPr>
              <a:t>гетерогенностью массивов</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 многих языках программирования существует строгое правило: все элементы массива должны иметь один и тот же тип данных.</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 если массив объявлен как массив целых чисел, в него нельзя поместить строку или логическое значение.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JavaScript работает иначе.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mixed</a:t>
            </a:r>
            <a:r>
              <a:rPr lang="ru-RU" sz="1800" kern="100" dirty="0">
                <a:effectLst/>
                <a:latin typeface="Times New Roman" panose="02020603050405020304" pitchFamily="18" charset="0"/>
                <a:ea typeface="Aptos"/>
                <a:cs typeface="Times New Roman" panose="02020603050405020304" pitchFamily="18" charset="0"/>
              </a:rPr>
              <a:t> =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    </a:t>
            </a:r>
            <a:r>
              <a:rPr lang="en-US" sz="1800" kern="100" dirty="0">
                <a:effectLst/>
                <a:latin typeface="Times New Roman" panose="02020603050405020304" pitchFamily="18" charset="0"/>
                <a:ea typeface="Aptos"/>
                <a:cs typeface="Times New Roman" panose="02020603050405020304" pitchFamily="18" charset="0"/>
              </a:rPr>
              <a:t>42,</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a:t>
            </a:r>
            <a:r>
              <a:rPr lang="ru-RU" sz="1800" kern="100" dirty="0">
                <a:effectLst/>
                <a:latin typeface="Times New Roman" panose="02020603050405020304" pitchFamily="18" charset="0"/>
                <a:ea typeface="Aptos"/>
                <a:cs typeface="Times New Roman" panose="02020603050405020304" pitchFamily="18" charset="0"/>
              </a:rPr>
              <a:t>строка</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true,</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 name: "obj"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[1, 2, 3],</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function()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return</a:t>
            </a:r>
            <a:r>
              <a:rPr lang="ru-RU" sz="1800" kern="100" dirty="0">
                <a:effectLst/>
                <a:latin typeface="Times New Roman" panose="02020603050405020304" pitchFamily="18" charset="0"/>
                <a:ea typeface="Aptos"/>
                <a:cs typeface="Times New Roman" panose="02020603050405020304" pitchFamily="18" charset="0"/>
              </a:rPr>
              <a:t> 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одном массиве одновременно находятся совершенно разные типы данных.</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Первый элемент — число.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Второй — строка.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Третий — логическое значение.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Четвертый — объект.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Пятый — еще один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Шестой — функция.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Все эти значения спокойно сосуществуют внутри одного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Эта особенность делает JavaScript очень гибким.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 при работе с сервером приложение может получить сложную структуру данных, где рядом находятся числа, строки, объекты и вложенные массивы. JavaScript позволяет работать с такой информацией без дополнительных преобразований.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Однако у этой гибкости есть и обратная сторона.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Когда в одном массиве находятся данные разных типов, программа становится сложнее для понимания. Разработчику приходится постоянно помнить, какого типа каждый элемент, иначе легко допустить ошибку.</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Поэтому в профессиональной разработке существует рекомендация: даже несмотря на то, что JavaScript разрешает хранить разные типы данных в одном массиве, лучше использовать массивы с однотипными элементами.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 если массив предназначен для хранения возраста пользователей, в нем должны находиться только числа.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массив содержит список имен, лучше хранить только строки.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необходимо работать с информацией о пользователях, обычно создают массив объектов, где каждый объект описывает одного пользователя.</a:t>
            </a: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3</a:t>
            </a:fld>
            <a:endParaRPr lang="ru-RU"/>
          </a:p>
        </p:txBody>
      </p:sp>
    </p:spTree>
    <p:extLst>
      <p:ext uri="{BB962C8B-B14F-4D97-AF65-F5344CB8AC3E}">
        <p14:creationId xmlns:p14="http://schemas.microsoft.com/office/powerpoint/2010/main" val="3575954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Эти методы являются одними из самых часто используемых при разработке мобильных приложений. Практически каждый список товаров, сообщений, пользователей или фотографий постоянно изменяется: появляются новые записи, удаляются старые, изменяется порядок отображения информации. Для выполнения подобных операций JavaScript предоставляет специальные методы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слайде представлены четыре основных метода:</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pop</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shift</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unshift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добавляет один или несколько элементов </a:t>
            </a:r>
            <a:r>
              <a:rPr lang="ru-RU" sz="1800" b="1" kern="100" dirty="0">
                <a:effectLst/>
                <a:latin typeface="Times New Roman" panose="02020603050405020304" pitchFamily="18" charset="0"/>
                <a:ea typeface="Aptos"/>
                <a:cs typeface="Times New Roman" panose="02020603050405020304" pitchFamily="18" charset="0"/>
              </a:rPr>
              <a:t>в конец массива</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["яблоко", "груша"];</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fruits.push</a:t>
            </a:r>
            <a:r>
              <a:rPr lang="ru-RU" sz="1800" kern="100" dirty="0">
                <a:effectLst/>
                <a:latin typeface="Times New Roman" panose="02020603050405020304" pitchFamily="18" charset="0"/>
                <a:ea typeface="Aptos"/>
                <a:cs typeface="Times New Roman" panose="02020603050405020304" pitchFamily="18" charset="0"/>
              </a:rPr>
              <a:t>("апельсин");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Первоначально массив содержал два элемента: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["яблоко", "груша"]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метода </a:t>
            </a: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массив станет выглядеть следующим образом: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["яблоко", "груша", "апельсин"]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Новый элемент автоматически добавился в конец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Особенность метода заключается в том, что он не создает новый массив, а изменяет существующий.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Кроме того, </a:t>
            </a: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может добавлять сразу несколько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fruits.push</a:t>
            </a:r>
            <a:r>
              <a:rPr lang="ru-RU" sz="1800" kern="100" dirty="0">
                <a:effectLst/>
                <a:latin typeface="Times New Roman" panose="02020603050405020304" pitchFamily="18" charset="0"/>
                <a:ea typeface="Aptos"/>
                <a:cs typeface="Times New Roman" panose="02020603050405020304" pitchFamily="18" charset="0"/>
              </a:rPr>
              <a:t>("банан", "киви");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Теперь массив будет содержать уже пять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также возвращает новое значение свойства </a:t>
            </a:r>
            <a:r>
              <a:rPr lang="ru-RU" sz="1800" kern="100" dirty="0" err="1">
                <a:effectLst/>
                <a:latin typeface="Times New Roman" panose="02020603050405020304" pitchFamily="18" charset="0"/>
                <a:ea typeface="Aptos"/>
                <a:cs typeface="Times New Roman" panose="02020603050405020304" pitchFamily="18" charset="0"/>
              </a:rPr>
              <a:t>length</a:t>
            </a:r>
            <a:r>
              <a:rPr lang="ru-RU" sz="1800" kern="100" dirty="0">
                <a:effectLst/>
                <a:latin typeface="Times New Roman" panose="02020603050405020304" pitchFamily="18" charset="0"/>
                <a:ea typeface="Aptos"/>
                <a:cs typeface="Times New Roman" panose="02020603050405020304" pitchFamily="18" charset="0"/>
              </a:rPr>
              <a:t>, то есть новое количество элементов массива. Благодаря этому разработчик сразу знает, сколько элементов теперь находится в массиве.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практике метод </a:t>
            </a: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используется очень часто.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пользователь отправил новое сообщение в чат;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 интернет-магазин загрузили новый товар;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пользователь добавил фотографию в альбом;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приложение получило новую запись с сервера.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 всех этих случаях новые данные обычно помещаются именно в конец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pop</a:t>
            </a:r>
            <a:r>
              <a:rPr lang="ru-RU" sz="1800" kern="100" dirty="0">
                <a:effectLst/>
                <a:latin typeface="Times New Roman" panose="02020603050405020304" pitchFamily="18" charset="0"/>
                <a:ea typeface="Aptos"/>
                <a:cs typeface="Times New Roman" panose="02020603050405020304" pitchFamily="18" charset="0"/>
              </a:rPr>
              <a:t>() выполняет противоположную операцию.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удаляет </a:t>
            </a:r>
            <a:r>
              <a:rPr lang="ru-RU" sz="1800" b="1" kern="100" dirty="0">
                <a:effectLst/>
                <a:latin typeface="Times New Roman" panose="02020603050405020304" pitchFamily="18" charset="0"/>
                <a:ea typeface="Aptos"/>
                <a:cs typeface="Times New Roman" panose="02020603050405020304" pitchFamily="18" charset="0"/>
              </a:rPr>
              <a:t>последний элемент массива</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["яблоко", "груша", "апельсин"];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item</a:t>
            </a:r>
            <a:r>
              <a:rPr lang="ru-RU" sz="1800" kern="100" dirty="0">
                <a:effectLst/>
                <a:latin typeface="Times New Roman" panose="02020603050405020304" pitchFamily="18" charset="0"/>
                <a:ea typeface="Aptos"/>
                <a:cs typeface="Times New Roman" panose="02020603050405020304" pitchFamily="18" charset="0"/>
              </a:rPr>
              <a:t> = </a:t>
            </a:r>
            <a:r>
              <a:rPr lang="ru-RU" sz="1800" kern="100" dirty="0" err="1">
                <a:effectLst/>
                <a:latin typeface="Times New Roman" panose="02020603050405020304" pitchFamily="18" charset="0"/>
                <a:ea typeface="Aptos"/>
                <a:cs typeface="Times New Roman" panose="02020603050405020304" pitchFamily="18" charset="0"/>
              </a:rPr>
              <a:t>fruits.pop</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программы массив станет таким: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["яблоко", "груша"]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А переменная</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item</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будет содержать значение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очень важная особенность метода.</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pop</a:t>
            </a:r>
            <a:r>
              <a:rPr lang="ru-RU" sz="1800" kern="100" dirty="0">
                <a:effectLst/>
                <a:latin typeface="Times New Roman" panose="02020603050405020304" pitchFamily="18" charset="0"/>
                <a:ea typeface="Aptos"/>
                <a:cs typeface="Times New Roman" panose="02020603050405020304" pitchFamily="18" charset="0"/>
              </a:rPr>
              <a:t>() не просто удаляет элемент, но еще и возвращает его.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Благодаря этому можно сначала получить данные удаляемого элемента, а затем выполнить с ними какие-либо действия.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 сохранить информацию в журнале операций или показать пользователю уведомление о том, какой объект был удален.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же массив пустой, метод вернет значение </a:t>
            </a:r>
            <a:r>
              <a:rPr lang="ru-RU" sz="1800" kern="100" dirty="0" err="1">
                <a:effectLst/>
                <a:latin typeface="Times New Roman" panose="02020603050405020304" pitchFamily="18" charset="0"/>
                <a:ea typeface="Aptos"/>
                <a:cs typeface="Times New Roman" panose="02020603050405020304" pitchFamily="18" charset="0"/>
              </a:rPr>
              <a:t>undefined</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Ошибка при этом не возникнет.</a:t>
            </a: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Еще метод этой группы — </a:t>
            </a:r>
            <a:r>
              <a:rPr lang="ru-RU" sz="1800" kern="100" dirty="0" err="1">
                <a:effectLst/>
                <a:latin typeface="Times New Roman" panose="02020603050405020304" pitchFamily="18" charset="0"/>
                <a:ea typeface="Aptos"/>
                <a:cs typeface="Times New Roman" panose="02020603050405020304" pitchFamily="18" charset="0"/>
              </a:rPr>
              <a:t>unshift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выполняет противоположную операцию относительно </a:t>
            </a:r>
            <a:r>
              <a:rPr lang="ru-RU" sz="1800" kern="100" dirty="0" err="1">
                <a:effectLst/>
                <a:latin typeface="Times New Roman" panose="02020603050405020304" pitchFamily="18" charset="0"/>
                <a:ea typeface="Aptos"/>
                <a:cs typeface="Times New Roman" panose="02020603050405020304" pitchFamily="18" charset="0"/>
              </a:rPr>
              <a:t>shift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добавляет новые элементы </a:t>
            </a:r>
            <a:r>
              <a:rPr lang="ru-RU" sz="1800" b="1" kern="100" dirty="0">
                <a:effectLst/>
                <a:latin typeface="Times New Roman" panose="02020603050405020304" pitchFamily="18" charset="0"/>
                <a:ea typeface="Aptos"/>
                <a:cs typeface="Times New Roman" panose="02020603050405020304" pitchFamily="18" charset="0"/>
              </a:rPr>
              <a:t>в начало массива</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["груша", "апельсин"];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fruits.unshift</a:t>
            </a:r>
            <a:r>
              <a:rPr lang="ru-RU" sz="1800" kern="100" dirty="0">
                <a:effectLst/>
                <a:latin typeface="Times New Roman" panose="02020603050405020304" pitchFamily="18" charset="0"/>
                <a:ea typeface="Aptos"/>
                <a:cs typeface="Times New Roman" panose="02020603050405020304" pitchFamily="18" charset="0"/>
              </a:rPr>
              <a:t>("яблоко");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программы получится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["яблоко", "груша", "апельсин"]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Как и метод </a:t>
            </a: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unshift</a:t>
            </a:r>
            <a:r>
              <a:rPr lang="ru-RU" sz="1800" kern="100" dirty="0">
                <a:effectLst/>
                <a:latin typeface="Times New Roman" panose="02020603050405020304" pitchFamily="18" charset="0"/>
                <a:ea typeface="Aptos"/>
                <a:cs typeface="Times New Roman" panose="02020603050405020304" pitchFamily="18" charset="0"/>
              </a:rPr>
              <a:t>() может добавлять сразу несколько элементов одновременно.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fruits.unshift</a:t>
            </a:r>
            <a:r>
              <a:rPr lang="ru-RU" sz="1800" kern="100" dirty="0">
                <a:effectLst/>
                <a:latin typeface="Times New Roman" panose="02020603050405020304" pitchFamily="18" charset="0"/>
                <a:ea typeface="Aptos"/>
                <a:cs typeface="Times New Roman" panose="02020603050405020304" pitchFamily="18" charset="0"/>
              </a:rPr>
              <a:t>("банан", "киви");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результате новые элементы будут добавлены перед всеми существующими.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Следует помнить, что при использовании </a:t>
            </a:r>
            <a:r>
              <a:rPr lang="ru-RU" sz="1800" kern="100" dirty="0" err="1">
                <a:effectLst/>
                <a:latin typeface="Times New Roman" panose="02020603050405020304" pitchFamily="18" charset="0"/>
                <a:ea typeface="Aptos"/>
                <a:cs typeface="Times New Roman" panose="02020603050405020304" pitchFamily="18" charset="0"/>
              </a:rPr>
              <a:t>unshift</a:t>
            </a:r>
            <a:r>
              <a:rPr lang="ru-RU" sz="1800" kern="100" dirty="0">
                <a:effectLst/>
                <a:latin typeface="Times New Roman" panose="02020603050405020304" pitchFamily="18" charset="0"/>
                <a:ea typeface="Aptos"/>
                <a:cs typeface="Times New Roman" panose="02020603050405020304" pitchFamily="18" charset="0"/>
              </a:rPr>
              <a:t>() индексы всех уже существующих элементов также изменяются.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Поэтому эта операция требует больше вычислений, чем обычное добавление в конец массива.</a:t>
            </a: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Последний метод называется </a:t>
            </a:r>
            <a:r>
              <a:rPr lang="ru-RU" sz="1800" kern="100" dirty="0" err="1">
                <a:effectLst/>
                <a:latin typeface="Times New Roman" panose="02020603050405020304" pitchFamily="18" charset="0"/>
                <a:ea typeface="Aptos"/>
                <a:cs typeface="Times New Roman" panose="02020603050405020304" pitchFamily="18" charset="0"/>
              </a:rPr>
              <a:t>shift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удаляет </a:t>
            </a:r>
            <a:r>
              <a:rPr lang="ru-RU" sz="1800" b="1" kern="100" dirty="0">
                <a:effectLst/>
                <a:latin typeface="Times New Roman" panose="02020603050405020304" pitchFamily="18" charset="0"/>
                <a:ea typeface="Aptos"/>
                <a:cs typeface="Times New Roman" panose="02020603050405020304" pitchFamily="18" charset="0"/>
              </a:rPr>
              <a:t>первый элемент массива</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["яблоко", "груша", "апельсин"];</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fruits.shift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этой команды массив станет таким: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["груша", "апельсин"]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Обратите внимание на важную особенность.</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удаления первого элемента все остальные автоматически смещаются влево.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То есть элемент, который раньше имел индекс 1, становится элементом с индексом 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Следующий элемент получает индекс 1 и так далее.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Из-за такого смещения JavaScript приходится изменять индексы всех остальных элементов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Поэтому операция </a:t>
            </a:r>
            <a:r>
              <a:rPr lang="ru-RU" sz="1800" kern="100" dirty="0" err="1">
                <a:effectLst/>
                <a:latin typeface="Times New Roman" panose="02020603050405020304" pitchFamily="18" charset="0"/>
                <a:ea typeface="Aptos"/>
                <a:cs typeface="Times New Roman" panose="02020603050405020304" pitchFamily="18" charset="0"/>
              </a:rPr>
              <a:t>shift</a:t>
            </a:r>
            <a:r>
              <a:rPr lang="ru-RU" sz="1800" kern="100" dirty="0">
                <a:effectLst/>
                <a:latin typeface="Times New Roman" panose="02020603050405020304" pitchFamily="18" charset="0"/>
                <a:ea typeface="Aptos"/>
                <a:cs typeface="Times New Roman" panose="02020603050405020304" pitchFamily="18" charset="0"/>
              </a:rPr>
              <a:t>() выполняется медленнее, чем </a:t>
            </a:r>
            <a:r>
              <a:rPr lang="ru-RU" sz="1800" kern="100" dirty="0" err="1">
                <a:effectLst/>
                <a:latin typeface="Times New Roman" panose="02020603050405020304" pitchFamily="18" charset="0"/>
                <a:ea typeface="Aptos"/>
                <a:cs typeface="Times New Roman" panose="02020603050405020304" pitchFamily="18" charset="0"/>
              </a:rPr>
              <a:t>pop</a:t>
            </a:r>
            <a:r>
              <a:rPr lang="ru-RU" sz="1800" kern="100" dirty="0">
                <a:effectLst/>
                <a:latin typeface="Times New Roman" panose="02020603050405020304" pitchFamily="18" charset="0"/>
                <a:ea typeface="Aptos"/>
                <a:cs typeface="Times New Roman" panose="02020603050405020304" pitchFamily="18" charset="0"/>
              </a:rPr>
              <a:t>(), особенно если массив содержит тысячи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Именно поэтому программисты стараются не злоупотреблять удалением элементов из начала очень больших массивов.</a:t>
            </a:r>
            <a:endParaRPr lang="ru-RU" sz="1800" b="1"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endParaRPr lang="ru-RU" sz="1800" b="1"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Сравнение методов</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Все четыре метода можно разделить на две группы.</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Работа с концом массива:</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 добавляет элемент;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pop</a:t>
            </a:r>
            <a:r>
              <a:rPr lang="ru-RU" sz="1800" kern="100" dirty="0">
                <a:effectLst/>
                <a:latin typeface="Times New Roman" panose="02020603050405020304" pitchFamily="18" charset="0"/>
                <a:ea typeface="Aptos"/>
                <a:cs typeface="Times New Roman" panose="02020603050405020304" pitchFamily="18" charset="0"/>
              </a:rPr>
              <a:t>() — удаляет элемент. </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Работа с началом массива:</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unshift</a:t>
            </a:r>
            <a:r>
              <a:rPr lang="ru-RU" sz="1800" kern="100" dirty="0">
                <a:effectLst/>
                <a:latin typeface="Times New Roman" panose="02020603050405020304" pitchFamily="18" charset="0"/>
                <a:ea typeface="Aptos"/>
                <a:cs typeface="Times New Roman" panose="02020603050405020304" pitchFamily="18" charset="0"/>
              </a:rPr>
              <a:t>() — добавляет элемент;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shift</a:t>
            </a:r>
            <a:r>
              <a:rPr lang="ru-RU" sz="1800" kern="100" dirty="0">
                <a:effectLst/>
                <a:latin typeface="Times New Roman" panose="02020603050405020304" pitchFamily="18" charset="0"/>
                <a:ea typeface="Aptos"/>
                <a:cs typeface="Times New Roman" panose="02020603050405020304" pitchFamily="18" charset="0"/>
              </a:rPr>
              <a:t>() — удаляет элемент.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Операции с концом массива выполняются быстрее, поскольку JavaScript не приходится изменять индексы остальных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При работе с началом массива индексы необходимо пересчитывать, поэтому такие операции требуют больше времени.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небольших массивах эта разница практически незаметна, однако при работе с большими объемами данных она становится существенной.</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Практическое применение</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Все рассмотренные методы широко используются при разработке мобильных приложений.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 мессенджере новое сообщение добавляется методом </a:t>
            </a:r>
            <a:r>
              <a:rPr lang="ru-RU" sz="1800" kern="100" dirty="0" err="1">
                <a:effectLst/>
                <a:latin typeface="Times New Roman" panose="02020603050405020304" pitchFamily="18" charset="0"/>
                <a:ea typeface="Aptos"/>
                <a:cs typeface="Times New Roman" panose="02020603050405020304" pitchFamily="18" charset="0"/>
              </a:rPr>
              <a:t>push</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удаление последнего элемента истории может выполняться через </a:t>
            </a:r>
            <a:r>
              <a:rPr lang="ru-RU" sz="1800" kern="100" dirty="0" err="1">
                <a:effectLst/>
                <a:latin typeface="Times New Roman" panose="02020603050405020304" pitchFamily="18" charset="0"/>
                <a:ea typeface="Aptos"/>
                <a:cs typeface="Times New Roman" panose="02020603050405020304" pitchFamily="18" charset="0"/>
              </a:rPr>
              <a:t>pop</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отображение самых свежих новостей сверху часто реализуется с помощью </a:t>
            </a:r>
            <a:r>
              <a:rPr lang="ru-RU" sz="1800" kern="100" dirty="0" err="1">
                <a:effectLst/>
                <a:latin typeface="Times New Roman" panose="02020603050405020304" pitchFamily="18" charset="0"/>
                <a:ea typeface="Aptos"/>
                <a:cs typeface="Times New Roman" panose="02020603050405020304" pitchFamily="18" charset="0"/>
              </a:rPr>
              <a:t>unshift</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удаление первого уведомления после его прочтения выполняется методом </a:t>
            </a:r>
            <a:r>
              <a:rPr lang="ru-RU" sz="1800" kern="100" dirty="0" err="1">
                <a:effectLst/>
                <a:latin typeface="Times New Roman" panose="02020603050405020304" pitchFamily="18" charset="0"/>
                <a:ea typeface="Aptos"/>
                <a:cs typeface="Times New Roman" panose="02020603050405020304" pitchFamily="18" charset="0"/>
              </a:rPr>
              <a:t>shift</a:t>
            </a:r>
            <a:r>
              <a:rPr lang="ru-RU" sz="1800" kern="100" dirty="0">
                <a:effectLst/>
                <a:latin typeface="Times New Roman" panose="02020603050405020304" pitchFamily="18" charset="0"/>
                <a:ea typeface="Aptos"/>
                <a:cs typeface="Times New Roman" panose="02020603050405020304" pitchFamily="18" charset="0"/>
              </a:rPr>
              <a:t>(). </a:t>
            </a:r>
          </a:p>
          <a:p>
            <a:r>
              <a:rPr lang="ru-RU" sz="1800" dirty="0">
                <a:effectLst/>
                <a:latin typeface="Times New Roman" panose="02020603050405020304" pitchFamily="18" charset="0"/>
                <a:ea typeface="Aptos"/>
              </a:rPr>
              <a:t>Таким образом, эти четыре метода позволяют эффективно управлять содержимым массива без необходимости вручную изменять индексы элементов. </a:t>
            </a:r>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4</a:t>
            </a:fld>
            <a:endParaRPr lang="ru-RU"/>
          </a:p>
        </p:txBody>
      </p:sp>
    </p:spTree>
    <p:extLst>
      <p:ext uri="{BB962C8B-B14F-4D97-AF65-F5344CB8AC3E}">
        <p14:creationId xmlns:p14="http://schemas.microsoft.com/office/powerpoint/2010/main" val="1739284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практике очень часто возникает необходимость изменить массив в его середине: удалить несколько элементов, вставить новые значения в определенное место или получить копию части массива. Для решения таких задач JavaScript предоставляет два важных метода — </a:t>
            </a:r>
            <a:r>
              <a:rPr lang="ru-RU" sz="1800" kern="100" dirty="0" err="1">
                <a:effectLst/>
                <a:latin typeface="Times New Roman" panose="02020603050405020304" pitchFamily="18" charset="0"/>
                <a:ea typeface="Aptos"/>
                <a:cs typeface="Times New Roman" panose="02020603050405020304" pitchFamily="18" charset="0"/>
              </a:rPr>
              <a:t>splice</a:t>
            </a:r>
            <a:r>
              <a:rPr lang="ru-RU" sz="1800" kern="100" dirty="0">
                <a:effectLst/>
                <a:latin typeface="Times New Roman" panose="02020603050405020304" pitchFamily="18" charset="0"/>
                <a:ea typeface="Aptos"/>
                <a:cs typeface="Times New Roman" panose="02020603050405020304" pitchFamily="18" charset="0"/>
              </a:rPr>
              <a:t>() и </a:t>
            </a:r>
            <a:r>
              <a:rPr lang="ru-RU" sz="1800" kern="100" dirty="0" err="1">
                <a:effectLst/>
                <a:latin typeface="Times New Roman" panose="02020603050405020304" pitchFamily="18" charset="0"/>
                <a:ea typeface="Aptos"/>
                <a:cs typeface="Times New Roman" panose="02020603050405020304" pitchFamily="18" charset="0"/>
              </a:rPr>
              <a:t>slice</a:t>
            </a:r>
            <a:r>
              <a:rPr lang="ru-RU" sz="1800" kern="100" dirty="0">
                <a:effectLst/>
                <a:latin typeface="Times New Roman" panose="02020603050405020304" pitchFamily="18" charset="0"/>
                <a:ea typeface="Aptos"/>
                <a:cs typeface="Times New Roman" panose="02020603050405020304" pitchFamily="18" charset="0"/>
              </a:rPr>
              <a:t>(). Несмотря на похожие названия, они выполняют совершенно разные функции, поэтому важно понимать различия между ними.</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splice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splice</a:t>
            </a:r>
            <a:r>
              <a:rPr lang="ru-RU" sz="1800" kern="100" dirty="0">
                <a:effectLst/>
                <a:latin typeface="Times New Roman" panose="02020603050405020304" pitchFamily="18" charset="0"/>
                <a:ea typeface="Aptos"/>
                <a:cs typeface="Times New Roman" panose="02020603050405020304" pitchFamily="18" charset="0"/>
              </a:rPr>
              <a:t>() предназначен для изменения существующего массива. С его помощью можно удалять элементы, вставлять новые или одновременно выполнять обе операции.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Общий вид метода выглядит следующим образом:</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array.splice</a:t>
            </a:r>
            <a:r>
              <a:rPr lang="ru-RU" sz="1800" kern="100" dirty="0">
                <a:effectLst/>
                <a:latin typeface="Times New Roman" panose="02020603050405020304" pitchFamily="18" charset="0"/>
                <a:ea typeface="Aptos"/>
                <a:cs typeface="Times New Roman" panose="02020603050405020304" pitchFamily="18" charset="0"/>
              </a:rPr>
              <a:t>(</a:t>
            </a:r>
            <a:r>
              <a:rPr lang="ru-RU" sz="1800" kern="100" dirty="0" err="1">
                <a:effectLst/>
                <a:latin typeface="Times New Roman" panose="02020603050405020304" pitchFamily="18" charset="0"/>
                <a:ea typeface="Aptos"/>
                <a:cs typeface="Times New Roman" panose="02020603050405020304" pitchFamily="18" charset="0"/>
              </a:rPr>
              <a:t>начальныйИндекс</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количествоУдаляемыхЭлементов</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новыеЭлементы</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 представленный на слайде.</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["яблоко", "груша", "слива", "банан"];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Предположим, что необходимо удалить элемент «слива».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этого используется команда:</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fruits.splice</a:t>
            </a:r>
            <a:r>
              <a:rPr lang="ru-RU" sz="1800" kern="100" dirty="0">
                <a:effectLst/>
                <a:latin typeface="Times New Roman" panose="02020603050405020304" pitchFamily="18" charset="0"/>
                <a:ea typeface="Aptos"/>
                <a:cs typeface="Times New Roman" panose="02020603050405020304" pitchFamily="18" charset="0"/>
              </a:rPr>
              <a:t>(2, 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Разберем параметры более подробно.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Первое число — </a:t>
            </a:r>
            <a:r>
              <a:rPr lang="ru-RU" sz="1800" b="1" kern="100" dirty="0">
                <a:effectLst/>
                <a:latin typeface="Times New Roman" panose="02020603050405020304" pitchFamily="18" charset="0"/>
                <a:ea typeface="Aptos"/>
                <a:cs typeface="Times New Roman" panose="02020603050405020304" pitchFamily="18" charset="0"/>
              </a:rPr>
              <a:t>2</a:t>
            </a:r>
            <a:r>
              <a:rPr lang="ru-RU" sz="1800" kern="100" dirty="0">
                <a:effectLst/>
                <a:latin typeface="Times New Roman" panose="02020603050405020304" pitchFamily="18" charset="0"/>
                <a:ea typeface="Aptos"/>
                <a:cs typeface="Times New Roman" panose="02020603050405020304" pitchFamily="18" charset="0"/>
              </a:rPr>
              <a:t> — означает, что операция начинается с элемента, имеющего индекс 2.</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Второе число — </a:t>
            </a:r>
            <a:r>
              <a:rPr lang="ru-RU" sz="1800" b="1" kern="100" dirty="0">
                <a:effectLst/>
                <a:latin typeface="Times New Roman" panose="02020603050405020304" pitchFamily="18" charset="0"/>
                <a:ea typeface="Aptos"/>
                <a:cs typeface="Times New Roman" panose="02020603050405020304" pitchFamily="18" charset="0"/>
              </a:rPr>
              <a:t>1</a:t>
            </a:r>
            <a:r>
              <a:rPr lang="ru-RU" sz="1800" kern="100" dirty="0">
                <a:effectLst/>
                <a:latin typeface="Times New Roman" panose="02020603050405020304" pitchFamily="18" charset="0"/>
                <a:ea typeface="Aptos"/>
                <a:cs typeface="Times New Roman" panose="02020603050405020304" pitchFamily="18" charset="0"/>
              </a:rPr>
              <a:t> — показывает, что необходимо удалить один элемент.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программы массив примет следующий вид:</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["яблоко", "груша", "банан"]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Элемент «слива» исчез, а остальные автоматически сместились.</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Возвращаемое значение </a:t>
            </a:r>
            <a:r>
              <a:rPr lang="ru-RU" sz="1800" b="1" kern="100" dirty="0" err="1">
                <a:effectLst/>
                <a:latin typeface="Times New Roman" panose="02020603050405020304" pitchFamily="18" charset="0"/>
                <a:ea typeface="Aptos"/>
                <a:cs typeface="Times New Roman" panose="02020603050405020304" pitchFamily="18" charset="0"/>
              </a:rPr>
              <a:t>splice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Важно помнить еще одну особенность.</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возвращает массив удаленных элементов.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deleted = </a:t>
            </a:r>
            <a:r>
              <a:rPr lang="en-US" sz="1800" kern="100" dirty="0" err="1">
                <a:effectLst/>
                <a:latin typeface="Times New Roman" panose="02020603050405020304" pitchFamily="18" charset="0"/>
                <a:ea typeface="Aptos"/>
                <a:cs typeface="Times New Roman" panose="02020603050405020304" pitchFamily="18" charset="0"/>
              </a:rPr>
              <a:t>fruits.splice</a:t>
            </a:r>
            <a:r>
              <a:rPr lang="en-US" sz="1800" kern="100" dirty="0">
                <a:effectLst/>
                <a:latin typeface="Times New Roman" panose="02020603050405020304" pitchFamily="18" charset="0"/>
                <a:ea typeface="Aptos"/>
                <a:cs typeface="Times New Roman" panose="02020603050405020304" pitchFamily="18" charset="0"/>
              </a:rPr>
              <a:t>(1, 2);</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Переменная </a:t>
            </a:r>
            <a:r>
              <a:rPr lang="ru-RU" sz="1800" kern="100" dirty="0" err="1">
                <a:effectLst/>
                <a:latin typeface="Times New Roman" panose="02020603050405020304" pitchFamily="18" charset="0"/>
                <a:ea typeface="Aptos"/>
                <a:cs typeface="Times New Roman" panose="02020603050405020304" pitchFamily="18" charset="0"/>
              </a:rPr>
              <a:t>deleted</a:t>
            </a:r>
            <a:r>
              <a:rPr lang="ru-RU" sz="1800" kern="100" dirty="0">
                <a:effectLst/>
                <a:latin typeface="Times New Roman" panose="02020603050405020304" pitchFamily="18" charset="0"/>
                <a:ea typeface="Aptos"/>
                <a:cs typeface="Times New Roman" panose="02020603050405020304" pitchFamily="18" charset="0"/>
              </a:rPr>
              <a:t> будет содержать массив всех удаленных значений.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бывает полезно, если необходимо сохранить удаленные данные или использовать их позже.</a:t>
            </a: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Вставка элементов</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splice</a:t>
            </a:r>
            <a:r>
              <a:rPr lang="ru-RU" sz="1800" kern="100" dirty="0">
                <a:effectLst/>
                <a:latin typeface="Times New Roman" panose="02020603050405020304" pitchFamily="18" charset="0"/>
                <a:ea typeface="Aptos"/>
                <a:cs typeface="Times New Roman" panose="02020603050405020304" pitchFamily="18" charset="0"/>
              </a:rPr>
              <a:t>() позволяет не только удалять элементы, но и добавлять новые.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fruits.splice</a:t>
            </a:r>
            <a:r>
              <a:rPr lang="ru-RU" sz="1800" kern="100" dirty="0">
                <a:effectLst/>
                <a:latin typeface="Times New Roman" panose="02020603050405020304" pitchFamily="18" charset="0"/>
                <a:ea typeface="Aptos"/>
                <a:cs typeface="Times New Roman" panose="02020603050405020304" pitchFamily="18" charset="0"/>
              </a:rPr>
              <a:t>(1, 0, "киви");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Здесь происходит следующее.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Операция начинается с индекса 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Количество удаляемых элементов равно нулю.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означает, что ничего удаляться не будет.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этого вставляется новый элемент «киви».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Получается следующий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["яблоко", "киви", "груша", "банан"]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Все остальные элементы автоматически смещаются вправо.</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Одновременное удаление и добавление</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Очень часто требуется заменить одно значение другим.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этом случае метод способен выполнить сразу две операции.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fruits.splice</a:t>
            </a:r>
            <a:r>
              <a:rPr lang="ru-RU" sz="1800" kern="100" dirty="0">
                <a:effectLst/>
                <a:latin typeface="Times New Roman" panose="02020603050405020304" pitchFamily="18" charset="0"/>
                <a:ea typeface="Aptos"/>
                <a:cs typeface="Times New Roman" panose="02020603050405020304" pitchFamily="18" charset="0"/>
              </a:rPr>
              <a:t>(2, 1, "апельсин");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Сначала удаляется один элемент с индексом 2.</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Затем на его место вставляется новое значение.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результате вместо удаленного элемента появляется «апельсин».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Такой способ значительно удобнее, чем сначала удалять элемент, а затем отдельно добавлять новый.</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slice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отличие от </a:t>
            </a:r>
            <a:r>
              <a:rPr lang="ru-RU" sz="1800" kern="100" dirty="0" err="1">
                <a:effectLst/>
                <a:latin typeface="Times New Roman" panose="02020603050405020304" pitchFamily="18" charset="0"/>
                <a:ea typeface="Aptos"/>
                <a:cs typeface="Times New Roman" panose="02020603050405020304" pitchFamily="18" charset="0"/>
              </a:rPr>
              <a:t>splice</a:t>
            </a:r>
            <a:r>
              <a:rPr lang="ru-RU" sz="1800" kern="100" dirty="0">
                <a:effectLst/>
                <a:latin typeface="Times New Roman" panose="02020603050405020304" pitchFamily="18" charset="0"/>
                <a:ea typeface="Aptos"/>
                <a:cs typeface="Times New Roman" panose="02020603050405020304" pitchFamily="18" charset="0"/>
              </a:rPr>
              <a:t>(), метод </a:t>
            </a:r>
            <a:r>
              <a:rPr lang="ru-RU" sz="1800" kern="100" dirty="0" err="1">
                <a:effectLst/>
                <a:latin typeface="Times New Roman" panose="02020603050405020304" pitchFamily="18" charset="0"/>
                <a:ea typeface="Aptos"/>
                <a:cs typeface="Times New Roman" panose="02020603050405020304" pitchFamily="18" charset="0"/>
              </a:rPr>
              <a:t>slice</a:t>
            </a:r>
            <a:r>
              <a:rPr lang="ru-RU" sz="1800" kern="100" dirty="0">
                <a:effectLst/>
                <a:latin typeface="Times New Roman" panose="02020603050405020304" pitchFamily="18" charset="0"/>
                <a:ea typeface="Aptos"/>
                <a:cs typeface="Times New Roman" panose="02020603050405020304" pitchFamily="18" charset="0"/>
              </a:rPr>
              <a:t>() </a:t>
            </a:r>
            <a:r>
              <a:rPr lang="ru-RU" sz="1800" b="1" kern="100" dirty="0">
                <a:effectLst/>
                <a:latin typeface="Times New Roman" panose="02020603050405020304" pitchFamily="18" charset="0"/>
                <a:ea typeface="Aptos"/>
                <a:cs typeface="Times New Roman" panose="02020603050405020304" pitchFamily="18" charset="0"/>
              </a:rPr>
              <a:t>не изменяет исходный массив</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Его задача — создать новый массив, содержащий часть элементов исходного.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numbers</a:t>
            </a:r>
            <a:r>
              <a:rPr lang="ru-RU" sz="1800" kern="100" dirty="0">
                <a:effectLst/>
                <a:latin typeface="Times New Roman" panose="02020603050405020304" pitchFamily="18" charset="0"/>
                <a:ea typeface="Aptos"/>
                <a:cs typeface="Times New Roman" panose="02020603050405020304" pitchFamily="18" charset="0"/>
              </a:rPr>
              <a:t> = [10, 20, 30, 40, 50];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Получим копию части массива.</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result</a:t>
            </a:r>
            <a:r>
              <a:rPr lang="ru-RU" sz="1800" kern="100" dirty="0">
                <a:effectLst/>
                <a:latin typeface="Times New Roman" panose="02020603050405020304" pitchFamily="18" charset="0"/>
                <a:ea typeface="Aptos"/>
                <a:cs typeface="Times New Roman" panose="02020603050405020304" pitchFamily="18" charset="0"/>
              </a:rPr>
              <a:t> = </a:t>
            </a:r>
            <a:r>
              <a:rPr lang="ru-RU" sz="1800" kern="100" dirty="0" err="1">
                <a:effectLst/>
                <a:latin typeface="Times New Roman" panose="02020603050405020304" pitchFamily="18" charset="0"/>
                <a:ea typeface="Aptos"/>
                <a:cs typeface="Times New Roman" panose="02020603050405020304" pitchFamily="18" charset="0"/>
              </a:rPr>
              <a:t>numbers.slice</a:t>
            </a:r>
            <a:r>
              <a:rPr lang="ru-RU" sz="1800" kern="100" dirty="0">
                <a:effectLst/>
                <a:latin typeface="Times New Roman" panose="02020603050405020304" pitchFamily="18" charset="0"/>
                <a:ea typeface="Aptos"/>
                <a:cs typeface="Times New Roman" panose="02020603050405020304" pitchFamily="18" charset="0"/>
              </a:rPr>
              <a:t>(1, 4);</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Первый параметр обозначает индекс, с которого начинается копирование.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Второй параметр показывает индекс, </a:t>
            </a:r>
            <a:r>
              <a:rPr lang="ru-RU" sz="1800" b="1" kern="100" dirty="0">
                <a:effectLst/>
                <a:latin typeface="Times New Roman" panose="02020603050405020304" pitchFamily="18" charset="0"/>
                <a:ea typeface="Aptos"/>
                <a:cs typeface="Times New Roman" panose="02020603050405020304" pitchFamily="18" charset="0"/>
              </a:rPr>
              <a:t>до которого выполняется копирование</a:t>
            </a:r>
            <a:r>
              <a:rPr lang="ru-RU" sz="1800" kern="100" dirty="0">
                <a:effectLst/>
                <a:latin typeface="Times New Roman" panose="02020603050405020304" pitchFamily="18" charset="0"/>
                <a:ea typeface="Aptos"/>
                <a:cs typeface="Times New Roman" panose="02020603050405020304" pitchFamily="18" charset="0"/>
              </a:rPr>
              <a:t>, но сам этот элемент в новый массив не попадет.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Поэтому будут скопированы элементы с индексами:</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1;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2;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3</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Результат будет следующим: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[20, 30, 40]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При этом исходный массив останется без изменений.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одно из главных отличий метода </a:t>
            </a:r>
            <a:r>
              <a:rPr lang="ru-RU" sz="1800" kern="100" dirty="0" err="1">
                <a:effectLst/>
                <a:latin typeface="Times New Roman" panose="02020603050405020304" pitchFamily="18" charset="0"/>
                <a:ea typeface="Aptos"/>
                <a:cs typeface="Times New Roman" panose="02020603050405020304" pitchFamily="18" charset="0"/>
              </a:rPr>
              <a:t>slice</a:t>
            </a:r>
            <a:r>
              <a:rPr lang="ru-RU" sz="1800" kern="100" dirty="0">
                <a:effectLst/>
                <a:latin typeface="Times New Roman" panose="02020603050405020304" pitchFamily="18" charset="0"/>
                <a:ea typeface="Aptos"/>
                <a:cs typeface="Times New Roman" panose="02020603050405020304" pitchFamily="18" charset="0"/>
              </a:rPr>
              <a:t>() от </a:t>
            </a:r>
            <a:r>
              <a:rPr lang="ru-RU" sz="1800" kern="100" dirty="0" err="1">
                <a:effectLst/>
                <a:latin typeface="Times New Roman" panose="02020603050405020304" pitchFamily="18" charset="0"/>
                <a:ea typeface="Aptos"/>
                <a:cs typeface="Times New Roman" panose="02020603050405020304" pitchFamily="18" charset="0"/>
              </a:rPr>
              <a:t>splice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Копирование всего массива</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Очень часто метод </a:t>
            </a:r>
            <a:r>
              <a:rPr lang="ru-RU" sz="1800" kern="100" dirty="0" err="1">
                <a:effectLst/>
                <a:latin typeface="Times New Roman" panose="02020603050405020304" pitchFamily="18" charset="0"/>
                <a:ea typeface="Aptos"/>
                <a:cs typeface="Times New Roman" panose="02020603050405020304" pitchFamily="18" charset="0"/>
              </a:rPr>
              <a:t>slice</a:t>
            </a:r>
            <a:r>
              <a:rPr lang="ru-RU" sz="1800" kern="100" dirty="0">
                <a:effectLst/>
                <a:latin typeface="Times New Roman" panose="02020603050405020304" pitchFamily="18" charset="0"/>
                <a:ea typeface="Aptos"/>
                <a:cs typeface="Times New Roman" panose="02020603050405020304" pitchFamily="18" charset="0"/>
              </a:rPr>
              <a:t>() используют для создания полной копии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этого достаточно вызвать его без параметров.</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copy</a:t>
            </a:r>
            <a:r>
              <a:rPr lang="ru-RU" sz="1800" kern="100" dirty="0">
                <a:effectLst/>
                <a:latin typeface="Times New Roman" panose="02020603050405020304" pitchFamily="18" charset="0"/>
                <a:ea typeface="Aptos"/>
                <a:cs typeface="Times New Roman" panose="02020603050405020304" pitchFamily="18" charset="0"/>
              </a:rPr>
              <a:t> = </a:t>
            </a:r>
            <a:r>
              <a:rPr lang="ru-RU" sz="1800" kern="100" dirty="0" err="1">
                <a:effectLst/>
                <a:latin typeface="Times New Roman" panose="02020603050405020304" pitchFamily="18" charset="0"/>
                <a:ea typeface="Aptos"/>
                <a:cs typeface="Times New Roman" panose="02020603050405020304" pitchFamily="18" charset="0"/>
              </a:rPr>
              <a:t>numbers.slice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этой команды получится новый массив, содержащий те же элементы.</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Изменение массива </a:t>
            </a:r>
            <a:r>
              <a:rPr lang="ru-RU" sz="1800" kern="100" dirty="0" err="1">
                <a:effectLst/>
                <a:latin typeface="Times New Roman" panose="02020603050405020304" pitchFamily="18" charset="0"/>
                <a:ea typeface="Aptos"/>
                <a:cs typeface="Times New Roman" panose="02020603050405020304" pitchFamily="18" charset="0"/>
              </a:rPr>
              <a:t>copy</a:t>
            </a:r>
            <a:r>
              <a:rPr lang="ru-RU" sz="1800" kern="100" dirty="0">
                <a:effectLst/>
                <a:latin typeface="Times New Roman" panose="02020603050405020304" pitchFamily="18" charset="0"/>
                <a:ea typeface="Aptos"/>
                <a:cs typeface="Times New Roman" panose="02020603050405020304" pitchFamily="18" charset="0"/>
              </a:rPr>
              <a:t> никак не повлияет на исходный массив </a:t>
            </a:r>
            <a:r>
              <a:rPr lang="ru-RU" sz="1800" kern="100" dirty="0" err="1">
                <a:effectLst/>
                <a:latin typeface="Times New Roman" panose="02020603050405020304" pitchFamily="18" charset="0"/>
                <a:ea typeface="Aptos"/>
                <a:cs typeface="Times New Roman" panose="02020603050405020304" pitchFamily="18" charset="0"/>
              </a:rPr>
              <a:t>numbers</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Такой прием широко применяется в </a:t>
            </a:r>
            <a:r>
              <a:rPr lang="ru-RU" sz="1800" kern="100" dirty="0" err="1">
                <a:effectLst/>
                <a:latin typeface="Times New Roman" panose="02020603050405020304" pitchFamily="18" charset="0"/>
                <a:ea typeface="Aptos"/>
                <a:cs typeface="Times New Roman" panose="02020603050405020304" pitchFamily="18" charset="0"/>
              </a:rPr>
              <a:t>React</a:t>
            </a:r>
            <a:r>
              <a:rPr lang="ru-RU" sz="1800" kern="100" dirty="0">
                <a:effectLst/>
                <a:latin typeface="Times New Roman" panose="02020603050405020304" pitchFamily="18" charset="0"/>
                <a:ea typeface="Aptos"/>
                <a:cs typeface="Times New Roman" panose="02020603050405020304" pitchFamily="18" charset="0"/>
              </a:rPr>
              <a:t> и </a:t>
            </a:r>
            <a:r>
              <a:rPr lang="ru-RU" sz="1800" kern="100" dirty="0" err="1">
                <a:effectLst/>
                <a:latin typeface="Times New Roman" panose="02020603050405020304" pitchFamily="18" charset="0"/>
                <a:ea typeface="Aptos"/>
                <a:cs typeface="Times New Roman" panose="02020603050405020304" pitchFamily="18" charset="0"/>
              </a:rPr>
              <a:t>React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Native</a:t>
            </a:r>
            <a:r>
              <a:rPr lang="ru-RU" sz="1800" kern="100" dirty="0">
                <a:effectLst/>
                <a:latin typeface="Times New Roman" panose="02020603050405020304" pitchFamily="18" charset="0"/>
                <a:ea typeface="Aptos"/>
                <a:cs typeface="Times New Roman" panose="02020603050405020304" pitchFamily="18" charset="0"/>
              </a:rPr>
              <a:t>, где изменение существующих данных напрямую считается плохой практикой. Вместо изменения массива создается его копия, после чего изменения выполняются уже над ней.</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Сравнение методов</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Несмотря на схожие названия, методы имеют принципиально разное назначение.</a:t>
            </a:r>
          </a:p>
          <a:p>
            <a:pPr indent="450215" algn="just">
              <a:lnSpc>
                <a:spcPct val="150000"/>
              </a:lnSpc>
            </a:pPr>
            <a:r>
              <a:rPr lang="ru-RU" sz="1800" b="1" kern="100" dirty="0" err="1">
                <a:effectLst/>
                <a:latin typeface="Times New Roman" panose="02020603050405020304" pitchFamily="18" charset="0"/>
                <a:ea typeface="Aptos"/>
                <a:cs typeface="Times New Roman" panose="02020603050405020304" pitchFamily="18" charset="0"/>
              </a:rPr>
              <a:t>splice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изменяет исходный массив;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может удалять элементы;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может вставлять новые элементы;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может заменять существующие значения;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возвращает удаленные элементы. </a:t>
            </a:r>
          </a:p>
          <a:p>
            <a:pPr indent="450215" algn="just">
              <a:lnSpc>
                <a:spcPct val="150000"/>
              </a:lnSpc>
            </a:pPr>
            <a:r>
              <a:rPr lang="ru-RU" sz="1800" b="1" kern="100" dirty="0" err="1">
                <a:effectLst/>
                <a:latin typeface="Times New Roman" panose="02020603050405020304" pitchFamily="18" charset="0"/>
                <a:ea typeface="Aptos"/>
                <a:cs typeface="Times New Roman" panose="02020603050405020304" pitchFamily="18" charset="0"/>
              </a:rPr>
              <a:t>slice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не изменяет исходный массив;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создает новый массив;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копирует выбранную часть элементов;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часто используется для создания копий данных.</a:t>
            </a:r>
          </a:p>
          <a:p>
            <a:pPr indent="228600"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Практическое применение</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Представим мобильное приложение интернет-магазина.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Пользователь удаляет товар из корзины.</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этом случае удобно использовать </a:t>
            </a:r>
            <a:r>
              <a:rPr lang="ru-RU" sz="1800" kern="100" dirty="0" err="1">
                <a:effectLst/>
                <a:latin typeface="Times New Roman" panose="02020603050405020304" pitchFamily="18" charset="0"/>
                <a:ea typeface="Aptos"/>
                <a:cs typeface="Times New Roman" panose="02020603050405020304" pitchFamily="18" charset="0"/>
              </a:rPr>
              <a:t>splice</a:t>
            </a:r>
            <a:r>
              <a:rPr lang="ru-RU" sz="1800" kern="100" dirty="0">
                <a:effectLst/>
                <a:latin typeface="Times New Roman" panose="02020603050405020304" pitchFamily="18" charset="0"/>
                <a:ea typeface="Aptos"/>
                <a:cs typeface="Times New Roman" panose="02020603050405020304" pitchFamily="18" charset="0"/>
              </a:rPr>
              <a:t>(), потому что необходимо изменить сам список товаров.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Другой пример — приложение отображает первые десять товаров каталога.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Полный список может содержать тысячи записей, однако пользователю необходимо показать только часть данных.</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этом случае удобно использовать </a:t>
            </a:r>
            <a:r>
              <a:rPr lang="ru-RU" sz="1800" kern="100" dirty="0" err="1">
                <a:effectLst/>
                <a:latin typeface="Times New Roman" panose="02020603050405020304" pitchFamily="18" charset="0"/>
                <a:ea typeface="Aptos"/>
                <a:cs typeface="Times New Roman" panose="02020603050405020304" pitchFamily="18" charset="0"/>
              </a:rPr>
              <a:t>slice</a:t>
            </a:r>
            <a:r>
              <a:rPr lang="ru-RU" sz="1800" kern="100" dirty="0">
                <a:effectLst/>
                <a:latin typeface="Times New Roman" panose="02020603050405020304" pitchFamily="18" charset="0"/>
                <a:ea typeface="Aptos"/>
                <a:cs typeface="Times New Roman" panose="02020603050405020304" pitchFamily="18" charset="0"/>
              </a:rPr>
              <a:t>(), который создаст новый массив только с нужными элементами, не изменяя исходный список.</a:t>
            </a: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5</a:t>
            </a:fld>
            <a:endParaRPr lang="ru-RU"/>
          </a:p>
        </p:txBody>
      </p:sp>
    </p:spTree>
    <p:extLst>
      <p:ext uri="{BB962C8B-B14F-4D97-AF65-F5344CB8AC3E}">
        <p14:creationId xmlns:p14="http://schemas.microsoft.com/office/powerpoint/2010/main" val="746710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Помимо методов, которые изменяют содержимое массива, JavaScript предоставляет набор инструментов для объединения массивов, преобразования их в строки и поиска элементов. Эти методы используются практически в каждом приложении, поскольку позволяют быстро выполнять типовые операции без написания дополнительных алгоритмов. На данном слайде рассмотрены четыре важных метода: </a:t>
            </a:r>
            <a:r>
              <a:rPr lang="ru-RU" sz="1800" kern="100" dirty="0" err="1">
                <a:effectLst/>
                <a:latin typeface="Times New Roman" panose="02020603050405020304" pitchFamily="18" charset="0"/>
                <a:ea typeface="Aptos"/>
                <a:cs typeface="Times New Roman" panose="02020603050405020304" pitchFamily="18" charset="0"/>
              </a:rPr>
              <a:t>concat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join</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indexOf</a:t>
            </a:r>
            <a:r>
              <a:rPr lang="ru-RU" sz="1800" kern="100" dirty="0">
                <a:effectLst/>
                <a:latin typeface="Times New Roman" panose="02020603050405020304" pitchFamily="18" charset="0"/>
                <a:ea typeface="Aptos"/>
                <a:cs typeface="Times New Roman" panose="02020603050405020304" pitchFamily="18" charset="0"/>
              </a:rPr>
              <a:t>() и </a:t>
            </a:r>
            <a:r>
              <a:rPr lang="ru-RU" sz="1800" kern="100" dirty="0" err="1">
                <a:effectLst/>
                <a:latin typeface="Times New Roman" panose="02020603050405020304" pitchFamily="18" charset="0"/>
                <a:ea typeface="Aptos"/>
                <a:cs typeface="Times New Roman" panose="02020603050405020304" pitchFamily="18" charset="0"/>
              </a:rPr>
              <a:t>includes</a:t>
            </a:r>
            <a:r>
              <a:rPr lang="ru-RU" sz="1800" kern="100" dirty="0">
                <a:effectLst/>
                <a:latin typeface="Times New Roman" panose="02020603050405020304" pitchFamily="18" charset="0"/>
                <a:ea typeface="Aptos"/>
                <a:cs typeface="Times New Roman" panose="02020603050405020304" pitchFamily="18" charset="0"/>
              </a:rPr>
              <a:t>(). Каждый из них решает свою задачу и значительно упрощает работу разработчика.</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concat</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concat</a:t>
            </a:r>
            <a:r>
              <a:rPr lang="ru-RU" sz="1800" kern="100" dirty="0">
                <a:effectLst/>
                <a:latin typeface="Times New Roman" panose="02020603050405020304" pitchFamily="18" charset="0"/>
                <a:ea typeface="Aptos"/>
                <a:cs typeface="Times New Roman" panose="02020603050405020304" pitchFamily="18" charset="0"/>
              </a:rPr>
              <a:t>() используется для объединения двух или нескольких массивов в один новый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программы переменная </a:t>
            </a:r>
            <a:r>
              <a:rPr lang="ru-RU" sz="1800" kern="100" dirty="0" err="1">
                <a:effectLst/>
                <a:latin typeface="Times New Roman" panose="02020603050405020304" pitchFamily="18" charset="0"/>
                <a:ea typeface="Aptos"/>
                <a:cs typeface="Times New Roman" panose="02020603050405020304" pitchFamily="18" charset="0"/>
              </a:rPr>
              <a:t>result</a:t>
            </a:r>
            <a:r>
              <a:rPr lang="ru-RU" sz="1800" kern="100" dirty="0">
                <a:effectLst/>
                <a:latin typeface="Times New Roman" panose="02020603050405020304" pitchFamily="18" charset="0"/>
                <a:ea typeface="Aptos"/>
                <a:cs typeface="Times New Roman" panose="02020603050405020304" pitchFamily="18" charset="0"/>
              </a:rPr>
              <a:t> будет содержать:</a:t>
            </a:r>
          </a:p>
          <a:p>
            <a:pPr marL="0" marR="0" lvl="0" indent="450215" algn="just" defTabSz="914400" rtl="0" eaLnBrk="1" fontAlgn="auto" latinLnBrk="0" hangingPunct="1">
              <a:lnSpc>
                <a:spcPct val="150000"/>
              </a:lnSpc>
              <a:spcBef>
                <a:spcPts val="0"/>
              </a:spcBef>
              <a:spcAft>
                <a:spcPts val="0"/>
              </a:spcAft>
              <a:buClrTx/>
              <a:buSzTx/>
              <a:buFontTx/>
              <a:buNone/>
              <a:tabLst/>
              <a:defRPr/>
            </a:pPr>
            <a:r>
              <a:rPr lang="en-US" sz="1800" dirty="0">
                <a:latin typeface="Times New Roman" panose="02020603050405020304" pitchFamily="18" charset="0"/>
                <a:ea typeface="Consolas" pitchFamily="34" charset="-122"/>
                <a:cs typeface="Times New Roman" panose="02020603050405020304" pitchFamily="18" charset="0"/>
              </a:rPr>
              <a:t>[1, 2, 3, 4, 5, 6]</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Обратите внимание, что исходные массивы </a:t>
            </a:r>
            <a:r>
              <a:rPr lang="ru-RU" sz="1800" b="1" kern="100" dirty="0">
                <a:effectLst/>
                <a:latin typeface="Times New Roman" panose="02020603050405020304" pitchFamily="18" charset="0"/>
                <a:ea typeface="Aptos"/>
                <a:cs typeface="Times New Roman" panose="02020603050405020304" pitchFamily="18" charset="0"/>
              </a:rPr>
              <a:t>не изменяются</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создает новый массив, в который последовательно копируются элементы всех объединяемых массивов.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При необходимости можно объединять сразу несколько массивов.</a:t>
            </a:r>
          </a:p>
          <a:p>
            <a:pPr marL="0" marR="0" lvl="0" indent="450215" algn="just" defTabSz="914400" rtl="0" eaLnBrk="1" fontAlgn="auto" latinLnBrk="0" hangingPunct="1">
              <a:lnSpc>
                <a:spcPct val="150000"/>
              </a:lnSpc>
              <a:spcBef>
                <a:spcPts val="0"/>
              </a:spcBef>
              <a:spcAft>
                <a:spcPts val="0"/>
              </a:spcAft>
              <a:buClrTx/>
              <a:buSzTx/>
              <a:buFontTx/>
              <a:buNone/>
              <a:tabLst/>
              <a:defRPr/>
            </a:pPr>
            <a:r>
              <a:rPr lang="en-US" sz="1800" dirty="0" err="1">
                <a:latin typeface="Times New Roman" panose="02020603050405020304" pitchFamily="18" charset="0"/>
                <a:ea typeface="Instrument Sans Medium" pitchFamily="34" charset="-122"/>
                <a:cs typeface="Times New Roman" panose="02020603050405020304" pitchFamily="18" charset="0"/>
              </a:rPr>
              <a:t>Можно</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передавать</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как</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отдельные</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значения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так</a:t>
            </a:r>
            <a:r>
              <a:rPr lang="en-US" sz="1800" dirty="0">
                <a:latin typeface="Times New Roman" panose="02020603050405020304" pitchFamily="18" charset="0"/>
                <a:ea typeface="Instrument Sans Medium" pitchFamily="34" charset="-122"/>
                <a:cs typeface="Times New Roman" panose="02020603050405020304" pitchFamily="18" charset="0"/>
              </a:rPr>
              <a:t> и </a:t>
            </a:r>
            <a:r>
              <a:rPr lang="en-US" sz="1800" dirty="0" err="1">
                <a:latin typeface="Times New Roman" panose="02020603050405020304" pitchFamily="18" charset="0"/>
                <a:ea typeface="Instrument Sans Medium" pitchFamily="34" charset="-122"/>
                <a:cs typeface="Times New Roman" panose="02020603050405020304" pitchFamily="18" charset="0"/>
              </a:rPr>
              <a:t>целые</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массивы</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ru-RU" sz="1800" dirty="0">
                <a:latin typeface="Times New Roman" panose="02020603050405020304" pitchFamily="18" charset="0"/>
                <a:ea typeface="Instrument Sans Medium" pitchFamily="34" charset="-122"/>
                <a:cs typeface="Times New Roman" panose="02020603050405020304" pitchFamily="18" charset="0"/>
              </a:rPr>
              <a:t>-</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они</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будут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развёрнуты</a:t>
            </a:r>
            <a:r>
              <a:rPr lang="en-US" sz="1800" dirty="0">
                <a:latin typeface="Times New Roman" panose="02020603050405020304" pitchFamily="18" charset="0"/>
                <a:ea typeface="Instrument Sans Medium" pitchFamily="34" charset="-122"/>
                <a:cs typeface="Times New Roman" panose="02020603050405020304" pitchFamily="18" charset="0"/>
              </a:rPr>
              <a:t>» в </a:t>
            </a:r>
            <a:r>
              <a:rPr lang="en-US" sz="1800" dirty="0" err="1">
                <a:latin typeface="Times New Roman" panose="02020603050405020304" pitchFamily="18" charset="0"/>
                <a:ea typeface="Instrument Sans Medium" pitchFamily="34" charset="-122"/>
                <a:cs typeface="Times New Roman" panose="02020603050405020304" pitchFamily="18" charset="0"/>
              </a:rPr>
              <a:t>результат</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Подобная операция часто используется в мобильных приложениях.</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 приложение сначала загружает список сообщений, затем получает новые сообщения с сервера. Чтобы сформировать единый список для отображения пользователю, можно объединить массивы с помощью </a:t>
            </a:r>
            <a:r>
              <a:rPr lang="ru-RU" sz="1800" kern="100" dirty="0" err="1">
                <a:effectLst/>
                <a:latin typeface="Times New Roman" panose="02020603050405020304" pitchFamily="18" charset="0"/>
                <a:ea typeface="Aptos"/>
                <a:cs typeface="Times New Roman" panose="02020603050405020304" pitchFamily="18" charset="0"/>
              </a:rPr>
              <a:t>concat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join</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Следующий метод выполняет совершенно другую задачу.</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join</a:t>
            </a:r>
            <a:r>
              <a:rPr lang="ru-RU" sz="1800" kern="100" dirty="0">
                <a:effectLst/>
                <a:latin typeface="Times New Roman" panose="02020603050405020304" pitchFamily="18" charset="0"/>
                <a:ea typeface="Aptos"/>
                <a:cs typeface="Times New Roman" panose="02020603050405020304" pitchFamily="18" charset="0"/>
              </a:rPr>
              <a:t>() объединяет элементы массива в одну строку.</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0" indent="0" algn="l">
              <a:lnSpc>
                <a:spcPct val="133000"/>
              </a:lnSpc>
              <a:buNone/>
            </a:pPr>
            <a:r>
              <a:rPr lang="en-US" sz="1800" dirty="0">
                <a:latin typeface="Times New Roman" panose="02020603050405020304" pitchFamily="18" charset="0"/>
                <a:ea typeface="Consolas" pitchFamily="34" charset="-122"/>
                <a:cs typeface="Times New Roman" panose="02020603050405020304" pitchFamily="18" charset="0"/>
              </a:rPr>
              <a:t>let </a:t>
            </a:r>
            <a:r>
              <a:rPr lang="en-US" sz="1800" dirty="0" err="1">
                <a:latin typeface="Times New Roman" panose="02020603050405020304" pitchFamily="18" charset="0"/>
                <a:ea typeface="Consolas" pitchFamily="34" charset="-122"/>
                <a:cs typeface="Times New Roman" panose="02020603050405020304" pitchFamily="18" charset="0"/>
              </a:rPr>
              <a:t>arr</a:t>
            </a:r>
            <a:r>
              <a:rPr lang="en-US" sz="1800" dirty="0">
                <a:latin typeface="Times New Roman" panose="02020603050405020304" pitchFamily="18" charset="0"/>
                <a:ea typeface="Consolas" pitchFamily="34" charset="-122"/>
                <a:cs typeface="Times New Roman" panose="02020603050405020304" pitchFamily="18" charset="0"/>
              </a:rPr>
              <a:t> = ["HTML", "CSS", "JS"];</a:t>
            </a:r>
            <a:endParaRPr lang="en-US" sz="1800" dirty="0">
              <a:latin typeface="Times New Roman" panose="02020603050405020304" pitchFamily="18" charset="0"/>
              <a:cs typeface="Times New Roman" panose="02020603050405020304" pitchFamily="18" charset="0"/>
            </a:endParaRPr>
          </a:p>
          <a:p>
            <a:pPr marL="0" indent="0" algn="l">
              <a:lnSpc>
                <a:spcPct val="133000"/>
              </a:lnSpc>
              <a:buNone/>
            </a:pPr>
            <a:r>
              <a:rPr lang="en-US" sz="1800" dirty="0">
                <a:latin typeface="Times New Roman" panose="02020603050405020304" pitchFamily="18" charset="0"/>
                <a:ea typeface="Consolas" pitchFamily="34" charset="-122"/>
                <a:cs typeface="Times New Roman" panose="02020603050405020304" pitchFamily="18" charset="0"/>
              </a:rPr>
              <a:t>let str1 = </a:t>
            </a:r>
            <a:r>
              <a:rPr lang="en-US" sz="1800" dirty="0" err="1">
                <a:latin typeface="Times New Roman" panose="02020603050405020304" pitchFamily="18" charset="0"/>
                <a:ea typeface="Consolas" pitchFamily="34" charset="-122"/>
                <a:cs typeface="Times New Roman" panose="02020603050405020304" pitchFamily="18" charset="0"/>
              </a:rPr>
              <a:t>arr.join</a:t>
            </a:r>
            <a:r>
              <a:rPr lang="en-US" sz="1800" dirty="0">
                <a:latin typeface="Times New Roman" panose="02020603050405020304" pitchFamily="18" charset="0"/>
                <a:ea typeface="Consolas" pitchFamily="34" charset="-122"/>
                <a:cs typeface="Times New Roman" panose="02020603050405020304" pitchFamily="18" charset="0"/>
              </a:rPr>
              <a:t>();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Результатом станет строка</a:t>
            </a:r>
          </a:p>
          <a:p>
            <a:pPr marL="0" indent="0" algn="l">
              <a:lnSpc>
                <a:spcPct val="133000"/>
              </a:lnSpc>
              <a:buNone/>
            </a:pPr>
            <a:r>
              <a:rPr lang="en-US" sz="1800" dirty="0">
                <a:latin typeface="Times New Roman" panose="02020603050405020304" pitchFamily="18" charset="0"/>
                <a:ea typeface="Consolas" pitchFamily="34" charset="-122"/>
                <a:cs typeface="Times New Roman" panose="02020603050405020304" pitchFamily="18" charset="0"/>
              </a:rPr>
              <a:t>HTML,CSS,JS</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Элементы массива могут быть соединены через разделитель, указанный в параметре метода.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разделитель не указан, JavaScript автоматически использует запятую.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Без пробелов после запятых.</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Можно использовать любой разделитель.</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0" indent="0" algn="l">
              <a:lnSpc>
                <a:spcPct val="133000"/>
              </a:lnSpc>
              <a:buNone/>
            </a:pPr>
            <a:r>
              <a:rPr lang="en-US" sz="1800" dirty="0">
                <a:latin typeface="Times New Roman" panose="02020603050405020304" pitchFamily="18" charset="0"/>
                <a:ea typeface="Consolas" pitchFamily="34" charset="-122"/>
                <a:cs typeface="Times New Roman" panose="02020603050405020304" pitchFamily="18" charset="0"/>
              </a:rPr>
              <a:t>let str2 = </a:t>
            </a:r>
            <a:r>
              <a:rPr lang="en-US" sz="1800" dirty="0" err="1">
                <a:latin typeface="Times New Roman" panose="02020603050405020304" pitchFamily="18" charset="0"/>
                <a:ea typeface="Consolas" pitchFamily="34" charset="-122"/>
                <a:cs typeface="Times New Roman" panose="02020603050405020304" pitchFamily="18" charset="0"/>
              </a:rPr>
              <a:t>arr.join</a:t>
            </a:r>
            <a:r>
              <a:rPr lang="en-US" sz="1800" dirty="0">
                <a:latin typeface="Times New Roman" panose="02020603050405020304" pitchFamily="18" charset="0"/>
                <a:ea typeface="Consolas" pitchFamily="34" charset="-122"/>
                <a:cs typeface="Times New Roman" panose="02020603050405020304" pitchFamily="18" charset="0"/>
              </a:rPr>
              <a:t>(" + ");  // "HTML + CSS + JS«</a:t>
            </a:r>
            <a:endParaRPr lang="ru-RU" sz="1800" dirty="0">
              <a:latin typeface="Times New Roman" panose="02020603050405020304" pitchFamily="18" charset="0"/>
              <a:ea typeface="Consolas" pitchFamily="34" charset="-122"/>
              <a:cs typeface="Times New Roman" panose="02020603050405020304" pitchFamily="18" charset="0"/>
            </a:endParaRPr>
          </a:p>
          <a:p>
            <a:pPr marL="0" marR="0" lvl="0" indent="0" algn="l" defTabSz="914400" rtl="0" eaLnBrk="1" fontAlgn="auto" latinLnBrk="0" hangingPunct="1">
              <a:lnSpc>
                <a:spcPct val="133000"/>
              </a:lnSpc>
              <a:spcBef>
                <a:spcPts val="0"/>
              </a:spcBef>
              <a:spcAft>
                <a:spcPts val="0"/>
              </a:spcAft>
              <a:buClrTx/>
              <a:buSzTx/>
              <a:buFontTx/>
              <a:buNone/>
              <a:tabLst/>
              <a:defRPr/>
            </a:pPr>
            <a:r>
              <a:rPr lang="en-US" sz="1800" dirty="0" err="1">
                <a:latin typeface="Times New Roman" panose="02020603050405020304" pitchFamily="18" charset="0"/>
                <a:ea typeface="Instrument Sans Medium" pitchFamily="34" charset="-122"/>
                <a:cs typeface="Times New Roman" panose="02020603050405020304" pitchFamily="18" charset="0"/>
              </a:rPr>
              <a:t>Обратная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операция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highlight>
                  <a:srgbClr val="F2F2F2"/>
                </a:highlight>
                <a:latin typeface="Times New Roman" panose="02020603050405020304" pitchFamily="18" charset="0"/>
                <a:ea typeface="Consolas" pitchFamily="34" charset="-122"/>
                <a:cs typeface="Times New Roman" panose="02020603050405020304" pitchFamily="18" charset="0"/>
              </a:rPr>
              <a:t>str.split</a:t>
            </a:r>
            <a:r>
              <a:rPr lang="en-US" sz="1800" dirty="0">
                <a:highlight>
                  <a:srgbClr val="F2F2F2"/>
                </a:highlight>
                <a:latin typeface="Times New Roman" panose="02020603050405020304" pitchFamily="18" charset="0"/>
                <a:ea typeface="Consolas" pitchFamily="34" charset="-122"/>
                <a:cs typeface="Times New Roman" panose="02020603050405020304" pitchFamily="18" charset="0"/>
              </a:rPr>
              <a:t>(",")</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разбивает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строку</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на</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массив</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0" indent="0" algn="l">
              <a:lnSpc>
                <a:spcPct val="133000"/>
              </a:lnSpc>
              <a:buNone/>
            </a:pPr>
            <a:endParaRPr lang="en-US" sz="1800" dirty="0">
              <a:latin typeface="Times New Roman" panose="02020603050405020304" pitchFamily="18"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join</a:t>
            </a:r>
            <a:r>
              <a:rPr lang="ru-RU" sz="1800" kern="100" dirty="0">
                <a:effectLst/>
                <a:latin typeface="Times New Roman" panose="02020603050405020304" pitchFamily="18" charset="0"/>
                <a:ea typeface="Aptos"/>
                <a:cs typeface="Times New Roman" panose="02020603050405020304" pitchFamily="18" charset="0"/>
              </a:rPr>
              <a:t>() широко применяется при формировании текстовой информации.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отображение списка категорий товара;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вывод списка авторов книги;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формирование строки с перечнем выбранных фильтров;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подготовка данных для отправки на сервер.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Важно помнить, что после выполнения </a:t>
            </a:r>
            <a:r>
              <a:rPr lang="ru-RU" sz="1800" kern="100" dirty="0" err="1">
                <a:effectLst/>
                <a:latin typeface="Times New Roman" panose="02020603050405020304" pitchFamily="18" charset="0"/>
                <a:ea typeface="Aptos"/>
                <a:cs typeface="Times New Roman" panose="02020603050405020304" pitchFamily="18" charset="0"/>
              </a:rPr>
              <a:t>join</a:t>
            </a:r>
            <a:r>
              <a:rPr lang="ru-RU" sz="1800" kern="100" dirty="0">
                <a:effectLst/>
                <a:latin typeface="Times New Roman" panose="02020603050405020304" pitchFamily="18" charset="0"/>
                <a:ea typeface="Aptos"/>
                <a:cs typeface="Times New Roman" panose="02020603050405020304" pitchFamily="18" charset="0"/>
              </a:rPr>
              <a:t>() результат уже является строкой, а не массивом.</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indexOf</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Очень часто возникает задача определить, находится ли определенный элемент в массиве.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этого используется метод </a:t>
            </a:r>
            <a:r>
              <a:rPr lang="ru-RU" sz="1800" kern="100" dirty="0" err="1">
                <a:effectLst/>
                <a:latin typeface="Times New Roman" panose="02020603050405020304" pitchFamily="18" charset="0"/>
                <a:ea typeface="Aptos"/>
                <a:cs typeface="Times New Roman" panose="02020603050405020304" pitchFamily="18" charset="0"/>
              </a:rPr>
              <a:t>indexOf</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0" indent="0" algn="l">
              <a:lnSpc>
                <a:spcPct val="133000"/>
              </a:lnSpc>
              <a:buNone/>
            </a:pPr>
            <a:r>
              <a:rPr lang="en-US" sz="1800" dirty="0">
                <a:latin typeface="Times New Roman" panose="02020603050405020304" pitchFamily="18" charset="0"/>
                <a:ea typeface="Consolas" pitchFamily="34" charset="-122"/>
                <a:cs typeface="Times New Roman" panose="02020603050405020304" pitchFamily="18" charset="0"/>
              </a:rPr>
              <a:t>let </a:t>
            </a:r>
            <a:r>
              <a:rPr lang="en-US" sz="1800" dirty="0" err="1">
                <a:latin typeface="Times New Roman" panose="02020603050405020304" pitchFamily="18" charset="0"/>
                <a:ea typeface="Consolas" pitchFamily="34" charset="-122"/>
                <a:cs typeface="Times New Roman" panose="02020603050405020304" pitchFamily="18" charset="0"/>
              </a:rPr>
              <a:t>arr</a:t>
            </a:r>
            <a:r>
              <a:rPr lang="en-US" sz="1800" dirty="0">
                <a:latin typeface="Times New Roman" panose="02020603050405020304" pitchFamily="18" charset="0"/>
                <a:ea typeface="Consolas" pitchFamily="34" charset="-122"/>
                <a:cs typeface="Times New Roman" panose="02020603050405020304" pitchFamily="18" charset="0"/>
              </a:rPr>
              <a:t> = [10, 20, 30, 20];</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 </a:t>
            </a:r>
          </a:p>
          <a:p>
            <a:pPr marL="0" indent="0" algn="l">
              <a:lnSpc>
                <a:spcPct val="133000"/>
              </a:lnSpc>
              <a:buNone/>
            </a:pPr>
            <a:r>
              <a:rPr lang="en-US" sz="1800" dirty="0">
                <a:latin typeface="Times New Roman" panose="02020603050405020304" pitchFamily="18" charset="0"/>
                <a:ea typeface="Consolas" pitchFamily="34" charset="-122"/>
                <a:cs typeface="Times New Roman" panose="02020603050405020304" pitchFamily="18" charset="0"/>
              </a:rPr>
              <a:t>console.log(</a:t>
            </a:r>
            <a:r>
              <a:rPr lang="en-US" sz="1800" dirty="0" err="1">
                <a:latin typeface="Times New Roman" panose="02020603050405020304" pitchFamily="18" charset="0"/>
                <a:ea typeface="Consolas" pitchFamily="34" charset="-122"/>
                <a:cs typeface="Times New Roman" panose="02020603050405020304" pitchFamily="18" charset="0"/>
              </a:rPr>
              <a:t>arr.indexOf</a:t>
            </a:r>
            <a:r>
              <a:rPr lang="en-US" sz="1800" dirty="0">
                <a:latin typeface="Times New Roman" panose="02020603050405020304" pitchFamily="18" charset="0"/>
                <a:ea typeface="Consolas" pitchFamily="34" charset="-122"/>
                <a:cs typeface="Times New Roman" panose="02020603050405020304" pitchFamily="18" charset="0"/>
              </a:rPr>
              <a:t>(20));    </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Результатом будет число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означает, что элемент найден и имеет индекс 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же выполнить поиск элемента, которого нет в массиве,</a:t>
            </a:r>
          </a:p>
          <a:p>
            <a:pPr marL="0" indent="0" algn="l">
              <a:lnSpc>
                <a:spcPct val="133000"/>
              </a:lnSpc>
              <a:buNone/>
            </a:pPr>
            <a:r>
              <a:rPr lang="en-US" sz="1800" dirty="0">
                <a:latin typeface="Times New Roman" panose="02020603050405020304" pitchFamily="18" charset="0"/>
                <a:ea typeface="Consolas" pitchFamily="34" charset="-122"/>
                <a:cs typeface="Times New Roman" panose="02020603050405020304" pitchFamily="18" charset="0"/>
              </a:rPr>
              <a:t>console.log(</a:t>
            </a:r>
            <a:r>
              <a:rPr lang="en-US" sz="1800" dirty="0" err="1">
                <a:latin typeface="Times New Roman" panose="02020603050405020304" pitchFamily="18" charset="0"/>
                <a:ea typeface="Consolas" pitchFamily="34" charset="-122"/>
                <a:cs typeface="Times New Roman" panose="02020603050405020304" pitchFamily="18" charset="0"/>
              </a:rPr>
              <a:t>arr.indexOf</a:t>
            </a:r>
            <a:r>
              <a:rPr lang="en-US" sz="1800" dirty="0">
                <a:latin typeface="Times New Roman" panose="02020603050405020304" pitchFamily="18" charset="0"/>
                <a:ea typeface="Consolas" pitchFamily="34" charset="-122"/>
                <a:cs typeface="Times New Roman" panose="02020603050405020304" pitchFamily="18" charset="0"/>
              </a:rPr>
              <a:t>(99));   </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программа выведет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Число </a:t>
            </a:r>
            <a:r>
              <a:rPr lang="ru-RU" sz="1800" b="1" kern="100" dirty="0">
                <a:effectLst/>
                <a:latin typeface="Times New Roman" panose="02020603050405020304" pitchFamily="18" charset="0"/>
                <a:ea typeface="Aptos"/>
                <a:cs typeface="Times New Roman" panose="02020603050405020304" pitchFamily="18" charset="0"/>
              </a:rPr>
              <a:t>–1</a:t>
            </a:r>
            <a:r>
              <a:rPr lang="ru-RU" sz="1800" kern="100" dirty="0">
                <a:effectLst/>
                <a:latin typeface="Times New Roman" panose="02020603050405020304" pitchFamily="18" charset="0"/>
                <a:ea typeface="Aptos"/>
                <a:cs typeface="Times New Roman" panose="02020603050405020304" pitchFamily="18" charset="0"/>
              </a:rPr>
              <a:t> всегда означает, что поиск не дал результата.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практике это используется очень часто.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 перед добавлением нового пользователя можно проверить, существует ли он уже в списке.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a:t>
            </a:r>
            <a:r>
              <a:rPr lang="ru-RU" sz="1800" kern="100" dirty="0" err="1">
                <a:effectLst/>
                <a:latin typeface="Times New Roman" panose="02020603050405020304" pitchFamily="18" charset="0"/>
                <a:ea typeface="Aptos"/>
                <a:cs typeface="Times New Roman" panose="02020603050405020304" pitchFamily="18" charset="0"/>
              </a:rPr>
              <a:t>indexOf</a:t>
            </a:r>
            <a:r>
              <a:rPr lang="ru-RU" sz="1800" kern="100" dirty="0">
                <a:effectLst/>
                <a:latin typeface="Times New Roman" panose="02020603050405020304" pitchFamily="18" charset="0"/>
                <a:ea typeface="Aptos"/>
                <a:cs typeface="Times New Roman" panose="02020603050405020304" pitchFamily="18" charset="0"/>
              </a:rPr>
              <a:t>() вернул значение –1, значит такого элемента еще нет.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Следует учитывать, что метод ищет первое совпадение.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одинаковых элементов несколько, будет возвращен индекс только первого найденного элемента.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мы добавляем второй параметр, то он </a:t>
            </a:r>
            <a:r>
              <a:rPr lang="en-US" sz="1800" dirty="0" err="1">
                <a:latin typeface="Times New Roman" panose="02020603050405020304" pitchFamily="18" charset="0"/>
                <a:ea typeface="Instrument Sans Medium" pitchFamily="34" charset="-122"/>
                <a:cs typeface="Times New Roman" panose="02020603050405020304" pitchFamily="18" charset="0"/>
              </a:rPr>
              <a:t>задаёт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начальную</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позицию</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поиска</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Для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поиска</a:t>
            </a:r>
            <a:r>
              <a:rPr lang="en-US" sz="1800" dirty="0">
                <a:latin typeface="Times New Roman" panose="02020603050405020304" pitchFamily="18" charset="0"/>
                <a:ea typeface="Instrument Sans Medium" pitchFamily="34" charset="-122"/>
                <a:cs typeface="Times New Roman" panose="02020603050405020304" pitchFamily="18" charset="0"/>
              </a:rPr>
              <a:t> с </a:t>
            </a:r>
            <a:r>
              <a:rPr lang="en-US" sz="1800" dirty="0" err="1">
                <a:latin typeface="Times New Roman" panose="02020603050405020304" pitchFamily="18" charset="0"/>
                <a:ea typeface="Instrument Sans Medium" pitchFamily="34" charset="-122"/>
                <a:cs typeface="Times New Roman" panose="02020603050405020304" pitchFamily="18" charset="0"/>
              </a:rPr>
              <a:t>конца</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используется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highlight>
                  <a:srgbClr val="F2F2F2"/>
                </a:highlight>
                <a:latin typeface="Times New Roman" panose="02020603050405020304" pitchFamily="18" charset="0"/>
                <a:ea typeface="Consolas" pitchFamily="34" charset="-122"/>
                <a:cs typeface="Times New Roman" panose="02020603050405020304" pitchFamily="18" charset="0"/>
              </a:rPr>
              <a:t>lastIndexOf</a:t>
            </a:r>
            <a:r>
              <a:rPr lang="en-US" sz="1800" dirty="0">
                <a:highlight>
                  <a:srgbClr val="F2F2F2"/>
                </a:highlight>
                <a:latin typeface="Times New Roman" panose="02020603050405020304" pitchFamily="18" charset="0"/>
                <a:ea typeface="Consolas" pitchFamily="34" charset="-122"/>
                <a:cs typeface="Times New Roman" panose="02020603050405020304" pitchFamily="18" charset="0"/>
              </a:rPr>
              <a:t>()</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0" marR="0" lvl="0" indent="450215" algn="just" defTabSz="914400" rtl="0" eaLnBrk="1" fontAlgn="auto" latinLnBrk="0" hangingPunct="1">
              <a:lnSpc>
                <a:spcPct val="150000"/>
              </a:lnSpc>
              <a:spcBef>
                <a:spcPts val="0"/>
              </a:spcBef>
              <a:spcAft>
                <a:spcPts val="0"/>
              </a:spcAft>
              <a:buClrTx/>
              <a:buSzTx/>
              <a:buFontTx/>
              <a:buNone/>
              <a:tabLst/>
              <a:defRPr/>
            </a:pPr>
            <a:r>
              <a:rPr lang="en-US" sz="1800" dirty="0">
                <a:latin typeface="Times New Roman" panose="02020603050405020304" pitchFamily="18" charset="0"/>
                <a:ea typeface="Consolas" pitchFamily="34" charset="-122"/>
                <a:cs typeface="Times New Roman" panose="02020603050405020304" pitchFamily="18" charset="0"/>
              </a:rPr>
              <a:t>console.log(</a:t>
            </a:r>
            <a:r>
              <a:rPr lang="en-US" sz="1800" dirty="0" err="1">
                <a:latin typeface="Times New Roman" panose="02020603050405020304" pitchFamily="18" charset="0"/>
                <a:ea typeface="Consolas" pitchFamily="34" charset="-122"/>
                <a:cs typeface="Times New Roman" panose="02020603050405020304" pitchFamily="18" charset="0"/>
              </a:rPr>
              <a:t>arr.indexOf</a:t>
            </a:r>
            <a:r>
              <a:rPr lang="en-US" sz="1800" dirty="0">
                <a:latin typeface="Times New Roman" panose="02020603050405020304" pitchFamily="18" charset="0"/>
                <a:ea typeface="Consolas" pitchFamily="34" charset="-122"/>
                <a:cs typeface="Times New Roman" panose="02020603050405020304" pitchFamily="18" charset="0"/>
              </a:rPr>
              <a:t>(20, 2)); // 3 (с </a:t>
            </a:r>
            <a:r>
              <a:rPr lang="en-US" sz="1800" dirty="0" err="1">
                <a:latin typeface="Times New Roman" panose="02020603050405020304" pitchFamily="18" charset="0"/>
                <a:ea typeface="Consolas" pitchFamily="34" charset="-122"/>
                <a:cs typeface="Times New Roman" panose="02020603050405020304" pitchFamily="18" charset="0"/>
              </a:rPr>
              <a:t>позиции</a:t>
            </a:r>
            <a:r>
              <a:rPr lang="en-US" sz="1800" dirty="0">
                <a:latin typeface="Times New Roman" panose="02020603050405020304" pitchFamily="18" charset="0"/>
                <a:ea typeface="Consolas" pitchFamily="34" charset="-122"/>
                <a:cs typeface="Times New Roman" panose="02020603050405020304" pitchFamily="18" charset="0"/>
              </a:rPr>
              <a:t> 2)</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includes</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современных версиях JavaScript появился еще более удобный способ проверки существования элемента.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метод </a:t>
            </a:r>
            <a:r>
              <a:rPr lang="ru-RU" sz="1800" kern="100" dirty="0" err="1">
                <a:effectLst/>
                <a:latin typeface="Times New Roman" panose="02020603050405020304" pitchFamily="18" charset="0"/>
                <a:ea typeface="Aptos"/>
                <a:cs typeface="Times New Roman" panose="02020603050405020304" pitchFamily="18" charset="0"/>
              </a:rPr>
              <a:t>includes</a:t>
            </a:r>
            <a:r>
              <a:rPr lang="ru-RU" sz="1800" kern="100" dirty="0">
                <a:effectLst/>
                <a:latin typeface="Times New Roman" panose="02020603050405020304" pitchFamily="18" charset="0"/>
                <a:ea typeface="Aptos"/>
                <a:cs typeface="Times New Roman" panose="02020603050405020304" pitchFamily="18" charset="0"/>
              </a:rPr>
              <a:t>().</a:t>
            </a:r>
          </a:p>
          <a:p>
            <a:pPr marL="0" indent="0" algn="l">
              <a:lnSpc>
                <a:spcPct val="112000"/>
              </a:lnSpc>
              <a:buNone/>
            </a:pPr>
            <a:r>
              <a:rPr lang="en-US" sz="1800" dirty="0" err="1">
                <a:latin typeface="Times New Roman" panose="02020603050405020304" pitchFamily="18" charset="0"/>
                <a:ea typeface="Instrument Sans Medium" pitchFamily="34" charset="-122"/>
                <a:cs typeface="Times New Roman" panose="02020603050405020304" pitchFamily="18" charset="0"/>
              </a:rPr>
              <a:t>Метод</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a:highlight>
                  <a:srgbClr val="F2F2F2"/>
                </a:highlight>
                <a:latin typeface="Times New Roman" panose="02020603050405020304" pitchFamily="18" charset="0"/>
                <a:ea typeface="Consolas" pitchFamily="34" charset="-122"/>
                <a:cs typeface="Times New Roman" panose="02020603050405020304" pitchFamily="18" charset="0"/>
              </a:rPr>
              <a:t>includes(item)</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возвращает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a:highlight>
                  <a:srgbClr val="F2F2F2"/>
                </a:highlight>
                <a:latin typeface="Times New Roman" panose="02020603050405020304" pitchFamily="18" charset="0"/>
                <a:ea typeface="Consolas" pitchFamily="34" charset="-122"/>
                <a:cs typeface="Times New Roman" panose="02020603050405020304" pitchFamily="18" charset="0"/>
              </a:rPr>
              <a:t>true</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или</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a:highlight>
                  <a:srgbClr val="F2F2F2"/>
                </a:highlight>
                <a:latin typeface="Times New Roman" panose="02020603050405020304" pitchFamily="18" charset="0"/>
                <a:ea typeface="Consolas" pitchFamily="34" charset="-122"/>
                <a:cs typeface="Times New Roman" panose="02020603050405020304" pitchFamily="18" charset="0"/>
              </a:rPr>
              <a:t>false</a:t>
            </a:r>
            <a:r>
              <a:rPr lang="en-US" sz="1800" dirty="0">
                <a:latin typeface="Times New Roman" panose="02020603050405020304" pitchFamily="18" charset="0"/>
                <a:ea typeface="Instrument Sans Medium" pitchFamily="34" charset="-122"/>
                <a:cs typeface="Times New Roman" panose="02020603050405020304" pitchFamily="18" charset="0"/>
              </a:rPr>
              <a:t> в </a:t>
            </a:r>
            <a:r>
              <a:rPr lang="en-US" sz="1800" dirty="0" err="1">
                <a:latin typeface="Times New Roman" panose="02020603050405020304" pitchFamily="18" charset="0"/>
                <a:ea typeface="Instrument Sans Medium" pitchFamily="34" charset="-122"/>
                <a:cs typeface="Times New Roman" panose="02020603050405020304" pitchFamily="18" charset="0"/>
              </a:rPr>
              <a:t>зависимости</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того</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найден</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ли</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элемент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Более</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читаемая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альтернатива</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проверке</a:t>
            </a:r>
            <a:r>
              <a:rPr lang="en-US" sz="1800" dirty="0">
                <a:latin typeface="Times New Roman" panose="02020603050405020304" pitchFamily="18" charset="0"/>
                <a:ea typeface="Instrument Sans Medium" pitchFamily="34" charset="-122"/>
                <a:cs typeface="Times New Roman" panose="02020603050405020304" pitchFamily="18" charset="0"/>
              </a:rPr>
              <a:t> </a:t>
            </a:r>
            <a:endParaRPr lang="ru-RU" sz="18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12000"/>
              </a:lnSpc>
              <a:buNone/>
            </a:pPr>
            <a:r>
              <a:rPr lang="en-US" sz="1800" dirty="0" err="1">
                <a:highlight>
                  <a:srgbClr val="F2F2F2"/>
                </a:highlight>
                <a:latin typeface="Times New Roman" panose="02020603050405020304" pitchFamily="18" charset="0"/>
                <a:ea typeface="Consolas" pitchFamily="34" charset="-122"/>
                <a:cs typeface="Times New Roman" panose="02020603050405020304" pitchFamily="18" charset="0"/>
              </a:rPr>
              <a:t>indexOf</a:t>
            </a:r>
            <a:r>
              <a:rPr lang="en-US" sz="1800" dirty="0">
                <a:highlight>
                  <a:srgbClr val="F2F2F2"/>
                </a:highlight>
                <a:latin typeface="Times New Roman" panose="02020603050405020304" pitchFamily="18" charset="0"/>
                <a:ea typeface="Consolas" pitchFamily="34" charset="-122"/>
                <a:cs typeface="Times New Roman" panose="02020603050405020304" pitchFamily="18" charset="0"/>
              </a:rPr>
              <a:t>() !== -1</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0" indent="0" algn="l">
              <a:lnSpc>
                <a:spcPct val="133000"/>
              </a:lnSpc>
              <a:buNone/>
            </a:pPr>
            <a:r>
              <a:rPr lang="ru-RU" sz="1800" dirty="0">
                <a:latin typeface="Times New Roman" panose="02020603050405020304" pitchFamily="18" charset="0"/>
                <a:ea typeface="Consolas" pitchFamily="34" charset="-122"/>
                <a:cs typeface="Times New Roman" panose="02020603050405020304" pitchFamily="18" charset="0"/>
              </a:rPr>
              <a:t>            </a:t>
            </a:r>
            <a:r>
              <a:rPr lang="en-US" sz="1800" dirty="0">
                <a:latin typeface="Times New Roman" panose="02020603050405020304" pitchFamily="18" charset="0"/>
                <a:ea typeface="Consolas" pitchFamily="34" charset="-122"/>
                <a:cs typeface="Times New Roman" panose="02020603050405020304" pitchFamily="18" charset="0"/>
              </a:rPr>
              <a:t>let </a:t>
            </a:r>
            <a:r>
              <a:rPr lang="en-US" sz="1800" dirty="0" err="1">
                <a:latin typeface="Times New Roman" panose="02020603050405020304" pitchFamily="18" charset="0"/>
                <a:ea typeface="Consolas" pitchFamily="34" charset="-122"/>
                <a:cs typeface="Times New Roman" panose="02020603050405020304" pitchFamily="18" charset="0"/>
              </a:rPr>
              <a:t>arr</a:t>
            </a:r>
            <a:r>
              <a:rPr lang="en-US" sz="1800" dirty="0">
                <a:latin typeface="Times New Roman" panose="02020603050405020304" pitchFamily="18" charset="0"/>
                <a:ea typeface="Consolas" pitchFamily="34" charset="-122"/>
                <a:cs typeface="Times New Roman" panose="02020603050405020304" pitchFamily="18" charset="0"/>
              </a:rPr>
              <a:t> = [1, 2, 3, 4];</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console.log(</a:t>
            </a:r>
            <a:r>
              <a:rPr lang="en-US" sz="1800" dirty="0" err="1">
                <a:latin typeface="Times New Roman" panose="02020603050405020304" pitchFamily="18" charset="0"/>
                <a:ea typeface="Consolas" pitchFamily="34" charset="-122"/>
                <a:cs typeface="Times New Roman" panose="02020603050405020304" pitchFamily="18" charset="0"/>
              </a:rPr>
              <a:t>arr</a:t>
            </a:r>
            <a:r>
              <a:rPr lang="en-US" sz="1800" kern="100" dirty="0" err="1">
                <a:effectLst/>
                <a:latin typeface="Times New Roman" panose="02020603050405020304" pitchFamily="18" charset="0"/>
                <a:ea typeface="Aptos"/>
                <a:cs typeface="Times New Roman" panose="02020603050405020304" pitchFamily="18" charset="0"/>
              </a:rPr>
              <a:t>.includes</a:t>
            </a:r>
            <a:r>
              <a:rPr lang="ru-RU" sz="1800" kern="100" dirty="0">
                <a:effectLst/>
                <a:latin typeface="Times New Roman" panose="02020603050405020304" pitchFamily="18" charset="0"/>
                <a:ea typeface="Aptos"/>
                <a:cs typeface="Times New Roman" panose="02020603050405020304" pitchFamily="18" charset="0"/>
              </a:rPr>
              <a:t>(3</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Результатом будет</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true</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же выполнить</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console.log(</a:t>
            </a:r>
            <a:r>
              <a:rPr lang="en-US" sz="1800" dirty="0" err="1">
                <a:latin typeface="Times New Roman" panose="02020603050405020304" pitchFamily="18" charset="0"/>
                <a:ea typeface="Consolas" pitchFamily="34" charset="-122"/>
                <a:cs typeface="Times New Roman" panose="02020603050405020304" pitchFamily="18" charset="0"/>
              </a:rPr>
              <a:t>arr</a:t>
            </a:r>
            <a:r>
              <a:rPr lang="en-US" sz="1800" kern="100" dirty="0" err="1">
                <a:effectLst/>
                <a:latin typeface="Times New Roman" panose="02020603050405020304" pitchFamily="18" charset="0"/>
                <a:ea typeface="Aptos"/>
                <a:cs typeface="Times New Roman" panose="02020603050405020304" pitchFamily="18" charset="0"/>
              </a:rPr>
              <a:t>.includes</a:t>
            </a:r>
            <a:r>
              <a:rPr lang="ru-RU" sz="1800" kern="100" dirty="0">
                <a:effectLst/>
                <a:latin typeface="Times New Roman" panose="02020603050405020304" pitchFamily="18" charset="0"/>
                <a:ea typeface="Aptos"/>
                <a:cs typeface="Times New Roman" panose="02020603050405020304" pitchFamily="18" charset="0"/>
              </a:rPr>
              <a:t>(99</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получим</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false</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Главное отличие от </a:t>
            </a:r>
            <a:r>
              <a:rPr lang="ru-RU" sz="1800" kern="100" dirty="0" err="1">
                <a:effectLst/>
                <a:latin typeface="Times New Roman" panose="02020603050405020304" pitchFamily="18" charset="0"/>
                <a:ea typeface="Aptos"/>
                <a:cs typeface="Times New Roman" panose="02020603050405020304" pitchFamily="18" charset="0"/>
              </a:rPr>
              <a:t>indexOf</a:t>
            </a:r>
            <a:r>
              <a:rPr lang="ru-RU" sz="1800" kern="100" dirty="0">
                <a:effectLst/>
                <a:latin typeface="Times New Roman" panose="02020603050405020304" pitchFamily="18" charset="0"/>
                <a:ea typeface="Aptos"/>
                <a:cs typeface="Times New Roman" panose="02020603050405020304" pitchFamily="18" charset="0"/>
              </a:rPr>
              <a:t>() заключается в том, что метод </a:t>
            </a:r>
            <a:r>
              <a:rPr lang="ru-RU" sz="1800" kern="100" dirty="0" err="1">
                <a:effectLst/>
                <a:latin typeface="Times New Roman" panose="02020603050405020304" pitchFamily="18" charset="0"/>
                <a:ea typeface="Aptos"/>
                <a:cs typeface="Times New Roman" panose="02020603050405020304" pitchFamily="18" charset="0"/>
              </a:rPr>
              <a:t>includes</a:t>
            </a:r>
            <a:r>
              <a:rPr lang="ru-RU" sz="1800" kern="100" dirty="0">
                <a:effectLst/>
                <a:latin typeface="Times New Roman" panose="02020603050405020304" pitchFamily="18" charset="0"/>
                <a:ea typeface="Aptos"/>
                <a:cs typeface="Times New Roman" panose="02020603050405020304" pitchFamily="18" charset="0"/>
              </a:rPr>
              <a:t>() не возвращает индекс.</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сразу сообщает, найден элемент или нет.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методе можно добавить второй параметр, который указывает начальную позицию для поиска.</a:t>
            </a:r>
          </a:p>
          <a:p>
            <a:pPr marL="0" marR="0" lvl="0" indent="450215" algn="just" defTabSz="914400" rtl="0" eaLnBrk="1" fontAlgn="auto" latinLnBrk="0" hangingPunct="1">
              <a:lnSpc>
                <a:spcPct val="150000"/>
              </a:lnSpc>
              <a:spcBef>
                <a:spcPts val="0"/>
              </a:spcBef>
              <a:spcAft>
                <a:spcPts val="0"/>
              </a:spcAft>
              <a:buClrTx/>
              <a:buSzTx/>
              <a:buFontTx/>
              <a:buNone/>
              <a:tabLst/>
              <a:defRPr/>
            </a:pPr>
            <a:r>
              <a:rPr lang="en-US" sz="1800" dirty="0">
                <a:latin typeface="Times New Roman" panose="02020603050405020304" pitchFamily="18" charset="0"/>
                <a:ea typeface="Consolas" pitchFamily="34" charset="-122"/>
                <a:cs typeface="Times New Roman" panose="02020603050405020304" pitchFamily="18" charset="0"/>
              </a:rPr>
              <a:t>console.log(</a:t>
            </a:r>
            <a:r>
              <a:rPr lang="en-US" sz="1800" dirty="0" err="1">
                <a:latin typeface="Times New Roman" panose="02020603050405020304" pitchFamily="18" charset="0"/>
                <a:ea typeface="Consolas" pitchFamily="34" charset="-122"/>
                <a:cs typeface="Times New Roman" panose="02020603050405020304" pitchFamily="18" charset="0"/>
              </a:rPr>
              <a:t>arr.includes</a:t>
            </a:r>
            <a:r>
              <a:rPr lang="en-US" sz="1800" dirty="0">
                <a:latin typeface="Times New Roman" panose="02020603050405020304" pitchFamily="18" charset="0"/>
                <a:ea typeface="Consolas" pitchFamily="34" charset="-122"/>
                <a:cs typeface="Times New Roman" panose="02020603050405020304" pitchFamily="18" charset="0"/>
              </a:rPr>
              <a:t>(2, 2)); // false</a:t>
            </a:r>
            <a:endParaRPr lang="en-US" sz="1800" dirty="0">
              <a:latin typeface="Times New Roman" panose="02020603050405020304" pitchFamily="18" charset="0"/>
              <a:cs typeface="Times New Roman" panose="02020603050405020304" pitchFamily="18" charset="0"/>
            </a:endParaRPr>
          </a:p>
          <a:p>
            <a:pPr marL="0" indent="0" algn="l">
              <a:lnSpc>
                <a:spcPct val="112000"/>
              </a:lnSpc>
              <a:buNone/>
            </a:pPr>
            <a:r>
              <a:rPr lang="en-US" sz="1800" dirty="0" err="1">
                <a:latin typeface="Times New Roman" panose="02020603050405020304" pitchFamily="18" charset="0"/>
                <a:ea typeface="Instrument Sans Medium" pitchFamily="34" charset="-122"/>
                <a:cs typeface="Times New Roman" panose="02020603050405020304" pitchFamily="18" charset="0"/>
              </a:rPr>
              <a:t>Также</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поддерживает</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отрицательные</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индексы</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для</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поиска</a:t>
            </a:r>
            <a:r>
              <a:rPr lang="en-US" sz="1800" dirty="0">
                <a:latin typeface="Times New Roman" panose="02020603050405020304" pitchFamily="18" charset="0"/>
                <a:ea typeface="Instrument Sans Medium" pitchFamily="34" charset="-122"/>
                <a:cs typeface="Times New Roman" panose="02020603050405020304" pitchFamily="18" charset="0"/>
              </a:rPr>
              <a:t> с </a:t>
            </a:r>
            <a:r>
              <a:rPr lang="en-US" sz="1800" dirty="0" err="1">
                <a:latin typeface="Times New Roman" panose="02020603050405020304" pitchFamily="18" charset="0"/>
                <a:ea typeface="Instrument Sans Medium" pitchFamily="34" charset="-122"/>
                <a:cs typeface="Times New Roman" panose="02020603050405020304" pitchFamily="18" charset="0"/>
              </a:rPr>
              <a:t>конца</a:t>
            </a:r>
            <a:r>
              <a:rPr lang="en-US" sz="1800" dirty="0">
                <a:latin typeface="Times New Roman" panose="02020603050405020304" pitchFamily="18" charset="0"/>
                <a:ea typeface="Instrument Sans Medium" pitchFamily="34" charset="-122"/>
                <a:cs typeface="Times New Roman" panose="02020603050405020304" pitchFamily="18" charset="0"/>
              </a:rPr>
              <a:t> </a:t>
            </a:r>
            <a:r>
              <a:rPr lang="en-US" sz="1800" dirty="0" err="1">
                <a:latin typeface="Times New Roman" panose="02020603050405020304" pitchFamily="18" charset="0"/>
                <a:ea typeface="Instrument Sans Medium" pitchFamily="34" charset="-122"/>
                <a:cs typeface="Times New Roman" panose="02020603050405020304" pitchFamily="18" charset="0"/>
              </a:rPr>
              <a:t>массива</a:t>
            </a:r>
            <a:r>
              <a:rPr lang="en-US" sz="1800" dirty="0">
                <a:latin typeface="Times New Roman" panose="02020603050405020304" pitchFamily="18" charset="0"/>
                <a:ea typeface="Instrument Sans Medium"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indent="450215" algn="just">
              <a:lnSpc>
                <a:spcPct val="150000"/>
              </a:lnSpc>
            </a:pP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Когда использовать каждый метод</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Каждый рассмотренный метод предназначен для решения своей задачи.</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concat</a:t>
            </a:r>
            <a:r>
              <a:rPr lang="ru-RU" sz="1800" kern="100" dirty="0">
                <a:effectLst/>
                <a:latin typeface="Times New Roman" panose="02020603050405020304" pitchFamily="18" charset="0"/>
                <a:ea typeface="Aptos"/>
                <a:cs typeface="Times New Roman" panose="02020603050405020304" pitchFamily="18" charset="0"/>
              </a:rPr>
              <a:t>() — объединяет несколько массивов в один новый массив.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join</a:t>
            </a:r>
            <a:r>
              <a:rPr lang="ru-RU" sz="1800" kern="100" dirty="0">
                <a:effectLst/>
                <a:latin typeface="Times New Roman" panose="02020603050405020304" pitchFamily="18" charset="0"/>
                <a:ea typeface="Aptos"/>
                <a:cs typeface="Times New Roman" panose="02020603050405020304" pitchFamily="18" charset="0"/>
              </a:rPr>
              <a:t>() — преобразует массив в строку с указанным разделителем.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indexOf</a:t>
            </a:r>
            <a:r>
              <a:rPr lang="ru-RU" sz="1800" kern="100" dirty="0">
                <a:effectLst/>
                <a:latin typeface="Times New Roman" panose="02020603050405020304" pitchFamily="18" charset="0"/>
                <a:ea typeface="Aptos"/>
                <a:cs typeface="Times New Roman" panose="02020603050405020304" pitchFamily="18" charset="0"/>
              </a:rPr>
              <a:t>() — возвращает индекс найденного элемента или значение –1, если элемент отсутствует.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includes</a:t>
            </a:r>
            <a:r>
              <a:rPr lang="ru-RU" sz="1800" kern="100" dirty="0">
                <a:effectLst/>
                <a:latin typeface="Times New Roman" panose="02020603050405020304" pitchFamily="18" charset="0"/>
                <a:ea typeface="Aptos"/>
                <a:cs typeface="Times New Roman" panose="02020603050405020304" pitchFamily="18" charset="0"/>
              </a:rPr>
              <a:t>() — проверяет наличие элемента и возвращает логическое значение </a:t>
            </a:r>
            <a:r>
              <a:rPr lang="ru-RU" sz="1800" kern="100" dirty="0" err="1">
                <a:effectLst/>
                <a:latin typeface="Times New Roman" panose="02020603050405020304" pitchFamily="18" charset="0"/>
                <a:ea typeface="Aptos"/>
                <a:cs typeface="Times New Roman" panose="02020603050405020304" pitchFamily="18" charset="0"/>
              </a:rPr>
              <a:t>true</a:t>
            </a:r>
            <a:r>
              <a:rPr lang="ru-RU" sz="1800" kern="100" dirty="0">
                <a:effectLst/>
                <a:latin typeface="Times New Roman" panose="02020603050405020304" pitchFamily="18" charset="0"/>
                <a:ea typeface="Aptos"/>
                <a:cs typeface="Times New Roman" panose="02020603050405020304" pitchFamily="18" charset="0"/>
              </a:rPr>
              <a:t> или </a:t>
            </a:r>
            <a:r>
              <a:rPr lang="ru-RU" sz="1800" kern="100" dirty="0" err="1">
                <a:effectLst/>
                <a:latin typeface="Times New Roman" panose="02020603050405020304" pitchFamily="18" charset="0"/>
                <a:ea typeface="Aptos"/>
                <a:cs typeface="Times New Roman" panose="02020603050405020304" pitchFamily="18" charset="0"/>
              </a:rPr>
              <a:t>false</a:t>
            </a: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Очень важно понимать, что ни один из этих методов, кроме создания нового массива в </a:t>
            </a:r>
            <a:r>
              <a:rPr lang="ru-RU" sz="1800" kern="100" dirty="0" err="1">
                <a:effectLst/>
                <a:latin typeface="Times New Roman" panose="02020603050405020304" pitchFamily="18" charset="0"/>
                <a:ea typeface="Aptos"/>
                <a:cs typeface="Times New Roman" panose="02020603050405020304" pitchFamily="18" charset="0"/>
              </a:rPr>
              <a:t>concat</a:t>
            </a:r>
            <a:r>
              <a:rPr lang="ru-RU" sz="1800" kern="100" dirty="0">
                <a:effectLst/>
                <a:latin typeface="Times New Roman" panose="02020603050405020304" pitchFamily="18" charset="0"/>
                <a:ea typeface="Aptos"/>
                <a:cs typeface="Times New Roman" panose="02020603050405020304" pitchFamily="18" charset="0"/>
              </a:rPr>
              <a:t>(), не изменяет содержимое исходного массива.</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Практическое применение</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Представим мобильное приложение для интернет-магазина.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загрузки новой страницы каталога необходимо объединить старые и новые товары. Для этого удобно использовать </a:t>
            </a:r>
            <a:r>
              <a:rPr lang="ru-RU" sz="1800" kern="100" dirty="0" err="1">
                <a:effectLst/>
                <a:latin typeface="Times New Roman" panose="02020603050405020304" pitchFamily="18" charset="0"/>
                <a:ea typeface="Aptos"/>
                <a:cs typeface="Times New Roman" panose="02020603050405020304" pitchFamily="18" charset="0"/>
              </a:rPr>
              <a:t>concat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требуется вывести список выбранных категорий в одну строку, применяется </a:t>
            </a:r>
            <a:r>
              <a:rPr lang="ru-RU" sz="1800" kern="100" dirty="0" err="1">
                <a:effectLst/>
                <a:latin typeface="Times New Roman" panose="02020603050405020304" pitchFamily="18" charset="0"/>
                <a:ea typeface="Aptos"/>
                <a:cs typeface="Times New Roman" panose="02020603050405020304" pitchFamily="18" charset="0"/>
              </a:rPr>
              <a:t>join</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Перед добавлением товара в список избранного приложение может проверить, находится ли он уже в этом списке с помощью </a:t>
            </a:r>
            <a:r>
              <a:rPr lang="ru-RU" sz="1800" kern="100" dirty="0" err="1">
                <a:effectLst/>
                <a:latin typeface="Times New Roman" panose="02020603050405020304" pitchFamily="18" charset="0"/>
                <a:ea typeface="Aptos"/>
                <a:cs typeface="Times New Roman" panose="02020603050405020304" pitchFamily="18" charset="0"/>
              </a:rPr>
              <a:t>includes</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же необходимо узнать, на каком месте расположен определенный элемент, используется </a:t>
            </a:r>
            <a:r>
              <a:rPr lang="ru-RU" sz="1800" kern="100" dirty="0" err="1">
                <a:effectLst/>
                <a:latin typeface="Times New Roman" panose="02020603050405020304" pitchFamily="18" charset="0"/>
                <a:ea typeface="Aptos"/>
                <a:cs typeface="Times New Roman" panose="02020603050405020304" pitchFamily="18" charset="0"/>
              </a:rPr>
              <a:t>indexOf</a:t>
            </a:r>
            <a:r>
              <a:rPr lang="ru-RU" sz="1800" kern="100" dirty="0">
                <a:effectLst/>
                <a:latin typeface="Times New Roman" panose="02020603050405020304" pitchFamily="18" charset="0"/>
                <a:ea typeface="Aptos"/>
                <a:cs typeface="Times New Roman" panose="02020603050405020304" pitchFamily="18" charset="0"/>
              </a:rPr>
              <a:t>().</a:t>
            </a: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6</a:t>
            </a:fld>
            <a:endParaRPr lang="ru-RU"/>
          </a:p>
        </p:txBody>
      </p:sp>
    </p:spTree>
    <p:extLst>
      <p:ext uri="{BB962C8B-B14F-4D97-AF65-F5344CB8AC3E}">
        <p14:creationId xmlns:p14="http://schemas.microsoft.com/office/powerpoint/2010/main" val="1447770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Очень часто при работе с массивами возникает необходимость изменить порядок расположения элементов. Например, пользователь хочет увидеть сначала самые новые сообщения, отсортировать товары по цене, расположить список фамилий в алфавитном порядке или изменить последовательность фотографий в галерее. Для решения подобных задач JavaScript предоставляет методы </a:t>
            </a:r>
            <a:r>
              <a:rPr lang="ru-RU" sz="1800" kern="100" dirty="0" err="1">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 и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Несмотря на то что оба метода изменяют порядок элементов, назначение у них разное. Метод </a:t>
            </a:r>
            <a:r>
              <a:rPr lang="ru-RU" sz="1800" kern="100" dirty="0" err="1">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 просто меняет порядок элементов на противоположный, а метод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выполняет сортировку массива по определенным правилам.</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reverse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 изменяет порядок элементов массива на обратный.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numbers = [1, 2, 3, 4, 5];</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err="1">
                <a:effectLst/>
                <a:latin typeface="Times New Roman" panose="02020603050405020304" pitchFamily="18" charset="0"/>
                <a:ea typeface="Aptos"/>
                <a:cs typeface="Times New Roman" panose="02020603050405020304" pitchFamily="18" charset="0"/>
              </a:rPr>
              <a:t>numbers.reverse</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программы массив станет выглядеть следующим образом: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[5, 4, 3, 2, 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Последний элемент стал первым, предпоследний — вторым, и так далее.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Важно понимать, что метод </a:t>
            </a:r>
            <a:r>
              <a:rPr lang="ru-RU" sz="1800" b="1" kern="100" dirty="0">
                <a:effectLst/>
                <a:latin typeface="Times New Roman" panose="02020603050405020304" pitchFamily="18" charset="0"/>
                <a:ea typeface="Aptos"/>
                <a:cs typeface="Times New Roman" panose="02020603050405020304" pitchFamily="18" charset="0"/>
              </a:rPr>
              <a:t>изменяет сам массив</a:t>
            </a:r>
            <a:r>
              <a:rPr lang="ru-RU" sz="1800" kern="100" dirty="0">
                <a:effectLst/>
                <a:latin typeface="Times New Roman" panose="02020603050405020304" pitchFamily="18" charset="0"/>
                <a:ea typeface="Aptos"/>
                <a:cs typeface="Times New Roman" panose="02020603050405020304" pitchFamily="18" charset="0"/>
              </a:rPr>
              <a:t>, а не создает его копию. После выполнения </a:t>
            </a:r>
            <a:r>
              <a:rPr lang="ru-RU" sz="1800" kern="100" dirty="0" err="1">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 исходный порядок элементов будет потерян.</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необходимо сохранить первоначальный массив, сначала следует создать его копию.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copy = </a:t>
            </a:r>
            <a:r>
              <a:rPr lang="en-US" sz="1800" kern="100" dirty="0" err="1">
                <a:effectLst/>
                <a:latin typeface="Times New Roman" panose="02020603050405020304" pitchFamily="18" charset="0"/>
                <a:ea typeface="Aptos"/>
                <a:cs typeface="Times New Roman" panose="02020603050405020304" pitchFamily="18" charset="0"/>
              </a:rPr>
              <a:t>numbers.slice</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copy</a:t>
            </a:r>
            <a:r>
              <a:rPr lang="ru-RU" sz="1800" kern="100" dirty="0">
                <a:effectLst/>
                <a:latin typeface="Times New Roman" panose="02020603050405020304" pitchFamily="18" charset="0"/>
                <a:ea typeface="Aptos"/>
                <a:cs typeface="Times New Roman" panose="02020603050405020304" pitchFamily="18" charset="0"/>
              </a:rPr>
              <a:t>.</a:t>
            </a:r>
            <a:r>
              <a:rPr lang="en-US" sz="1800" kern="100" dirty="0">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этом случае массив </a:t>
            </a:r>
            <a:r>
              <a:rPr lang="ru-RU" sz="1800" kern="100" dirty="0" err="1">
                <a:effectLst/>
                <a:latin typeface="Times New Roman" panose="02020603050405020304" pitchFamily="18" charset="0"/>
                <a:ea typeface="Aptos"/>
                <a:cs typeface="Times New Roman" panose="02020603050405020304" pitchFamily="18" charset="0"/>
              </a:rPr>
              <a:t>numbers</a:t>
            </a:r>
            <a:r>
              <a:rPr lang="ru-RU" sz="1800" kern="100" dirty="0">
                <a:effectLst/>
                <a:latin typeface="Times New Roman" panose="02020603050405020304" pitchFamily="18" charset="0"/>
                <a:ea typeface="Aptos"/>
                <a:cs typeface="Times New Roman" panose="02020603050405020304" pitchFamily="18" charset="0"/>
              </a:rPr>
              <a:t> останется без изменений, а перевернутым будет только массив </a:t>
            </a:r>
            <a:r>
              <a:rPr lang="ru-RU" sz="1800" kern="100" dirty="0" err="1">
                <a:effectLst/>
                <a:latin typeface="Times New Roman" panose="02020603050405020304" pitchFamily="18" charset="0"/>
                <a:ea typeface="Aptos"/>
                <a:cs typeface="Times New Roman" panose="02020603050405020304" pitchFamily="18" charset="0"/>
              </a:rPr>
              <a:t>copy</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 широко используется в мобильных приложениях. Например, если необходимо показать последние сообщения чата сверху списка, последние фотографии пользователя или самые свежие новости, разработчик может изменить порядок элементов перед их отображением.</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sort</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предназначен для сортировки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простой 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["банан", "яблоко", "апельсин"];</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fruits.sort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программы получится следующий результат: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["апельсин", "банан", "яблоко"]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JavaScript отсортировал строки в алфавитном порядке.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строк такой результат выглядит вполне ожидаемо.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Однако при работе с числами многие начинающие программисты сталкиваются с неожиданным поведением метода.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numbers = [</a:t>
            </a:r>
            <a:r>
              <a:rPr lang="en-US" sz="1800" dirty="0">
                <a:latin typeface="Times New Roman" panose="02020603050405020304" pitchFamily="18" charset="0"/>
                <a:ea typeface="Consolas" pitchFamily="34" charset="-122"/>
                <a:cs typeface="Times New Roman" panose="02020603050405020304" pitchFamily="18" charset="0"/>
              </a:rPr>
              <a:t>10, 2, 30, 1</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err="1">
                <a:effectLst/>
                <a:latin typeface="Times New Roman" panose="02020603050405020304" pitchFamily="18" charset="0"/>
                <a:ea typeface="Aptos"/>
                <a:cs typeface="Times New Roman" panose="02020603050405020304" pitchFamily="18" charset="0"/>
              </a:rPr>
              <a:t>numbers.sort</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Можно предположить, что получится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[1, 2, 10, 30]</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Но на самом деле JavaScript выведет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a:t>
            </a:r>
            <a:r>
              <a:rPr lang="en-US" sz="1800" dirty="0">
                <a:latin typeface="Times New Roman" panose="02020603050405020304" pitchFamily="18" charset="0"/>
                <a:ea typeface="Consolas" pitchFamily="34" charset="-122"/>
                <a:cs typeface="Times New Roman" panose="02020603050405020304" pitchFamily="18" charset="0"/>
              </a:rPr>
              <a:t>1, 10, 2, 30</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Почему это происходит?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 умолчанию метод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воспринимает элементы как строки.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сравнивает не сами числа, а их текстовое представление.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Получается следующая последовательность:</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"1"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"10"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"2"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"5"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Именно поэтому число 10 оказывается раньше числа 2.</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Это одна из самых распространенных ошибок начинающих разработчиков.</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Правильная сортировка чисел</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сортировки чисел необходимо передать в метод специальную функцию сравнения.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слайде приведен пример:</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numbers</a:t>
            </a:r>
            <a:r>
              <a:rPr lang="ru-RU" sz="1800" kern="100" dirty="0">
                <a:effectLst/>
                <a:latin typeface="Times New Roman" panose="02020603050405020304" pitchFamily="18" charset="0"/>
                <a:ea typeface="Aptos"/>
                <a:cs typeface="Times New Roman" panose="02020603050405020304" pitchFamily="18" charset="0"/>
              </a:rPr>
              <a:t>.</a:t>
            </a:r>
            <a:r>
              <a:rPr lang="en-US" sz="1800" kern="100" dirty="0">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a:t>
            </a:r>
            <a:r>
              <a:rPr lang="en-US" sz="1800" kern="100" dirty="0">
                <a:effectLst/>
                <a:latin typeface="Times New Roman" panose="02020603050405020304" pitchFamily="18" charset="0"/>
                <a:ea typeface="Aptos"/>
                <a:cs typeface="Times New Roman" panose="02020603050405020304" pitchFamily="18" charset="0"/>
              </a:rPr>
              <a:t>a</a:t>
            </a:r>
            <a:r>
              <a:rPr lang="ru-RU" sz="1800" kern="100" dirty="0">
                <a:effectLst/>
                <a:latin typeface="Times New Roman" panose="02020603050405020304" pitchFamily="18" charset="0"/>
                <a:ea typeface="Aptos"/>
                <a:cs typeface="Times New Roman" panose="02020603050405020304" pitchFamily="18" charset="0"/>
              </a:rPr>
              <a:t>, </a:t>
            </a:r>
            <a:r>
              <a:rPr lang="en-US" sz="1800" kern="100" dirty="0">
                <a:effectLst/>
                <a:latin typeface="Times New Roman" panose="02020603050405020304" pitchFamily="18" charset="0"/>
                <a:ea typeface="Aptos"/>
                <a:cs typeface="Times New Roman" panose="02020603050405020304" pitchFamily="18" charset="0"/>
              </a:rPr>
              <a:t>b</a:t>
            </a:r>
            <a:r>
              <a:rPr lang="ru-RU" sz="1800" kern="100" dirty="0">
                <a:effectLst/>
                <a:latin typeface="Times New Roman" panose="02020603050405020304" pitchFamily="18" charset="0"/>
                <a:ea typeface="Aptos"/>
                <a:cs typeface="Times New Roman" panose="02020603050405020304" pitchFamily="18" charset="0"/>
              </a:rPr>
              <a:t>) =&gt; </a:t>
            </a:r>
            <a:r>
              <a:rPr lang="en-US" sz="1800" kern="100" dirty="0">
                <a:effectLst/>
                <a:latin typeface="Times New Roman" panose="02020603050405020304" pitchFamily="18" charset="0"/>
                <a:ea typeface="Aptos"/>
                <a:cs typeface="Times New Roman" panose="02020603050405020304" pitchFamily="18" charset="0"/>
              </a:rPr>
              <a:t>a</a:t>
            </a:r>
            <a:r>
              <a:rPr lang="ru-RU" sz="1800" kern="100" dirty="0">
                <a:effectLst/>
                <a:latin typeface="Times New Roman" panose="02020603050405020304" pitchFamily="18" charset="0"/>
                <a:ea typeface="Aptos"/>
                <a:cs typeface="Times New Roman" panose="02020603050405020304" pitchFamily="18" charset="0"/>
              </a:rPr>
              <a:t> - </a:t>
            </a:r>
            <a:r>
              <a:rPr lang="en-US" sz="1800" kern="100" dirty="0">
                <a:effectLst/>
                <a:latin typeface="Times New Roman" panose="02020603050405020304" pitchFamily="18" charset="0"/>
                <a:ea typeface="Aptos"/>
                <a:cs typeface="Times New Roman" panose="02020603050405020304" pitchFamily="18" charset="0"/>
              </a:rPr>
              <a:t>b</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Разберем, как работает эта запись.</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Функция получает два элемента массива — a и b.</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Затем вычисляется разность между ними.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результат отрицательный, элемент a должен располагаться раньше.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результат положительный — раньше должен располагаться элемент b.</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результат равен нулю, порядок элементов не изменяется.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выполнения этой команды массив будет отсортирован правильно: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[1, 2, 5, 10]</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Сортировка по убыванию</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получения обратного порядка достаточно изменить выражение внутри функции.</a:t>
            </a:r>
          </a:p>
          <a:p>
            <a:pPr indent="450215" algn="just">
              <a:lnSpc>
                <a:spcPct val="150000"/>
              </a:lnSpc>
            </a:pPr>
            <a:r>
              <a:rPr lang="en-US" sz="1800" kern="100" dirty="0" err="1">
                <a:effectLst/>
                <a:latin typeface="Times New Roman" panose="02020603050405020304" pitchFamily="18" charset="0"/>
                <a:ea typeface="Aptos"/>
                <a:cs typeface="Times New Roman" panose="02020603050405020304" pitchFamily="18" charset="0"/>
              </a:rPr>
              <a:t>numbers.sort</a:t>
            </a:r>
            <a:r>
              <a:rPr lang="en-US" sz="1800" kern="100" dirty="0">
                <a:effectLst/>
                <a:latin typeface="Times New Roman" panose="02020603050405020304" pitchFamily="18" charset="0"/>
                <a:ea typeface="Aptos"/>
                <a:cs typeface="Times New Roman" panose="02020603050405020304" pitchFamily="18" charset="0"/>
              </a:rPr>
              <a:t>((a, b) =&gt; b - a);</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Теперь результат будет следующим:</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[10, 5, 2, 1]</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Таким способом можно легко переключаться между сортировкой по возрастанию и по убыванию.</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Сортировка объектов</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практике разработчики редко сортируют простые числа.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Гораздо чаще приходится работать с массивами объектов.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users =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 name: "</a:t>
            </a:r>
            <a:r>
              <a:rPr lang="ru-RU" sz="1800" kern="100" dirty="0">
                <a:effectLst/>
                <a:latin typeface="Times New Roman" panose="02020603050405020304" pitchFamily="18" charset="0"/>
                <a:ea typeface="Aptos"/>
                <a:cs typeface="Times New Roman" panose="02020603050405020304" pitchFamily="18" charset="0"/>
              </a:rPr>
              <a:t>Иван</a:t>
            </a:r>
            <a:r>
              <a:rPr lang="en-US" sz="1800" kern="100" dirty="0">
                <a:effectLst/>
                <a:latin typeface="Times New Roman" panose="02020603050405020304" pitchFamily="18" charset="0"/>
                <a:ea typeface="Aptos"/>
                <a:cs typeface="Times New Roman" panose="02020603050405020304" pitchFamily="18" charset="0"/>
              </a:rPr>
              <a:t>", age: 22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 name: "</a:t>
            </a:r>
            <a:r>
              <a:rPr lang="ru-RU" sz="1800" kern="100" dirty="0">
                <a:effectLst/>
                <a:latin typeface="Times New Roman" panose="02020603050405020304" pitchFamily="18" charset="0"/>
                <a:ea typeface="Aptos"/>
                <a:cs typeface="Times New Roman" panose="02020603050405020304" pitchFamily="18" charset="0"/>
              </a:rPr>
              <a:t>Анна</a:t>
            </a:r>
            <a:r>
              <a:rPr lang="en-US" sz="1800" kern="100" dirty="0">
                <a:effectLst/>
                <a:latin typeface="Times New Roman" panose="02020603050405020304" pitchFamily="18" charset="0"/>
                <a:ea typeface="Aptos"/>
                <a:cs typeface="Times New Roman" panose="02020603050405020304" pitchFamily="18" charset="0"/>
              </a:rPr>
              <a:t>", age: 19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 name: "</a:t>
            </a:r>
            <a:r>
              <a:rPr lang="ru-RU" sz="1800" kern="100" dirty="0">
                <a:effectLst/>
                <a:latin typeface="Times New Roman" panose="02020603050405020304" pitchFamily="18" charset="0"/>
                <a:ea typeface="Aptos"/>
                <a:cs typeface="Times New Roman" panose="02020603050405020304" pitchFamily="18" charset="0"/>
              </a:rPr>
              <a:t>Олег</a:t>
            </a:r>
            <a:r>
              <a:rPr lang="en-US" sz="1800" kern="100" dirty="0">
                <a:effectLst/>
                <a:latin typeface="Times New Roman" panose="02020603050405020304" pitchFamily="18" charset="0"/>
                <a:ea typeface="Aptos"/>
                <a:cs typeface="Times New Roman" panose="02020603050405020304" pitchFamily="18" charset="0"/>
              </a:rPr>
              <a:t>", age: 25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необходимо отсортировать пользователей по возрасту, используется функция сравнения.</a:t>
            </a:r>
          </a:p>
          <a:p>
            <a:pPr indent="450215" algn="just">
              <a:lnSpc>
                <a:spcPct val="150000"/>
              </a:lnSpc>
            </a:pPr>
            <a:r>
              <a:rPr lang="en-US" sz="1800" kern="100" dirty="0" err="1">
                <a:effectLst/>
                <a:latin typeface="Times New Roman" panose="02020603050405020304" pitchFamily="18" charset="0"/>
                <a:ea typeface="Aptos"/>
                <a:cs typeface="Times New Roman" panose="02020603050405020304" pitchFamily="18" charset="0"/>
              </a:rPr>
              <a:t>users.sort</a:t>
            </a:r>
            <a:r>
              <a:rPr lang="en-US" sz="1800" kern="100" dirty="0">
                <a:effectLst/>
                <a:latin typeface="Times New Roman" panose="02020603050405020304" pitchFamily="18" charset="0"/>
                <a:ea typeface="Aptos"/>
                <a:cs typeface="Times New Roman" panose="02020603050405020304" pitchFamily="18" charset="0"/>
              </a:rPr>
              <a:t>((a, b) =&gt; </a:t>
            </a:r>
            <a:r>
              <a:rPr lang="en-US" sz="1800" kern="100" dirty="0" err="1">
                <a:effectLst/>
                <a:latin typeface="Times New Roman" panose="02020603050405020304" pitchFamily="18" charset="0"/>
                <a:ea typeface="Aptos"/>
                <a:cs typeface="Times New Roman" panose="02020603050405020304" pitchFamily="18" charset="0"/>
              </a:rPr>
              <a:t>a.age</a:t>
            </a:r>
            <a:r>
              <a:rPr lang="en-US" sz="1800" kern="100" dirty="0">
                <a:effectLst/>
                <a:latin typeface="Times New Roman" panose="02020603050405020304" pitchFamily="18" charset="0"/>
                <a:ea typeface="Aptos"/>
                <a:cs typeface="Times New Roman" panose="02020603050405020304" pitchFamily="18" charset="0"/>
              </a:rPr>
              <a:t> - </a:t>
            </a:r>
            <a:r>
              <a:rPr lang="en-US" sz="1800" kern="100" dirty="0" err="1">
                <a:effectLst/>
                <a:latin typeface="Times New Roman" panose="02020603050405020304" pitchFamily="18" charset="0"/>
                <a:ea typeface="Aptos"/>
                <a:cs typeface="Times New Roman" panose="02020603050405020304" pitchFamily="18" charset="0"/>
              </a:rPr>
              <a:t>b.age</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Теперь пользователи будут расположены от самого младшего к самому старшему.</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Аналогично можно сортировать товары по цене, сотрудников по стажу, студентов по среднему баллу или сообщения по времени отправки.</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Практическое применение</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несколько примеров использования этих методов в мобильных приложениях.</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интернет-магазине товары можно отсортировать по цене, популярности или названию.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банковском приложении операции сортируются по дате проведения.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музыкальном сервисе композиции можно расположить в алфавитном порядке или по продолжительности.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социальной сети новости обычно отображаются начиная с самых новых публикаций.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 всех этих случаях используются методы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и </a:t>
            </a:r>
            <a:r>
              <a:rPr lang="ru-RU" sz="1800" kern="100" dirty="0" err="1">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a:t>
            </a: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7</a:t>
            </a:fld>
            <a:endParaRPr lang="ru-RU"/>
          </a:p>
        </p:txBody>
      </p:sp>
    </p:spTree>
    <p:extLst>
      <p:ext uri="{BB962C8B-B14F-4D97-AF65-F5344CB8AC3E}">
        <p14:creationId xmlns:p14="http://schemas.microsoft.com/office/powerpoint/2010/main" val="2461114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ru-RU" b="1" i="0" dirty="0">
                <a:solidFill>
                  <a:srgbClr val="000000"/>
                </a:solidFill>
                <a:effectLst/>
                <a:latin typeface="-apple-system"/>
              </a:rPr>
              <a:t>Проверка наличия элемента</a:t>
            </a:r>
          </a:p>
          <a:p>
            <a:pPr algn="l"/>
            <a:r>
              <a:rPr lang="ru-RU" b="0" i="0" dirty="0">
                <a:solidFill>
                  <a:srgbClr val="000000"/>
                </a:solidFill>
                <a:effectLst/>
                <a:latin typeface="-apple-system"/>
              </a:rPr>
              <a:t>Метод </a:t>
            </a:r>
            <a:r>
              <a:rPr lang="ru-RU" b="1" i="0" dirty="0" err="1">
                <a:solidFill>
                  <a:srgbClr val="000000"/>
                </a:solidFill>
                <a:effectLst/>
                <a:latin typeface="-apple-system"/>
              </a:rPr>
              <a:t>every</a:t>
            </a:r>
            <a:r>
              <a:rPr lang="ru-RU" b="1" i="0" dirty="0">
                <a:solidFill>
                  <a:srgbClr val="000000"/>
                </a:solidFill>
                <a:effectLst/>
                <a:latin typeface="-apple-system"/>
              </a:rPr>
              <a:t>()</a:t>
            </a:r>
            <a:r>
              <a:rPr lang="ru-RU" b="0" i="0" dirty="0">
                <a:solidFill>
                  <a:srgbClr val="000000"/>
                </a:solidFill>
                <a:effectLst/>
                <a:latin typeface="-apple-system"/>
              </a:rPr>
              <a:t> проверяет, все ли элементы соответствуют определенному условию:</a:t>
            </a:r>
          </a:p>
          <a:p>
            <a:pPr algn="l"/>
            <a:r>
              <a:rPr lang="ru-RU" b="0" i="0" dirty="0">
                <a:solidFill>
                  <a:srgbClr val="000000"/>
                </a:solidFill>
                <a:effectLst/>
                <a:latin typeface="-apple-system"/>
              </a:rPr>
              <a:t>В метод </a:t>
            </a:r>
            <a:r>
              <a:rPr lang="ru-RU" b="0" i="0" dirty="0" err="1">
                <a:solidFill>
                  <a:srgbClr val="000000"/>
                </a:solidFill>
                <a:effectLst/>
                <a:latin typeface="-apple-system"/>
              </a:rPr>
              <a:t>every</a:t>
            </a:r>
            <a:r>
              <a:rPr lang="ru-RU" b="0" i="0" dirty="0">
                <a:solidFill>
                  <a:srgbClr val="000000"/>
                </a:solidFill>
                <a:effectLst/>
                <a:latin typeface="-apple-system"/>
              </a:rPr>
              <a:t>() в качестве параметра передается функция, которая представляет условие. Эта функция в качестве параметра принимает элемент и возвращает </a:t>
            </a:r>
            <a:r>
              <a:rPr lang="ru-RU" b="0" i="0" dirty="0" err="1">
                <a:solidFill>
                  <a:srgbClr val="000000"/>
                </a:solidFill>
                <a:effectLst/>
                <a:latin typeface="-apple-system"/>
              </a:rPr>
              <a:t>true</a:t>
            </a:r>
            <a:r>
              <a:rPr lang="ru-RU" b="0" i="0" dirty="0">
                <a:solidFill>
                  <a:srgbClr val="000000"/>
                </a:solidFill>
                <a:effectLst/>
                <a:latin typeface="-apple-system"/>
              </a:rPr>
              <a:t> (если элемент соответствует условию) или </a:t>
            </a:r>
            <a:r>
              <a:rPr lang="ru-RU" b="0" i="0" dirty="0" err="1">
                <a:solidFill>
                  <a:srgbClr val="000000"/>
                </a:solidFill>
                <a:effectLst/>
                <a:latin typeface="-apple-system"/>
              </a:rPr>
              <a:t>false</a:t>
            </a:r>
            <a:r>
              <a:rPr lang="ru-RU" b="0" i="0" dirty="0">
                <a:solidFill>
                  <a:srgbClr val="000000"/>
                </a:solidFill>
                <a:effectLst/>
                <a:latin typeface="-apple-system"/>
              </a:rPr>
              <a:t> (если не соответствует).</a:t>
            </a:r>
          </a:p>
          <a:p>
            <a:pPr algn="l"/>
            <a:r>
              <a:rPr lang="ru-RU" b="0" i="0" dirty="0">
                <a:solidFill>
                  <a:srgbClr val="000000"/>
                </a:solidFill>
                <a:effectLst/>
                <a:latin typeface="-apple-system"/>
              </a:rPr>
              <a:t>Если хотя бы один элемент не соответствует условию, то метод </a:t>
            </a:r>
            <a:r>
              <a:rPr lang="ru-RU" b="0" i="0" dirty="0" err="1">
                <a:solidFill>
                  <a:srgbClr val="000000"/>
                </a:solidFill>
                <a:effectLst/>
                <a:latin typeface="-apple-system"/>
              </a:rPr>
              <a:t>every</a:t>
            </a:r>
            <a:r>
              <a:rPr lang="ru-RU" b="0" i="0" dirty="0">
                <a:solidFill>
                  <a:srgbClr val="000000"/>
                </a:solidFill>
                <a:effectLst/>
                <a:latin typeface="-apple-system"/>
              </a:rPr>
              <a:t>() возвращает значение </a:t>
            </a:r>
            <a:r>
              <a:rPr lang="ru-RU" b="0" i="0" dirty="0" err="1">
                <a:solidFill>
                  <a:srgbClr val="000000"/>
                </a:solidFill>
                <a:effectLst/>
                <a:latin typeface="-apple-system"/>
              </a:rPr>
              <a:t>false</a:t>
            </a:r>
            <a:r>
              <a:rPr lang="ru-RU" b="0" i="0" dirty="0">
                <a:solidFill>
                  <a:srgbClr val="000000"/>
                </a:solidFill>
                <a:effectLst/>
                <a:latin typeface="-apple-system"/>
              </a:rPr>
              <a:t>.</a:t>
            </a:r>
          </a:p>
          <a:p>
            <a:pPr algn="l"/>
            <a:r>
              <a:rPr lang="ru-RU" b="0" i="0" dirty="0">
                <a:solidFill>
                  <a:srgbClr val="000000"/>
                </a:solidFill>
                <a:effectLst/>
                <a:latin typeface="-apple-system"/>
              </a:rPr>
              <a:t>В данном случае условие задается с помощью лямбда-выражения n =&gt; n &gt; 0, которое проверяет, больше ли элемент нуля.</a:t>
            </a:r>
          </a:p>
          <a:p>
            <a:pPr algn="ctr"/>
            <a:r>
              <a:rPr lang="en-US" sz="1200" b="1" dirty="0">
                <a:latin typeface="Times New Roman" panose="02020603050405020304" pitchFamily="18" charset="0"/>
                <a:cs typeface="Times New Roman" panose="02020603050405020304" pitchFamily="18" charset="0"/>
              </a:rPr>
              <a:t>some()</a:t>
            </a:r>
            <a:endParaRPr lang="ru-RU" sz="1200" b="1" dirty="0">
              <a:latin typeface="Times New Roman" panose="02020603050405020304" pitchFamily="18" charset="0"/>
              <a:cs typeface="Times New Roman" panose="02020603050405020304" pitchFamily="18" charset="0"/>
            </a:endParaRPr>
          </a:p>
          <a:p>
            <a:r>
              <a:rPr lang="ru-RU" sz="1200" dirty="0">
                <a:latin typeface="Times New Roman" panose="02020603050405020304" pitchFamily="18" charset="0"/>
                <a:cs typeface="Times New Roman" panose="02020603050405020304" pitchFamily="18" charset="0"/>
              </a:rPr>
              <a:t>Метод </a:t>
            </a:r>
            <a:r>
              <a:rPr lang="ru-RU" sz="1200" dirty="0" err="1">
                <a:latin typeface="Times New Roman" panose="02020603050405020304" pitchFamily="18" charset="0"/>
                <a:cs typeface="Times New Roman" panose="02020603050405020304" pitchFamily="18" charset="0"/>
              </a:rPr>
              <a:t>some</a:t>
            </a:r>
            <a:r>
              <a:rPr lang="ru-RU" sz="1200" dirty="0">
                <a:latin typeface="Times New Roman" panose="02020603050405020304" pitchFamily="18" charset="0"/>
                <a:cs typeface="Times New Roman" panose="02020603050405020304" pitchFamily="18" charset="0"/>
              </a:rPr>
              <a:t>() похож на метод </a:t>
            </a:r>
            <a:r>
              <a:rPr lang="ru-RU" sz="1200" dirty="0" err="1">
                <a:latin typeface="Times New Roman" panose="02020603050405020304" pitchFamily="18" charset="0"/>
                <a:cs typeface="Times New Roman" panose="02020603050405020304" pitchFamily="18" charset="0"/>
              </a:rPr>
              <a:t>every</a:t>
            </a:r>
            <a:r>
              <a:rPr lang="ru-RU" sz="1200" dirty="0">
                <a:latin typeface="Times New Roman" panose="02020603050405020304" pitchFamily="18" charset="0"/>
                <a:cs typeface="Times New Roman" panose="02020603050405020304" pitchFamily="18" charset="0"/>
              </a:rPr>
              <a:t>(), только он проверяет, соответствует ли хотя бы один элемент условию. И в этом случае метод </a:t>
            </a:r>
            <a:r>
              <a:rPr lang="ru-RU" sz="1200" dirty="0" err="1">
                <a:latin typeface="Times New Roman" panose="02020603050405020304" pitchFamily="18" charset="0"/>
                <a:cs typeface="Times New Roman" panose="02020603050405020304" pitchFamily="18" charset="0"/>
              </a:rPr>
              <a:t>some</a:t>
            </a:r>
            <a:r>
              <a:rPr lang="ru-RU" sz="1200" dirty="0">
                <a:latin typeface="Times New Roman" panose="02020603050405020304" pitchFamily="18" charset="0"/>
                <a:cs typeface="Times New Roman" panose="02020603050405020304" pitchFamily="18" charset="0"/>
              </a:rPr>
              <a:t>() возвращает </a:t>
            </a:r>
            <a:r>
              <a:rPr lang="ru-RU" sz="1200" dirty="0" err="1">
                <a:latin typeface="Times New Roman" panose="02020603050405020304" pitchFamily="18" charset="0"/>
                <a:cs typeface="Times New Roman" panose="02020603050405020304" pitchFamily="18" charset="0"/>
              </a:rPr>
              <a:t>true</a:t>
            </a:r>
            <a:r>
              <a:rPr lang="ru-RU" sz="1200" dirty="0">
                <a:latin typeface="Times New Roman" panose="02020603050405020304" pitchFamily="18" charset="0"/>
                <a:cs typeface="Times New Roman" panose="02020603050405020304" pitchFamily="18" charset="0"/>
              </a:rPr>
              <a:t>. Если элементов, соответствующих условию, в массиве нет, то возвращается значение </a:t>
            </a:r>
            <a:r>
              <a:rPr lang="ru-RU" sz="1200" dirty="0" err="1">
                <a:latin typeface="Times New Roman" panose="02020603050405020304" pitchFamily="18" charset="0"/>
                <a:cs typeface="Times New Roman" panose="02020603050405020304" pitchFamily="18" charset="0"/>
              </a:rPr>
              <a:t>false</a:t>
            </a:r>
            <a:endParaRPr lang="ru-RU" sz="1200" dirty="0">
              <a:latin typeface="Times New Roman" panose="02020603050405020304" pitchFamily="18" charset="0"/>
              <a:cs typeface="Times New Roman" panose="02020603050405020304" pitchFamily="18" charset="0"/>
            </a:endParaRPr>
          </a:p>
          <a:p>
            <a:pPr algn="l"/>
            <a:endParaRPr lang="ru-RU" b="0" i="0" dirty="0">
              <a:solidFill>
                <a:srgbClr val="000000"/>
              </a:solidFill>
              <a:effectLst/>
              <a:latin typeface="-apple-system"/>
            </a:endParaRPr>
          </a:p>
          <a:p>
            <a:pPr algn="l"/>
            <a:r>
              <a:rPr lang="ru-RU" b="1" i="0" dirty="0" err="1">
                <a:solidFill>
                  <a:srgbClr val="000000"/>
                </a:solidFill>
                <a:effectLst/>
                <a:latin typeface="-apple-system"/>
              </a:rPr>
              <a:t>with</a:t>
            </a:r>
            <a:endParaRPr lang="ru-RU" b="1" i="0" dirty="0">
              <a:solidFill>
                <a:srgbClr val="000000"/>
              </a:solidFill>
              <a:effectLst/>
              <a:latin typeface="-apple-system"/>
            </a:endParaRPr>
          </a:p>
          <a:p>
            <a:pPr algn="l"/>
            <a:r>
              <a:rPr lang="ru-RU" b="0" i="0" dirty="0">
                <a:solidFill>
                  <a:srgbClr val="000000"/>
                </a:solidFill>
                <a:effectLst/>
                <a:latin typeface="-apple-system"/>
              </a:rPr>
              <a:t>Иногда необходимо изменить элемент массива, но при этом также сохранить старое состояние массива. Метод </a:t>
            </a:r>
            <a:r>
              <a:rPr lang="ru-RU" b="1" i="0" dirty="0" err="1">
                <a:solidFill>
                  <a:srgbClr val="000000"/>
                </a:solidFill>
                <a:effectLst/>
                <a:latin typeface="-apple-system"/>
              </a:rPr>
              <a:t>with</a:t>
            </a:r>
            <a:r>
              <a:rPr lang="ru-RU" b="1" i="0" dirty="0">
                <a:solidFill>
                  <a:srgbClr val="000000"/>
                </a:solidFill>
                <a:effectLst/>
                <a:latin typeface="-apple-system"/>
              </a:rPr>
              <a:t>()</a:t>
            </a:r>
            <a:r>
              <a:rPr lang="ru-RU" b="0" i="0" dirty="0">
                <a:solidFill>
                  <a:srgbClr val="000000"/>
                </a:solidFill>
                <a:effectLst/>
                <a:latin typeface="-apple-system"/>
              </a:rPr>
              <a:t> автоматически создает копию старого массива, изменяет в ней элемент и возвращает новый массив с измененным элементом:</a:t>
            </a:r>
          </a:p>
          <a:p>
            <a:pPr algn="l"/>
            <a:endParaRPr lang="ru-RU" b="0" i="0" dirty="0">
              <a:solidFill>
                <a:srgbClr val="000000"/>
              </a:solidFill>
              <a:effectLst/>
              <a:latin typeface="-apple-system"/>
            </a:endParaRP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8</a:t>
            </a:fld>
            <a:endParaRPr lang="ru-RU"/>
          </a:p>
        </p:txBody>
      </p:sp>
    </p:spTree>
    <p:extLst>
      <p:ext uri="{BB962C8B-B14F-4D97-AF65-F5344CB8AC3E}">
        <p14:creationId xmlns:p14="http://schemas.microsoft.com/office/powerpoint/2010/main" val="578251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Часто возникает необходимость обработать весь массив целиком: вывести все элементы на экран, найти нужное значение, вычислить сумму чисел, проверить данные или выполнить одинаковое действие для каждого элемента. Такой процесс называется </a:t>
            </a:r>
            <a:r>
              <a:rPr lang="ru-RU" sz="1800" b="1" kern="100" dirty="0">
                <a:effectLst/>
                <a:latin typeface="Times New Roman" panose="02020603050405020304" pitchFamily="18" charset="0"/>
                <a:ea typeface="Aptos"/>
                <a:cs typeface="Times New Roman" panose="02020603050405020304" pitchFamily="18" charset="0"/>
              </a:rPr>
              <a:t>перебором массива</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перебора элементов JavaScript предлагает несколько способов. На данном слайде рассмотрены три наиболее распространенных варианта:</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цикл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цикл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a:t>
            </a:r>
            <a:r>
              <a:rPr lang="ru-RU" sz="1800" kern="100" dirty="0" err="1">
                <a:effectLst/>
                <a:latin typeface="Times New Roman" panose="02020603050405020304" pitchFamily="18" charset="0"/>
                <a:ea typeface="Aptos"/>
                <a:cs typeface="Times New Roman" panose="02020603050405020304" pitchFamily="18" charset="0"/>
              </a:rPr>
              <a:t>of</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forEach</a:t>
            </a: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Каждый из них имеет свои особенности и применяется в различных ситуациях.</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Цикл </a:t>
            </a:r>
            <a:r>
              <a:rPr lang="ru-RU" sz="1800" b="1" kern="100" dirty="0" err="1">
                <a:effectLst/>
                <a:latin typeface="Times New Roman" panose="02020603050405020304" pitchFamily="18" charset="0"/>
                <a:ea typeface="Aptos"/>
                <a:cs typeface="Times New Roman" panose="02020603050405020304" pitchFamily="18" charset="0"/>
              </a:rPr>
              <a:t>for</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Самым универсальным способом перебора массива является обычный цикл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let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 = ["яблоко", "груша", "слива"];</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for (let </a:t>
            </a:r>
            <a:r>
              <a:rPr lang="en-US" sz="1800" kern="100" dirty="0" err="1">
                <a:effectLst/>
                <a:latin typeface="Times New Roman" panose="02020603050405020304" pitchFamily="18" charset="0"/>
                <a:ea typeface="Aptos"/>
                <a:cs typeface="Times New Roman" panose="02020603050405020304" pitchFamily="18" charset="0"/>
              </a:rPr>
              <a:t>i</a:t>
            </a:r>
            <a:r>
              <a:rPr lang="en-US" sz="1800" kern="100" dirty="0">
                <a:effectLst/>
                <a:latin typeface="Times New Roman" panose="02020603050405020304" pitchFamily="18" charset="0"/>
                <a:ea typeface="Aptos"/>
                <a:cs typeface="Times New Roman" panose="02020603050405020304" pitchFamily="18" charset="0"/>
              </a:rPr>
              <a:t> = 0; </a:t>
            </a:r>
            <a:r>
              <a:rPr lang="en-US" sz="1800" kern="100" dirty="0" err="1">
                <a:effectLst/>
                <a:latin typeface="Times New Roman" panose="02020603050405020304" pitchFamily="18" charset="0"/>
                <a:ea typeface="Aptos"/>
                <a:cs typeface="Times New Roman" panose="02020603050405020304" pitchFamily="18" charset="0"/>
              </a:rPr>
              <a:t>i</a:t>
            </a:r>
            <a:r>
              <a:rPr lang="en-US" sz="1800" kern="100" dirty="0">
                <a:effectLst/>
                <a:latin typeface="Times New Roman" panose="02020603050405020304" pitchFamily="18" charset="0"/>
                <a:ea typeface="Aptos"/>
                <a:cs typeface="Times New Roman" panose="02020603050405020304" pitchFamily="18" charset="0"/>
              </a:rPr>
              <a:t> &lt; </a:t>
            </a:r>
            <a:r>
              <a:rPr lang="en-US" sz="1800" kern="100" dirty="0" err="1">
                <a:effectLst/>
                <a:latin typeface="Times New Roman" panose="02020603050405020304" pitchFamily="18" charset="0"/>
                <a:ea typeface="Aptos"/>
                <a:cs typeface="Times New Roman" panose="02020603050405020304" pitchFamily="18" charset="0"/>
              </a:rPr>
              <a:t>fruits.length</a:t>
            </a:r>
            <a:r>
              <a:rPr lang="en-US" sz="1800" kern="100" dirty="0">
                <a:effectLst/>
                <a:latin typeface="Times New Roman" panose="02020603050405020304" pitchFamily="18" charset="0"/>
                <a:ea typeface="Aptos"/>
                <a:cs typeface="Times New Roman" panose="02020603050405020304" pitchFamily="18" charset="0"/>
              </a:rPr>
              <a:t>; </a:t>
            </a:r>
            <a:r>
              <a:rPr lang="en-US" sz="1800" kern="100" dirty="0" err="1">
                <a:effectLst/>
                <a:latin typeface="Times New Roman" panose="02020603050405020304" pitchFamily="18" charset="0"/>
                <a:ea typeface="Aptos"/>
                <a:cs typeface="Times New Roman" panose="02020603050405020304" pitchFamily="18" charset="0"/>
              </a:rPr>
              <a:t>i</a:t>
            </a:r>
            <a:r>
              <a:rPr lang="en-US" sz="1800" kern="100" dirty="0">
                <a:effectLst/>
                <a:latin typeface="Times New Roman" panose="02020603050405020304" pitchFamily="18" charset="0"/>
                <a:ea typeface="Aptos"/>
                <a:cs typeface="Times New Roman" panose="02020603050405020304" pitchFamily="18" charset="0"/>
              </a:rPr>
              <a:t>++)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a:t>
            </a:r>
            <a:r>
              <a:rPr lang="ru-RU" sz="1800" kern="100" dirty="0">
                <a:effectLst/>
                <a:latin typeface="Times New Roman" panose="02020603050405020304" pitchFamily="18" charset="0"/>
                <a:ea typeface="Aptos"/>
                <a:cs typeface="Times New Roman" panose="02020603050405020304" pitchFamily="18" charset="0"/>
              </a:rPr>
              <a:t>console.log(</a:t>
            </a:r>
            <a:r>
              <a:rPr lang="ru-RU" sz="1800" kern="100" dirty="0" err="1">
                <a:effectLst/>
                <a:latin typeface="Times New Roman" panose="02020603050405020304" pitchFamily="18" charset="0"/>
                <a:ea typeface="Aptos"/>
                <a:cs typeface="Times New Roman" panose="02020603050405020304" pitchFamily="18" charset="0"/>
              </a:rPr>
              <a:t>fruits</a:t>
            </a:r>
            <a:r>
              <a:rPr lang="ru-RU" sz="1800" kern="100" dirty="0">
                <a:effectLst/>
                <a:latin typeface="Times New Roman" panose="02020603050405020304" pitchFamily="18" charset="0"/>
                <a:ea typeface="Aptos"/>
                <a:cs typeface="Times New Roman" panose="02020603050405020304" pitchFamily="18" charset="0"/>
              </a:rPr>
              <a:t>[i]);</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Главное преимущество цикла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 заключается в том, что разработчик полностью управляет процессом перебора. Можно начать с любого индекса, двигаться как вперед, так и назад, пропускать элементы или завершить цикл раньше с помощью оператора </a:t>
            </a:r>
            <a:r>
              <a:rPr lang="ru-RU" sz="1800" kern="100" dirty="0" err="1">
                <a:effectLst/>
                <a:latin typeface="Times New Roman" panose="02020603050405020304" pitchFamily="18" charset="0"/>
                <a:ea typeface="Aptos"/>
                <a:cs typeface="Times New Roman" panose="02020603050405020304" pitchFamily="18" charset="0"/>
              </a:rPr>
              <a:t>break</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Цикл </a:t>
            </a:r>
            <a:r>
              <a:rPr lang="ru-RU" sz="1800" b="1" kern="100" dirty="0" err="1">
                <a:effectLst/>
                <a:latin typeface="Times New Roman" panose="02020603050405020304" pitchFamily="18" charset="0"/>
                <a:ea typeface="Aptos"/>
                <a:cs typeface="Times New Roman" panose="02020603050405020304" pitchFamily="18" charset="0"/>
              </a:rPr>
              <a:t>for</a:t>
            </a:r>
            <a:r>
              <a:rPr lang="ru-RU" sz="1800" b="1" kern="100" dirty="0">
                <a:effectLst/>
                <a:latin typeface="Times New Roman" panose="02020603050405020304" pitchFamily="18" charset="0"/>
                <a:ea typeface="Aptos"/>
                <a:cs typeface="Times New Roman" panose="02020603050405020304" pitchFamily="18" charset="0"/>
              </a:rPr>
              <a:t>...</a:t>
            </a:r>
            <a:r>
              <a:rPr lang="ru-RU" sz="1800" b="1" kern="100" dirty="0" err="1">
                <a:effectLst/>
                <a:latin typeface="Times New Roman" panose="02020603050405020304" pitchFamily="18" charset="0"/>
                <a:ea typeface="Aptos"/>
                <a:cs typeface="Times New Roman" panose="02020603050405020304" pitchFamily="18" charset="0"/>
              </a:rPr>
              <a:t>of</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 многих случаях программисту совершенно не нужен индекс элемента.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Необходимо просто получить каждое значение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этого JavaScript предоставляет цикл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a:t>
            </a:r>
            <a:r>
              <a:rPr lang="ru-RU" sz="1800" kern="100" dirty="0" err="1">
                <a:effectLst/>
                <a:latin typeface="Times New Roman" panose="02020603050405020304" pitchFamily="18" charset="0"/>
                <a:ea typeface="Aptos"/>
                <a:cs typeface="Times New Roman" panose="02020603050405020304" pitchFamily="18" charset="0"/>
              </a:rPr>
              <a:t>of</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for (let fruit of fruits)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    </a:t>
            </a:r>
            <a:r>
              <a:rPr lang="ru-RU" sz="1800" kern="100" dirty="0">
                <a:effectLst/>
                <a:latin typeface="Times New Roman" panose="02020603050405020304" pitchFamily="18" charset="0"/>
                <a:ea typeface="Aptos"/>
                <a:cs typeface="Times New Roman" panose="02020603050405020304" pitchFamily="18" charset="0"/>
              </a:rPr>
              <a:t>console.log(</a:t>
            </a:r>
            <a:r>
              <a:rPr lang="ru-RU" sz="1800" kern="100" dirty="0" err="1">
                <a:effectLst/>
                <a:latin typeface="Times New Roman" panose="02020603050405020304" pitchFamily="18" charset="0"/>
                <a:ea typeface="Aptos"/>
                <a:cs typeface="Times New Roman" panose="02020603050405020304" pitchFamily="18" charset="0"/>
              </a:rPr>
              <a:t>fruit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Здесь код выглядит значительно проще.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 время каждой итерации переменная </a:t>
            </a:r>
            <a:r>
              <a:rPr lang="ru-RU" sz="1800" kern="100" dirty="0" err="1">
                <a:effectLst/>
                <a:latin typeface="Times New Roman" panose="02020603050405020304" pitchFamily="18" charset="0"/>
                <a:ea typeface="Aptos"/>
                <a:cs typeface="Times New Roman" panose="02020603050405020304" pitchFamily="18" charset="0"/>
              </a:rPr>
              <a:t>fruit</a:t>
            </a:r>
            <a:r>
              <a:rPr lang="ru-RU" sz="1800" kern="100" dirty="0">
                <a:effectLst/>
                <a:latin typeface="Times New Roman" panose="02020603050405020304" pitchFamily="18" charset="0"/>
                <a:ea typeface="Aptos"/>
                <a:cs typeface="Times New Roman" panose="02020603050405020304" pitchFamily="18" charset="0"/>
              </a:rPr>
              <a:t> автоматически получает очередной элемент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Главное достоинство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a:t>
            </a:r>
            <a:r>
              <a:rPr lang="ru-RU" sz="1800" kern="100" dirty="0" err="1">
                <a:effectLst/>
                <a:latin typeface="Times New Roman" panose="02020603050405020304" pitchFamily="18" charset="0"/>
                <a:ea typeface="Aptos"/>
                <a:cs typeface="Times New Roman" panose="02020603050405020304" pitchFamily="18" charset="0"/>
              </a:rPr>
              <a:t>of</a:t>
            </a:r>
            <a:r>
              <a:rPr lang="ru-RU" sz="1800" kern="100" dirty="0">
                <a:effectLst/>
                <a:latin typeface="Times New Roman" panose="02020603050405020304" pitchFamily="18" charset="0"/>
                <a:ea typeface="Aptos"/>
                <a:cs typeface="Times New Roman" panose="02020603050405020304" pitchFamily="18" charset="0"/>
              </a:rPr>
              <a:t> заключается в его читаемости.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Код становится значительно короче, поскольку разработчику не нужно самостоятельно управлять индексами и следить за условием завершения цикла.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Однако следует помнить, что внутри такого цикла отсутствует информация об индексе текущего элемента. Если индекс необходим, удобнее использовать обычный цикл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forEach</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Еще одним современным способом перебора массива является метод </a:t>
            </a:r>
            <a:r>
              <a:rPr lang="ru-RU" sz="1800" kern="100" dirty="0" err="1">
                <a:effectLst/>
                <a:latin typeface="Times New Roman" panose="02020603050405020304" pitchFamily="18" charset="0"/>
                <a:ea typeface="Aptos"/>
                <a:cs typeface="Times New Roman" panose="02020603050405020304" pitchFamily="18" charset="0"/>
              </a:rPr>
              <a:t>forEach</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forEach</a:t>
            </a:r>
            <a:r>
              <a:rPr lang="ru-RU" sz="1800" kern="100" dirty="0">
                <a:effectLst/>
                <a:latin typeface="Times New Roman" panose="02020603050405020304" pitchFamily="18" charset="0"/>
                <a:ea typeface="Aptos"/>
                <a:cs typeface="Times New Roman" panose="02020603050405020304" pitchFamily="18" charset="0"/>
              </a:rPr>
              <a:t>() способен передавать не только сам элемент массива, но и его индекс. Это удобно, если необходимо одновременно знать и значение элемента, и его положение в массиве.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отличие от циклов, это специальный метод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автоматически проходит по всем элементам массива и для каждого из них вызывает указанную функцию.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Сегодня вместо обычной функции чаще используют стрелочную функцию.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Код становится более компактным.</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Сравнение способов перебора</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Каждый из рассмотренных способов имеет свои преимущества.</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Цикл </a:t>
            </a:r>
            <a:r>
              <a:rPr lang="ru-RU" sz="1800" b="1" kern="100" dirty="0" err="1">
                <a:effectLst/>
                <a:latin typeface="Times New Roman" panose="02020603050405020304" pitchFamily="18" charset="0"/>
                <a:ea typeface="Aptos"/>
                <a:cs typeface="Times New Roman" panose="02020603050405020304" pitchFamily="18" charset="0"/>
              </a:rPr>
              <a:t>for</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предоставляет полный контроль над процессом перебора;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позволяет изменять направление обхода массива;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дает доступ к индексу элемента;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подходит для сложных алгоритмов. </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Цикл </a:t>
            </a:r>
            <a:r>
              <a:rPr lang="ru-RU" sz="1800" b="1" kern="100" dirty="0" err="1">
                <a:effectLst/>
                <a:latin typeface="Times New Roman" panose="02020603050405020304" pitchFamily="18" charset="0"/>
                <a:ea typeface="Aptos"/>
                <a:cs typeface="Times New Roman" panose="02020603050405020304" pitchFamily="18" charset="0"/>
              </a:rPr>
              <a:t>for</a:t>
            </a:r>
            <a:r>
              <a:rPr lang="ru-RU" sz="1800" b="1" kern="100" dirty="0">
                <a:effectLst/>
                <a:latin typeface="Times New Roman" panose="02020603050405020304" pitchFamily="18" charset="0"/>
                <a:ea typeface="Aptos"/>
                <a:cs typeface="Times New Roman" panose="02020603050405020304" pitchFamily="18" charset="0"/>
              </a:rPr>
              <a:t>...</a:t>
            </a:r>
            <a:r>
              <a:rPr lang="ru-RU" sz="1800" b="1" kern="100" dirty="0" err="1">
                <a:effectLst/>
                <a:latin typeface="Times New Roman" panose="02020603050405020304" pitchFamily="18" charset="0"/>
                <a:ea typeface="Aptos"/>
                <a:cs typeface="Times New Roman" panose="02020603050405020304" pitchFamily="18" charset="0"/>
              </a:rPr>
              <a:t>of</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отличается простотой записи;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хорошо подходит, когда нужны только значения элементов;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делает код более понятным. </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forEach</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имеет современный синтаксис;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автоматически перебирает все элементы;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удобно использовать вместе со стрелочными функциями;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позволяет получать как значение элемента, так и его индекс.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Следует учитывать одну особенность </a:t>
            </a:r>
            <a:r>
              <a:rPr lang="ru-RU" sz="1800" kern="100" dirty="0" err="1">
                <a:effectLst/>
                <a:latin typeface="Times New Roman" panose="02020603050405020304" pitchFamily="18" charset="0"/>
                <a:ea typeface="Aptos"/>
                <a:cs typeface="Times New Roman" panose="02020603050405020304" pitchFamily="18" charset="0"/>
              </a:rPr>
              <a:t>forEach</a:t>
            </a:r>
            <a:r>
              <a:rPr lang="ru-RU" sz="1800" kern="100" dirty="0">
                <a:effectLst/>
                <a:latin typeface="Times New Roman" panose="02020603050405020304" pitchFamily="18" charset="0"/>
                <a:ea typeface="Aptos"/>
                <a:cs typeface="Times New Roman" panose="02020603050405020304" pitchFamily="18" charset="0"/>
              </a:rPr>
              <a:t>(). В отличие от обычных циклов, его нельзя досрочно остановить с помощью операторов </a:t>
            </a:r>
            <a:r>
              <a:rPr lang="ru-RU" sz="1800" kern="100" dirty="0" err="1">
                <a:effectLst/>
                <a:latin typeface="Times New Roman" panose="02020603050405020304" pitchFamily="18" charset="0"/>
                <a:ea typeface="Aptos"/>
                <a:cs typeface="Times New Roman" panose="02020603050405020304" pitchFamily="18" charset="0"/>
              </a:rPr>
              <a:t>break</a:t>
            </a:r>
            <a:r>
              <a:rPr lang="ru-RU" sz="1800" kern="100" dirty="0">
                <a:effectLst/>
                <a:latin typeface="Times New Roman" panose="02020603050405020304" pitchFamily="18" charset="0"/>
                <a:ea typeface="Aptos"/>
                <a:cs typeface="Times New Roman" panose="02020603050405020304" pitchFamily="18" charset="0"/>
              </a:rPr>
              <a:t> или </a:t>
            </a:r>
            <a:r>
              <a:rPr lang="ru-RU" sz="1800" kern="100" dirty="0" err="1">
                <a:effectLst/>
                <a:latin typeface="Times New Roman" panose="02020603050405020304" pitchFamily="18" charset="0"/>
                <a:ea typeface="Aptos"/>
                <a:cs typeface="Times New Roman" panose="02020603050405020304" pitchFamily="18" charset="0"/>
              </a:rPr>
              <a:t>continue</a:t>
            </a:r>
            <a:r>
              <a:rPr lang="ru-RU" sz="1800" kern="100" dirty="0">
                <a:effectLst/>
                <a:latin typeface="Times New Roman" panose="02020603050405020304" pitchFamily="18" charset="0"/>
                <a:ea typeface="Aptos"/>
                <a:cs typeface="Times New Roman" panose="02020603050405020304" pitchFamily="18" charset="0"/>
              </a:rPr>
              <a:t>. Если требуется прервать перебор массива при выполнении определенного условия, лучше использовать цикл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a:t>
            </a: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9</a:t>
            </a:fld>
            <a:endParaRPr lang="ru-RU"/>
          </a:p>
        </p:txBody>
      </p:sp>
    </p:spTree>
    <p:extLst>
      <p:ext uri="{BB962C8B-B14F-4D97-AF65-F5344CB8AC3E}">
        <p14:creationId xmlns:p14="http://schemas.microsoft.com/office/powerpoint/2010/main" val="2940295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 предыдущем слайде мы рассмотрели способы перебора массива. Однако современный JavaScript предлагает еще более удобные инструменты для обработки данных. Вместо написания длинных циклов разработчики часто используют специальные методы массива, которые позволяют выполнять типовые операции всего одной или несколькими строками кода. Такой подход делает программы более компактными, понятными и удобными для сопровождения.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Наиболее востребованными являются четыре метода:</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find</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err="1">
                <a:effectLst/>
                <a:latin typeface="Times New Roman" panose="02020603050405020304" pitchFamily="18" charset="0"/>
                <a:ea typeface="Aptos"/>
                <a:cs typeface="Times New Roman" panose="02020603050405020304" pitchFamily="18" charset="0"/>
              </a:rPr>
              <a:t>reduce</a:t>
            </a: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Именно они широко используются при разработке современных веб-приложений и мобильных приложений на </a:t>
            </a:r>
            <a:r>
              <a:rPr lang="ru-RU" sz="1800" kern="100" dirty="0" err="1">
                <a:effectLst/>
                <a:latin typeface="Times New Roman" panose="02020603050405020304" pitchFamily="18" charset="0"/>
                <a:ea typeface="Aptos"/>
                <a:cs typeface="Times New Roman" panose="02020603050405020304" pitchFamily="18" charset="0"/>
              </a:rPr>
              <a:t>React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Native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map</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 предназначен для создания нового массива на основе существующего.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Его главная особенность заключается в том, что исходный массив остается без изменений.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a:t>
            </a:r>
            <a:r>
              <a:rPr lang="en-US" sz="1800" kern="100" dirty="0" err="1">
                <a:effectLst/>
                <a:latin typeface="Times New Roman" panose="02020603050405020304" pitchFamily="18" charset="0"/>
                <a:ea typeface="Aptos"/>
                <a:cs typeface="Times New Roman" panose="02020603050405020304" pitchFamily="18" charset="0"/>
              </a:rPr>
              <a:t>nums</a:t>
            </a:r>
            <a:r>
              <a:rPr lang="en-US" sz="1800" kern="100" dirty="0">
                <a:effectLst/>
                <a:latin typeface="Times New Roman" panose="02020603050405020304" pitchFamily="18" charset="0"/>
                <a:ea typeface="Aptos"/>
                <a:cs typeface="Times New Roman" panose="02020603050405020304" pitchFamily="18" charset="0"/>
              </a:rPr>
              <a:t> = [1, 2, 3, 4];</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squares = </a:t>
            </a:r>
            <a:r>
              <a:rPr lang="en-US" sz="1800" kern="100" dirty="0" err="1">
                <a:effectLst/>
                <a:latin typeface="Times New Roman" panose="02020603050405020304" pitchFamily="18" charset="0"/>
                <a:ea typeface="Aptos"/>
                <a:cs typeface="Times New Roman" panose="02020603050405020304" pitchFamily="18" charset="0"/>
              </a:rPr>
              <a:t>nums.map</a:t>
            </a:r>
            <a:r>
              <a:rPr lang="en-US" sz="1800" kern="100" dirty="0">
                <a:effectLst/>
                <a:latin typeface="Times New Roman" panose="02020603050405020304" pitchFamily="18" charset="0"/>
                <a:ea typeface="Aptos"/>
                <a:cs typeface="Times New Roman" panose="02020603050405020304" pitchFamily="18" charset="0"/>
              </a:rPr>
              <a:t>(n =&gt; n * n);</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console.log(</a:t>
            </a:r>
            <a:r>
              <a:rPr lang="ru-RU" sz="1800" kern="100" dirty="0" err="1">
                <a:effectLst/>
                <a:latin typeface="Times New Roman" panose="02020603050405020304" pitchFamily="18" charset="0"/>
                <a:ea typeface="Aptos"/>
                <a:cs typeface="Times New Roman" panose="02020603050405020304" pitchFamily="18" charset="0"/>
              </a:rPr>
              <a:t>squares</a:t>
            </a:r>
            <a:r>
              <a:rPr lang="ru-RU" sz="1800" kern="100" dirty="0">
                <a:effectLst/>
                <a:latin typeface="Times New Roman" panose="02020603050405020304" pitchFamily="18" charset="0"/>
                <a:ea typeface="Aptos"/>
                <a:cs typeface="Times New Roman" panose="02020603050405020304" pitchFamily="18" charset="0"/>
              </a:rPr>
              <a:t>); // [1, 4, 9, 16]</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Разберем, что происходит.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последовательно перебирает каждый элемент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каждого элемента выполняется функция</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n</a:t>
            </a:r>
            <a:r>
              <a:rPr lang="ru-RU" sz="1800" kern="100" dirty="0">
                <a:effectLst/>
                <a:latin typeface="Times New Roman" panose="02020603050405020304" pitchFamily="18" charset="0"/>
                <a:ea typeface="Aptos"/>
                <a:cs typeface="Times New Roman" panose="02020603050405020304" pitchFamily="18" charset="0"/>
              </a:rPr>
              <a:t> =&gt; </a:t>
            </a:r>
            <a:r>
              <a:rPr lang="en-US" sz="1800" kern="100" dirty="0">
                <a:effectLst/>
                <a:latin typeface="Times New Roman" panose="02020603050405020304" pitchFamily="18" charset="0"/>
                <a:ea typeface="Aptos"/>
                <a:cs typeface="Times New Roman" panose="02020603050405020304" pitchFamily="18" charset="0"/>
              </a:rPr>
              <a:t>n</a:t>
            </a:r>
            <a:r>
              <a:rPr lang="ru-RU" sz="1800" kern="100" dirty="0">
                <a:effectLst/>
                <a:latin typeface="Times New Roman" panose="02020603050405020304" pitchFamily="18" charset="0"/>
                <a:ea typeface="Aptos"/>
                <a:cs typeface="Times New Roman" panose="02020603050405020304" pitchFamily="18" charset="0"/>
              </a:rPr>
              <a:t> * </a:t>
            </a:r>
            <a:r>
              <a:rPr lang="en-US" sz="1800" kern="100" dirty="0">
                <a:effectLst/>
                <a:latin typeface="Times New Roman" panose="02020603050405020304" pitchFamily="18" charset="0"/>
                <a:ea typeface="Aptos"/>
                <a:cs typeface="Times New Roman" panose="02020603050405020304" pitchFamily="18" charset="0"/>
              </a:rPr>
              <a:t>n </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Полученные результаты автоматически собираются в новый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При этом исходный массив остается неизменным.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 применяется тогда, когда необходимо преобразовать каждый элемент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перевести цены из долларов в рубли;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преобразовать даты в удобный формат;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сформировать список имен пользователей;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получить массив компонентов для отображения на экране в </a:t>
            </a:r>
            <a:r>
              <a:rPr lang="ru-RU" sz="1800" kern="100" dirty="0" err="1">
                <a:effectLst/>
                <a:latin typeface="Times New Roman" panose="02020603050405020304" pitchFamily="18" charset="0"/>
                <a:ea typeface="Aptos"/>
                <a:cs typeface="Times New Roman" panose="02020603050405020304" pitchFamily="18" charset="0"/>
              </a:rPr>
              <a:t>React</a:t>
            </a:r>
            <a:r>
              <a:rPr lang="ru-RU" sz="1800" kern="100" dirty="0">
                <a:effectLst/>
                <a:latin typeface="Times New Roman" panose="02020603050405020304" pitchFamily="18" charset="0"/>
                <a:ea typeface="Aptos"/>
                <a:cs typeface="Times New Roman" panose="02020603050405020304" pitchFamily="18" charset="0"/>
              </a:rPr>
              <a:t> </a:t>
            </a:r>
            <a:r>
              <a:rPr lang="ru-RU" sz="1800" kern="100" dirty="0" err="1">
                <a:effectLst/>
                <a:latin typeface="Times New Roman" panose="02020603050405020304" pitchFamily="18" charset="0"/>
                <a:ea typeface="Aptos"/>
                <a:cs typeface="Times New Roman" panose="02020603050405020304" pitchFamily="18" charset="0"/>
              </a:rPr>
              <a:t>Native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filter</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Следующий метод называется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Его задача — выбрать только те элементы, которые удовлетворяют определенному условию.</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 время перебора каждый элемент проверяется. Если условие</a:t>
            </a:r>
            <a:r>
              <a:rPr lang="ru-RU"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800" kern="100" dirty="0">
                <a:effectLst/>
                <a:latin typeface="Times New Roman" panose="02020603050405020304" pitchFamily="18" charset="0"/>
                <a:ea typeface="Aptos"/>
                <a:cs typeface="Times New Roman" panose="02020603050405020304" pitchFamily="18" charset="0"/>
              </a:rPr>
              <a:t>истинно, элемент попадает в новый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условие ложно, элемент пропускается.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Исходный массив также остается без изменений.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 очень часто используется при работе с пользовательскими данными.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показать только доступные товары;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вывести студентов, успешно сдавших экзамен;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отобразить только непрочитанные сообщения;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оставить пользователей старше определенного возраста.</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find</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Иногда необходимо найти не все подходящие элементы, а только первый.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этого используется метод </a:t>
            </a:r>
            <a:r>
              <a:rPr lang="ru-RU" sz="1800" kern="100" dirty="0" err="1">
                <a:effectLst/>
                <a:latin typeface="Times New Roman" panose="02020603050405020304" pitchFamily="18" charset="0"/>
                <a:ea typeface="Aptos"/>
                <a:cs typeface="Times New Roman" panose="02020603050405020304" pitchFamily="18" charset="0"/>
              </a:rPr>
              <a:t>find</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numbers = [5, 12, 8, 20];</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value = </a:t>
            </a:r>
            <a:r>
              <a:rPr lang="en-US" sz="1800" kern="100" dirty="0" err="1">
                <a:effectLst/>
                <a:latin typeface="Times New Roman" panose="02020603050405020304" pitchFamily="18" charset="0"/>
                <a:ea typeface="Aptos"/>
                <a:cs typeface="Times New Roman" panose="02020603050405020304" pitchFamily="18" charset="0"/>
              </a:rPr>
              <a:t>numbers.find</a:t>
            </a:r>
            <a:r>
              <a:rPr lang="en-US" sz="1800" kern="100" dirty="0">
                <a:effectLst/>
                <a:latin typeface="Times New Roman" panose="02020603050405020304" pitchFamily="18" charset="0"/>
                <a:ea typeface="Aptos"/>
                <a:cs typeface="Times New Roman" panose="02020603050405020304" pitchFamily="18" charset="0"/>
              </a:rPr>
              <a:t>(num =&gt; num &gt; 10);</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начинает последовательно просматривать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Первое число больше десяти — это 12.</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нахождения подходящего элемента поиск сразу прекращается.</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сли</a:t>
            </a:r>
            <a:r>
              <a:rPr lang="ru-RU" sz="1800" kern="100" dirty="0">
                <a:effectLst/>
                <a:latin typeface="Times New Roman" panose="02020603050405020304" pitchFamily="18" charset="0"/>
                <a:ea typeface="Aptos"/>
                <a:cs typeface="Times New Roman" panose="02020603050405020304" pitchFamily="18" charset="0"/>
              </a:rPr>
              <a:t> же ни один элемент не удовлетворяет условию, метод возвращает значение</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undefined</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find</a:t>
            </a:r>
            <a:r>
              <a:rPr lang="ru-RU" sz="1800" kern="100" dirty="0">
                <a:effectLst/>
                <a:latin typeface="Times New Roman" panose="02020603050405020304" pitchFamily="18" charset="0"/>
                <a:ea typeface="Aptos"/>
                <a:cs typeface="Times New Roman" panose="02020603050405020304" pitchFamily="18" charset="0"/>
              </a:rPr>
              <a:t>() особенно полезен при поиске конкретного объекта.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найти пользователя по идентификатору;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найти товар по артикулу;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найти сообщение с определенным номером;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найти запись в расписании.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Поскольку поиск прекращается сразу после нахождения первого совпадения, метод работает быстрее, чем полный перебор массива.</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Метод </a:t>
            </a:r>
            <a:r>
              <a:rPr lang="ru-RU" sz="1800" b="1" kern="100" dirty="0" err="1">
                <a:effectLst/>
                <a:latin typeface="Times New Roman" panose="02020603050405020304" pitchFamily="18" charset="0"/>
                <a:ea typeface="Aptos"/>
                <a:cs typeface="Times New Roman" panose="02020603050405020304" pitchFamily="18" charset="0"/>
              </a:rPr>
              <a:t>reduce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Самым универсальным из рассмотренных методов является </a:t>
            </a:r>
            <a:r>
              <a:rPr lang="ru-RU" sz="1800" kern="100" dirty="0" err="1">
                <a:effectLst/>
                <a:latin typeface="Times New Roman" panose="02020603050405020304" pitchFamily="18" charset="0"/>
                <a:ea typeface="Aptos"/>
                <a:cs typeface="Times New Roman" panose="02020603050405020304" pitchFamily="18" charset="0"/>
              </a:rPr>
              <a:t>reduce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используется тогда, когда необходимо получить один итоговый результат на основе всех элементов массива.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Наиболее распространенный пример — вычисление суммы.</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numbers = [5, 10, 15];</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let sum = </a:t>
            </a:r>
            <a:r>
              <a:rPr lang="en-US" sz="1800" kern="100" dirty="0" err="1">
                <a:effectLst/>
                <a:latin typeface="Times New Roman" panose="02020603050405020304" pitchFamily="18" charset="0"/>
                <a:ea typeface="Aptos"/>
                <a:cs typeface="Times New Roman" panose="02020603050405020304" pitchFamily="18" charset="0"/>
              </a:rPr>
              <a:t>numbers.reduce</a:t>
            </a:r>
            <a:r>
              <a:rPr lang="en-US" sz="1800" kern="100" dirty="0">
                <a:effectLst/>
                <a:latin typeface="Times New Roman" panose="02020603050405020304" pitchFamily="18" charset="0"/>
                <a:ea typeface="Aptos"/>
                <a:cs typeface="Times New Roman" panose="02020603050405020304" pitchFamily="18" charset="0"/>
              </a:rPr>
              <a:t>((total, num) =&gt; total + num, 0);</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Разберем принцип работы.</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 начале работы переменная </a:t>
            </a:r>
            <a:r>
              <a:rPr lang="ru-RU" sz="1800" kern="100" dirty="0" err="1">
                <a:effectLst/>
                <a:latin typeface="Times New Roman" panose="02020603050405020304" pitchFamily="18" charset="0"/>
                <a:ea typeface="Aptos"/>
                <a:cs typeface="Times New Roman" panose="02020603050405020304" pitchFamily="18" charset="0"/>
              </a:rPr>
              <a:t>total</a:t>
            </a:r>
            <a:r>
              <a:rPr lang="ru-RU" sz="1800" kern="100" dirty="0">
                <a:effectLst/>
                <a:latin typeface="Times New Roman" panose="02020603050405020304" pitchFamily="18" charset="0"/>
                <a:ea typeface="Aptos"/>
                <a:cs typeface="Times New Roman" panose="02020603050405020304" pitchFamily="18" charset="0"/>
              </a:rPr>
              <a:t> получает начальное значение </a:t>
            </a:r>
            <a:r>
              <a:rPr lang="ru-RU" sz="1800" b="1" kern="100" dirty="0">
                <a:effectLst/>
                <a:latin typeface="Times New Roman" panose="02020603050405020304" pitchFamily="18" charset="0"/>
                <a:ea typeface="Aptos"/>
                <a:cs typeface="Times New Roman" panose="02020603050405020304" pitchFamily="18" charset="0"/>
              </a:rPr>
              <a:t>0</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Затем к нему прибавляется первое число массива и так далее.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a:t>
            </a:r>
            <a:r>
              <a:rPr lang="ru-RU" sz="1800" kern="100" dirty="0" err="1">
                <a:effectLst/>
                <a:latin typeface="Times New Roman" panose="02020603050405020304" pitchFamily="18" charset="0"/>
                <a:ea typeface="Aptos"/>
                <a:cs typeface="Times New Roman" panose="02020603050405020304" pitchFamily="18" charset="0"/>
              </a:rPr>
              <a:t>reduce</a:t>
            </a:r>
            <a:r>
              <a:rPr lang="ru-RU" sz="1800" kern="100" dirty="0">
                <a:effectLst/>
                <a:latin typeface="Times New Roman" panose="02020603050405020304" pitchFamily="18" charset="0"/>
                <a:ea typeface="Aptos"/>
                <a:cs typeface="Times New Roman" panose="02020603050405020304" pitchFamily="18" charset="0"/>
              </a:rPr>
              <a:t>() способен выполнять не только сложение.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 его помощью можно:</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вычислять произведение элементов;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подсчитывать среднее значение;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находить максимальное и минимальное число;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объединять строки;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выполнять сложные вычисления над массивами объектов.</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Сравнение методов</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Каждый из рассмотренных методов предназначен для решения своей задачи.</a:t>
            </a:r>
          </a:p>
          <a:p>
            <a:pPr indent="450215" algn="just">
              <a:lnSpc>
                <a:spcPct val="150000"/>
              </a:lnSpc>
            </a:pPr>
            <a:r>
              <a:rPr lang="ru-RU" sz="1800" b="1" kern="100" dirty="0" err="1">
                <a:effectLst/>
                <a:latin typeface="Times New Roman" panose="02020603050405020304" pitchFamily="18" charset="0"/>
                <a:ea typeface="Aptos"/>
                <a:cs typeface="Times New Roman" panose="02020603050405020304" pitchFamily="18" charset="0"/>
              </a:rPr>
              <a:t>map</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преобразует каждый элемент массива;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возвращает новый массив той же длины. </a:t>
            </a:r>
          </a:p>
          <a:p>
            <a:pPr indent="450215" algn="just">
              <a:lnSpc>
                <a:spcPct val="150000"/>
              </a:lnSpc>
            </a:pPr>
            <a:r>
              <a:rPr lang="ru-RU" sz="1800" b="1" kern="100" dirty="0" err="1">
                <a:effectLst/>
                <a:latin typeface="Times New Roman" panose="02020603050405020304" pitchFamily="18" charset="0"/>
                <a:ea typeface="Aptos"/>
                <a:cs typeface="Times New Roman" panose="02020603050405020304" pitchFamily="18" charset="0"/>
              </a:rPr>
              <a:t>filter</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выбирает только подходящие элементы;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возвращает новый массив, который может быть меньше исходного. </a:t>
            </a:r>
          </a:p>
          <a:p>
            <a:pPr indent="450215" algn="just">
              <a:lnSpc>
                <a:spcPct val="150000"/>
              </a:lnSpc>
            </a:pPr>
            <a:r>
              <a:rPr lang="ru-RU" sz="1800" b="1" kern="100" dirty="0" err="1">
                <a:effectLst/>
                <a:latin typeface="Times New Roman" panose="02020603050405020304" pitchFamily="18" charset="0"/>
                <a:ea typeface="Aptos"/>
                <a:cs typeface="Times New Roman" panose="02020603050405020304" pitchFamily="18" charset="0"/>
              </a:rPr>
              <a:t>find</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ищет первый подходящий элемент;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возвращает найденное значение или </a:t>
            </a:r>
            <a:r>
              <a:rPr lang="ru-RU" sz="1800" kern="100" dirty="0" err="1">
                <a:effectLst/>
                <a:latin typeface="Times New Roman" panose="02020603050405020304" pitchFamily="18" charset="0"/>
                <a:ea typeface="Aptos"/>
                <a:cs typeface="Times New Roman" panose="02020603050405020304" pitchFamily="18" charset="0"/>
              </a:rPr>
              <a:t>undefined</a:t>
            </a: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b="1" kern="100" dirty="0" err="1">
                <a:effectLst/>
                <a:latin typeface="Times New Roman" panose="02020603050405020304" pitchFamily="18" charset="0"/>
                <a:ea typeface="Aptos"/>
                <a:cs typeface="Times New Roman" panose="02020603050405020304" pitchFamily="18" charset="0"/>
              </a:rPr>
              <a:t>reduce</a:t>
            </a:r>
            <a:r>
              <a:rPr lang="ru-RU" sz="1800" b="1"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объединяет все элементы массива в один итоговый результат.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Все эти методы не изменяют исходный массив, а создают новые данные или возвращают вычисленный результат. Именно поэтому они особенно популярны при разработке современных приложений.</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Практическое применение</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Представим мобильное приложение интернет-магазина.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 получения списка товаров необходимо:</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увеличить цену каждого товара на величину скидки — используется </a:t>
            </a: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показать только товары, которые есть в наличии — применяется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найти товар по его идентификатору — используется </a:t>
            </a:r>
            <a:r>
              <a:rPr lang="ru-RU" sz="1800" kern="100" dirty="0" err="1">
                <a:effectLst/>
                <a:latin typeface="Times New Roman" panose="02020603050405020304" pitchFamily="18" charset="0"/>
                <a:ea typeface="Aptos"/>
                <a:cs typeface="Times New Roman" panose="02020603050405020304" pitchFamily="18" charset="0"/>
              </a:rPr>
              <a:t>find</a:t>
            </a:r>
            <a:r>
              <a:rPr lang="ru-RU" sz="1800" kern="100" dirty="0">
                <a:effectLst/>
                <a:latin typeface="Times New Roman" panose="02020603050405020304" pitchFamily="18" charset="0"/>
                <a:ea typeface="Aptos"/>
                <a:cs typeface="Times New Roman" panose="02020603050405020304" pitchFamily="18" charset="0"/>
              </a:rPr>
              <a:t>(); </a:t>
            </a:r>
          </a:p>
          <a:p>
            <a:pPr marL="342900" lvl="0" indent="-342900" algn="just">
              <a:lnSpc>
                <a:spcPct val="150000"/>
              </a:lnSpc>
              <a:buSzPts val="1000"/>
              <a:buFont typeface="Symbol" panose="05050102010706020507" pitchFamily="18" charset="2"/>
              <a:buChar char=""/>
              <a:tabLst>
                <a:tab pos="457200" algn="l"/>
              </a:tabLst>
            </a:pPr>
            <a:r>
              <a:rPr lang="ru-RU" sz="1800" kern="100" dirty="0">
                <a:effectLst/>
                <a:latin typeface="Times New Roman" panose="02020603050405020304" pitchFamily="18" charset="0"/>
                <a:ea typeface="Aptos"/>
                <a:cs typeface="Times New Roman" panose="02020603050405020304" pitchFamily="18" charset="0"/>
              </a:rPr>
              <a:t>вычислить общую стоимость товаров в корзине — применяется </a:t>
            </a:r>
            <a:r>
              <a:rPr lang="ru-RU" sz="1800" kern="100" dirty="0" err="1">
                <a:effectLst/>
                <a:latin typeface="Times New Roman" panose="02020603050405020304" pitchFamily="18" charset="0"/>
                <a:ea typeface="Aptos"/>
                <a:cs typeface="Times New Roman" panose="02020603050405020304" pitchFamily="18" charset="0"/>
              </a:rPr>
              <a:t>reduce</a:t>
            </a:r>
            <a:r>
              <a:rPr lang="ru-RU" sz="1800" kern="100" dirty="0">
                <a:effectLst/>
                <a:latin typeface="Times New Roman" panose="02020603050405020304" pitchFamily="18" charset="0"/>
                <a:ea typeface="Aptos"/>
                <a:cs typeface="Times New Roman" panose="02020603050405020304" pitchFamily="18" charset="0"/>
              </a:rPr>
              <a:t>().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 многих современных проектах эти методы используются ежедневно. Они позволяют заменить длинные циклы несколькими понятными строками кода, что делает программу более читаемой и уменьшает вероятность ошибок.</a:t>
            </a:r>
          </a:p>
          <a:p>
            <a:endParaRPr lang="ru-RU" dirty="0"/>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Цепочки методов</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Функциональные методы массивов особенно полезны, когда используются не по отдельности, а последовательно. Такой прием называется </a:t>
            </a:r>
            <a:r>
              <a:rPr lang="ru-RU" sz="1800" b="1" kern="100" dirty="0">
                <a:effectLst/>
                <a:latin typeface="Times New Roman" panose="02020603050405020304" pitchFamily="18" charset="0"/>
                <a:ea typeface="Aptos"/>
                <a:cs typeface="Times New Roman" panose="02020603050405020304" pitchFamily="18" charset="0"/>
              </a:rPr>
              <a:t>цепочкой методов</a:t>
            </a:r>
            <a:r>
              <a:rPr lang="ru-RU" sz="1800" kern="100" dirty="0">
                <a:effectLst/>
                <a:latin typeface="Times New Roman" panose="02020603050405020304" pitchFamily="18" charset="0"/>
                <a:ea typeface="Aptos"/>
                <a:cs typeface="Times New Roman" panose="02020603050405020304" pitchFamily="18" charset="0"/>
              </a:rPr>
              <a:t>. Каждый выполненный метод возвращает результат, к которому сразу можно применить следующий метод.</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Рассмотрим пример. В этом примере предполагается, что переменная </a:t>
            </a:r>
            <a:r>
              <a:rPr lang="ru-RU" sz="1800" kern="100" dirty="0" err="1">
                <a:effectLst/>
                <a:latin typeface="Times New Roman" panose="02020603050405020304" pitchFamily="18" charset="0"/>
                <a:ea typeface="Aptos"/>
                <a:cs typeface="Times New Roman" panose="02020603050405020304" pitchFamily="18" charset="0"/>
              </a:rPr>
              <a:t>users</a:t>
            </a:r>
            <a:r>
              <a:rPr lang="ru-RU" sz="1800" kern="100" dirty="0">
                <a:effectLst/>
                <a:latin typeface="Times New Roman" panose="02020603050405020304" pitchFamily="18" charset="0"/>
                <a:ea typeface="Aptos"/>
                <a:cs typeface="Times New Roman" panose="02020603050405020304" pitchFamily="18" charset="0"/>
              </a:rPr>
              <a:t> содержит массив объектов с данными пользователей. Каждый объект имеет как минимум свойства </a:t>
            </a:r>
            <a:r>
              <a:rPr lang="ru-RU" sz="1800" kern="100" dirty="0" err="1">
                <a:effectLst/>
                <a:latin typeface="Times New Roman" panose="02020603050405020304" pitchFamily="18" charset="0"/>
                <a:ea typeface="Aptos"/>
                <a:cs typeface="Times New Roman" panose="02020603050405020304" pitchFamily="18" charset="0"/>
              </a:rPr>
              <a:t>name</a:t>
            </a:r>
            <a:r>
              <a:rPr lang="ru-RU" sz="1800" kern="100" dirty="0">
                <a:effectLst/>
                <a:latin typeface="Times New Roman" panose="02020603050405020304" pitchFamily="18" charset="0"/>
                <a:ea typeface="Aptos"/>
                <a:cs typeface="Times New Roman" panose="02020603050405020304" pitchFamily="18" charset="0"/>
              </a:rPr>
              <a:t> и </a:t>
            </a:r>
            <a:r>
              <a:rPr lang="ru-RU" sz="1800" kern="100" dirty="0" err="1">
                <a:effectLst/>
                <a:latin typeface="Times New Roman" panose="02020603050405020304" pitchFamily="18" charset="0"/>
                <a:ea typeface="Aptos"/>
                <a:cs typeface="Times New Roman" panose="02020603050405020304" pitchFamily="18" charset="0"/>
              </a:rPr>
              <a:t>age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Разберем цепочку последовательно.</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Сначала выполняется метод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(u =&gt; </a:t>
            </a:r>
            <a:r>
              <a:rPr lang="ru-RU" sz="1800" kern="100" dirty="0" err="1">
                <a:effectLst/>
                <a:latin typeface="Times New Roman" panose="02020603050405020304" pitchFamily="18" charset="0"/>
                <a:ea typeface="Aptos"/>
                <a:cs typeface="Times New Roman" panose="02020603050405020304" pitchFamily="18" charset="0"/>
              </a:rPr>
              <a:t>u.age</a:t>
            </a:r>
            <a:r>
              <a:rPr lang="ru-RU" sz="1800" kern="100" dirty="0">
                <a:effectLst/>
                <a:latin typeface="Times New Roman" panose="02020603050405020304" pitchFamily="18" charset="0"/>
                <a:ea typeface="Aptos"/>
                <a:cs typeface="Times New Roman" panose="02020603050405020304" pitchFamily="18" charset="0"/>
              </a:rPr>
              <a:t> &gt;= 18)</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проверяет возраст каждого пользователя и создает новый массив, в котором остаются только совершеннолетние пользователи, то есть люди в возрасте 18 лет и старше.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Затем к полученному массиву применяется метод </a:t>
            </a: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.map(u =&gt; </a:t>
            </a:r>
            <a:r>
              <a:rPr lang="en-US" sz="1800" kern="100" dirty="0" err="1">
                <a:effectLst/>
                <a:latin typeface="Times New Roman" panose="02020603050405020304" pitchFamily="18" charset="0"/>
                <a:ea typeface="Aptos"/>
                <a:cs typeface="Times New Roman" panose="02020603050405020304" pitchFamily="18" charset="0"/>
              </a:rPr>
              <a:t>u.name.toUpperCase</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 извлекает имя каждого пользователя и преобразует его в верхний регистр. После этого массив объектов превращается в массив строк.</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Далее вызывается метод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Он располагает имена в алфавитном порядке. Поскольку на этом этапе массив содержит строки, стандартная сортировка подходит для решения задачи.</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Последним выполняется метод </a:t>
            </a:r>
            <a:r>
              <a:rPr lang="ru-RU" sz="1800" kern="100" dirty="0" err="1">
                <a:effectLst/>
                <a:latin typeface="Times New Roman" panose="02020603050405020304" pitchFamily="18" charset="0"/>
                <a:ea typeface="Aptos"/>
                <a:cs typeface="Times New Roman" panose="02020603050405020304" pitchFamily="18" charset="0"/>
              </a:rPr>
              <a:t>slice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a:t>
            </a:r>
            <a:r>
              <a:rPr lang="ru-RU" sz="1800" kern="100" dirty="0" err="1">
                <a:effectLst/>
                <a:latin typeface="Times New Roman" panose="02020603050405020304" pitchFamily="18" charset="0"/>
                <a:ea typeface="Aptos"/>
                <a:cs typeface="Times New Roman" panose="02020603050405020304" pitchFamily="18" charset="0"/>
              </a:rPr>
              <a:t>slice</a:t>
            </a:r>
            <a:r>
              <a:rPr lang="ru-RU" sz="1800" kern="100" dirty="0">
                <a:effectLst/>
                <a:latin typeface="Times New Roman" panose="02020603050405020304" pitchFamily="18" charset="0"/>
                <a:ea typeface="Aptos"/>
                <a:cs typeface="Times New Roman" panose="02020603050405020304" pitchFamily="18" charset="0"/>
              </a:rPr>
              <a:t>(0, 5)</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Он создает новый массив, содержащий первые пять имен из отсортированного списка. Элемент с индексом 5 в результат не включается.</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Таким образом, вся цепочка выполняет сразу несколько операций: отбирает совершеннолетних пользователей, получает их имена, переводит имена в верхний регистр, сортирует их и оставляет первые пять результатов. Однако цепочка методов делает код компактнее и позволяет читать его последовательно, сверху вниз. </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При этом порядок методов имеет принципиальное значение. Сначала выполняется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 и только затем — </a:t>
            </a: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 Это означает, что преобразовываются имена только тех пользователей, которые прошли проверку возраста.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Если поменять методы местами, после </a:t>
            </a: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 массив объектов может превратиться в массив строк. У строк уже нет свойства </a:t>
            </a:r>
            <a:r>
              <a:rPr lang="ru-RU" sz="1800" kern="100" dirty="0" err="1">
                <a:effectLst/>
                <a:latin typeface="Times New Roman" panose="02020603050405020304" pitchFamily="18" charset="0"/>
                <a:ea typeface="Aptos"/>
                <a:cs typeface="Times New Roman" panose="02020603050405020304" pitchFamily="18" charset="0"/>
              </a:rPr>
              <a:t>age</a:t>
            </a:r>
            <a:r>
              <a:rPr lang="ru-RU" sz="1800" kern="100" dirty="0">
                <a:effectLst/>
                <a:latin typeface="Times New Roman" panose="02020603050405020304" pitchFamily="18" charset="0"/>
                <a:ea typeface="Aptos"/>
                <a:cs typeface="Times New Roman" panose="02020603050405020304" pitchFamily="18" charset="0"/>
              </a:rPr>
              <a:t>, поэтому следующий вызов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 с проверкой </a:t>
            </a:r>
            <a:r>
              <a:rPr lang="ru-RU" sz="1800" kern="100" dirty="0" err="1">
                <a:effectLst/>
                <a:latin typeface="Times New Roman" panose="02020603050405020304" pitchFamily="18" charset="0"/>
                <a:ea typeface="Aptos"/>
                <a:cs typeface="Times New Roman" panose="02020603050405020304" pitchFamily="18" charset="0"/>
              </a:rPr>
              <a:t>u.age</a:t>
            </a:r>
            <a:r>
              <a:rPr lang="ru-RU" sz="1800" kern="100" dirty="0">
                <a:effectLst/>
                <a:latin typeface="Times New Roman" panose="02020603050405020304" pitchFamily="18" charset="0"/>
                <a:ea typeface="Aptos"/>
                <a:cs typeface="Times New Roman" panose="02020603050405020304" pitchFamily="18" charset="0"/>
              </a:rPr>
              <a:t> работать правильно не будет.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Цепочки следует составлять так, чтобы результат каждого метода подходил для следующей операции. Разработчик должен понимать, какой тип данных возвращается после каждого этапа: массив объектов, массив строк, отдельный элемент или одно итоговое значение.</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Например, после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 и </a:t>
            </a:r>
            <a:r>
              <a:rPr lang="ru-RU" sz="1800" kern="100" dirty="0" err="1">
                <a:effectLst/>
                <a:latin typeface="Times New Roman" panose="02020603050405020304" pitchFamily="18" charset="0"/>
                <a:ea typeface="Aptos"/>
                <a:cs typeface="Times New Roman" panose="02020603050405020304" pitchFamily="18" charset="0"/>
              </a:rPr>
              <a:t>map</a:t>
            </a:r>
            <a:r>
              <a:rPr lang="ru-RU" sz="1800" kern="100" dirty="0">
                <a:effectLst/>
                <a:latin typeface="Times New Roman" panose="02020603050405020304" pitchFamily="18" charset="0"/>
                <a:ea typeface="Aptos"/>
                <a:cs typeface="Times New Roman" panose="02020603050405020304" pitchFamily="18" charset="0"/>
              </a:rPr>
              <a:t>() возвращаются новые массивы, поэтому цепочку можно продолжить другими методами массива. Метод </a:t>
            </a:r>
            <a:r>
              <a:rPr lang="ru-RU" sz="1800" kern="100" dirty="0" err="1">
                <a:effectLst/>
                <a:latin typeface="Times New Roman" panose="02020603050405020304" pitchFamily="18" charset="0"/>
                <a:ea typeface="Aptos"/>
                <a:cs typeface="Times New Roman" panose="02020603050405020304" pitchFamily="18" charset="0"/>
              </a:rPr>
              <a:t>find</a:t>
            </a:r>
            <a:r>
              <a:rPr lang="ru-RU" sz="1800" kern="100" dirty="0">
                <a:effectLst/>
                <a:latin typeface="Times New Roman" panose="02020603050405020304" pitchFamily="18" charset="0"/>
                <a:ea typeface="Aptos"/>
                <a:cs typeface="Times New Roman" panose="02020603050405020304" pitchFamily="18" charset="0"/>
              </a:rPr>
              <a:t>() возвращает отдельный элемент или </a:t>
            </a:r>
            <a:r>
              <a:rPr lang="ru-RU" sz="1800" kern="100" dirty="0" err="1">
                <a:effectLst/>
                <a:latin typeface="Times New Roman" panose="02020603050405020304" pitchFamily="18" charset="0"/>
                <a:ea typeface="Aptos"/>
                <a:cs typeface="Times New Roman" panose="02020603050405020304" pitchFamily="18" charset="0"/>
              </a:rPr>
              <a:t>undefined</a:t>
            </a:r>
            <a:r>
              <a:rPr lang="ru-RU" sz="1800" kern="100" dirty="0">
                <a:effectLst/>
                <a:latin typeface="Times New Roman" panose="02020603050405020304" pitchFamily="18" charset="0"/>
                <a:ea typeface="Aptos"/>
                <a:cs typeface="Times New Roman" panose="02020603050405020304" pitchFamily="18" charset="0"/>
              </a:rPr>
              <a:t>, а </a:t>
            </a:r>
            <a:r>
              <a:rPr lang="ru-RU" sz="1800" kern="100" dirty="0" err="1">
                <a:effectLst/>
                <a:latin typeface="Times New Roman" panose="02020603050405020304" pitchFamily="18" charset="0"/>
                <a:ea typeface="Aptos"/>
                <a:cs typeface="Times New Roman" panose="02020603050405020304" pitchFamily="18" charset="0"/>
              </a:rPr>
              <a:t>reduce</a:t>
            </a:r>
            <a:r>
              <a:rPr lang="ru-RU" sz="1800" kern="100" dirty="0">
                <a:effectLst/>
                <a:latin typeface="Times New Roman" panose="02020603050405020304" pitchFamily="18" charset="0"/>
                <a:ea typeface="Aptos"/>
                <a:cs typeface="Times New Roman" panose="02020603050405020304" pitchFamily="18" charset="0"/>
              </a:rPr>
              <a:t>() обычно возвращает одно итоговое значение. Поэтому после них не всегда можно продолжить вызов методов массива.</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Типичные ошибки при работе с массивами</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При использовании методов массивов важно учитывать не только их назначение, но и особенности поведения. Неправильное применение методов может привести к ошибкам, которые не всегда заметны сразу.</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Изменение массива во время перебора</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Первая распространенная ошибка — удаление элементов из массива непосредственно во время его перебора.</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Удаление элементов во время перебора через </a:t>
            </a:r>
            <a:r>
              <a:rPr lang="ru-RU" sz="1800" kern="100" dirty="0" err="1">
                <a:effectLst/>
                <a:latin typeface="Times New Roman" panose="02020603050405020304" pitchFamily="18" charset="0"/>
                <a:ea typeface="Aptos"/>
                <a:cs typeface="Times New Roman" panose="02020603050405020304" pitchFamily="18" charset="0"/>
              </a:rPr>
              <a:t>forEach</a:t>
            </a:r>
            <a:r>
              <a:rPr lang="ru-RU" sz="1800" kern="100" dirty="0">
                <a:effectLst/>
                <a:latin typeface="Times New Roman" panose="02020603050405020304" pitchFamily="18" charset="0"/>
                <a:ea typeface="Aptos"/>
                <a:cs typeface="Times New Roman" panose="02020603050405020304" pitchFamily="18" charset="0"/>
              </a:rPr>
              <a:t>() или </a:t>
            </a:r>
            <a:r>
              <a:rPr lang="ru-RU" sz="1800" kern="100" dirty="0" err="1">
                <a:effectLst/>
                <a:latin typeface="Times New Roman" panose="02020603050405020304" pitchFamily="18" charset="0"/>
                <a:ea typeface="Aptos"/>
                <a:cs typeface="Times New Roman" panose="02020603050405020304" pitchFamily="18" charset="0"/>
              </a:rPr>
              <a:t>for</a:t>
            </a:r>
            <a:r>
              <a:rPr lang="ru-RU" sz="1800" kern="100" dirty="0">
                <a:effectLst/>
                <a:latin typeface="Times New Roman" panose="02020603050405020304" pitchFamily="18" charset="0"/>
                <a:ea typeface="Aptos"/>
                <a:cs typeface="Times New Roman" panose="02020603050405020304" pitchFamily="18" charset="0"/>
              </a:rPr>
              <a:t>...</a:t>
            </a:r>
            <a:r>
              <a:rPr lang="ru-RU" sz="1800" kern="100" dirty="0" err="1">
                <a:effectLst/>
                <a:latin typeface="Times New Roman" panose="02020603050405020304" pitchFamily="18" charset="0"/>
                <a:ea typeface="Aptos"/>
                <a:cs typeface="Times New Roman" panose="02020603050405020304" pitchFamily="18" charset="0"/>
              </a:rPr>
              <a:t>of</a:t>
            </a:r>
            <a:r>
              <a:rPr lang="ru-RU" sz="1800" kern="100" dirty="0">
                <a:effectLst/>
                <a:latin typeface="Times New Roman" panose="02020603050405020304" pitchFamily="18" charset="0"/>
                <a:ea typeface="Aptos"/>
                <a:cs typeface="Times New Roman" panose="02020603050405020304" pitchFamily="18" charset="0"/>
              </a:rPr>
              <a:t> способно привести к пропускам и непредсказуемому результату. Для подобных задач рекомендуется использовать метод </a:t>
            </a:r>
            <a:r>
              <a:rPr lang="ru-RU" sz="1800" kern="100" dirty="0" err="1">
                <a:effectLst/>
                <a:latin typeface="Times New Roman" panose="02020603050405020304" pitchFamily="18" charset="0"/>
                <a:ea typeface="Aptos"/>
                <a:cs typeface="Times New Roman" panose="02020603050405020304" pitchFamily="18" charset="0"/>
              </a:rPr>
              <a:t>filter</a:t>
            </a:r>
            <a:r>
              <a:rPr lang="ru-RU" sz="1800" kern="100" dirty="0">
                <a:effectLst/>
                <a:latin typeface="Times New Roman" panose="02020603050405020304" pitchFamily="18" charset="0"/>
                <a:ea typeface="Aptos"/>
                <a:cs typeface="Times New Roman" panose="02020603050405020304" pitchFamily="18" charset="0"/>
              </a:rPr>
              <a:t>(), который создает новый массив и не изменяет исходный во время обхода. </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Путаница между мутирующими и </a:t>
            </a:r>
            <a:r>
              <a:rPr lang="ru-RU" sz="1800" b="1" kern="100" dirty="0" err="1">
                <a:effectLst/>
                <a:latin typeface="Times New Roman" panose="02020603050405020304" pitchFamily="18" charset="0"/>
                <a:ea typeface="Aptos"/>
                <a:cs typeface="Times New Roman" panose="02020603050405020304" pitchFamily="18" charset="0"/>
              </a:rPr>
              <a:t>немутирующими</a:t>
            </a:r>
            <a:r>
              <a:rPr lang="ru-RU" sz="1800" b="1" kern="100" dirty="0">
                <a:effectLst/>
                <a:latin typeface="Times New Roman" panose="02020603050405020304" pitchFamily="18" charset="0"/>
                <a:ea typeface="Aptos"/>
                <a:cs typeface="Times New Roman" panose="02020603050405020304" pitchFamily="18" charset="0"/>
              </a:rPr>
              <a:t> методами</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Вторая типичная ошибка заключается в непонимании того, какие методы изменяют исходный массив, а какие возвращают новый.</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Методы</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push()</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pop()</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shift()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unshift()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splice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err="1">
                <a:effectLst/>
                <a:latin typeface="Times New Roman" panose="02020603050405020304" pitchFamily="18" charset="0"/>
                <a:ea typeface="Aptos"/>
                <a:cs typeface="Times New Roman" panose="02020603050405020304" pitchFamily="18" charset="0"/>
              </a:rPr>
              <a:t>reverse</a:t>
            </a:r>
            <a:r>
              <a:rPr lang="ru-RU" sz="18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изменяют исходный массив.</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Методы</a:t>
            </a: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map()</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filter()</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a:effectLst/>
                <a:latin typeface="Times New Roman" panose="02020603050405020304" pitchFamily="18" charset="0"/>
                <a:ea typeface="Aptos"/>
                <a:cs typeface="Times New Roman" panose="02020603050405020304" pitchFamily="18" charset="0"/>
              </a:rPr>
              <a:t>slice()</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en-US" sz="1800" kern="100" dirty="0" err="1">
                <a:effectLst/>
                <a:latin typeface="Times New Roman" panose="02020603050405020304" pitchFamily="18" charset="0"/>
                <a:ea typeface="Aptos"/>
                <a:cs typeface="Times New Roman" panose="02020603050405020304" pitchFamily="18" charset="0"/>
              </a:rPr>
              <a:t>concat</a:t>
            </a:r>
            <a:r>
              <a:rPr lang="en-US" sz="1800" kern="100" dirty="0">
                <a:effectLst/>
                <a:latin typeface="Times New Roman" panose="02020603050405020304" pitchFamily="18" charset="0"/>
                <a:ea typeface="Aptos"/>
                <a:cs typeface="Times New Roman" panose="02020603050405020304" pitchFamily="18" charset="0"/>
              </a:rPr>
              <a:t>()</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возвращают новый массив и не изменяют исходный. </a:t>
            </a:r>
          </a:p>
          <a:p>
            <a:pPr indent="450215" algn="just">
              <a:lnSpc>
                <a:spcPct val="150000"/>
              </a:lnSpc>
            </a:pPr>
            <a:r>
              <a:rPr lang="ru-RU" sz="1800" b="1" kern="100" dirty="0">
                <a:effectLst/>
                <a:latin typeface="Times New Roman" panose="02020603050405020304" pitchFamily="18" charset="0"/>
                <a:ea typeface="Aptos"/>
                <a:cs typeface="Times New Roman" panose="02020603050405020304" pitchFamily="18" charset="0"/>
              </a:rPr>
              <a:t>Использование </a:t>
            </a:r>
            <a:r>
              <a:rPr lang="ru-RU" sz="1800" b="1" kern="100" dirty="0" err="1">
                <a:effectLst/>
                <a:latin typeface="Times New Roman" panose="02020603050405020304" pitchFamily="18" charset="0"/>
                <a:ea typeface="Aptos"/>
                <a:cs typeface="Times New Roman" panose="02020603050405020304" pitchFamily="18" charset="0"/>
              </a:rPr>
              <a:t>sort</a:t>
            </a:r>
            <a:r>
              <a:rPr lang="ru-RU" sz="1800" b="1" kern="100" dirty="0">
                <a:effectLst/>
                <a:latin typeface="Times New Roman" panose="02020603050405020304" pitchFamily="18" charset="0"/>
                <a:ea typeface="Aptos"/>
                <a:cs typeface="Times New Roman" panose="02020603050405020304" pitchFamily="18" charset="0"/>
              </a:rPr>
              <a:t>() без функции сравнения</a:t>
            </a:r>
            <a:endParaRPr lang="ru-RU" sz="1800" kern="100" dirty="0">
              <a:effectLst/>
              <a:latin typeface="Times New Roman" panose="02020603050405020304" pitchFamily="18" charset="0"/>
              <a:ea typeface="Aptos"/>
              <a:cs typeface="Times New Roman" panose="02020603050405020304" pitchFamily="18" charset="0"/>
            </a:endParaRP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Третья типичная ошибка связана с сортировкой чисел.</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По умолчанию метод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преобразует элементы в строки и сравнивает их как текст.</a:t>
            </a:r>
          </a:p>
          <a:p>
            <a:pPr indent="450215" algn="just">
              <a:lnSpc>
                <a:spcPct val="150000"/>
              </a:lnSpc>
            </a:pPr>
            <a:r>
              <a:rPr lang="ru-RU" sz="1800" kern="100" dirty="0">
                <a:effectLst/>
                <a:latin typeface="Times New Roman" panose="02020603050405020304" pitchFamily="18" charset="0"/>
                <a:ea typeface="Aptos"/>
                <a:cs typeface="Times New Roman" panose="02020603050405020304" pitchFamily="18" charset="0"/>
              </a:rPr>
              <a:t>Для правильной сортировки необходимо передать функцию сравнения. Кроме того, следует помнить, что </a:t>
            </a:r>
            <a:r>
              <a:rPr lang="ru-RU" sz="1800" kern="100" dirty="0" err="1">
                <a:effectLst/>
                <a:latin typeface="Times New Roman" panose="02020603050405020304" pitchFamily="18" charset="0"/>
                <a:ea typeface="Aptos"/>
                <a:cs typeface="Times New Roman" panose="02020603050405020304" pitchFamily="18" charset="0"/>
              </a:rPr>
              <a:t>sort</a:t>
            </a:r>
            <a:r>
              <a:rPr lang="ru-RU" sz="1800" kern="100" dirty="0">
                <a:effectLst/>
                <a:latin typeface="Times New Roman" panose="02020603050405020304" pitchFamily="18" charset="0"/>
                <a:ea typeface="Aptos"/>
                <a:cs typeface="Times New Roman" panose="02020603050405020304" pitchFamily="18" charset="0"/>
              </a:rPr>
              <a:t>() изменяет исходный массив. Если первоначальный порядок нужно сохранить, сначала создается копия.</a:t>
            </a:r>
          </a:p>
          <a:p>
            <a:endParaRPr lang="ru-RU" dirty="0"/>
          </a:p>
        </p:txBody>
      </p:sp>
      <p:sp>
        <p:nvSpPr>
          <p:cNvPr id="4" name="Номер слайда 3"/>
          <p:cNvSpPr>
            <a:spLocks noGrp="1"/>
          </p:cNvSpPr>
          <p:nvPr>
            <p:ph type="sldNum" sz="quarter" idx="5"/>
          </p:nvPr>
        </p:nvSpPr>
        <p:spPr/>
        <p:txBody>
          <a:bodyPr/>
          <a:lstStyle/>
          <a:p>
            <a:fld id="{50CB5EB2-E792-4FE0-8BEE-08C3259AEF6A}" type="slidenum">
              <a:rPr lang="ru-RU" smtClean="0"/>
              <a:t>10</a:t>
            </a:fld>
            <a:endParaRPr lang="ru-RU"/>
          </a:p>
        </p:txBody>
      </p:sp>
    </p:spTree>
    <p:extLst>
      <p:ext uri="{BB962C8B-B14F-4D97-AF65-F5344CB8AC3E}">
        <p14:creationId xmlns:p14="http://schemas.microsoft.com/office/powerpoint/2010/main" val="3798778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Math.min</a:t>
            </a:r>
            <a:r>
              <a:rPr dirty="0"/>
              <a:t>() и </a:t>
            </a:r>
            <a:r>
              <a:rPr dirty="0" err="1"/>
              <a:t>Math.max</a:t>
            </a:r>
            <a:r>
              <a:rPr dirty="0"/>
              <a:t>() </a:t>
            </a:r>
            <a:r>
              <a:rPr dirty="0" err="1"/>
              <a:t>принимают</a:t>
            </a:r>
            <a:r>
              <a:rPr dirty="0"/>
              <a:t> </a:t>
            </a:r>
            <a:r>
              <a:rPr dirty="0" err="1"/>
              <a:t>числа</a:t>
            </a:r>
            <a:r>
              <a:rPr dirty="0"/>
              <a:t> </a:t>
            </a:r>
            <a:r>
              <a:rPr dirty="0" err="1"/>
              <a:t>как</a:t>
            </a:r>
            <a:r>
              <a:rPr dirty="0"/>
              <a:t> </a:t>
            </a:r>
            <a:r>
              <a:rPr dirty="0" err="1"/>
              <a:t>отдельные</a:t>
            </a:r>
            <a:r>
              <a:rPr dirty="0"/>
              <a:t> </a:t>
            </a:r>
            <a:r>
              <a:rPr dirty="0" err="1"/>
              <a:t>аргументы</a:t>
            </a:r>
            <a:r>
              <a:rPr dirty="0"/>
              <a:t>. </a:t>
            </a:r>
            <a:r>
              <a:rPr dirty="0" err="1"/>
              <a:t>Например</a:t>
            </a:r>
            <a:r>
              <a:rPr dirty="0"/>
              <a:t>, </a:t>
            </a:r>
            <a:r>
              <a:rPr dirty="0" err="1"/>
              <a:t>Math.min</a:t>
            </a:r>
            <a:r>
              <a:rPr dirty="0"/>
              <a:t>(8, 3, 12, 5) </a:t>
            </a:r>
            <a:r>
              <a:rPr dirty="0" err="1"/>
              <a:t>возвращает</a:t>
            </a:r>
            <a:r>
              <a:rPr dirty="0"/>
              <a:t> 3. </a:t>
            </a:r>
            <a:r>
              <a:rPr dirty="0" err="1"/>
              <a:t>Если</a:t>
            </a:r>
            <a:r>
              <a:rPr dirty="0"/>
              <a:t> </a:t>
            </a:r>
            <a:r>
              <a:rPr dirty="0" err="1"/>
              <a:t>передать</a:t>
            </a:r>
            <a:r>
              <a:rPr dirty="0"/>
              <a:t> </a:t>
            </a:r>
            <a:r>
              <a:rPr dirty="0" err="1"/>
              <a:t>массив</a:t>
            </a:r>
            <a:r>
              <a:rPr dirty="0"/>
              <a:t> </a:t>
            </a:r>
            <a:r>
              <a:rPr dirty="0" err="1"/>
              <a:t>напрямую</a:t>
            </a:r>
            <a:r>
              <a:rPr dirty="0"/>
              <a:t>, </a:t>
            </a:r>
            <a:r>
              <a:rPr dirty="0" err="1"/>
              <a:t>метод</a:t>
            </a:r>
            <a:r>
              <a:rPr dirty="0"/>
              <a:t> </a:t>
            </a:r>
            <a:r>
              <a:rPr dirty="0" err="1"/>
              <a:t>получает</a:t>
            </a:r>
            <a:r>
              <a:rPr dirty="0"/>
              <a:t> </a:t>
            </a:r>
            <a:r>
              <a:rPr dirty="0" err="1"/>
              <a:t>один</a:t>
            </a:r>
            <a:r>
              <a:rPr dirty="0"/>
              <a:t> </a:t>
            </a:r>
            <a:r>
              <a:rPr dirty="0" err="1"/>
              <a:t>аргумент</a:t>
            </a:r>
            <a:r>
              <a:rPr dirty="0"/>
              <a:t>, </a:t>
            </a:r>
            <a:r>
              <a:rPr dirty="0" err="1"/>
              <a:t>который</a:t>
            </a:r>
            <a:r>
              <a:rPr dirty="0"/>
              <a:t> </a:t>
            </a:r>
            <a:r>
              <a:rPr dirty="0" err="1"/>
              <a:t>не</a:t>
            </a:r>
            <a:r>
              <a:rPr dirty="0"/>
              <a:t> </a:t>
            </a:r>
            <a:r>
              <a:rPr dirty="0" err="1"/>
              <a:t>может</a:t>
            </a:r>
            <a:r>
              <a:rPr dirty="0"/>
              <a:t> </a:t>
            </a:r>
            <a:r>
              <a:rPr dirty="0" err="1"/>
              <a:t>преобразовать</a:t>
            </a:r>
            <a:r>
              <a:rPr dirty="0"/>
              <a:t> в </a:t>
            </a:r>
            <a:r>
              <a:rPr dirty="0" err="1"/>
              <a:t>нужное</a:t>
            </a:r>
            <a:r>
              <a:rPr dirty="0"/>
              <a:t> </a:t>
            </a:r>
            <a:r>
              <a:rPr dirty="0" err="1"/>
              <a:t>число</a:t>
            </a:r>
            <a:r>
              <a:rPr dirty="0"/>
              <a:t>, </a:t>
            </a:r>
            <a:r>
              <a:rPr dirty="0" err="1"/>
              <a:t>поэтому</a:t>
            </a:r>
            <a:r>
              <a:rPr dirty="0"/>
              <a:t> </a:t>
            </a:r>
            <a:r>
              <a:rPr dirty="0" err="1"/>
              <a:t>для</a:t>
            </a:r>
            <a:r>
              <a:rPr dirty="0"/>
              <a:t> </a:t>
            </a:r>
            <a:r>
              <a:rPr dirty="0" err="1"/>
              <a:t>массива</a:t>
            </a:r>
            <a:r>
              <a:rPr dirty="0"/>
              <a:t> </a:t>
            </a:r>
            <a:r>
              <a:rPr dirty="0" err="1"/>
              <a:t>из</a:t>
            </a:r>
            <a:r>
              <a:rPr dirty="0"/>
              <a:t> </a:t>
            </a:r>
            <a:r>
              <a:rPr dirty="0" err="1"/>
              <a:t>нескольких</a:t>
            </a:r>
            <a:r>
              <a:rPr dirty="0"/>
              <a:t> </a:t>
            </a:r>
            <a:r>
              <a:rPr dirty="0" err="1"/>
              <a:t>элементов</a:t>
            </a:r>
            <a:r>
              <a:rPr dirty="0"/>
              <a:t> </a:t>
            </a:r>
            <a:r>
              <a:rPr dirty="0" err="1"/>
              <a:t>результатом</a:t>
            </a:r>
            <a:r>
              <a:rPr dirty="0"/>
              <a:t> </a:t>
            </a:r>
            <a:r>
              <a:rPr dirty="0" err="1"/>
              <a:t>станет</a:t>
            </a:r>
            <a:r>
              <a:rPr dirty="0"/>
              <a:t> </a:t>
            </a:r>
            <a:r>
              <a:rPr dirty="0" err="1"/>
              <a:t>NaN</a:t>
            </a:r>
            <a:r>
              <a:rPr dirty="0"/>
              <a:t>. </a:t>
            </a:r>
            <a:r>
              <a:rPr dirty="0" err="1"/>
              <a:t>Оператор</a:t>
            </a:r>
            <a:r>
              <a:rPr dirty="0"/>
              <a:t> </a:t>
            </a:r>
            <a:r>
              <a:rPr dirty="0" err="1"/>
              <a:t>распространения</a:t>
            </a:r>
            <a:r>
              <a:rPr dirty="0"/>
              <a:t> </a:t>
            </a:r>
            <a:r>
              <a:rPr dirty="0" err="1"/>
              <a:t>записывается</a:t>
            </a:r>
            <a:r>
              <a:rPr dirty="0"/>
              <a:t> </a:t>
            </a:r>
            <a:r>
              <a:rPr dirty="0" err="1"/>
              <a:t>тремя</a:t>
            </a:r>
            <a:r>
              <a:rPr dirty="0"/>
              <a:t> </a:t>
            </a:r>
            <a:r>
              <a:rPr dirty="0" err="1"/>
              <a:t>точками</a:t>
            </a:r>
            <a:r>
              <a:rPr dirty="0"/>
              <a:t> </a:t>
            </a:r>
            <a:r>
              <a:rPr dirty="0" err="1"/>
              <a:t>перед</a:t>
            </a:r>
            <a:r>
              <a:rPr dirty="0"/>
              <a:t> </a:t>
            </a:r>
            <a:r>
              <a:rPr dirty="0" err="1"/>
              <a:t>массивом</a:t>
            </a:r>
            <a:r>
              <a:rPr dirty="0"/>
              <a:t>: ...numbers. </a:t>
            </a:r>
            <a:r>
              <a:rPr dirty="0" err="1"/>
              <a:t>Он</a:t>
            </a:r>
            <a:r>
              <a:rPr dirty="0"/>
              <a:t> </a:t>
            </a:r>
            <a:r>
              <a:rPr dirty="0" err="1"/>
              <a:t>раскрывает</a:t>
            </a:r>
            <a:r>
              <a:rPr dirty="0"/>
              <a:t> </a:t>
            </a:r>
            <a:r>
              <a:rPr dirty="0" err="1"/>
              <a:t>массив</a:t>
            </a:r>
            <a:r>
              <a:rPr dirty="0"/>
              <a:t> в </a:t>
            </a:r>
            <a:r>
              <a:rPr dirty="0" err="1"/>
              <a:t>последовательность</a:t>
            </a:r>
            <a:r>
              <a:rPr dirty="0"/>
              <a:t> </a:t>
            </a:r>
            <a:r>
              <a:rPr dirty="0" err="1"/>
              <a:t>значений</a:t>
            </a:r>
            <a:r>
              <a:rPr dirty="0"/>
              <a:t>. </a:t>
            </a:r>
            <a:r>
              <a:rPr dirty="0" err="1"/>
              <a:t>Запись</a:t>
            </a:r>
            <a:r>
              <a:rPr dirty="0"/>
              <a:t> </a:t>
            </a:r>
            <a:r>
              <a:rPr dirty="0" err="1"/>
              <a:t>Math.min</a:t>
            </a:r>
            <a:r>
              <a:rPr dirty="0"/>
              <a:t>(...numbers) </a:t>
            </a:r>
            <a:r>
              <a:rPr dirty="0" err="1"/>
              <a:t>фактически</a:t>
            </a:r>
            <a:r>
              <a:rPr dirty="0"/>
              <a:t> </a:t>
            </a:r>
            <a:r>
              <a:rPr dirty="0" err="1"/>
              <a:t>превращается</a:t>
            </a:r>
            <a:r>
              <a:rPr dirty="0"/>
              <a:t> в </a:t>
            </a:r>
            <a:r>
              <a:rPr dirty="0" err="1"/>
              <a:t>Math.min</a:t>
            </a:r>
            <a:r>
              <a:rPr dirty="0"/>
              <a:t>(8, 3, 12, 5). </a:t>
            </a:r>
            <a:endParaRPr lang="en-US" dirty="0"/>
          </a:p>
          <a:p>
            <a:r>
              <a:rPr dirty="0"/>
              <a:t>Spread-</a:t>
            </a:r>
            <a:r>
              <a:rPr dirty="0" err="1"/>
              <a:t>оператор</a:t>
            </a:r>
            <a:r>
              <a:rPr dirty="0"/>
              <a:t> </a:t>
            </a:r>
            <a:r>
              <a:rPr dirty="0" err="1"/>
              <a:t>можно</a:t>
            </a:r>
            <a:r>
              <a:rPr dirty="0"/>
              <a:t> </a:t>
            </a:r>
            <a:r>
              <a:rPr dirty="0" err="1"/>
              <a:t>использовать</a:t>
            </a:r>
            <a:r>
              <a:rPr dirty="0"/>
              <a:t> </a:t>
            </a:r>
            <a:r>
              <a:rPr dirty="0" err="1"/>
              <a:t>при</a:t>
            </a:r>
            <a:r>
              <a:rPr dirty="0"/>
              <a:t> </a:t>
            </a:r>
            <a:r>
              <a:rPr dirty="0" err="1"/>
              <a:t>вызове</a:t>
            </a:r>
            <a:r>
              <a:rPr dirty="0"/>
              <a:t> </a:t>
            </a:r>
            <a:r>
              <a:rPr dirty="0" err="1"/>
              <a:t>любой</a:t>
            </a:r>
            <a:r>
              <a:rPr dirty="0"/>
              <a:t> </a:t>
            </a:r>
            <a:r>
              <a:rPr dirty="0" err="1"/>
              <a:t>функции</a:t>
            </a:r>
            <a:r>
              <a:rPr dirty="0"/>
              <a:t>, </a:t>
            </a:r>
            <a:r>
              <a:rPr dirty="0" err="1"/>
              <a:t>которая</a:t>
            </a:r>
            <a:r>
              <a:rPr dirty="0"/>
              <a:t> </a:t>
            </a:r>
            <a:r>
              <a:rPr dirty="0" err="1"/>
              <a:t>ожидает</a:t>
            </a:r>
            <a:r>
              <a:rPr dirty="0"/>
              <a:t> </a:t>
            </a:r>
            <a:r>
              <a:rPr dirty="0" err="1"/>
              <a:t>отдельные</a:t>
            </a:r>
            <a:r>
              <a:rPr dirty="0"/>
              <a:t> </a:t>
            </a:r>
            <a:r>
              <a:rPr dirty="0" err="1"/>
              <a:t>аргументы</a:t>
            </a:r>
            <a:r>
              <a:rPr dirty="0"/>
              <a:t>, </a:t>
            </a:r>
            <a:r>
              <a:rPr dirty="0" err="1"/>
              <a:t>при</a:t>
            </a:r>
            <a:r>
              <a:rPr dirty="0"/>
              <a:t> </a:t>
            </a:r>
            <a:r>
              <a:rPr dirty="0" err="1"/>
              <a:t>копировании</a:t>
            </a:r>
            <a:r>
              <a:rPr dirty="0"/>
              <a:t> и </a:t>
            </a:r>
            <a:r>
              <a:rPr dirty="0" err="1"/>
              <a:t>объединении</a:t>
            </a:r>
            <a:r>
              <a:rPr dirty="0"/>
              <a:t> </a:t>
            </a:r>
            <a:r>
              <a:rPr dirty="0" err="1"/>
              <a:t>массивов</a:t>
            </a:r>
            <a:r>
              <a:rPr dirty="0"/>
              <a:t>, </a:t>
            </a:r>
            <a:r>
              <a:rPr dirty="0" err="1"/>
              <a:t>при</a:t>
            </a:r>
            <a:r>
              <a:rPr dirty="0"/>
              <a:t> </a:t>
            </a:r>
            <a:r>
              <a:rPr dirty="0" err="1"/>
              <a:t>добавлении</a:t>
            </a:r>
            <a:r>
              <a:rPr dirty="0"/>
              <a:t> </a:t>
            </a:r>
            <a:r>
              <a:rPr dirty="0" err="1"/>
              <a:t>нескольких</a:t>
            </a:r>
            <a:r>
              <a:rPr dirty="0"/>
              <a:t> </a:t>
            </a:r>
            <a:r>
              <a:rPr dirty="0" err="1"/>
              <a:t>элементов</a:t>
            </a:r>
            <a:r>
              <a:rPr dirty="0"/>
              <a:t> </a:t>
            </a:r>
            <a:r>
              <a:rPr dirty="0" err="1"/>
              <a:t>через</a:t>
            </a:r>
            <a:r>
              <a:rPr dirty="0"/>
              <a:t> push(), а </a:t>
            </a:r>
            <a:r>
              <a:rPr dirty="0" err="1"/>
              <a:t>также</a:t>
            </a:r>
            <a:r>
              <a:rPr dirty="0"/>
              <a:t> </a:t>
            </a:r>
            <a:r>
              <a:rPr dirty="0" err="1"/>
              <a:t>при</a:t>
            </a:r>
            <a:r>
              <a:rPr dirty="0"/>
              <a:t> </a:t>
            </a:r>
            <a:r>
              <a:rPr dirty="0" err="1"/>
              <a:t>создании</a:t>
            </a:r>
            <a:r>
              <a:rPr dirty="0"/>
              <a:t> </a:t>
            </a:r>
            <a:r>
              <a:rPr dirty="0" err="1"/>
              <a:t>нового</a:t>
            </a:r>
            <a:r>
              <a:rPr dirty="0"/>
              <a:t> </a:t>
            </a:r>
            <a:r>
              <a:rPr dirty="0" err="1"/>
              <a:t>массива</a:t>
            </a:r>
            <a:r>
              <a:rPr dirty="0"/>
              <a:t> с </a:t>
            </a:r>
            <a:r>
              <a:rPr dirty="0" err="1"/>
              <a:t>дополнительными</a:t>
            </a:r>
            <a:r>
              <a:rPr dirty="0"/>
              <a:t> </a:t>
            </a:r>
            <a:r>
              <a:rPr dirty="0" err="1"/>
              <a:t>элементами</a:t>
            </a:r>
            <a:r>
              <a:rPr dirty="0"/>
              <a:t>. </a:t>
            </a:r>
            <a:r>
              <a:rPr dirty="0" err="1"/>
              <a:t>Важно</a:t>
            </a:r>
            <a:r>
              <a:rPr dirty="0"/>
              <a:t> </a:t>
            </a:r>
            <a:r>
              <a:rPr dirty="0" err="1"/>
              <a:t>отличать</a:t>
            </a:r>
            <a:r>
              <a:rPr dirty="0"/>
              <a:t> </a:t>
            </a:r>
            <a:r>
              <a:rPr dirty="0" err="1"/>
              <a:t>распространение</a:t>
            </a:r>
            <a:r>
              <a:rPr dirty="0"/>
              <a:t> </a:t>
            </a:r>
            <a:r>
              <a:rPr dirty="0" err="1"/>
              <a:t>от</a:t>
            </a:r>
            <a:r>
              <a:rPr dirty="0"/>
              <a:t> rest-</a:t>
            </a:r>
            <a:r>
              <a:rPr dirty="0" err="1"/>
              <a:t>параметра</a:t>
            </a:r>
            <a:r>
              <a:rPr dirty="0"/>
              <a:t>. В </a:t>
            </a:r>
            <a:r>
              <a:rPr dirty="0" err="1"/>
              <a:t>этом</a:t>
            </a:r>
            <a:r>
              <a:rPr dirty="0"/>
              <a:t> </a:t>
            </a:r>
            <a:r>
              <a:rPr dirty="0" err="1"/>
              <a:t>слайде</a:t>
            </a:r>
            <a:r>
              <a:rPr dirty="0"/>
              <a:t> </a:t>
            </a:r>
            <a:r>
              <a:rPr dirty="0" err="1"/>
              <a:t>три</a:t>
            </a:r>
            <a:r>
              <a:rPr dirty="0"/>
              <a:t> </a:t>
            </a:r>
            <a:r>
              <a:rPr dirty="0" err="1"/>
              <a:t>точки</a:t>
            </a:r>
            <a:r>
              <a:rPr dirty="0"/>
              <a:t> </a:t>
            </a:r>
            <a:r>
              <a:rPr dirty="0" err="1"/>
              <a:t>раскрывают</a:t>
            </a:r>
            <a:r>
              <a:rPr dirty="0"/>
              <a:t> </a:t>
            </a:r>
            <a:r>
              <a:rPr dirty="0" err="1"/>
              <a:t>готовый</a:t>
            </a:r>
            <a:r>
              <a:rPr dirty="0"/>
              <a:t> </a:t>
            </a:r>
            <a:r>
              <a:rPr dirty="0" err="1"/>
              <a:t>массив</a:t>
            </a:r>
            <a:r>
              <a:rPr dirty="0"/>
              <a:t>, </a:t>
            </a:r>
            <a:r>
              <a:rPr dirty="0" err="1"/>
              <a:t>поэтому</a:t>
            </a:r>
            <a:r>
              <a:rPr dirty="0"/>
              <a:t> </a:t>
            </a:r>
            <a:r>
              <a:rPr dirty="0" err="1"/>
              <a:t>выполняют</a:t>
            </a:r>
            <a:r>
              <a:rPr dirty="0"/>
              <a:t> </a:t>
            </a:r>
            <a:r>
              <a:rPr dirty="0" err="1"/>
              <a:t>роль</a:t>
            </a:r>
            <a:r>
              <a:rPr dirty="0"/>
              <a:t> spread-</a:t>
            </a:r>
            <a:r>
              <a:rPr dirty="0" err="1"/>
              <a:t>оператора</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Ответы</a:t>
            </a:r>
            <a:r>
              <a:rPr dirty="0"/>
              <a:t>. </a:t>
            </a:r>
            <a:endParaRPr lang="en-US" dirty="0"/>
          </a:p>
          <a:p>
            <a:r>
              <a:rPr dirty="0"/>
              <a:t>1) </a:t>
            </a:r>
            <a:r>
              <a:rPr dirty="0" err="1"/>
              <a:t>Допустимые</a:t>
            </a:r>
            <a:r>
              <a:rPr dirty="0"/>
              <a:t> </a:t>
            </a:r>
            <a:r>
              <a:rPr dirty="0" err="1"/>
              <a:t>индексы</a:t>
            </a:r>
            <a:r>
              <a:rPr dirty="0"/>
              <a:t>: </a:t>
            </a:r>
            <a:r>
              <a:rPr dirty="0" err="1"/>
              <a:t>от</a:t>
            </a:r>
            <a:r>
              <a:rPr dirty="0"/>
              <a:t> 0 </a:t>
            </a:r>
            <a:r>
              <a:rPr dirty="0" err="1"/>
              <a:t>до</a:t>
            </a:r>
            <a:r>
              <a:rPr dirty="0"/>
              <a:t> length - 1. </a:t>
            </a:r>
            <a:r>
              <a:rPr dirty="0" err="1"/>
              <a:t>Исправление</a:t>
            </a:r>
            <a:r>
              <a:rPr dirty="0"/>
              <a:t>: colors[</a:t>
            </a:r>
            <a:r>
              <a:rPr dirty="0" err="1"/>
              <a:t>colors.length</a:t>
            </a:r>
            <a:r>
              <a:rPr dirty="0"/>
              <a:t> - 1], </a:t>
            </a:r>
            <a:r>
              <a:rPr dirty="0" err="1"/>
              <a:t>результат</a:t>
            </a:r>
            <a:r>
              <a:rPr dirty="0"/>
              <a:t> blue. </a:t>
            </a:r>
            <a:endParaRPr lang="en-US" dirty="0"/>
          </a:p>
          <a:p>
            <a:r>
              <a:rPr dirty="0"/>
              <a:t>2) </a:t>
            </a:r>
            <a:r>
              <a:rPr dirty="0" err="1"/>
              <a:t>Условие</a:t>
            </a:r>
            <a:r>
              <a:rPr dirty="0"/>
              <a:t> </a:t>
            </a:r>
            <a:r>
              <a:rPr dirty="0" err="1"/>
              <a:t>i</a:t>
            </a:r>
            <a:r>
              <a:rPr dirty="0"/>
              <a:t> &lt;= </a:t>
            </a:r>
            <a:r>
              <a:rPr dirty="0" err="1"/>
              <a:t>nums.length</a:t>
            </a:r>
            <a:r>
              <a:rPr dirty="0"/>
              <a:t> </a:t>
            </a:r>
            <a:r>
              <a:rPr dirty="0" err="1"/>
              <a:t>выполняет</a:t>
            </a:r>
            <a:r>
              <a:rPr dirty="0"/>
              <a:t> </a:t>
            </a:r>
            <a:r>
              <a:rPr dirty="0" err="1"/>
              <a:t>лишнюю</a:t>
            </a:r>
            <a:r>
              <a:rPr dirty="0"/>
              <a:t> </a:t>
            </a:r>
            <a:r>
              <a:rPr dirty="0" err="1"/>
              <a:t>итерацию</a:t>
            </a:r>
            <a:r>
              <a:rPr dirty="0"/>
              <a:t> с </a:t>
            </a:r>
            <a:r>
              <a:rPr dirty="0" err="1"/>
              <a:t>индексом</a:t>
            </a:r>
            <a:r>
              <a:rPr dirty="0"/>
              <a:t> 3. </a:t>
            </a:r>
            <a:r>
              <a:rPr dirty="0" err="1"/>
              <a:t>Исправление</a:t>
            </a:r>
            <a:r>
              <a:rPr dirty="0"/>
              <a:t>: </a:t>
            </a:r>
            <a:r>
              <a:rPr dirty="0" err="1"/>
              <a:t>i</a:t>
            </a:r>
            <a:r>
              <a:rPr dirty="0"/>
              <a:t> &lt; </a:t>
            </a:r>
            <a:r>
              <a:rPr dirty="0" err="1"/>
              <a:t>nums.length</a:t>
            </a:r>
            <a:r>
              <a:rPr dirty="0"/>
              <a:t>. </a:t>
            </a:r>
            <a:endParaRPr lang="en-US" dirty="0"/>
          </a:p>
          <a:p>
            <a:r>
              <a:rPr dirty="0"/>
              <a:t>3) </a:t>
            </a:r>
            <a:r>
              <a:rPr dirty="0" err="1"/>
              <a:t>indexOf</a:t>
            </a:r>
            <a:r>
              <a:rPr dirty="0"/>
              <a:t>("</a:t>
            </a:r>
            <a:r>
              <a:rPr dirty="0" err="1"/>
              <a:t>Анна</a:t>
            </a:r>
            <a:r>
              <a:rPr dirty="0"/>
              <a:t>") </a:t>
            </a:r>
            <a:r>
              <a:rPr dirty="0" err="1"/>
              <a:t>возвращает</a:t>
            </a:r>
            <a:r>
              <a:rPr dirty="0"/>
              <a:t> 0, а 0 </a:t>
            </a:r>
            <a:r>
              <a:rPr dirty="0" err="1"/>
              <a:t>преобразуется</a:t>
            </a:r>
            <a:r>
              <a:rPr dirty="0"/>
              <a:t> в false. </a:t>
            </a:r>
            <a:r>
              <a:rPr dirty="0" err="1"/>
              <a:t>Исправления</a:t>
            </a:r>
            <a:r>
              <a:rPr dirty="0"/>
              <a:t>: </a:t>
            </a:r>
            <a:r>
              <a:rPr dirty="0" err="1"/>
              <a:t>users.indexOf</a:t>
            </a:r>
            <a:r>
              <a:rPr dirty="0"/>
              <a:t>("</a:t>
            </a:r>
            <a:r>
              <a:rPr dirty="0" err="1"/>
              <a:t>Анна</a:t>
            </a:r>
            <a:r>
              <a:rPr dirty="0"/>
              <a:t>") !== -1 </a:t>
            </a:r>
            <a:r>
              <a:rPr dirty="0" err="1"/>
              <a:t>или</a:t>
            </a:r>
            <a:r>
              <a:rPr dirty="0"/>
              <a:t> </a:t>
            </a:r>
            <a:r>
              <a:rPr dirty="0" err="1"/>
              <a:t>users.includes</a:t>
            </a:r>
            <a:r>
              <a:rPr dirty="0"/>
              <a:t>("</a:t>
            </a:r>
            <a:r>
              <a:rPr dirty="0" err="1"/>
              <a:t>Анна</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Ответы</a:t>
            </a:r>
            <a:r>
              <a:rPr dirty="0"/>
              <a:t>. </a:t>
            </a:r>
            <a:endParaRPr lang="en-US" dirty="0"/>
          </a:p>
          <a:p>
            <a:r>
              <a:rPr dirty="0"/>
              <a:t>4) push() </a:t>
            </a:r>
            <a:r>
              <a:rPr dirty="0" err="1"/>
              <a:t>изменяет</a:t>
            </a:r>
            <a:r>
              <a:rPr dirty="0"/>
              <a:t> </a:t>
            </a:r>
            <a:r>
              <a:rPr dirty="0" err="1"/>
              <a:t>исходный</a:t>
            </a:r>
            <a:r>
              <a:rPr dirty="0"/>
              <a:t> </a:t>
            </a:r>
            <a:r>
              <a:rPr dirty="0" err="1"/>
              <a:t>массив</a:t>
            </a:r>
            <a:r>
              <a:rPr dirty="0"/>
              <a:t> и </a:t>
            </a:r>
            <a:r>
              <a:rPr dirty="0" err="1"/>
              <a:t>возвращает</a:t>
            </a:r>
            <a:r>
              <a:rPr dirty="0"/>
              <a:t> </a:t>
            </a:r>
            <a:r>
              <a:rPr dirty="0" err="1"/>
              <a:t>его</a:t>
            </a:r>
            <a:r>
              <a:rPr dirty="0"/>
              <a:t> </a:t>
            </a:r>
            <a:r>
              <a:rPr dirty="0" err="1"/>
              <a:t>новую</a:t>
            </a:r>
            <a:r>
              <a:rPr dirty="0"/>
              <a:t> </a:t>
            </a:r>
            <a:r>
              <a:rPr dirty="0" err="1"/>
              <a:t>длину</a:t>
            </a:r>
            <a:r>
              <a:rPr dirty="0"/>
              <a:t>. </a:t>
            </a:r>
            <a:r>
              <a:rPr dirty="0" err="1"/>
              <a:t>Нужно</a:t>
            </a:r>
            <a:r>
              <a:rPr dirty="0"/>
              <a:t> </a:t>
            </a:r>
            <a:r>
              <a:rPr dirty="0" err="1"/>
              <a:t>вызвать</a:t>
            </a:r>
            <a:r>
              <a:rPr dirty="0"/>
              <a:t> </a:t>
            </a:r>
            <a:r>
              <a:rPr dirty="0" err="1"/>
              <a:t>tasks.push</a:t>
            </a:r>
            <a:r>
              <a:rPr dirty="0"/>
              <a:t>("</a:t>
            </a:r>
            <a:r>
              <a:rPr dirty="0" err="1"/>
              <a:t>Звонок</a:t>
            </a:r>
            <a:r>
              <a:rPr dirty="0"/>
              <a:t>") </a:t>
            </a:r>
            <a:r>
              <a:rPr dirty="0" err="1"/>
              <a:t>без</a:t>
            </a:r>
            <a:r>
              <a:rPr dirty="0"/>
              <a:t> </a:t>
            </a:r>
            <a:r>
              <a:rPr dirty="0" err="1"/>
              <a:t>присваивания</a:t>
            </a:r>
            <a:r>
              <a:rPr dirty="0"/>
              <a:t>. </a:t>
            </a:r>
            <a:endParaRPr lang="en-US" dirty="0"/>
          </a:p>
          <a:p>
            <a:r>
              <a:rPr dirty="0"/>
              <a:t>5) </a:t>
            </a:r>
            <a:r>
              <a:rPr dirty="0" err="1"/>
              <a:t>При</a:t>
            </a:r>
            <a:r>
              <a:rPr dirty="0"/>
              <a:t> </a:t>
            </a:r>
            <a:r>
              <a:rPr dirty="0" err="1"/>
              <a:t>фигурных</a:t>
            </a:r>
            <a:r>
              <a:rPr dirty="0"/>
              <a:t> </a:t>
            </a:r>
            <a:r>
              <a:rPr dirty="0" err="1"/>
              <a:t>скобках</a:t>
            </a:r>
            <a:r>
              <a:rPr dirty="0"/>
              <a:t> callback </a:t>
            </a:r>
            <a:r>
              <a:rPr dirty="0" err="1"/>
              <a:t>должен</a:t>
            </a:r>
            <a:r>
              <a:rPr dirty="0"/>
              <a:t> </a:t>
            </a:r>
            <a:r>
              <a:rPr dirty="0" err="1"/>
              <a:t>явно</a:t>
            </a:r>
            <a:r>
              <a:rPr dirty="0"/>
              <a:t> </a:t>
            </a:r>
            <a:r>
              <a:rPr dirty="0" err="1"/>
              <a:t>возвращать</a:t>
            </a:r>
            <a:r>
              <a:rPr dirty="0"/>
              <a:t> </a:t>
            </a:r>
            <a:r>
              <a:rPr dirty="0" err="1"/>
              <a:t>результат</a:t>
            </a:r>
            <a:r>
              <a:rPr dirty="0"/>
              <a:t>: price =&gt; { return price * 0.9; }. </a:t>
            </a:r>
            <a:r>
              <a:rPr dirty="0" err="1"/>
              <a:t>Второй</a:t>
            </a:r>
            <a:r>
              <a:rPr dirty="0"/>
              <a:t> </a:t>
            </a:r>
            <a:r>
              <a:rPr dirty="0" err="1"/>
              <a:t>вариант</a:t>
            </a:r>
            <a:r>
              <a:rPr dirty="0"/>
              <a:t>: price =&gt; price * 0.9. </a:t>
            </a:r>
            <a:endParaRPr lang="en-US" dirty="0"/>
          </a:p>
          <a:p>
            <a:r>
              <a:rPr dirty="0"/>
              <a:t>6) </a:t>
            </a:r>
            <a:r>
              <a:rPr dirty="0" err="1"/>
              <a:t>После</a:t>
            </a:r>
            <a:r>
              <a:rPr dirty="0"/>
              <a:t> splice </a:t>
            </a:r>
            <a:r>
              <a:rPr dirty="0" err="1"/>
              <a:t>элементы</a:t>
            </a:r>
            <a:r>
              <a:rPr dirty="0"/>
              <a:t> </a:t>
            </a:r>
            <a:r>
              <a:rPr dirty="0" err="1"/>
              <a:t>сдвигаются</a:t>
            </a:r>
            <a:r>
              <a:rPr dirty="0"/>
              <a:t> </a:t>
            </a:r>
            <a:r>
              <a:rPr dirty="0" err="1"/>
              <a:t>влево</a:t>
            </a:r>
            <a:r>
              <a:rPr dirty="0"/>
              <a:t>, </a:t>
            </a:r>
            <a:r>
              <a:rPr dirty="0" err="1"/>
              <a:t>затем</a:t>
            </a:r>
            <a:r>
              <a:rPr dirty="0"/>
              <a:t> </a:t>
            </a:r>
            <a:r>
              <a:rPr dirty="0" err="1"/>
              <a:t>i</a:t>
            </a:r>
            <a:r>
              <a:rPr dirty="0"/>
              <a:t> </a:t>
            </a:r>
            <a:r>
              <a:rPr dirty="0" err="1"/>
              <a:t>увеличивается</a:t>
            </a:r>
            <a:r>
              <a:rPr dirty="0"/>
              <a:t> и </a:t>
            </a:r>
            <a:r>
              <a:rPr dirty="0" err="1"/>
              <a:t>следующий</a:t>
            </a:r>
            <a:r>
              <a:rPr dirty="0"/>
              <a:t> </a:t>
            </a:r>
            <a:r>
              <a:rPr dirty="0" err="1"/>
              <a:t>элемент</a:t>
            </a:r>
            <a:r>
              <a:rPr dirty="0"/>
              <a:t> </a:t>
            </a:r>
            <a:r>
              <a:rPr dirty="0" err="1"/>
              <a:t>пропускается</a:t>
            </a:r>
            <a:r>
              <a:rPr dirty="0"/>
              <a:t>. </a:t>
            </a:r>
            <a:endParaRPr lang="ru-RU" dirty="0"/>
          </a:p>
          <a:p>
            <a:r>
              <a:rPr dirty="0" err="1"/>
              <a:t>Безопасные</a:t>
            </a:r>
            <a:r>
              <a:rPr dirty="0"/>
              <a:t> </a:t>
            </a:r>
            <a:r>
              <a:rPr dirty="0" err="1"/>
              <a:t>варианты</a:t>
            </a:r>
            <a:r>
              <a:rPr dirty="0"/>
              <a:t>: filter(n =&gt; n % 2 !== 0), </a:t>
            </a:r>
            <a:endParaRPr lang="ru-RU" dirty="0"/>
          </a:p>
          <a:p>
            <a:r>
              <a:rPr lang="en-US" dirty="0" err="1"/>
              <a:t>Nums</a:t>
            </a:r>
            <a:r>
              <a:rPr lang="en-US" dirty="0"/>
              <a:t> = </a:t>
            </a:r>
            <a:r>
              <a:rPr lang="en-US" dirty="0" err="1"/>
              <a:t>nums</a:t>
            </a:r>
            <a:r>
              <a:rPr lang="en-US" dirty="0"/>
              <a:t>.</a:t>
            </a:r>
            <a:r>
              <a:rPr lang="pt-BR" dirty="0"/>
              <a:t>filter(n =&gt; n % 2 !== 0) </a:t>
            </a:r>
            <a:r>
              <a:rPr lang="ru-RU" dirty="0"/>
              <a:t>создает новый массив только из нечетных чисел. Условие: оставить число если оно нечетное.</a:t>
            </a:r>
          </a:p>
          <a:p>
            <a:r>
              <a:rPr dirty="0" err="1"/>
              <a:t>перебор</a:t>
            </a:r>
            <a:r>
              <a:rPr dirty="0"/>
              <a:t> с </a:t>
            </a:r>
            <a:r>
              <a:rPr dirty="0" err="1"/>
              <a:t>конца</a:t>
            </a:r>
            <a:r>
              <a:rPr dirty="0"/>
              <a:t> </a:t>
            </a:r>
            <a:r>
              <a:rPr dirty="0" err="1"/>
              <a:t>или</a:t>
            </a:r>
            <a:r>
              <a:rPr dirty="0"/>
              <a:t> </a:t>
            </a:r>
            <a:r>
              <a:rPr dirty="0" err="1"/>
              <a:t>уменьшение</a:t>
            </a:r>
            <a:r>
              <a:rPr dirty="0"/>
              <a:t> </a:t>
            </a:r>
            <a:r>
              <a:rPr dirty="0" err="1"/>
              <a:t>i</a:t>
            </a:r>
            <a:r>
              <a:rPr dirty="0"/>
              <a:t> </a:t>
            </a:r>
            <a:r>
              <a:rPr dirty="0" err="1"/>
              <a:t>после</a:t>
            </a:r>
            <a:r>
              <a:rPr dirty="0"/>
              <a:t> </a:t>
            </a:r>
            <a:r>
              <a:rPr dirty="0" err="1"/>
              <a:t>удаления</a:t>
            </a:r>
            <a:r>
              <a:rPr dirty="0"/>
              <a:t>.</a:t>
            </a:r>
            <a:endParaRPr lang="en-US" dirty="0"/>
          </a:p>
          <a:p>
            <a:r>
              <a:rPr lang="ru-RU" dirty="0"/>
              <a:t>В условии </a:t>
            </a:r>
            <a:r>
              <a:rPr lang="en-US" dirty="0"/>
              <a:t>if </a:t>
            </a:r>
            <a:r>
              <a:rPr lang="ru-RU" dirty="0"/>
              <a:t>после </a:t>
            </a:r>
            <a:r>
              <a:rPr lang="en-US" sz="1200" b="0" dirty="0" err="1">
                <a:solidFill>
                  <a:srgbClr val="111827"/>
                </a:solidFill>
                <a:latin typeface="Times New Roman" panose="02020603050405020304" pitchFamily="18" charset="0"/>
                <a:ea typeface="Arial"/>
                <a:cs typeface="Times New Roman" panose="02020603050405020304" pitchFamily="18" charset="0"/>
              </a:rPr>
              <a:t>nums.splice</a:t>
            </a:r>
            <a:r>
              <a:rPr lang="en-US" sz="1200" b="0" dirty="0">
                <a:solidFill>
                  <a:srgbClr val="111827"/>
                </a:solidFill>
                <a:latin typeface="Times New Roman" panose="02020603050405020304" pitchFamily="18" charset="0"/>
                <a:ea typeface="Arial"/>
                <a:cs typeface="Times New Roman" panose="02020603050405020304" pitchFamily="18" charset="0"/>
              </a:rPr>
              <a:t>(</a:t>
            </a:r>
            <a:r>
              <a:rPr lang="en-US" sz="1200" b="0" dirty="0" err="1">
                <a:solidFill>
                  <a:srgbClr val="111827"/>
                </a:solidFill>
                <a:latin typeface="Times New Roman" panose="02020603050405020304" pitchFamily="18" charset="0"/>
                <a:ea typeface="Arial"/>
                <a:cs typeface="Times New Roman" panose="02020603050405020304" pitchFamily="18" charset="0"/>
              </a:rPr>
              <a:t>i</a:t>
            </a:r>
            <a:r>
              <a:rPr lang="en-US" sz="1200" b="0" dirty="0">
                <a:solidFill>
                  <a:srgbClr val="111827"/>
                </a:solidFill>
                <a:latin typeface="Times New Roman" panose="02020603050405020304" pitchFamily="18" charset="0"/>
                <a:ea typeface="Arial"/>
                <a:cs typeface="Times New Roman" panose="02020603050405020304" pitchFamily="18" charset="0"/>
              </a:rPr>
              <a:t>, 1);</a:t>
            </a:r>
            <a:r>
              <a:rPr lang="ru-RU" sz="1200" b="0" dirty="0">
                <a:solidFill>
                  <a:srgbClr val="111827"/>
                </a:solidFill>
                <a:latin typeface="Times New Roman" panose="02020603050405020304" pitchFamily="18" charset="0"/>
                <a:ea typeface="Arial"/>
                <a:cs typeface="Times New Roman" panose="02020603050405020304" pitchFamily="18" charset="0"/>
              </a:rPr>
              <a:t> добавить </a:t>
            </a:r>
            <a:r>
              <a:rPr lang="en-US" sz="1200" b="0" dirty="0" err="1">
                <a:solidFill>
                  <a:srgbClr val="111827"/>
                </a:solidFill>
                <a:latin typeface="Times New Roman" panose="02020603050405020304" pitchFamily="18" charset="0"/>
                <a:ea typeface="Arial"/>
                <a:cs typeface="Times New Roman" panose="02020603050405020304" pitchFamily="18" charset="0"/>
              </a:rPr>
              <a:t>i</a:t>
            </a:r>
            <a:r>
              <a:rPr lang="ru-RU" sz="1200" b="0" dirty="0">
                <a:solidFill>
                  <a:srgbClr val="111827"/>
                </a:solidFill>
                <a:latin typeface="Times New Roman" panose="02020603050405020304" pitchFamily="18" charset="0"/>
                <a:ea typeface="Arial"/>
                <a:cs typeface="Times New Roman" panose="02020603050405020304" pitchFamily="18" charset="0"/>
              </a:rPr>
              <a:t>-- Уменьшать индекс после удаления. Благодаря этому элемент, который сдвинулся на место удаленного, тоже будет проверен.</a:t>
            </a:r>
          </a:p>
          <a:p>
            <a:r>
              <a:rPr lang="ru-RU" sz="1200" b="0" dirty="0">
                <a:solidFill>
                  <a:srgbClr val="111827"/>
                </a:solidFill>
                <a:latin typeface="Times New Roman" panose="02020603050405020304" pitchFamily="18" charset="0"/>
                <a:cs typeface="Times New Roman" panose="02020603050405020304" pitchFamily="18" charset="0"/>
              </a:rPr>
              <a:t>Еще один способ перебор массива с конца:</a:t>
            </a:r>
          </a:p>
          <a:p>
            <a:r>
              <a:rPr lang="en-US" sz="1200" b="0" dirty="0">
                <a:solidFill>
                  <a:srgbClr val="111827"/>
                </a:solidFill>
                <a:latin typeface="Times New Roman" panose="02020603050405020304" pitchFamily="18" charset="0"/>
                <a:cs typeface="Times New Roman" panose="02020603050405020304" pitchFamily="18" charset="0"/>
              </a:rPr>
              <a:t>For(let </a:t>
            </a:r>
            <a:r>
              <a:rPr lang="en-US" sz="1200" b="0" dirty="0" err="1">
                <a:solidFill>
                  <a:srgbClr val="111827"/>
                </a:solidFill>
                <a:latin typeface="Times New Roman" panose="02020603050405020304" pitchFamily="18" charset="0"/>
                <a:cs typeface="Times New Roman" panose="02020603050405020304" pitchFamily="18" charset="0"/>
              </a:rPr>
              <a:t>i</a:t>
            </a:r>
            <a:r>
              <a:rPr lang="en-US" sz="1200" b="0" dirty="0">
                <a:solidFill>
                  <a:srgbClr val="111827"/>
                </a:solidFill>
                <a:latin typeface="Times New Roman" panose="02020603050405020304" pitchFamily="18" charset="0"/>
                <a:cs typeface="Times New Roman" panose="02020603050405020304" pitchFamily="18" charset="0"/>
              </a:rPr>
              <a:t>=nums.length-1; </a:t>
            </a:r>
            <a:r>
              <a:rPr lang="en-US" sz="1200" b="0" dirty="0" err="1">
                <a:solidFill>
                  <a:srgbClr val="111827"/>
                </a:solidFill>
                <a:latin typeface="Times New Roman" panose="02020603050405020304" pitchFamily="18" charset="0"/>
                <a:cs typeface="Times New Roman" panose="02020603050405020304" pitchFamily="18" charset="0"/>
              </a:rPr>
              <a:t>i</a:t>
            </a:r>
            <a:r>
              <a:rPr lang="en-US" sz="1200" b="0" dirty="0">
                <a:solidFill>
                  <a:srgbClr val="111827"/>
                </a:solidFill>
                <a:latin typeface="Times New Roman" panose="02020603050405020304" pitchFamily="18" charset="0"/>
                <a:cs typeface="Times New Roman" panose="02020603050405020304" pitchFamily="18" charset="0"/>
              </a:rPr>
              <a:t>&gt;=0; </a:t>
            </a:r>
            <a:r>
              <a:rPr lang="en-US" sz="1200" b="0" dirty="0" err="1">
                <a:solidFill>
                  <a:srgbClr val="111827"/>
                </a:solidFill>
                <a:latin typeface="Times New Roman" panose="02020603050405020304" pitchFamily="18" charset="0"/>
                <a:cs typeface="Times New Roman" panose="02020603050405020304" pitchFamily="18" charset="0"/>
              </a:rPr>
              <a:t>i</a:t>
            </a:r>
            <a:r>
              <a:rPr lang="en-US" sz="1200" b="0" dirty="0">
                <a:solidFill>
                  <a:srgbClr val="111827"/>
                </a:solidFill>
                <a:latin typeface="Times New Roman" panose="02020603050405020304" pitchFamily="18" charset="0"/>
                <a:cs typeface="Times New Roman" panose="02020603050405020304" pitchFamily="18" charset="0"/>
              </a:rPr>
              <a:t>--)</a:t>
            </a:r>
            <a:endParaRPr lang="ru-RU" sz="1200" b="0" dirty="0">
              <a:solidFill>
                <a:srgbClr val="111827"/>
              </a:solidFill>
              <a:latin typeface="Times New Roman" panose="02020603050405020304" pitchFamily="18" charset="0"/>
              <a:cs typeface="Times New Roman" panose="02020603050405020304" pitchFamily="18" charset="0"/>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Ориентиры</a:t>
            </a:r>
            <a:r>
              <a:rPr dirty="0"/>
              <a:t> </a:t>
            </a:r>
            <a:r>
              <a:rPr dirty="0" err="1"/>
              <a:t>для</a:t>
            </a:r>
            <a:r>
              <a:rPr dirty="0"/>
              <a:t> </a:t>
            </a:r>
            <a:r>
              <a:rPr dirty="0" err="1"/>
              <a:t>проверки</a:t>
            </a:r>
            <a:r>
              <a:rPr dirty="0"/>
              <a:t>. 1) </a:t>
            </a:r>
            <a:r>
              <a:rPr dirty="0" err="1"/>
              <a:t>Для</a:t>
            </a:r>
            <a:r>
              <a:rPr dirty="0"/>
              <a:t> </a:t>
            </a:r>
            <a:r>
              <a:rPr dirty="0" err="1"/>
              <a:t>заданного</a:t>
            </a:r>
            <a:r>
              <a:rPr dirty="0"/>
              <a:t> </a:t>
            </a:r>
            <a:r>
              <a:rPr dirty="0" err="1"/>
              <a:t>массива</a:t>
            </a:r>
            <a:r>
              <a:rPr dirty="0"/>
              <a:t>: min = 18, max = 31, </a:t>
            </a:r>
            <a:r>
              <a:rPr dirty="0" err="1"/>
              <a:t>среднее</a:t>
            </a:r>
            <a:r>
              <a:rPr dirty="0"/>
              <a:t> = 25.5, </a:t>
            </a:r>
            <a:r>
              <a:rPr dirty="0" err="1"/>
              <a:t>дней</a:t>
            </a:r>
            <a:r>
              <a:rPr dirty="0"/>
              <a:t> </a:t>
            </a:r>
            <a:r>
              <a:rPr dirty="0" err="1"/>
              <a:t>выше</a:t>
            </a:r>
            <a:r>
              <a:rPr dirty="0"/>
              <a:t> 25 °C = 3. </a:t>
            </a:r>
            <a:endParaRPr lang="en-US" dirty="0"/>
          </a:p>
          <a:p>
            <a:r>
              <a:rPr dirty="0"/>
              <a:t>2) </a:t>
            </a:r>
            <a:r>
              <a:rPr dirty="0" err="1"/>
              <a:t>Подходящие</a:t>
            </a:r>
            <a:r>
              <a:rPr dirty="0"/>
              <a:t> </a:t>
            </a:r>
            <a:r>
              <a:rPr dirty="0" err="1"/>
              <a:t>методы</a:t>
            </a:r>
            <a:r>
              <a:rPr dirty="0"/>
              <a:t>: push() </a:t>
            </a:r>
            <a:r>
              <a:rPr dirty="0" err="1"/>
              <a:t>для</a:t>
            </a:r>
            <a:r>
              <a:rPr dirty="0"/>
              <a:t> </a:t>
            </a:r>
            <a:r>
              <a:rPr dirty="0" err="1"/>
              <a:t>добавления</a:t>
            </a:r>
            <a:r>
              <a:rPr dirty="0"/>
              <a:t> и shift() в </a:t>
            </a:r>
            <a:r>
              <a:rPr dirty="0" err="1"/>
              <a:t>цикле</a:t>
            </a:r>
            <a:r>
              <a:rPr dirty="0"/>
              <a:t> while </a:t>
            </a:r>
            <a:r>
              <a:rPr dirty="0" err="1"/>
              <a:t>для</a:t>
            </a:r>
            <a:r>
              <a:rPr dirty="0"/>
              <a:t> </a:t>
            </a:r>
            <a:r>
              <a:rPr dirty="0" err="1"/>
              <a:t>обработки</a:t>
            </a:r>
            <a:r>
              <a:rPr dirty="0"/>
              <a:t> </a:t>
            </a:r>
            <a:r>
              <a:rPr dirty="0" err="1"/>
              <a:t>очереди</a:t>
            </a:r>
            <a:r>
              <a:rPr dirty="0"/>
              <a:t>. В </a:t>
            </a:r>
            <a:r>
              <a:rPr dirty="0" err="1"/>
              <a:t>конце</a:t>
            </a:r>
            <a:r>
              <a:rPr dirty="0"/>
              <a:t> </a:t>
            </a:r>
            <a:r>
              <a:rPr dirty="0" err="1"/>
              <a:t>queue.length</a:t>
            </a:r>
            <a:r>
              <a:rPr dirty="0"/>
              <a:t> </a:t>
            </a:r>
            <a:r>
              <a:rPr dirty="0" err="1"/>
              <a:t>должно</a:t>
            </a:r>
            <a:r>
              <a:rPr dirty="0"/>
              <a:t> </a:t>
            </a:r>
            <a:r>
              <a:rPr dirty="0" err="1"/>
              <a:t>быть</a:t>
            </a:r>
            <a:r>
              <a:rPr dirty="0"/>
              <a:t> </a:t>
            </a:r>
            <a:r>
              <a:rPr dirty="0" err="1"/>
              <a:t>равно</a:t>
            </a:r>
            <a:r>
              <a:rPr dirty="0"/>
              <a:t> 0. </a:t>
            </a:r>
            <a:endParaRPr lang="en-US" dirty="0"/>
          </a:p>
          <a:p>
            <a:r>
              <a:rPr dirty="0"/>
              <a:t>3) </a:t>
            </a:r>
            <a:r>
              <a:rPr dirty="0" err="1"/>
              <a:t>Для</a:t>
            </a:r>
            <a:r>
              <a:rPr dirty="0"/>
              <a:t> </a:t>
            </a:r>
            <a:r>
              <a:rPr dirty="0" err="1"/>
              <a:t>поиска</a:t>
            </a:r>
            <a:r>
              <a:rPr dirty="0"/>
              <a:t> </a:t>
            </a:r>
            <a:r>
              <a:rPr dirty="0" err="1"/>
              <a:t>подходят</a:t>
            </a:r>
            <a:r>
              <a:rPr dirty="0"/>
              <a:t> </a:t>
            </a:r>
            <a:r>
              <a:rPr dirty="0" err="1"/>
              <a:t>indexOf</a:t>
            </a:r>
            <a:r>
              <a:rPr dirty="0"/>
              <a:t>() </a:t>
            </a:r>
            <a:r>
              <a:rPr dirty="0" err="1"/>
              <a:t>или</a:t>
            </a:r>
            <a:r>
              <a:rPr dirty="0"/>
              <a:t> includes(). </a:t>
            </a:r>
            <a:r>
              <a:rPr dirty="0" err="1"/>
              <a:t>Пользовательская</a:t>
            </a:r>
            <a:r>
              <a:rPr dirty="0"/>
              <a:t> </a:t>
            </a:r>
            <a:r>
              <a:rPr dirty="0" err="1"/>
              <a:t>позиция</a:t>
            </a:r>
            <a:r>
              <a:rPr dirty="0"/>
              <a:t> </a:t>
            </a:r>
            <a:r>
              <a:rPr dirty="0" err="1"/>
              <a:t>равна</a:t>
            </a:r>
            <a:r>
              <a:rPr dirty="0"/>
              <a:t> index + 1. </a:t>
            </a:r>
            <a:r>
              <a:rPr dirty="0" err="1"/>
              <a:t>Добавление</a:t>
            </a:r>
            <a:r>
              <a:rPr dirty="0"/>
              <a:t> </a:t>
            </a:r>
            <a:r>
              <a:rPr dirty="0" err="1"/>
              <a:t>выполняется</a:t>
            </a:r>
            <a:r>
              <a:rPr dirty="0"/>
              <a:t> </a:t>
            </a:r>
            <a:r>
              <a:rPr dirty="0" err="1"/>
              <a:t>только</a:t>
            </a:r>
            <a:r>
              <a:rPr dirty="0"/>
              <a:t> </a:t>
            </a:r>
            <a:r>
              <a:rPr dirty="0" err="1"/>
              <a:t>при</a:t>
            </a:r>
            <a:r>
              <a:rPr dirty="0"/>
              <a:t> </a:t>
            </a:r>
            <a:r>
              <a:rPr dirty="0" err="1"/>
              <a:t>отсутствии</a:t>
            </a:r>
            <a:r>
              <a:rPr dirty="0"/>
              <a:t> </a:t>
            </a:r>
            <a:r>
              <a:rPr dirty="0" err="1"/>
              <a:t>товара</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Ориентиры для проверки. 4) Один из вариантов: scores.filter(score =&gt; score &gt;= 60).map(score =&gt; Math.min(score + 5, 100)).sort((a, b) =&gt; b - a). Результат: [100, 100, 93, 72]. 5) Пример цепочки: logs.filter(item =&gt; item.includes("ERROR")).map(item =&gt; item.toUpperCase()).slice(0, 3). 6) Создать пустой массив uniqueTags; в цикле for...of добавлять tag через push(), только если !uniqueTags.includes(tag). Результат: ["UI", "API", "DATA",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Титульный слайд" type="title" userDrawn="1">
  <p:cSld name="Титульный слайд">
    <p:spTree>
      <p:nvGrpSpPr>
        <p:cNvPr id="1" name=""/>
        <p:cNvGrpSpPr/>
        <p:nvPr/>
      </p:nvGrpSpPr>
      <p:grpSpPr bwMode="auto">
        <a:xfrm>
          <a:off x="0" y="0"/>
          <a:ext cx="0" cy="0"/>
          <a:chOff x="0" y="0"/>
          <a:chExt cx="0" cy="0"/>
        </a:xfrm>
      </p:grpSpPr>
      <p:sp>
        <p:nvSpPr>
          <p:cNvPr id="16" name="Google Shape;16;p2"/>
          <p:cNvSpPr txBox="1">
            <a:spLocks noGrp="1"/>
          </p:cNvSpPr>
          <p:nvPr>
            <p:ph type="ctrTitle"/>
          </p:nvPr>
        </p:nvSpPr>
        <p:spPr bwMode="auto">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 name="Google Shape;17;p2"/>
          <p:cNvSpPr txBox="1">
            <a:spLocks noGrp="1"/>
          </p:cNvSpPr>
          <p:nvPr>
            <p:ph type="subTitle" idx="1"/>
          </p:nvPr>
        </p:nvSpPr>
        <p:spPr bwMode="auto">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a:defRPr/>
            </a:pPr>
            <a:endParaRPr/>
          </a:p>
        </p:txBody>
      </p:sp>
      <p:sp>
        <p:nvSpPr>
          <p:cNvPr id="18" name="Google Shape;18;p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 name="Google Shape;19;p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 name="Google Shape;20;p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1241096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Заголовок и объект" type="obj" userDrawn="1">
  <p:cSld name="Заголовок и объект">
    <p:spTree>
      <p:nvGrpSpPr>
        <p:cNvPr id="1" name=""/>
        <p:cNvGrpSpPr/>
        <p:nvPr/>
      </p:nvGrpSpPr>
      <p:grpSpPr bwMode="auto">
        <a:xfrm>
          <a:off x="0" y="0"/>
          <a:ext cx="0" cy="0"/>
          <a:chOff x="0" y="0"/>
          <a:chExt cx="0" cy="0"/>
        </a:xfrm>
      </p:grpSpPr>
      <p:sp>
        <p:nvSpPr>
          <p:cNvPr id="22" name="Google Shape;22;p3"/>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3" name="Google Shape;23;p3"/>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24" name="Google Shape;24;p3"/>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 name="Google Shape;25;p3"/>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6" name="Google Shape;26;p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686854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matchingName="Заголовок раздела" type="secHead" userDrawn="1">
  <p:cSld name="Заголовок раздела">
    <p:spTree>
      <p:nvGrpSpPr>
        <p:cNvPr id="1" name=""/>
        <p:cNvGrpSpPr/>
        <p:nvPr/>
      </p:nvGrpSpPr>
      <p:grpSpPr bwMode="auto">
        <a:xfrm>
          <a:off x="0" y="0"/>
          <a:ext cx="0" cy="0"/>
          <a:chOff x="0" y="0"/>
          <a:chExt cx="0" cy="0"/>
        </a:xfrm>
      </p:grpSpPr>
      <p:sp>
        <p:nvSpPr>
          <p:cNvPr id="28" name="Google Shape;28;p4"/>
          <p:cNvSpPr txBox="1">
            <a:spLocks noGrp="1"/>
          </p:cNvSpPr>
          <p:nvPr>
            <p:ph type="title"/>
          </p:nvPr>
        </p:nvSpPr>
        <p:spPr bwMode="auto">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9" name="Google Shape;29;p4"/>
          <p:cNvSpPr txBox="1">
            <a:spLocks noGrp="1"/>
          </p:cNvSpPr>
          <p:nvPr>
            <p:ph type="body" idx="1"/>
          </p:nvPr>
        </p:nvSpPr>
        <p:spPr bwMode="auto">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a:defRPr/>
            </a:pPr>
            <a:endParaRPr/>
          </a:p>
        </p:txBody>
      </p:sp>
      <p:sp>
        <p:nvSpPr>
          <p:cNvPr id="30" name="Google Shape;30;p4"/>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1" name="Google Shape;31;p4"/>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2" name="Google Shape;32;p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20736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matchingName="Два объекта" type="twoObj" userDrawn="1">
  <p:cSld name="Два объекта">
    <p:spTree>
      <p:nvGrpSpPr>
        <p:cNvPr id="1" name=""/>
        <p:cNvGrpSpPr/>
        <p:nvPr/>
      </p:nvGrpSpPr>
      <p:grpSpPr bwMode="auto">
        <a:xfrm>
          <a:off x="0" y="0"/>
          <a:ext cx="0" cy="0"/>
          <a:chOff x="0" y="0"/>
          <a:chExt cx="0" cy="0"/>
        </a:xfrm>
      </p:grpSpPr>
      <p:sp>
        <p:nvSpPr>
          <p:cNvPr id="34" name="Google Shape;34;p5"/>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5" name="Google Shape;35;p5"/>
          <p:cNvSpPr txBox="1">
            <a:spLocks noGrp="1"/>
          </p:cNvSpPr>
          <p:nvPr>
            <p:ph type="body" idx="1"/>
          </p:nvPr>
        </p:nvSpPr>
        <p:spPr bwMode="auto">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6" name="Google Shape;36;p5"/>
          <p:cNvSpPr txBox="1">
            <a:spLocks noGrp="1"/>
          </p:cNvSpPr>
          <p:nvPr>
            <p:ph type="body" idx="2"/>
          </p:nvPr>
        </p:nvSpPr>
        <p:spPr bwMode="auto">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7" name="Google Shape;37;p5"/>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8" name="Google Shape;38;p5"/>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 name="Google Shape;39;p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89088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matchingName="Сравнение" type="twoTxTwoObj" userDrawn="1">
  <p:cSld name="Сравнение">
    <p:spTree>
      <p:nvGrpSpPr>
        <p:cNvPr id="1" name=""/>
        <p:cNvGrpSpPr/>
        <p:nvPr/>
      </p:nvGrpSpPr>
      <p:grpSpPr bwMode="auto">
        <a:xfrm>
          <a:off x="0" y="0"/>
          <a:ext cx="0" cy="0"/>
          <a:chOff x="0" y="0"/>
          <a:chExt cx="0" cy="0"/>
        </a:xfrm>
      </p:grpSpPr>
      <p:sp>
        <p:nvSpPr>
          <p:cNvPr id="41" name="Google Shape;41;p6"/>
          <p:cNvSpPr txBox="1">
            <a:spLocks noGrp="1"/>
          </p:cNvSpPr>
          <p:nvPr>
            <p:ph type="title"/>
          </p:nvPr>
        </p:nvSpPr>
        <p:spPr bwMode="auto">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2" name="Google Shape;42;p6"/>
          <p:cNvSpPr txBox="1">
            <a:spLocks noGrp="1"/>
          </p:cNvSpPr>
          <p:nvPr>
            <p:ph type="body" idx="1"/>
          </p:nvPr>
        </p:nvSpPr>
        <p:spPr bwMode="auto">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3" name="Google Shape;43;p6"/>
          <p:cNvSpPr txBox="1">
            <a:spLocks noGrp="1"/>
          </p:cNvSpPr>
          <p:nvPr>
            <p:ph type="body" idx="2"/>
          </p:nvPr>
        </p:nvSpPr>
        <p:spPr bwMode="auto">
          <a:xfrm>
            <a:off x="839788" y="2505074"/>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4" name="Google Shape;44;p6"/>
          <p:cNvSpPr txBox="1">
            <a:spLocks noGrp="1"/>
          </p:cNvSpPr>
          <p:nvPr>
            <p:ph type="body" idx="3"/>
          </p:nvPr>
        </p:nvSpPr>
        <p:spPr bwMode="auto">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45" name="Google Shape;45;p6"/>
          <p:cNvSpPr txBox="1">
            <a:spLocks noGrp="1"/>
          </p:cNvSpPr>
          <p:nvPr>
            <p:ph type="body" idx="4"/>
          </p:nvPr>
        </p:nvSpPr>
        <p:spPr bwMode="auto">
          <a:xfrm>
            <a:off x="6172200" y="2505074"/>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6" name="Google Shape;46;p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7" name="Google Shape;47;p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8" name="Google Shape;48;p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918331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matchingName="Только заголовок" type="titleOnly" userDrawn="1">
  <p:cSld name="Только заголовок">
    <p:spTree>
      <p:nvGrpSpPr>
        <p:cNvPr id="1" name=""/>
        <p:cNvGrpSpPr/>
        <p:nvPr/>
      </p:nvGrpSpPr>
      <p:grpSpPr bwMode="auto">
        <a:xfrm>
          <a:off x="0" y="0"/>
          <a:ext cx="0" cy="0"/>
          <a:chOff x="0" y="0"/>
          <a:chExt cx="0" cy="0"/>
        </a:xfrm>
      </p:grpSpPr>
      <p:sp>
        <p:nvSpPr>
          <p:cNvPr id="50" name="Google Shape;50;p7"/>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1" name="Google Shape;51;p7"/>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2" name="Google Shape;52;p7"/>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3" name="Google Shape;53;p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1121730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matchingName="Пустой слайд" type="blank" userDrawn="1">
  <p:cSld name="Пустой слайд">
    <p:spTree>
      <p:nvGrpSpPr>
        <p:cNvPr id="1" name=""/>
        <p:cNvGrpSpPr/>
        <p:nvPr/>
      </p:nvGrpSpPr>
      <p:grpSpPr bwMode="auto">
        <a:xfrm>
          <a:off x="0" y="0"/>
          <a:ext cx="0" cy="0"/>
          <a:chOff x="0" y="0"/>
          <a:chExt cx="0" cy="0"/>
        </a:xfrm>
      </p:grpSpPr>
      <p:sp>
        <p:nvSpPr>
          <p:cNvPr id="55" name="Google Shape;55;p8"/>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6" name="Google Shape;56;p8"/>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7" name="Google Shape;57;p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644996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matchingName="Объект с подписью" type="objTx" userDrawn="1">
  <p:cSld name="Объект с подписью">
    <p:spTree>
      <p:nvGrpSpPr>
        <p:cNvPr id="1" name=""/>
        <p:cNvGrpSpPr/>
        <p:nvPr/>
      </p:nvGrpSpPr>
      <p:grpSpPr bwMode="auto">
        <a:xfrm>
          <a:off x="0" y="0"/>
          <a:ext cx="0" cy="0"/>
          <a:chOff x="0" y="0"/>
          <a:chExt cx="0" cy="0"/>
        </a:xfrm>
      </p:grpSpPr>
      <p:sp>
        <p:nvSpPr>
          <p:cNvPr id="59" name="Google Shape;59;p9"/>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0" name="Google Shape;60;p9"/>
          <p:cNvSpPr txBox="1">
            <a:spLocks noGrp="1"/>
          </p:cNvSpPr>
          <p:nvPr>
            <p:ph type="body" idx="1"/>
          </p:nvPr>
        </p:nvSpPr>
        <p:spPr bwMode="auto">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799"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a:defRPr/>
            </a:pPr>
            <a:endParaRPr/>
          </a:p>
        </p:txBody>
      </p:sp>
      <p:sp>
        <p:nvSpPr>
          <p:cNvPr id="61" name="Google Shape;61;p9"/>
          <p:cNvSpPr txBox="1">
            <a:spLocks noGrp="1"/>
          </p:cNvSpPr>
          <p:nvPr>
            <p:ph type="body" idx="2"/>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2" name="Google Shape;62;p9"/>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3" name="Google Shape;63;p9"/>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4" name="Google Shape;64;p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910586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matchingName="Рисунок с подписью" type="picTx" userDrawn="1">
  <p:cSld name="Рисунок с подписью">
    <p:spTree>
      <p:nvGrpSpPr>
        <p:cNvPr id="1" name=""/>
        <p:cNvGrpSpPr/>
        <p:nvPr/>
      </p:nvGrpSpPr>
      <p:grpSpPr bwMode="auto">
        <a:xfrm>
          <a:off x="0" y="0"/>
          <a:ext cx="0" cy="0"/>
          <a:chOff x="0" y="0"/>
          <a:chExt cx="0" cy="0"/>
        </a:xfrm>
      </p:grpSpPr>
      <p:sp>
        <p:nvSpPr>
          <p:cNvPr id="66" name="Google Shape;66;p10"/>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7" name="Google Shape;67;p10"/>
          <p:cNvSpPr>
            <a:spLocks noGrp="1"/>
          </p:cNvSpPr>
          <p:nvPr>
            <p:ph type="pic" idx="2"/>
          </p:nvPr>
        </p:nvSpPr>
        <p:spPr bwMode="auto">
          <a:xfrm>
            <a:off x="5183188" y="987425"/>
            <a:ext cx="6172200" cy="4873625"/>
          </a:xfrm>
          <a:prstGeom prst="rect">
            <a:avLst/>
          </a:prstGeom>
          <a:noFill/>
          <a:ln>
            <a:noFill/>
          </a:ln>
        </p:spPr>
      </p:sp>
      <p:sp>
        <p:nvSpPr>
          <p:cNvPr id="68" name="Google Shape;68;p10"/>
          <p:cNvSpPr txBox="1">
            <a:spLocks noGrp="1"/>
          </p:cNvSpPr>
          <p:nvPr>
            <p:ph type="body" idx="1"/>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69" name="Google Shape;69;p10"/>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0" name="Google Shape;70;p10"/>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1" name="Google Shape;71;p1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356417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matchingName="Заголовок и вертикальный текст" type="vertTx" userDrawn="1">
  <p:cSld name="Заголовок и вертикальный текст">
    <p:spTree>
      <p:nvGrpSpPr>
        <p:cNvPr id="1" name=""/>
        <p:cNvGrpSpPr/>
        <p:nvPr/>
      </p:nvGrpSpPr>
      <p:grpSpPr bwMode="auto">
        <a:xfrm>
          <a:off x="0" y="0"/>
          <a:ext cx="0" cy="0"/>
          <a:chOff x="0" y="0"/>
          <a:chExt cx="0" cy="0"/>
        </a:xfrm>
      </p:grpSpPr>
      <p:sp>
        <p:nvSpPr>
          <p:cNvPr id="73" name="Google Shape;73;p1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4" name="Google Shape;74;p11"/>
          <p:cNvSpPr txBox="1">
            <a:spLocks noGrp="1"/>
          </p:cNvSpPr>
          <p:nvPr>
            <p:ph type="body" idx="1"/>
          </p:nvPr>
        </p:nvSpPr>
        <p:spPr bwMode="auto">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75" name="Google Shape;75;p1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6" name="Google Shape;76;p1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7" name="Google Shape;77;p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757373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matchingName="Вертикальный заголовок и текст" type="vertTitleAndTx" userDrawn="1">
  <p:cSld name="Вертикальный заголовок и текст">
    <p:spTree>
      <p:nvGrpSpPr>
        <p:cNvPr id="1" name=""/>
        <p:cNvGrpSpPr/>
        <p:nvPr/>
      </p:nvGrpSpPr>
      <p:grpSpPr bwMode="auto">
        <a:xfrm>
          <a:off x="0" y="0"/>
          <a:ext cx="0" cy="0"/>
          <a:chOff x="0" y="0"/>
          <a:chExt cx="0" cy="0"/>
        </a:xfrm>
      </p:grpSpPr>
      <p:sp>
        <p:nvSpPr>
          <p:cNvPr id="79" name="Google Shape;79;p12"/>
          <p:cNvSpPr txBox="1">
            <a:spLocks noGrp="1"/>
          </p:cNvSpPr>
          <p:nvPr>
            <p:ph type="title"/>
          </p:nvPr>
        </p:nvSpPr>
        <p:spPr bwMode="auto">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0" name="Google Shape;80;p12"/>
          <p:cNvSpPr txBox="1">
            <a:spLocks noGrp="1"/>
          </p:cNvSpPr>
          <p:nvPr>
            <p:ph type="body" idx="1"/>
          </p:nvPr>
        </p:nvSpPr>
        <p:spPr bwMode="auto">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81" name="Google Shape;81;p1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2" name="Google Shape;82;p1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3" name="Google Shape;83;p1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3157810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10" name="Google Shape;10;p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1" name="Google Shape;11;p1"/>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sp>
        <p:nvSpPr>
          <p:cNvPr id="12" name="Google Shape;12;p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3" name="Google Shape;13;p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4" name="Google Shape;14;p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defRPr>
            </a:lvl1pPr>
            <a:lvl2pPr marL="0" marR="0" lvl="1" indent="0" algn="r">
              <a:spcBef>
                <a:spcPts val="0"/>
              </a:spcBef>
              <a:buNone/>
              <a:defRPr sz="1200" b="0" i="0" u="none" strike="noStrike" cap="none">
                <a:solidFill>
                  <a:srgbClr val="888888"/>
                </a:solidFill>
                <a:latin typeface="Calibri"/>
                <a:ea typeface="Calibri"/>
                <a:cs typeface="Calibri"/>
              </a:defRPr>
            </a:lvl2pPr>
            <a:lvl3pPr marL="0" marR="0" lvl="2" indent="0" algn="r">
              <a:spcBef>
                <a:spcPts val="0"/>
              </a:spcBef>
              <a:buNone/>
              <a:defRPr sz="1200" b="0" i="0" u="none" strike="noStrike" cap="none">
                <a:solidFill>
                  <a:srgbClr val="888888"/>
                </a:solidFill>
                <a:latin typeface="Calibri"/>
                <a:ea typeface="Calibri"/>
                <a:cs typeface="Calibri"/>
              </a:defRPr>
            </a:lvl3pPr>
            <a:lvl4pPr marL="0" marR="0" lvl="3" indent="0" algn="r">
              <a:spcBef>
                <a:spcPts val="0"/>
              </a:spcBef>
              <a:buNone/>
              <a:defRPr sz="1200" b="0" i="0" u="none" strike="noStrike" cap="none">
                <a:solidFill>
                  <a:srgbClr val="888888"/>
                </a:solidFill>
                <a:latin typeface="Calibri"/>
                <a:ea typeface="Calibri"/>
                <a:cs typeface="Calibri"/>
              </a:defRPr>
            </a:lvl4pPr>
            <a:lvl5pPr marL="0" marR="0" lvl="4" indent="0" algn="r">
              <a:spcBef>
                <a:spcPts val="0"/>
              </a:spcBef>
              <a:buNone/>
              <a:defRPr sz="1200" b="0" i="0" u="none" strike="noStrike" cap="none">
                <a:solidFill>
                  <a:srgbClr val="888888"/>
                </a:solidFill>
                <a:latin typeface="Calibri"/>
                <a:ea typeface="Calibri"/>
                <a:cs typeface="Calibri"/>
              </a:defRPr>
            </a:lvl5pPr>
            <a:lvl6pPr marL="0" marR="0" lvl="5" indent="0" algn="r">
              <a:spcBef>
                <a:spcPts val="0"/>
              </a:spcBef>
              <a:buNone/>
              <a:defRPr sz="1200" b="0" i="0" u="none" strike="noStrike" cap="none">
                <a:solidFill>
                  <a:srgbClr val="888888"/>
                </a:solidFill>
                <a:latin typeface="Calibri"/>
                <a:ea typeface="Calibri"/>
                <a:cs typeface="Calibri"/>
              </a:defRPr>
            </a:lvl6pPr>
            <a:lvl7pPr marL="0" marR="0" lvl="6" indent="0" algn="r">
              <a:spcBef>
                <a:spcPts val="0"/>
              </a:spcBef>
              <a:buNone/>
              <a:defRPr sz="1200" b="0" i="0" u="none" strike="noStrike" cap="none">
                <a:solidFill>
                  <a:srgbClr val="888888"/>
                </a:solidFill>
                <a:latin typeface="Calibri"/>
                <a:ea typeface="Calibri"/>
                <a:cs typeface="Calibri"/>
              </a:defRPr>
            </a:lvl7pPr>
            <a:lvl8pPr marL="0" marR="0" lvl="7" indent="0" algn="r">
              <a:spcBef>
                <a:spcPts val="0"/>
              </a:spcBef>
              <a:buNone/>
              <a:defRPr sz="1200" b="0" i="0" u="none" strike="noStrike" cap="none">
                <a:solidFill>
                  <a:srgbClr val="888888"/>
                </a:solidFill>
                <a:latin typeface="Calibri"/>
                <a:ea typeface="Calibri"/>
                <a:cs typeface="Calibri"/>
              </a:defRPr>
            </a:lvl8pPr>
            <a:lvl9pPr marL="0" marR="0" lvl="8" indent="0" algn="r">
              <a:spcBef>
                <a:spcPts val="0"/>
              </a:spcBef>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defRPr/>
            </a:pPr>
            <a:fld id="{00000000-1234-1234-1234-123412341234}" type="slidenum">
              <a:rPr lang="ru-RU"/>
              <a:t>‹#›</a:t>
            </a:fld>
            <a:endParaRPr/>
          </a:p>
        </p:txBody>
      </p:sp>
    </p:spTree>
    <p:extLst>
      <p:ext uri="{BB962C8B-B14F-4D97-AF65-F5344CB8AC3E}">
        <p14:creationId xmlns:p14="http://schemas.microsoft.com/office/powerpoint/2010/main" val="280360352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a:blip r:embed="rId3">
            <a:alphaModFix/>
          </a:blip>
          <a:stretch/>
        </a:blipFill>
        <a:effectLst/>
      </p:bgPr>
    </p:bg>
    <p:spTree>
      <p:nvGrpSpPr>
        <p:cNvPr id="1" name=""/>
        <p:cNvGrpSpPr/>
        <p:nvPr/>
      </p:nvGrpSpPr>
      <p:grpSpPr bwMode="auto">
        <a:xfrm>
          <a:off x="0" y="0"/>
          <a:ext cx="0" cy="0"/>
          <a:chOff x="0" y="0"/>
          <a:chExt cx="0" cy="0"/>
        </a:xfrm>
      </p:grpSpPr>
      <p:sp>
        <p:nvSpPr>
          <p:cNvPr id="88" name="Google Shape;88;p13"/>
          <p:cNvSpPr txBox="1"/>
          <p:nvPr/>
        </p:nvSpPr>
        <p:spPr bwMode="auto">
          <a:xfrm>
            <a:off x="3526132" y="2156345"/>
            <a:ext cx="8342406" cy="92328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1800" b="1" i="0" u="none" strike="noStrike" kern="0" cap="none" spc="0" normalizeH="0" baseline="0" noProof="0" dirty="0">
                <a:ln>
                  <a:noFill/>
                </a:ln>
                <a:solidFill>
                  <a:srgbClr val="283CF5"/>
                </a:solidFill>
                <a:effectLst/>
                <a:uLnTx/>
                <a:uFillTx/>
                <a:latin typeface="Arial"/>
                <a:cs typeface="Arial"/>
              </a:rPr>
              <a:t>Массивы в JavaScript. Создание, изменение и перебор массивов. Индексы. Основные методы массивов. Решение задач обработки наборов данных</a:t>
            </a:r>
          </a:p>
        </p:txBody>
      </p:sp>
      <p:sp>
        <p:nvSpPr>
          <p:cNvPr id="92" name="Google Shape;92;p13"/>
          <p:cNvSpPr txBox="1"/>
          <p:nvPr/>
        </p:nvSpPr>
        <p:spPr bwMode="auto">
          <a:xfrm>
            <a:off x="3722075" y="5189207"/>
            <a:ext cx="7885206"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2400" b="0" i="0" u="none" strike="noStrike" kern="0" cap="none" spc="0" normalizeH="0" baseline="0" noProof="0" dirty="0">
                <a:ln>
                  <a:noFill/>
                </a:ln>
                <a:solidFill>
                  <a:srgbClr val="FFFFFF"/>
                </a:solidFill>
                <a:effectLst/>
                <a:uLnTx/>
                <a:uFillTx/>
                <a:latin typeface="Arial"/>
                <a:cs typeface="Arial"/>
              </a:rPr>
              <a:t>Преподаватель: Евдошенко Неля </a:t>
            </a:r>
            <a:r>
              <a:rPr kumimoji="0" lang="ru-RU" sz="2400" b="0" i="0" u="none" strike="noStrike" kern="0" cap="none" spc="0" normalizeH="0" baseline="0" noProof="0" dirty="0" err="1">
                <a:ln>
                  <a:noFill/>
                </a:ln>
                <a:solidFill>
                  <a:srgbClr val="FFFFFF"/>
                </a:solidFill>
                <a:effectLst/>
                <a:uLnTx/>
                <a:uFillTx/>
                <a:latin typeface="Arial"/>
                <a:cs typeface="Arial"/>
              </a:rPr>
              <a:t>Ильнуровна</a:t>
            </a:r>
            <a:endParaRPr kumimoji="0" sz="1050" b="0" i="0" u="none" strike="noStrike" kern="0" cap="none" spc="0" normalizeH="0" baseline="0" noProof="0" dirty="0">
              <a:ln>
                <a:noFill/>
              </a:ln>
              <a:solidFill>
                <a:srgbClr val="000000"/>
              </a:solidFill>
              <a:effectLst/>
              <a:uLnTx/>
              <a:uFillTx/>
              <a:latin typeface="Arial"/>
              <a:cs typeface="Arial"/>
            </a:endParaRPr>
          </a:p>
        </p:txBody>
      </p:sp>
      <p:sp>
        <p:nvSpPr>
          <p:cNvPr id="93" name="Google Shape;93;p13"/>
          <p:cNvSpPr txBox="1"/>
          <p:nvPr/>
        </p:nvSpPr>
        <p:spPr bwMode="auto">
          <a:xfrm>
            <a:off x="3722075" y="3290820"/>
            <a:ext cx="8146463" cy="107717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ea typeface="+mn-ea"/>
                <a:cs typeface="Arial"/>
              </a:rPr>
              <a:t>Дисциплина: Разработка </a:t>
            </a: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cs typeface="Arial"/>
              </a:rPr>
              <a:t>мобильных</a:t>
            </a:r>
            <a:r>
              <a:rPr kumimoji="0" lang="ru-RU" sz="3200" b="0" i="0" u="none" strike="noStrike" kern="1200" cap="none" spc="0" normalizeH="0" baseline="0" noProof="0" dirty="0">
                <a:ln>
                  <a:noFill/>
                </a:ln>
                <a:solidFill>
                  <a:prstClr val="white"/>
                </a:solidFill>
                <a:effectLst/>
                <a:uLnTx/>
                <a:uFillTx/>
                <a:latin typeface="KyivType Sans Heavy" panose="00000900000000000000" pitchFamily="50" charset="-52"/>
                <a:ea typeface="+mn-ea"/>
                <a:cs typeface="Arial"/>
              </a:rPr>
              <a:t> приложений</a:t>
            </a:r>
            <a:endParaRPr kumimoji="0" sz="1200" b="0" i="0" u="none" strike="noStrike" kern="0" cap="none" spc="0" normalizeH="0" baseline="0" noProof="0" dirty="0">
              <a:ln>
                <a:noFill/>
              </a:ln>
              <a:solidFill>
                <a:srgbClr val="000000"/>
              </a:solidFill>
              <a:effectLst/>
              <a:uLnTx/>
              <a:uFillTx/>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13">
            <a:extLst>
              <a:ext uri="{FF2B5EF4-FFF2-40B4-BE49-F238E27FC236}">
                <a16:creationId xmlns:a16="http://schemas.microsoft.com/office/drawing/2014/main" id="{86E33C73-0C6C-90BD-DFF2-27F5DC5EFBED}"/>
              </a:ext>
            </a:extLst>
          </p:cNvPr>
          <p:cNvSpPr/>
          <p:nvPr/>
        </p:nvSpPr>
        <p:spPr>
          <a:xfrm>
            <a:off x="8275373" y="5353556"/>
            <a:ext cx="3818304" cy="1355696"/>
          </a:xfrm>
          <a:prstGeom prst="roundRect">
            <a:avLst>
              <a:gd name="adj" fmla="val 9017"/>
            </a:avLst>
          </a:prstGeom>
          <a:solidFill>
            <a:srgbClr val="CEE6FD"/>
          </a:solidFill>
          <a:ln/>
        </p:spPr>
      </p:sp>
      <p:sp>
        <p:nvSpPr>
          <p:cNvPr id="22" name="Shape 13">
            <a:extLst>
              <a:ext uri="{FF2B5EF4-FFF2-40B4-BE49-F238E27FC236}">
                <a16:creationId xmlns:a16="http://schemas.microsoft.com/office/drawing/2014/main" id="{A824D02D-A8DD-3951-106E-34DD94C2BA4F}"/>
              </a:ext>
            </a:extLst>
          </p:cNvPr>
          <p:cNvSpPr/>
          <p:nvPr/>
        </p:nvSpPr>
        <p:spPr>
          <a:xfrm>
            <a:off x="4231565" y="5353556"/>
            <a:ext cx="3818304" cy="1355695"/>
          </a:xfrm>
          <a:prstGeom prst="roundRect">
            <a:avLst>
              <a:gd name="adj" fmla="val 9017"/>
            </a:avLst>
          </a:prstGeom>
          <a:solidFill>
            <a:srgbClr val="CEE6FD"/>
          </a:solidFill>
          <a:ln/>
        </p:spPr>
      </p:sp>
      <p:sp>
        <p:nvSpPr>
          <p:cNvPr id="21" name="Shape 13">
            <a:extLst>
              <a:ext uri="{FF2B5EF4-FFF2-40B4-BE49-F238E27FC236}">
                <a16:creationId xmlns:a16="http://schemas.microsoft.com/office/drawing/2014/main" id="{C32D44CD-5E7F-DFE5-8B25-556066B53D72}"/>
              </a:ext>
            </a:extLst>
          </p:cNvPr>
          <p:cNvSpPr/>
          <p:nvPr/>
        </p:nvSpPr>
        <p:spPr>
          <a:xfrm>
            <a:off x="149497" y="5325433"/>
            <a:ext cx="3818304" cy="1419496"/>
          </a:xfrm>
          <a:prstGeom prst="roundRect">
            <a:avLst>
              <a:gd name="adj" fmla="val 9017"/>
            </a:avLst>
          </a:prstGeom>
          <a:solidFill>
            <a:srgbClr val="CEE6FD"/>
          </a:solidFill>
          <a:ln/>
        </p:spPr>
      </p:sp>
      <p:sp>
        <p:nvSpPr>
          <p:cNvPr id="4" name="Text 0">
            <a:extLst>
              <a:ext uri="{FF2B5EF4-FFF2-40B4-BE49-F238E27FC236}">
                <a16:creationId xmlns:a16="http://schemas.microsoft.com/office/drawing/2014/main" id="{7CB616AB-590E-9148-9C73-7324035A14CD}"/>
              </a:ext>
            </a:extLst>
          </p:cNvPr>
          <p:cNvSpPr/>
          <p:nvPr/>
        </p:nvSpPr>
        <p:spPr>
          <a:xfrm>
            <a:off x="2551061" y="198866"/>
            <a:ext cx="8151763" cy="308893"/>
          </a:xfrm>
          <a:prstGeom prst="rect">
            <a:avLst/>
          </a:prstGeom>
          <a:noFill/>
          <a:ln/>
        </p:spPr>
        <p:txBody>
          <a:bodyPr wrap="none" lIns="0" tIns="0" rIns="0" bIns="0" rtlCol="0" anchor="t"/>
          <a:lstStyle/>
          <a:p>
            <a:pPr marL="0" indent="0" algn="ctr">
              <a:lnSpc>
                <a:spcPct val="104000"/>
              </a:lnSpc>
              <a:buNone/>
            </a:pPr>
            <a:r>
              <a:rPr lang="en-US" sz="2800" dirty="0" err="1">
                <a:latin typeface="Times New Roman" panose="02020603050405020304" pitchFamily="18" charset="0"/>
                <a:ea typeface="Instrument Sans SemiBold" pitchFamily="34" charset="-122"/>
                <a:cs typeface="Times New Roman" panose="02020603050405020304" pitchFamily="18" charset="0"/>
              </a:rPr>
              <a:t>Фундамент</a:t>
            </a:r>
            <a:r>
              <a:rPr lang="en-US" sz="2800" dirty="0">
                <a:latin typeface="Times New Roman" panose="02020603050405020304" pitchFamily="18" charset="0"/>
                <a:ea typeface="Instrument Sans SemiBold" pitchFamily="34" charset="-122"/>
                <a:cs typeface="Times New Roman" panose="02020603050405020304" pitchFamily="18" charset="0"/>
              </a:rPr>
              <a:t> массивов</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736DCCDE-1BD9-ECB9-1C50-3D3D868B7D72}"/>
              </a:ext>
            </a:extLst>
          </p:cNvPr>
          <p:cNvSpPr/>
          <p:nvPr/>
        </p:nvSpPr>
        <p:spPr>
          <a:xfrm>
            <a:off x="324465" y="861938"/>
            <a:ext cx="11769212" cy="1163507"/>
          </a:xfrm>
          <a:prstGeom prst="rect">
            <a:avLst/>
          </a:prstGeom>
          <a:noFill/>
          <a:ln/>
        </p:spPr>
        <p:txBody>
          <a:bodyPr wrap="square" lIns="0" tIns="0" rIns="0" bIns="0" rtlCol="0" anchor="t">
            <a:noAutofit/>
          </a:bodyPr>
          <a:lstStyle/>
          <a:p>
            <a:pPr marL="0" indent="0" algn="l">
              <a:lnSpc>
                <a:spcPct val="120000"/>
              </a:lnSpc>
              <a:buNone/>
            </a:pPr>
            <a:r>
              <a:rPr lang="en-US" sz="1600" dirty="0">
                <a:latin typeface="Times New Roman" panose="02020603050405020304" pitchFamily="18" charset="0"/>
                <a:ea typeface="Instrument Sans Medium" pitchFamily="34" charset="-122"/>
                <a:cs typeface="Times New Roman" panose="02020603050405020304" pitchFamily="18" charset="0"/>
              </a:rPr>
              <a:t>Массив в JavaScript </a:t>
            </a:r>
            <a:r>
              <a:rPr lang="ru-RU" sz="1600" dirty="0">
                <a:latin typeface="Times New Roman" panose="02020603050405020304" pitchFamily="18" charset="0"/>
                <a:ea typeface="Instrument Sans Medium" pitchFamily="34" charset="-122"/>
                <a:cs typeface="Times New Roman" panose="02020603050405020304" pitchFamily="18" charset="0"/>
              </a:rPr>
              <a:t>-</a:t>
            </a:r>
            <a:r>
              <a:rPr lang="en-US" sz="1600" dirty="0">
                <a:latin typeface="Times New Roman" panose="02020603050405020304" pitchFamily="18" charset="0"/>
                <a:ea typeface="Instrument Sans Medium" pitchFamily="34" charset="-122"/>
                <a:cs typeface="Times New Roman" panose="02020603050405020304" pitchFamily="18" charset="0"/>
              </a:rPr>
              <a:t> это упорядоченная коллекция значений, объединённых под одним именем. Каждый элемент хранится в отдельной ячейке памяти и доступен через числовой индекс. JavaScript-массивы являются объектами особого типа с уникальным поведением: они динамичны, гетерогенны и поддерживают широкий спектр встроенных методов.</a:t>
            </a:r>
            <a:endParaRPr lang="en-US" sz="1600" dirty="0">
              <a:latin typeface="Times New Roman" panose="02020603050405020304" pitchFamily="18" charset="0"/>
              <a:cs typeface="Times New Roman" panose="02020603050405020304" pitchFamily="18" charset="0"/>
            </a:endParaRPr>
          </a:p>
        </p:txBody>
      </p:sp>
      <p:sp>
        <p:nvSpPr>
          <p:cNvPr id="6" name="Shape 2">
            <a:extLst>
              <a:ext uri="{FF2B5EF4-FFF2-40B4-BE49-F238E27FC236}">
                <a16:creationId xmlns:a16="http://schemas.microsoft.com/office/drawing/2014/main" id="{0D899A17-838B-B837-AB55-5A59C9A38F42}"/>
              </a:ext>
            </a:extLst>
          </p:cNvPr>
          <p:cNvSpPr/>
          <p:nvPr/>
        </p:nvSpPr>
        <p:spPr>
          <a:xfrm>
            <a:off x="324465" y="1989560"/>
            <a:ext cx="5358580" cy="3300196"/>
          </a:xfrm>
          <a:prstGeom prst="roundRect">
            <a:avLst>
              <a:gd name="adj" fmla="val 6199"/>
            </a:avLst>
          </a:prstGeom>
          <a:solidFill>
            <a:srgbClr val="84C1FA"/>
          </a:solidFill>
          <a:ln/>
        </p:spPr>
      </p:sp>
      <p:sp>
        <p:nvSpPr>
          <p:cNvPr id="7" name="Text 3">
            <a:extLst>
              <a:ext uri="{FF2B5EF4-FFF2-40B4-BE49-F238E27FC236}">
                <a16:creationId xmlns:a16="http://schemas.microsoft.com/office/drawing/2014/main" id="{BF052216-EB99-1563-7B86-F19EEA058678}"/>
              </a:ext>
            </a:extLst>
          </p:cNvPr>
          <p:cNvSpPr/>
          <p:nvPr/>
        </p:nvSpPr>
        <p:spPr>
          <a:xfrm>
            <a:off x="601077" y="2041928"/>
            <a:ext cx="3899967" cy="154409"/>
          </a:xfrm>
          <a:prstGeom prst="rect">
            <a:avLst/>
          </a:prstGeom>
          <a:noFill/>
          <a:ln/>
        </p:spPr>
        <p:txBody>
          <a:bodyPr wrap="none" lIns="0" tIns="0" rIns="0" bIns="0" rtlCol="0" anchor="t"/>
          <a:lstStyle/>
          <a:p>
            <a:pPr marL="0" indent="0" algn="ctr">
              <a:lnSpc>
                <a:spcPct val="104000"/>
              </a:lnSpc>
              <a:buNone/>
            </a:pPr>
            <a:r>
              <a:rPr lang="en-US" sz="1600" dirty="0">
                <a:latin typeface="Times New Roman" panose="02020603050405020304" pitchFamily="18" charset="0"/>
                <a:ea typeface="Instrument Sans SemiBold" pitchFamily="34" charset="-122"/>
                <a:cs typeface="Times New Roman" panose="02020603050405020304" pitchFamily="18" charset="0"/>
              </a:rPr>
              <a:t>Создание массивов</a:t>
            </a:r>
            <a:endParaRPr lang="en-US" sz="1600" dirty="0">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77027131-82A3-251E-F943-AD2FD48A1481}"/>
              </a:ext>
            </a:extLst>
          </p:cNvPr>
          <p:cNvSpPr/>
          <p:nvPr/>
        </p:nvSpPr>
        <p:spPr>
          <a:xfrm>
            <a:off x="601077" y="2405205"/>
            <a:ext cx="4885323" cy="1318109"/>
          </a:xfrm>
          <a:prstGeom prst="rect">
            <a:avLst/>
          </a:prstGeom>
          <a:noFill/>
          <a:ln/>
        </p:spPr>
        <p:txBody>
          <a:bodyPr wrap="square" lIns="0" tIns="0" rIns="0" bIns="0" rtlCol="0" anchor="t">
            <a:noAutofit/>
          </a:bodyPr>
          <a:lstStyle/>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Существует два основных способа создания массива. Первый — литеральный синтаксис с квадратными </a:t>
            </a:r>
            <a:r>
              <a:rPr lang="en-US" sz="1400" dirty="0" err="1">
                <a:latin typeface="Times New Roman" panose="02020603050405020304" pitchFamily="18" charset="0"/>
                <a:ea typeface="Instrument Sans Medium" pitchFamily="34" charset="-122"/>
                <a:cs typeface="Times New Roman" panose="02020603050405020304" pitchFamily="18" charset="0"/>
              </a:rPr>
              <a:t>скобками</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является предпочтительным, так как он короче и читаемее. </a:t>
            </a:r>
            <a:r>
              <a:rPr lang="en-US" sz="1400" dirty="0" err="1">
                <a:latin typeface="Times New Roman" panose="02020603050405020304" pitchFamily="18" charset="0"/>
                <a:ea typeface="Instrument Sans Medium" pitchFamily="34" charset="-122"/>
                <a:cs typeface="Times New Roman" panose="02020603050405020304" pitchFamily="18" charset="0"/>
              </a:rPr>
              <a:t>Второй</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конструктор </a:t>
            </a:r>
            <a:r>
              <a:rPr lang="en-US" sz="1400" dirty="0">
                <a:highlight>
                  <a:srgbClr val="77B4ED"/>
                </a:highlight>
                <a:latin typeface="Times New Roman" panose="02020603050405020304" pitchFamily="18" charset="0"/>
                <a:ea typeface="Consolas" pitchFamily="34" charset="-122"/>
                <a:cs typeface="Times New Roman" panose="02020603050405020304" pitchFamily="18" charset="0"/>
              </a:rPr>
              <a:t>new Array()</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используется реже, но полезен при создании массивов заданной длины.</a:t>
            </a:r>
            <a:endParaRPr lang="en-US" sz="1400" dirty="0">
              <a:latin typeface="Times New Roman" panose="02020603050405020304" pitchFamily="18" charset="0"/>
              <a:cs typeface="Times New Roman" panose="02020603050405020304" pitchFamily="18" charset="0"/>
            </a:endParaRPr>
          </a:p>
        </p:txBody>
      </p:sp>
      <p:sp>
        <p:nvSpPr>
          <p:cNvPr id="9" name="Text 6">
            <a:extLst>
              <a:ext uri="{FF2B5EF4-FFF2-40B4-BE49-F238E27FC236}">
                <a16:creationId xmlns:a16="http://schemas.microsoft.com/office/drawing/2014/main" id="{AD2DF56B-A35E-3D63-6943-971DA0BD8799}"/>
              </a:ext>
            </a:extLst>
          </p:cNvPr>
          <p:cNvSpPr/>
          <p:nvPr/>
        </p:nvSpPr>
        <p:spPr>
          <a:xfrm>
            <a:off x="601077" y="3723314"/>
            <a:ext cx="3662735" cy="1066590"/>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arr1 = [1, 2, 3, 4, 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arr2 = new Array(5); // [empty × 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arr3 = new Array(1, 2, 3); // [1, 2, 3]</a:t>
            </a:r>
            <a:endParaRPr lang="en-US" sz="1400" dirty="0">
              <a:latin typeface="Times New Roman" panose="02020603050405020304" pitchFamily="18" charset="0"/>
              <a:cs typeface="Times New Roman" panose="02020603050405020304" pitchFamily="18" charset="0"/>
            </a:endParaRPr>
          </a:p>
        </p:txBody>
      </p:sp>
      <p:sp>
        <p:nvSpPr>
          <p:cNvPr id="10" name="Text 7">
            <a:extLst>
              <a:ext uri="{FF2B5EF4-FFF2-40B4-BE49-F238E27FC236}">
                <a16:creationId xmlns:a16="http://schemas.microsoft.com/office/drawing/2014/main" id="{861023E2-C043-1646-BFF2-BFD4DC8CE6B0}"/>
              </a:ext>
            </a:extLst>
          </p:cNvPr>
          <p:cNvSpPr/>
          <p:nvPr/>
        </p:nvSpPr>
        <p:spPr>
          <a:xfrm>
            <a:off x="601077" y="4667492"/>
            <a:ext cx="4585767" cy="747861"/>
          </a:xfrm>
          <a:prstGeom prst="rect">
            <a:avLst/>
          </a:prstGeom>
          <a:noFill/>
          <a:ln/>
        </p:spPr>
        <p:txBody>
          <a:bodyPr wrap="none" lIns="0" tIns="0" rIns="0" bIns="0" rtlCol="0" anchor="t"/>
          <a:lstStyle/>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Важно: </a:t>
            </a:r>
            <a:r>
              <a:rPr lang="en-US" sz="1400" dirty="0">
                <a:highlight>
                  <a:srgbClr val="77B4ED"/>
                </a:highlight>
                <a:latin typeface="Times New Roman" panose="02020603050405020304" pitchFamily="18" charset="0"/>
                <a:ea typeface="Consolas" pitchFamily="34" charset="-122"/>
                <a:cs typeface="Times New Roman" panose="02020603050405020304" pitchFamily="18" charset="0"/>
              </a:rPr>
              <a:t>new Array(5)</a:t>
            </a:r>
            <a:r>
              <a:rPr lang="en-US" sz="1400" dirty="0">
                <a:latin typeface="Times New Roman" panose="02020603050405020304" pitchFamily="18" charset="0"/>
                <a:ea typeface="Instrument Sans Medium" pitchFamily="34" charset="-122"/>
                <a:cs typeface="Times New Roman" panose="02020603050405020304" pitchFamily="18" charset="0"/>
              </a:rPr>
              <a:t> создаёт массив из 5 пустых ячеек,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а не массив с числом 5!</a:t>
            </a:r>
            <a:endParaRPr lang="en-US" sz="1400" dirty="0">
              <a:latin typeface="Times New Roman" panose="02020603050405020304" pitchFamily="18" charset="0"/>
              <a:cs typeface="Times New Roman" panose="02020603050405020304" pitchFamily="18" charset="0"/>
            </a:endParaRPr>
          </a:p>
        </p:txBody>
      </p:sp>
      <p:sp>
        <p:nvSpPr>
          <p:cNvPr id="11" name="Text 8">
            <a:extLst>
              <a:ext uri="{FF2B5EF4-FFF2-40B4-BE49-F238E27FC236}">
                <a16:creationId xmlns:a16="http://schemas.microsoft.com/office/drawing/2014/main" id="{97BC1DB4-F7CD-F85A-AD44-09ED588932BE}"/>
              </a:ext>
            </a:extLst>
          </p:cNvPr>
          <p:cNvSpPr/>
          <p:nvPr/>
        </p:nvSpPr>
        <p:spPr>
          <a:xfrm>
            <a:off x="7912204" y="1838595"/>
            <a:ext cx="3955331" cy="154409"/>
          </a:xfrm>
          <a:prstGeom prst="rect">
            <a:avLst/>
          </a:prstGeom>
          <a:noFill/>
          <a:ln/>
        </p:spPr>
        <p:txBody>
          <a:bodyPr wrap="none" lIns="0" tIns="0" rIns="0" bIns="0" rtlCol="0" anchor="t"/>
          <a:lstStyle/>
          <a:p>
            <a:pPr marL="0" indent="0" algn="l">
              <a:lnSpc>
                <a:spcPct val="104000"/>
              </a:lnSpc>
              <a:buNone/>
            </a:pPr>
            <a:r>
              <a:rPr lang="en-US" sz="1600" dirty="0">
                <a:latin typeface="Times New Roman" panose="02020603050405020304" pitchFamily="18" charset="0"/>
                <a:ea typeface="Instrument Sans SemiBold" pitchFamily="34" charset="-122"/>
                <a:cs typeface="Times New Roman" panose="02020603050405020304" pitchFamily="18" charset="0"/>
              </a:rPr>
              <a:t>Индексация и доступ к элементам</a:t>
            </a:r>
            <a:endParaRPr lang="en-US" sz="1600" dirty="0">
              <a:latin typeface="Times New Roman" panose="02020603050405020304" pitchFamily="18" charset="0"/>
              <a:cs typeface="Times New Roman" panose="02020603050405020304" pitchFamily="18" charset="0"/>
            </a:endParaRPr>
          </a:p>
        </p:txBody>
      </p:sp>
      <p:sp>
        <p:nvSpPr>
          <p:cNvPr id="12" name="Text 9">
            <a:extLst>
              <a:ext uri="{FF2B5EF4-FFF2-40B4-BE49-F238E27FC236}">
                <a16:creationId xmlns:a16="http://schemas.microsoft.com/office/drawing/2014/main" id="{19E35C0D-98B0-3C1F-62FF-76AF8DE8CF7F}"/>
              </a:ext>
            </a:extLst>
          </p:cNvPr>
          <p:cNvSpPr/>
          <p:nvPr/>
        </p:nvSpPr>
        <p:spPr>
          <a:xfrm>
            <a:off x="6209071" y="2206551"/>
            <a:ext cx="5658464" cy="640092"/>
          </a:xfrm>
          <a:prstGeom prst="rect">
            <a:avLst/>
          </a:prstGeom>
          <a:noFill/>
          <a:ln/>
        </p:spPr>
        <p:txBody>
          <a:bodyPr wrap="square" lIns="0" tIns="0" rIns="0" bIns="0" rtlCol="0" anchor="t">
            <a:noAutofit/>
          </a:bodyPr>
          <a:lstStyle/>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Индексация в JavaScript начинается с нуля. Первый элемент имеет индекс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0</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второй</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1</a:t>
            </a:r>
            <a:r>
              <a:rPr lang="en-US" sz="1400" dirty="0">
                <a:latin typeface="Times New Roman" panose="02020603050405020304" pitchFamily="18" charset="0"/>
                <a:ea typeface="Instrument Sans Medium" pitchFamily="34" charset="-122"/>
                <a:cs typeface="Times New Roman" panose="02020603050405020304" pitchFamily="18" charset="0"/>
              </a:rPr>
              <a:t>, и так далее. Доступ к элементам осуществляется через квадратные скобки.</a:t>
            </a:r>
            <a:endParaRPr lang="en-US" sz="140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BE4752E4-435A-0EB8-BCAE-953089B45D00}"/>
              </a:ext>
            </a:extLst>
          </p:cNvPr>
          <p:cNvSpPr/>
          <p:nvPr/>
        </p:nvSpPr>
        <p:spPr>
          <a:xfrm>
            <a:off x="6386052" y="3042214"/>
            <a:ext cx="5004617" cy="1248778"/>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fruits = ["яблоко", "груша", "слива"];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console.log(fruits[0]); // "яблоко"</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console.log(fruits[1]); // "груша"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console.log(fruits[2]); // "слива"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console.log(fruits[fruits.length - 1]); // "слива"</a:t>
            </a:r>
            <a:endParaRPr lang="en-US" sz="140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52177F53-8A9E-CB2D-4A76-BCF774A03306}"/>
              </a:ext>
            </a:extLst>
          </p:cNvPr>
          <p:cNvSpPr/>
          <p:nvPr/>
        </p:nvSpPr>
        <p:spPr>
          <a:xfrm>
            <a:off x="6386052" y="4515910"/>
            <a:ext cx="5658464" cy="773846"/>
          </a:xfrm>
          <a:prstGeom prst="rect">
            <a:avLst/>
          </a:prstGeom>
          <a:noFill/>
          <a:ln/>
        </p:spPr>
        <p:txBody>
          <a:bodyPr wrap="square" lIns="0" tIns="0" rIns="0" bIns="0" rtlCol="0" anchor="t">
            <a:noAutofit/>
          </a:bodyPr>
          <a:lstStyle/>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Последний индекс всегда равен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length - 1</a:t>
            </a:r>
            <a:r>
              <a:rPr lang="en-US" sz="1400" dirty="0">
                <a:latin typeface="Times New Roman" panose="02020603050405020304" pitchFamily="18" charset="0"/>
                <a:ea typeface="Instrument Sans Medium" pitchFamily="34" charset="-122"/>
                <a:cs typeface="Times New Roman" panose="02020603050405020304" pitchFamily="18" charset="0"/>
              </a:rPr>
              <a:t>. Попытка обратиться к несуществующему индексу вернёт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undefined</a:t>
            </a:r>
            <a:r>
              <a:rPr lang="en-US" sz="1400" dirty="0">
                <a:latin typeface="Times New Roman" panose="02020603050405020304" pitchFamily="18" charset="0"/>
                <a:ea typeface="Instrument Sans Medium" pitchFamily="34" charset="-122"/>
                <a:cs typeface="Times New Roman" panose="02020603050405020304" pitchFamily="18" charset="0"/>
              </a:rPr>
              <a:t>, а не ошибку.</a:t>
            </a:r>
            <a:endParaRPr lang="en-US" sz="1400" dirty="0">
              <a:latin typeface="Times New Roman" panose="02020603050405020304" pitchFamily="18" charset="0"/>
              <a:cs typeface="Times New Roman" panose="02020603050405020304" pitchFamily="18" charset="0"/>
            </a:endParaRPr>
          </a:p>
        </p:txBody>
      </p:sp>
      <p:sp>
        <p:nvSpPr>
          <p:cNvPr id="15" name="Text 14">
            <a:extLst>
              <a:ext uri="{FF2B5EF4-FFF2-40B4-BE49-F238E27FC236}">
                <a16:creationId xmlns:a16="http://schemas.microsoft.com/office/drawing/2014/main" id="{6447A617-EE3C-A142-DFC4-4554B1347982}"/>
              </a:ext>
            </a:extLst>
          </p:cNvPr>
          <p:cNvSpPr/>
          <p:nvPr/>
        </p:nvSpPr>
        <p:spPr>
          <a:xfrm>
            <a:off x="988229" y="5353557"/>
            <a:ext cx="2467124" cy="154409"/>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Свойство length</a:t>
            </a:r>
            <a:endParaRPr lang="en-US" sz="1400" dirty="0">
              <a:latin typeface="Times New Roman" panose="02020603050405020304" pitchFamily="18" charset="0"/>
              <a:cs typeface="Times New Roman" panose="02020603050405020304" pitchFamily="18" charset="0"/>
            </a:endParaRPr>
          </a:p>
        </p:txBody>
      </p:sp>
      <p:sp>
        <p:nvSpPr>
          <p:cNvPr id="16" name="Text 15">
            <a:extLst>
              <a:ext uri="{FF2B5EF4-FFF2-40B4-BE49-F238E27FC236}">
                <a16:creationId xmlns:a16="http://schemas.microsoft.com/office/drawing/2014/main" id="{96B8DA85-D52C-CC73-FA9D-2653A9803A6B}"/>
              </a:ext>
            </a:extLst>
          </p:cNvPr>
          <p:cNvSpPr/>
          <p:nvPr/>
        </p:nvSpPr>
        <p:spPr>
          <a:xfrm>
            <a:off x="226143" y="5647832"/>
            <a:ext cx="3618270" cy="1020827"/>
          </a:xfrm>
          <a:prstGeom prst="rect">
            <a:avLst/>
          </a:prstGeom>
          <a:noFill/>
          <a:ln/>
        </p:spPr>
        <p:txBody>
          <a:bodyPr wrap="square" lIns="0" tIns="0" rIns="0" bIns="0" rtlCol="0" anchor="t">
            <a:noAutofit/>
          </a:bodyPr>
          <a:lstStyle/>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Свойство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length</a:t>
            </a:r>
            <a:r>
              <a:rPr lang="en-US" sz="1400" dirty="0">
                <a:latin typeface="Times New Roman" panose="02020603050405020304" pitchFamily="18" charset="0"/>
                <a:ea typeface="Instrument Sans Medium" pitchFamily="34" charset="-122"/>
                <a:cs typeface="Times New Roman" panose="02020603050405020304" pitchFamily="18" charset="0"/>
              </a:rPr>
              <a:t> хранит количество элементов в массиве. Оно обновляется автоматически при изменении массива. Последний элемент всегда находится по индексу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arr.length - 1</a:t>
            </a:r>
            <a:r>
              <a:rPr lang="en-US" sz="1400" dirty="0">
                <a:latin typeface="Times New Roman" panose="02020603050405020304" pitchFamily="18" charset="0"/>
                <a:ea typeface="Instrument Sans Medium"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7" name="Text 17">
            <a:extLst>
              <a:ext uri="{FF2B5EF4-FFF2-40B4-BE49-F238E27FC236}">
                <a16:creationId xmlns:a16="http://schemas.microsoft.com/office/drawing/2014/main" id="{63731C9E-AAA2-F8B0-BCBE-7EE68A7A3101}"/>
              </a:ext>
            </a:extLst>
          </p:cNvPr>
          <p:cNvSpPr/>
          <p:nvPr/>
        </p:nvSpPr>
        <p:spPr>
          <a:xfrm>
            <a:off x="5393380" y="5389368"/>
            <a:ext cx="2467124" cy="154409"/>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Доступ через скобки</a:t>
            </a:r>
            <a:endParaRPr lang="en-US" sz="1400" dirty="0">
              <a:latin typeface="Times New Roman" panose="02020603050405020304" pitchFamily="18" charset="0"/>
              <a:cs typeface="Times New Roman" panose="02020603050405020304" pitchFamily="18" charset="0"/>
            </a:endParaRPr>
          </a:p>
        </p:txBody>
      </p:sp>
      <p:sp>
        <p:nvSpPr>
          <p:cNvPr id="18" name="Text 18">
            <a:extLst>
              <a:ext uri="{FF2B5EF4-FFF2-40B4-BE49-F238E27FC236}">
                <a16:creationId xmlns:a16="http://schemas.microsoft.com/office/drawing/2014/main" id="{5A7FEAE5-D60B-4D03-27E1-F48B3A0DBB9A}"/>
              </a:ext>
            </a:extLst>
          </p:cNvPr>
          <p:cNvSpPr/>
          <p:nvPr/>
        </p:nvSpPr>
        <p:spPr>
          <a:xfrm>
            <a:off x="4263812" y="5649415"/>
            <a:ext cx="3818304" cy="1107222"/>
          </a:xfrm>
          <a:prstGeom prst="rect">
            <a:avLst/>
          </a:prstGeom>
          <a:noFill/>
          <a:ln/>
        </p:spPr>
        <p:txBody>
          <a:bodyPr wrap="square" lIns="0" tIns="0" rIns="0" bIns="0" rtlCol="0" anchor="t">
            <a:normAutofit/>
          </a:bodyPr>
          <a:lstStyle/>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Квадратные скобки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arr[i]</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основной способ чтения и записи элементов. Индекс может быть переменной, выражением или даже строкой (хотя последнее не рекомендуется).</a:t>
            </a:r>
            <a:endParaRPr lang="en-US" sz="1400" dirty="0">
              <a:latin typeface="Times New Roman" panose="02020603050405020304" pitchFamily="18" charset="0"/>
              <a:cs typeface="Times New Roman" panose="02020603050405020304" pitchFamily="18" charset="0"/>
            </a:endParaRPr>
          </a:p>
        </p:txBody>
      </p:sp>
      <p:sp>
        <p:nvSpPr>
          <p:cNvPr id="19" name="Text 20">
            <a:extLst>
              <a:ext uri="{FF2B5EF4-FFF2-40B4-BE49-F238E27FC236}">
                <a16:creationId xmlns:a16="http://schemas.microsoft.com/office/drawing/2014/main" id="{B84CEC42-A44F-B274-69F0-513D64C8EC9E}"/>
              </a:ext>
            </a:extLst>
          </p:cNvPr>
          <p:cNvSpPr/>
          <p:nvPr/>
        </p:nvSpPr>
        <p:spPr>
          <a:xfrm>
            <a:off x="9211684" y="5389367"/>
            <a:ext cx="2467124" cy="154409"/>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Нулевая индексация</a:t>
            </a:r>
            <a:endParaRPr lang="en-US" sz="1400" dirty="0">
              <a:latin typeface="Times New Roman" panose="02020603050405020304" pitchFamily="18" charset="0"/>
              <a:cs typeface="Times New Roman" panose="02020603050405020304" pitchFamily="18" charset="0"/>
            </a:endParaRPr>
          </a:p>
        </p:txBody>
      </p:sp>
      <p:sp>
        <p:nvSpPr>
          <p:cNvPr id="20" name="Text 21">
            <a:extLst>
              <a:ext uri="{FF2B5EF4-FFF2-40B4-BE49-F238E27FC236}">
                <a16:creationId xmlns:a16="http://schemas.microsoft.com/office/drawing/2014/main" id="{4EE0CB86-D918-DB9F-0F06-B53C36BC90A6}"/>
              </a:ext>
            </a:extLst>
          </p:cNvPr>
          <p:cNvSpPr/>
          <p:nvPr/>
        </p:nvSpPr>
        <p:spPr>
          <a:xfrm>
            <a:off x="8463440" y="5607576"/>
            <a:ext cx="3630237" cy="956710"/>
          </a:xfrm>
          <a:prstGeom prst="rect">
            <a:avLst/>
          </a:prstGeom>
          <a:noFill/>
          <a:ln/>
        </p:spPr>
        <p:txBody>
          <a:bodyPr wrap="square" lIns="0" tIns="0" rIns="0" bIns="0" rtlCol="0" anchor="t">
            <a:noAutofit/>
          </a:bodyPr>
          <a:lstStyle/>
          <a:p>
            <a:pPr marL="0" indent="0" algn="l">
              <a:lnSpc>
                <a:spcPct val="120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Нумерация с </a:t>
            </a:r>
            <a:r>
              <a:rPr lang="en-US" sz="1400" dirty="0" err="1">
                <a:latin typeface="Times New Roman" panose="02020603050405020304" pitchFamily="18" charset="0"/>
                <a:ea typeface="Instrument Sans Medium" pitchFamily="34" charset="-122"/>
                <a:cs typeface="Times New Roman" panose="02020603050405020304" pitchFamily="18" charset="0"/>
              </a:rPr>
              <a:t>нуля</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стандарт для большинства языков программирования. Это связано с тем, что индекс представляет смещение от начала массива в памяти.</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845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919F825-5285-47F7-8BE1-AED5DCBF54EA}"/>
              </a:ext>
            </a:extLst>
          </p:cNvPr>
          <p:cNvSpPr/>
          <p:nvPr/>
        </p:nvSpPr>
        <p:spPr>
          <a:xfrm>
            <a:off x="3248197" y="210911"/>
            <a:ext cx="8151763" cy="320948"/>
          </a:xfrm>
          <a:prstGeom prst="rect">
            <a:avLst/>
          </a:prstGeom>
          <a:noFill/>
          <a:ln/>
        </p:spPr>
        <p:txBody>
          <a:bodyPr wrap="none" lIns="0" tIns="0" rIns="0" bIns="0" rtlCol="0" anchor="t"/>
          <a:lstStyle/>
          <a:p>
            <a:pPr marL="0" indent="0" algn="l">
              <a:lnSpc>
                <a:spcPct val="104000"/>
              </a:lnSpc>
              <a:buNone/>
            </a:pPr>
            <a:r>
              <a:rPr lang="en-US" sz="2400" dirty="0">
                <a:latin typeface="Times New Roman" panose="02020603050405020304" pitchFamily="18" charset="0"/>
                <a:ea typeface="Instrument Sans SemiBold" pitchFamily="34" charset="-122"/>
                <a:cs typeface="Times New Roman" panose="02020603050405020304" pitchFamily="18" charset="0"/>
              </a:rPr>
              <a:t>Изменение элементов и гибкость JavaScript</a:t>
            </a:r>
            <a:endParaRPr lang="en-US" sz="24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E88621B4-9CA0-492E-A414-F33794CB27D6}"/>
              </a:ext>
            </a:extLst>
          </p:cNvPr>
          <p:cNvSpPr/>
          <p:nvPr/>
        </p:nvSpPr>
        <p:spPr>
          <a:xfrm>
            <a:off x="451730" y="772991"/>
            <a:ext cx="11444347" cy="638559"/>
          </a:xfrm>
          <a:prstGeom prst="rect">
            <a:avLst/>
          </a:prstGeom>
          <a:noFill/>
          <a:ln/>
        </p:spPr>
        <p:txBody>
          <a:bodyPr wrap="square" lIns="0" tIns="0" rIns="0" bIns="0" rtlCol="0" anchor="t">
            <a:noAutofit/>
          </a:bodyPr>
          <a:lstStyle/>
          <a:p>
            <a:pPr marL="0" indent="0" algn="l">
              <a:lnSpc>
                <a:spcPct val="12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JavaScript-массивы обладают уникальной гибкостью, которая отличает их от массивов в строго типизированных языках. Вы можете изменять элементы по индексу, добавлять новые за пределами текущей длины и хранить значения любых типов в одном массиве.</a:t>
            </a:r>
            <a:endParaRPr lang="en-US" sz="1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A6071B94-A6B7-49D5-9FB4-7C9C69312368}"/>
              </a:ext>
            </a:extLst>
          </p:cNvPr>
          <p:cNvSpPr/>
          <p:nvPr/>
        </p:nvSpPr>
        <p:spPr>
          <a:xfrm>
            <a:off x="797959" y="1449427"/>
            <a:ext cx="3950568" cy="291299"/>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Получение и запись элементов</a:t>
            </a:r>
            <a:endParaRPr lang="en-US" sz="14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206835AA-CF4D-4BE7-8742-442466188FE5}"/>
              </a:ext>
            </a:extLst>
          </p:cNvPr>
          <p:cNvSpPr/>
          <p:nvPr/>
        </p:nvSpPr>
        <p:spPr>
          <a:xfrm>
            <a:off x="158766" y="1798886"/>
            <a:ext cx="4589761" cy="1630114"/>
          </a:xfrm>
          <a:prstGeom prst="rect">
            <a:avLst/>
          </a:prstGeom>
          <a:noFill/>
          <a:ln/>
        </p:spPr>
        <p:txBody>
          <a:bodyPr wrap="square" lIns="0" tIns="0" rIns="0" bIns="0" rtlCol="0" anchor="t">
            <a:noAutofit/>
          </a:bodyPr>
          <a:lstStyle/>
          <a:p>
            <a:pPr marL="0" indent="0" algn="l">
              <a:lnSpc>
                <a:spcPct val="12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Присваивание по </a:t>
            </a:r>
            <a:r>
              <a:rPr lang="en-US" sz="1400" dirty="0" err="1">
                <a:latin typeface="Times New Roman" panose="02020603050405020304" pitchFamily="18" charset="0"/>
                <a:ea typeface="Instrument Sans Medium" pitchFamily="34" charset="-122"/>
                <a:cs typeface="Times New Roman" panose="02020603050405020304" pitchFamily="18" charset="0"/>
              </a:rPr>
              <a:t>индексу</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простейший способ изменить содержимое массива. Если индекс существует, значение перезаписывается. Если индекс выходит за пределы текущей длины, массив автоматически расширяется, а промежуточные ячейки заполняются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empty</a:t>
            </a:r>
            <a:r>
              <a:rPr lang="en-US" sz="1400" dirty="0">
                <a:latin typeface="Times New Roman" panose="02020603050405020304" pitchFamily="18" charset="0"/>
                <a:ea typeface="Instrument Sans Medium" pitchFamily="34" charset="-122"/>
                <a:cs typeface="Times New Roman" panose="02020603050405020304" pitchFamily="18" charset="0"/>
              </a:rPr>
              <a:t> (разреженные массивы).</a:t>
            </a:r>
            <a:endParaRPr lang="en-US" sz="1400" dirty="0">
              <a:latin typeface="Times New Roman" panose="02020603050405020304" pitchFamily="18" charset="0"/>
              <a:cs typeface="Times New Roman" panose="02020603050405020304" pitchFamily="18" charset="0"/>
            </a:endParaRPr>
          </a:p>
        </p:txBody>
      </p:sp>
      <p:sp>
        <p:nvSpPr>
          <p:cNvPr id="6" name="Text 5">
            <a:extLst>
              <a:ext uri="{FF2B5EF4-FFF2-40B4-BE49-F238E27FC236}">
                <a16:creationId xmlns:a16="http://schemas.microsoft.com/office/drawing/2014/main" id="{9521F221-BD27-4F24-94C3-379F2F760EA6}"/>
              </a:ext>
            </a:extLst>
          </p:cNvPr>
          <p:cNvSpPr/>
          <p:nvPr/>
        </p:nvSpPr>
        <p:spPr>
          <a:xfrm>
            <a:off x="246484" y="3429000"/>
            <a:ext cx="4014797" cy="1502090"/>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 = [10, 20, 30];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arr[1] = 99;        // [10, 99, 30]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arr[5] = 50;        // [10, 99, 30, empty</a:t>
            </a:r>
            <a:r>
              <a:rPr lang="ru-RU" sz="1400" dirty="0">
                <a:latin typeface="Times New Roman" panose="02020603050405020304" pitchFamily="18" charset="0"/>
                <a:ea typeface="Consolas" pitchFamily="34" charset="-122"/>
                <a:cs typeface="Times New Roman" panose="02020603050405020304" pitchFamily="18" charset="0"/>
              </a:rPr>
              <a:t>, </a:t>
            </a:r>
            <a:r>
              <a:rPr lang="en-US" sz="1400" dirty="0">
                <a:latin typeface="Times New Roman" panose="02020603050405020304" pitchFamily="18" charset="0"/>
                <a:ea typeface="Consolas" pitchFamily="34" charset="-122"/>
                <a:cs typeface="Times New Roman" panose="02020603050405020304" pitchFamily="18" charset="0"/>
              </a:rPr>
              <a:t>empty, 50]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console.log(arr.length); // 6</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console.log(arr[3]);     </a:t>
            </a:r>
            <a:endParaRPr lang="en-US" sz="1400" dirty="0">
              <a:latin typeface="Times New Roman" panose="02020603050405020304" pitchFamily="18" charset="0"/>
              <a:cs typeface="Times New Roman" panose="02020603050405020304" pitchFamily="18" charset="0"/>
            </a:endParaRPr>
          </a:p>
        </p:txBody>
      </p:sp>
      <p:sp>
        <p:nvSpPr>
          <p:cNvPr id="7" name="Text 6">
            <a:extLst>
              <a:ext uri="{FF2B5EF4-FFF2-40B4-BE49-F238E27FC236}">
                <a16:creationId xmlns:a16="http://schemas.microsoft.com/office/drawing/2014/main" id="{5DCF89CE-E7E8-4199-87F8-AEE365F0BCCB}"/>
              </a:ext>
            </a:extLst>
          </p:cNvPr>
          <p:cNvSpPr/>
          <p:nvPr/>
        </p:nvSpPr>
        <p:spPr>
          <a:xfrm>
            <a:off x="6761695" y="1475138"/>
            <a:ext cx="3950568" cy="248555"/>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Гетерогенность массивов</a:t>
            </a:r>
            <a:endParaRPr lang="en-US" sz="1400" dirty="0">
              <a:latin typeface="Times New Roman" panose="02020603050405020304" pitchFamily="18" charset="0"/>
              <a:cs typeface="Times New Roman" panose="02020603050405020304" pitchFamily="18" charset="0"/>
            </a:endParaRPr>
          </a:p>
        </p:txBody>
      </p:sp>
      <p:sp>
        <p:nvSpPr>
          <p:cNvPr id="8" name="Text 7">
            <a:extLst>
              <a:ext uri="{FF2B5EF4-FFF2-40B4-BE49-F238E27FC236}">
                <a16:creationId xmlns:a16="http://schemas.microsoft.com/office/drawing/2014/main" id="{7B461005-F201-4DD2-9EE4-0E8C59797204}"/>
              </a:ext>
            </a:extLst>
          </p:cNvPr>
          <p:cNvSpPr/>
          <p:nvPr/>
        </p:nvSpPr>
        <p:spPr>
          <a:xfrm>
            <a:off x="5971583" y="1798886"/>
            <a:ext cx="5613776" cy="1175133"/>
          </a:xfrm>
          <a:prstGeom prst="rect">
            <a:avLst/>
          </a:prstGeom>
          <a:noFill/>
          <a:ln/>
        </p:spPr>
        <p:txBody>
          <a:bodyPr wrap="square" lIns="0" tIns="0" rIns="0" bIns="0" rtlCol="0" anchor="t">
            <a:noAutofit/>
          </a:bodyPr>
          <a:lstStyle/>
          <a:p>
            <a:pPr marL="0" indent="0" algn="l">
              <a:lnSpc>
                <a:spcPct val="12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В отличие от языков вроде Java или C++, JavaScript не накладывает ограничений на типы элементов. Один массив может содержать числа, строки, объекты, функции и даже другие массивы (многомерные массивы).</a:t>
            </a:r>
            <a:endParaRPr lang="en-US" sz="1400" dirty="0">
              <a:latin typeface="Times New Roman" panose="02020603050405020304" pitchFamily="18" charset="0"/>
              <a:cs typeface="Times New Roman" panose="02020603050405020304" pitchFamily="18" charset="0"/>
            </a:endParaRPr>
          </a:p>
        </p:txBody>
      </p:sp>
      <p:sp>
        <p:nvSpPr>
          <p:cNvPr id="9" name="Text 9">
            <a:extLst>
              <a:ext uri="{FF2B5EF4-FFF2-40B4-BE49-F238E27FC236}">
                <a16:creationId xmlns:a16="http://schemas.microsoft.com/office/drawing/2014/main" id="{0A4EFF90-E212-4EC2-8367-2181FDDCC4AF}"/>
              </a:ext>
            </a:extLst>
          </p:cNvPr>
          <p:cNvSpPr/>
          <p:nvPr/>
        </p:nvSpPr>
        <p:spPr>
          <a:xfrm>
            <a:off x="6405530" y="2903134"/>
            <a:ext cx="4469616" cy="2479727"/>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mixed = [</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42,</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"строка",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true,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 name: "obj" },</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[1, 2, 3],</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function() { return 1; }</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0" name="Text 10">
            <a:extLst>
              <a:ext uri="{FF2B5EF4-FFF2-40B4-BE49-F238E27FC236}">
                <a16:creationId xmlns:a16="http://schemas.microsoft.com/office/drawing/2014/main" id="{E9A7F49F-008A-449F-8DAD-DABDC7DF7754}"/>
              </a:ext>
            </a:extLst>
          </p:cNvPr>
          <p:cNvSpPr/>
          <p:nvPr/>
        </p:nvSpPr>
        <p:spPr>
          <a:xfrm>
            <a:off x="6282301" y="5169797"/>
            <a:ext cx="5613776" cy="638559"/>
          </a:xfrm>
          <a:prstGeom prst="rect">
            <a:avLst/>
          </a:prstGeom>
          <a:noFill/>
          <a:ln/>
        </p:spPr>
        <p:txBody>
          <a:bodyPr wrap="square" lIns="0" tIns="0" rIns="0" bIns="0" rtlCol="0" anchor="t">
            <a:noAutofit/>
          </a:bodyPr>
          <a:lstStyle/>
          <a:p>
            <a:pPr marL="0" indent="0" algn="l">
              <a:lnSpc>
                <a:spcPct val="12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Это даёт огромную свободу, но требует дисциплины: смешение типов может усложнить отладку и анализ кода.</a:t>
            </a:r>
            <a:endParaRPr lang="en-US" sz="1400" dirty="0">
              <a:latin typeface="Times New Roman" panose="02020603050405020304" pitchFamily="18" charset="0"/>
              <a:cs typeface="Times New Roman" panose="02020603050405020304" pitchFamily="18" charset="0"/>
            </a:endParaRPr>
          </a:p>
        </p:txBody>
      </p:sp>
      <p:sp>
        <p:nvSpPr>
          <p:cNvPr id="11" name="Shape 11">
            <a:extLst>
              <a:ext uri="{FF2B5EF4-FFF2-40B4-BE49-F238E27FC236}">
                <a16:creationId xmlns:a16="http://schemas.microsoft.com/office/drawing/2014/main" id="{74EFD3C1-3245-4C81-A8B4-6E56220BB2A1}"/>
              </a:ext>
            </a:extLst>
          </p:cNvPr>
          <p:cNvSpPr/>
          <p:nvPr/>
        </p:nvSpPr>
        <p:spPr>
          <a:xfrm>
            <a:off x="451730" y="5808356"/>
            <a:ext cx="9420239" cy="923910"/>
          </a:xfrm>
          <a:prstGeom prst="roundRect">
            <a:avLst>
              <a:gd name="adj" fmla="val 17369"/>
            </a:avLst>
          </a:prstGeom>
          <a:solidFill>
            <a:srgbClr val="CEE6FD"/>
          </a:solidFill>
          <a:ln/>
        </p:spPr>
      </p:sp>
      <p:pic>
        <p:nvPicPr>
          <p:cNvPr id="12" name="Image 0" descr="preencoded.png">
            <a:extLst>
              <a:ext uri="{FF2B5EF4-FFF2-40B4-BE49-F238E27FC236}">
                <a16:creationId xmlns:a16="http://schemas.microsoft.com/office/drawing/2014/main" id="{AC082022-05B0-4C93-BD0A-BA234ABC07C1}"/>
              </a:ext>
            </a:extLst>
          </p:cNvPr>
          <p:cNvPicPr>
            <a:picLocks noChangeAspect="1"/>
          </p:cNvPicPr>
          <p:nvPr/>
        </p:nvPicPr>
        <p:blipFill>
          <a:blip r:embed="rId3"/>
          <a:stretch>
            <a:fillRect/>
          </a:stretch>
        </p:blipFill>
        <p:spPr>
          <a:xfrm>
            <a:off x="554421" y="5946840"/>
            <a:ext cx="181554" cy="145243"/>
          </a:xfrm>
          <a:prstGeom prst="rect">
            <a:avLst/>
          </a:prstGeom>
        </p:spPr>
      </p:pic>
      <p:sp>
        <p:nvSpPr>
          <p:cNvPr id="13" name="Text 12">
            <a:extLst>
              <a:ext uri="{FF2B5EF4-FFF2-40B4-BE49-F238E27FC236}">
                <a16:creationId xmlns:a16="http://schemas.microsoft.com/office/drawing/2014/main" id="{679B6C6D-5379-47F6-ABF3-7F6C86A80BDB}"/>
              </a:ext>
            </a:extLst>
          </p:cNvPr>
          <p:cNvSpPr/>
          <p:nvPr/>
        </p:nvSpPr>
        <p:spPr>
          <a:xfrm>
            <a:off x="797959" y="5859144"/>
            <a:ext cx="8915887" cy="451729"/>
          </a:xfrm>
          <a:prstGeom prst="rect">
            <a:avLst/>
          </a:prstGeom>
          <a:noFill/>
          <a:ln/>
        </p:spPr>
        <p:txBody>
          <a:bodyPr wrap="square" lIns="0" tIns="0" rIns="0" bIns="0" rtlCol="0" anchor="t">
            <a:noAutofit/>
          </a:bodyPr>
          <a:lstStyle/>
          <a:p>
            <a:pPr marL="0" indent="0" algn="l">
              <a:lnSpc>
                <a:spcPct val="122000"/>
              </a:lnSpc>
              <a:buNone/>
            </a:pPr>
            <a:r>
              <a:rPr lang="en-US" sz="1400" b="1" dirty="0">
                <a:latin typeface="Times New Roman" panose="02020603050405020304" pitchFamily="18" charset="0"/>
                <a:ea typeface="Instrument Sans Bold" pitchFamily="34" charset="-122"/>
                <a:cs typeface="Times New Roman" panose="02020603050405020304" pitchFamily="18" charset="0"/>
              </a:rPr>
              <a:t>Важно знать:</a:t>
            </a:r>
            <a:r>
              <a:rPr lang="en-US" sz="1400" dirty="0">
                <a:latin typeface="Times New Roman" panose="02020603050405020304" pitchFamily="18" charset="0"/>
                <a:ea typeface="Instrument Sans Medium" pitchFamily="34" charset="-122"/>
                <a:cs typeface="Times New Roman" panose="02020603050405020304" pitchFamily="18" charset="0"/>
              </a:rPr>
              <a:t> При присваивании по индексу за пределами длины массива свойство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length</a:t>
            </a:r>
            <a:r>
              <a:rPr lang="en-US" sz="1400" dirty="0">
                <a:latin typeface="Times New Roman" panose="02020603050405020304" pitchFamily="18" charset="0"/>
                <a:ea typeface="Instrument Sans Medium" pitchFamily="34" charset="-122"/>
                <a:cs typeface="Times New Roman" panose="02020603050405020304" pitchFamily="18" charset="0"/>
              </a:rPr>
              <a:t> увеличивается автоматически. Промежуточные «дыры» в массиве содержат значение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empty</a:t>
            </a:r>
            <a:r>
              <a:rPr lang="en-US" sz="1400" dirty="0">
                <a:latin typeface="Times New Roman" panose="02020603050405020304" pitchFamily="18" charset="0"/>
                <a:ea typeface="Instrument Sans Medium" pitchFamily="34" charset="-122"/>
                <a:cs typeface="Times New Roman" panose="02020603050405020304" pitchFamily="18" charset="0"/>
              </a:rPr>
              <a:t>, которое ведёт себя как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undefined</a:t>
            </a:r>
            <a:r>
              <a:rPr lang="en-US" sz="1400" dirty="0">
                <a:latin typeface="Times New Roman" panose="02020603050405020304" pitchFamily="18" charset="0"/>
                <a:ea typeface="Instrument Sans Medium" pitchFamily="34" charset="-122"/>
                <a:cs typeface="Times New Roman" panose="02020603050405020304" pitchFamily="18" charset="0"/>
              </a:rPr>
              <a:t> при чтении, но занимает место в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length</a:t>
            </a:r>
            <a:r>
              <a:rPr lang="en-US" sz="1400" dirty="0">
                <a:latin typeface="Times New Roman" panose="02020603050405020304" pitchFamily="18" charset="0"/>
                <a:ea typeface="Instrument Sans Medium"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5770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53F861-CAD9-4990-BB8D-E93B27135FAF}"/>
              </a:ext>
            </a:extLst>
          </p:cNvPr>
          <p:cNvSpPr/>
          <p:nvPr/>
        </p:nvSpPr>
        <p:spPr>
          <a:xfrm>
            <a:off x="4384539" y="206424"/>
            <a:ext cx="2602187" cy="351309"/>
          </a:xfrm>
          <a:prstGeom prst="rect">
            <a:avLst/>
          </a:prstGeom>
          <a:noFill/>
          <a:ln/>
        </p:spPr>
        <p:txBody>
          <a:bodyPr wrap="none" lIns="0" tIns="0" rIns="0" bIns="0" rtlCol="0" anchor="t"/>
          <a:lstStyle/>
          <a:p>
            <a:pPr marL="0" indent="0" algn="l">
              <a:lnSpc>
                <a:spcPct val="104000"/>
              </a:lnSpc>
              <a:buNone/>
            </a:pPr>
            <a:r>
              <a:rPr lang="en-US" sz="2800" dirty="0" err="1">
                <a:latin typeface="Times New Roman" panose="02020603050405020304" pitchFamily="18" charset="0"/>
                <a:ea typeface="Instrument Sans SemiBold" pitchFamily="34" charset="-122"/>
                <a:cs typeface="Times New Roman" panose="02020603050405020304" pitchFamily="18" charset="0"/>
              </a:rPr>
              <a:t>Методы</a:t>
            </a:r>
            <a:r>
              <a:rPr lang="en-US" sz="2800" dirty="0">
                <a:latin typeface="Times New Roman" panose="02020603050405020304" pitchFamily="18" charset="0"/>
                <a:ea typeface="Instrument Sans SemiBold" pitchFamily="34" charset="-122"/>
                <a:cs typeface="Times New Roman" panose="02020603050405020304" pitchFamily="18" charset="0"/>
              </a:rPr>
              <a:t> очереди и стека</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24100C12-CC98-41AE-8B38-ABC2BD145FBB}"/>
              </a:ext>
            </a:extLst>
          </p:cNvPr>
          <p:cNvSpPr/>
          <p:nvPr/>
        </p:nvSpPr>
        <p:spPr>
          <a:xfrm>
            <a:off x="396020" y="841376"/>
            <a:ext cx="11399959" cy="685583"/>
          </a:xfrm>
          <a:prstGeom prst="rect">
            <a:avLst/>
          </a:prstGeom>
          <a:noFill/>
          <a:ln/>
        </p:spPr>
        <p:txBody>
          <a:bodyPr wrap="square" lIns="0" tIns="0" rIns="0" bIns="0" rtlCol="0" anchor="t">
            <a:noAutofit/>
          </a:bodyPr>
          <a:lstStyle/>
          <a:p>
            <a:pPr marL="0" indent="0" algn="l">
              <a:lnSpc>
                <a:spcPct val="12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JavaScript предоставляет четыре ключевых метода для работы с концами массива. Они позволяют использовать массив как стек (LIFO - Last In, First Out) или как очередь (FIFO - First In, First Out). Все эти методы </a:t>
            </a:r>
            <a:r>
              <a:rPr lang="en-US" sz="1400" b="1" dirty="0">
                <a:latin typeface="Times New Roman" panose="02020603050405020304" pitchFamily="18" charset="0"/>
                <a:ea typeface="Instrument Sans Bold" pitchFamily="34" charset="-122"/>
                <a:cs typeface="Times New Roman" panose="02020603050405020304" pitchFamily="18" charset="0"/>
              </a:rPr>
              <a:t>изменяют исходный массив</a:t>
            </a:r>
            <a:r>
              <a:rPr lang="en-US" sz="1400" dirty="0">
                <a:latin typeface="Times New Roman" panose="02020603050405020304" pitchFamily="18" charset="0"/>
                <a:ea typeface="Instrument Sans Medium" pitchFamily="34" charset="-122"/>
                <a:cs typeface="Times New Roman" panose="02020603050405020304" pitchFamily="18" charset="0"/>
              </a:rPr>
              <a:t> и возвращают полезные значения.</a:t>
            </a:r>
            <a:endParaRPr lang="en-US" sz="1400" dirty="0">
              <a:latin typeface="Times New Roman" panose="02020603050405020304" pitchFamily="18" charset="0"/>
              <a:cs typeface="Times New Roman" panose="02020603050405020304" pitchFamily="18" charset="0"/>
            </a:endParaRPr>
          </a:p>
        </p:txBody>
      </p:sp>
      <p:pic>
        <p:nvPicPr>
          <p:cNvPr id="4" name="Image 0" descr="preencoded.png">
            <a:extLst>
              <a:ext uri="{FF2B5EF4-FFF2-40B4-BE49-F238E27FC236}">
                <a16:creationId xmlns:a16="http://schemas.microsoft.com/office/drawing/2014/main" id="{EFABB033-A351-4EFC-80FC-BD1116B81D54}"/>
              </a:ext>
            </a:extLst>
          </p:cNvPr>
          <p:cNvPicPr>
            <a:picLocks noChangeAspect="1"/>
          </p:cNvPicPr>
          <p:nvPr/>
        </p:nvPicPr>
        <p:blipFill>
          <a:blip r:embed="rId3"/>
          <a:stretch>
            <a:fillRect/>
          </a:stretch>
        </p:blipFill>
        <p:spPr>
          <a:xfrm>
            <a:off x="1197455" y="1526959"/>
            <a:ext cx="1146250" cy="708409"/>
          </a:xfrm>
          <a:prstGeom prst="rect">
            <a:avLst/>
          </a:prstGeom>
        </p:spPr>
      </p:pic>
      <p:pic>
        <p:nvPicPr>
          <p:cNvPr id="5" name="Image 1" descr="preencoded.png">
            <a:extLst>
              <a:ext uri="{FF2B5EF4-FFF2-40B4-BE49-F238E27FC236}">
                <a16:creationId xmlns:a16="http://schemas.microsoft.com/office/drawing/2014/main" id="{B37BC3DC-0BEC-4347-B5DB-A77E2BE7B0DF}"/>
              </a:ext>
            </a:extLst>
          </p:cNvPr>
          <p:cNvPicPr>
            <a:picLocks noChangeAspect="1"/>
          </p:cNvPicPr>
          <p:nvPr/>
        </p:nvPicPr>
        <p:blipFill>
          <a:blip r:embed="rId4"/>
          <a:stretch>
            <a:fillRect/>
          </a:stretch>
        </p:blipFill>
        <p:spPr>
          <a:xfrm>
            <a:off x="4259882" y="1456397"/>
            <a:ext cx="1146250" cy="708409"/>
          </a:xfrm>
          <a:prstGeom prst="rect">
            <a:avLst/>
          </a:prstGeom>
        </p:spPr>
      </p:pic>
      <p:pic>
        <p:nvPicPr>
          <p:cNvPr id="6" name="Image 2" descr="preencoded.png">
            <a:extLst>
              <a:ext uri="{FF2B5EF4-FFF2-40B4-BE49-F238E27FC236}">
                <a16:creationId xmlns:a16="http://schemas.microsoft.com/office/drawing/2014/main" id="{BAA8C5B2-D576-4BD9-A07E-3EFEDE2C623F}"/>
              </a:ext>
            </a:extLst>
          </p:cNvPr>
          <p:cNvPicPr>
            <a:picLocks noChangeAspect="1"/>
          </p:cNvPicPr>
          <p:nvPr/>
        </p:nvPicPr>
        <p:blipFill>
          <a:blip r:embed="rId5"/>
          <a:stretch>
            <a:fillRect/>
          </a:stretch>
        </p:blipFill>
        <p:spPr>
          <a:xfrm>
            <a:off x="7205420" y="1526958"/>
            <a:ext cx="1146250" cy="708409"/>
          </a:xfrm>
          <a:prstGeom prst="rect">
            <a:avLst/>
          </a:prstGeom>
        </p:spPr>
      </p:pic>
      <p:pic>
        <p:nvPicPr>
          <p:cNvPr id="7" name="Image 3" descr="preencoded.png">
            <a:extLst>
              <a:ext uri="{FF2B5EF4-FFF2-40B4-BE49-F238E27FC236}">
                <a16:creationId xmlns:a16="http://schemas.microsoft.com/office/drawing/2014/main" id="{4108B8C1-5E60-4993-9309-146AC97F4AAD}"/>
              </a:ext>
            </a:extLst>
          </p:cNvPr>
          <p:cNvPicPr>
            <a:picLocks noChangeAspect="1"/>
          </p:cNvPicPr>
          <p:nvPr/>
        </p:nvPicPr>
        <p:blipFill>
          <a:blip r:embed="rId6"/>
          <a:stretch>
            <a:fillRect/>
          </a:stretch>
        </p:blipFill>
        <p:spPr>
          <a:xfrm>
            <a:off x="9998993" y="1526959"/>
            <a:ext cx="1146250" cy="708409"/>
          </a:xfrm>
          <a:prstGeom prst="rect">
            <a:avLst/>
          </a:prstGeom>
        </p:spPr>
      </p:pic>
      <p:sp>
        <p:nvSpPr>
          <p:cNvPr id="8" name="Text 2">
            <a:extLst>
              <a:ext uri="{FF2B5EF4-FFF2-40B4-BE49-F238E27FC236}">
                <a16:creationId xmlns:a16="http://schemas.microsoft.com/office/drawing/2014/main" id="{65B16BAF-8BB8-484D-BE33-D68331214972}"/>
              </a:ext>
            </a:extLst>
          </p:cNvPr>
          <p:cNvSpPr/>
          <p:nvPr/>
        </p:nvSpPr>
        <p:spPr>
          <a:xfrm>
            <a:off x="877859" y="2406949"/>
            <a:ext cx="1942430" cy="175617"/>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push() - добавить в конец</a:t>
            </a:r>
            <a:endParaRPr lang="en-US" sz="1400" dirty="0">
              <a:latin typeface="Times New Roman" panose="02020603050405020304" pitchFamily="18" charset="0"/>
              <a:cs typeface="Times New Roman" panose="02020603050405020304" pitchFamily="18" charset="0"/>
            </a:endParaRPr>
          </a:p>
        </p:txBody>
      </p:sp>
      <p:sp>
        <p:nvSpPr>
          <p:cNvPr id="9" name="Text 6">
            <a:extLst>
              <a:ext uri="{FF2B5EF4-FFF2-40B4-BE49-F238E27FC236}">
                <a16:creationId xmlns:a16="http://schemas.microsoft.com/office/drawing/2014/main" id="{2DDBDEEC-0748-4D68-AE40-1D7C6B9CB52F}"/>
              </a:ext>
            </a:extLst>
          </p:cNvPr>
          <p:cNvSpPr/>
          <p:nvPr/>
        </p:nvSpPr>
        <p:spPr>
          <a:xfrm>
            <a:off x="3947940" y="2408049"/>
            <a:ext cx="1942430" cy="175617"/>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pop() - удалить из конца</a:t>
            </a:r>
            <a:endParaRPr lang="en-US" sz="1400" dirty="0">
              <a:latin typeface="Times New Roman" panose="02020603050405020304" pitchFamily="18" charset="0"/>
              <a:cs typeface="Times New Roman" panose="02020603050405020304" pitchFamily="18" charset="0"/>
            </a:endParaRPr>
          </a:p>
        </p:txBody>
      </p:sp>
      <p:sp>
        <p:nvSpPr>
          <p:cNvPr id="10" name="Text 10">
            <a:extLst>
              <a:ext uri="{FF2B5EF4-FFF2-40B4-BE49-F238E27FC236}">
                <a16:creationId xmlns:a16="http://schemas.microsoft.com/office/drawing/2014/main" id="{4E2F74E6-60FF-4F08-AD1B-45BA6A13875A}"/>
              </a:ext>
            </a:extLst>
          </p:cNvPr>
          <p:cNvSpPr/>
          <p:nvPr/>
        </p:nvSpPr>
        <p:spPr>
          <a:xfrm>
            <a:off x="6649375" y="2411396"/>
            <a:ext cx="2192485" cy="351234"/>
          </a:xfrm>
          <a:prstGeom prst="rect">
            <a:avLst/>
          </a:prstGeom>
          <a:noFill/>
          <a:ln/>
        </p:spPr>
        <p:txBody>
          <a:bodyPr wrap="square" lIns="0" tIns="0" rIns="0" bIns="0" rtlCol="0" anchor="t">
            <a:noAutofit/>
          </a:bodyPr>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unshift() - добавить в начало</a:t>
            </a:r>
            <a:endParaRPr lang="en-US" sz="1400" dirty="0">
              <a:latin typeface="Times New Roman" panose="02020603050405020304" pitchFamily="18" charset="0"/>
              <a:cs typeface="Times New Roman" panose="02020603050405020304" pitchFamily="18" charset="0"/>
            </a:endParaRPr>
          </a:p>
        </p:txBody>
      </p:sp>
      <p:sp>
        <p:nvSpPr>
          <p:cNvPr id="11" name="Text 14">
            <a:extLst>
              <a:ext uri="{FF2B5EF4-FFF2-40B4-BE49-F238E27FC236}">
                <a16:creationId xmlns:a16="http://schemas.microsoft.com/office/drawing/2014/main" id="{584F76B8-9A5F-4E50-95B0-D42E16E7B1F8}"/>
              </a:ext>
            </a:extLst>
          </p:cNvPr>
          <p:cNvSpPr/>
          <p:nvPr/>
        </p:nvSpPr>
        <p:spPr>
          <a:xfrm>
            <a:off x="9719456" y="2406949"/>
            <a:ext cx="1942505" cy="198919"/>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shift() - удалить </a:t>
            </a:r>
            <a:r>
              <a:rPr lang="en-US" sz="1400" dirty="0" err="1">
                <a:latin typeface="Times New Roman" panose="02020603050405020304" pitchFamily="18" charset="0"/>
                <a:ea typeface="Instrument Sans SemiBold" pitchFamily="34" charset="-122"/>
                <a:cs typeface="Times New Roman" panose="02020603050405020304" pitchFamily="18" charset="0"/>
              </a:rPr>
              <a:t>из</a:t>
            </a:r>
            <a:r>
              <a:rPr lang="en-US" sz="1400" dirty="0">
                <a:latin typeface="Times New Roman" panose="02020603050405020304" pitchFamily="18" charset="0"/>
                <a:ea typeface="Instrument Sans SemiBold" pitchFamily="34" charset="-122"/>
                <a:cs typeface="Times New Roman" panose="02020603050405020304" pitchFamily="18" charset="0"/>
              </a:rPr>
              <a:t> </a:t>
            </a:r>
            <a:r>
              <a:rPr lang="en-US" sz="1400" dirty="0" err="1">
                <a:latin typeface="Times New Roman" panose="02020603050405020304" pitchFamily="18" charset="0"/>
                <a:ea typeface="Instrument Sans SemiBold" pitchFamily="34" charset="-122"/>
                <a:cs typeface="Times New Roman" panose="02020603050405020304" pitchFamily="18" charset="0"/>
              </a:rPr>
              <a:t>начала</a:t>
            </a:r>
            <a:endParaRPr lang="en-US" sz="1400" dirty="0">
              <a:latin typeface="Times New Roman" panose="02020603050405020304" pitchFamily="18" charset="0"/>
              <a:cs typeface="Times New Roman" panose="02020603050405020304" pitchFamily="18" charset="0"/>
            </a:endParaRPr>
          </a:p>
        </p:txBody>
      </p:sp>
      <p:sp>
        <p:nvSpPr>
          <p:cNvPr id="12" name="Text 3">
            <a:extLst>
              <a:ext uri="{FF2B5EF4-FFF2-40B4-BE49-F238E27FC236}">
                <a16:creationId xmlns:a16="http://schemas.microsoft.com/office/drawing/2014/main" id="{DA30984F-D5D4-440A-9EA1-BACB682FF8F2}"/>
              </a:ext>
            </a:extLst>
          </p:cNvPr>
          <p:cNvSpPr/>
          <p:nvPr/>
        </p:nvSpPr>
        <p:spPr>
          <a:xfrm>
            <a:off x="318567" y="2746944"/>
            <a:ext cx="2501722" cy="996254"/>
          </a:xfrm>
          <a:prstGeom prst="rect">
            <a:avLst/>
          </a:prstGeom>
          <a:noFill/>
          <a:ln/>
        </p:spPr>
        <p:txBody>
          <a:bodyPr wrap="square" lIns="0" tIns="0" rIns="0" bIns="0" rtlCol="0" anchor="t">
            <a:noAutofit/>
          </a:bodyPr>
          <a:lstStyle/>
          <a:p>
            <a:pPr marL="0" indent="0" algn="l">
              <a:lnSpc>
                <a:spcPct val="12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Добавляет один или несколько элементов в конец массива и возвращает </a:t>
            </a:r>
            <a:r>
              <a:rPr lang="en-US" sz="1400" b="1" dirty="0">
                <a:latin typeface="Times New Roman" panose="02020603050405020304" pitchFamily="18" charset="0"/>
                <a:ea typeface="Instrument Sans Bold" pitchFamily="34" charset="-122"/>
                <a:cs typeface="Times New Roman" panose="02020603050405020304" pitchFamily="18" charset="0"/>
              </a:rPr>
              <a:t>новую длину</a:t>
            </a:r>
            <a:r>
              <a:rPr lang="en-US" sz="1400" dirty="0">
                <a:latin typeface="Times New Roman" panose="02020603050405020304" pitchFamily="18" charset="0"/>
                <a:ea typeface="Instrument Sans Medium" pitchFamily="34" charset="-122"/>
                <a:cs typeface="Times New Roman" panose="02020603050405020304" pitchFamily="18" charset="0"/>
              </a:rPr>
              <a:t> массива.</a:t>
            </a:r>
            <a:endParaRPr lang="en-US" sz="1400" dirty="0">
              <a:latin typeface="Times New Roman" panose="02020603050405020304" pitchFamily="18" charset="0"/>
              <a:cs typeface="Times New Roman" panose="02020603050405020304" pitchFamily="18" charset="0"/>
            </a:endParaRPr>
          </a:p>
        </p:txBody>
      </p:sp>
      <p:sp>
        <p:nvSpPr>
          <p:cNvPr id="13" name="Text 7">
            <a:extLst>
              <a:ext uri="{FF2B5EF4-FFF2-40B4-BE49-F238E27FC236}">
                <a16:creationId xmlns:a16="http://schemas.microsoft.com/office/drawing/2014/main" id="{DAB64752-6AB8-4EAA-BE38-77DCC4EC212D}"/>
              </a:ext>
            </a:extLst>
          </p:cNvPr>
          <p:cNvSpPr/>
          <p:nvPr/>
        </p:nvSpPr>
        <p:spPr>
          <a:xfrm>
            <a:off x="3661409" y="2779594"/>
            <a:ext cx="2653169" cy="996254"/>
          </a:xfrm>
          <a:prstGeom prst="rect">
            <a:avLst/>
          </a:prstGeom>
          <a:noFill/>
          <a:ln/>
        </p:spPr>
        <p:txBody>
          <a:bodyPr wrap="square" lIns="0" tIns="0" rIns="0" bIns="0" rtlCol="0" anchor="t">
            <a:noAutofit/>
          </a:bodyPr>
          <a:lstStyle/>
          <a:p>
            <a:pPr marL="0" indent="0" algn="l">
              <a:lnSpc>
                <a:spcPct val="12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Удаляет последний элемент массива и </a:t>
            </a:r>
            <a:r>
              <a:rPr lang="en-US" sz="1400" b="1" dirty="0">
                <a:latin typeface="Times New Roman" panose="02020603050405020304" pitchFamily="18" charset="0"/>
                <a:ea typeface="Instrument Sans Bold" pitchFamily="34" charset="-122"/>
                <a:cs typeface="Times New Roman" panose="02020603050405020304" pitchFamily="18" charset="0"/>
              </a:rPr>
              <a:t>возвращает его значение</a:t>
            </a:r>
            <a:r>
              <a:rPr lang="en-US" sz="1400" dirty="0">
                <a:latin typeface="Times New Roman" panose="02020603050405020304" pitchFamily="18" charset="0"/>
                <a:ea typeface="Instrument Sans Medium" pitchFamily="34" charset="-122"/>
                <a:cs typeface="Times New Roman" panose="02020603050405020304" pitchFamily="18" charset="0"/>
              </a:rPr>
              <a:t>. Если массив </a:t>
            </a:r>
            <a:r>
              <a:rPr lang="en-US" sz="1400" dirty="0" err="1">
                <a:latin typeface="Times New Roman" panose="02020603050405020304" pitchFamily="18" charset="0"/>
                <a:ea typeface="Instrument Sans Medium" pitchFamily="34" charset="-122"/>
                <a:cs typeface="Times New Roman" panose="02020603050405020304" pitchFamily="18" charset="0"/>
              </a:rPr>
              <a:t>пуст</a:t>
            </a:r>
            <a:r>
              <a:rPr lang="en-US" sz="1400" dirty="0">
                <a:latin typeface="Times New Roman" panose="02020603050405020304" pitchFamily="18" charset="0"/>
                <a:ea typeface="Instrument Sans Medium" pitchFamily="34" charset="-122"/>
                <a:cs typeface="Times New Roman" panose="02020603050405020304" pitchFamily="18" charset="0"/>
              </a:rPr>
              <a:t> - возвращает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undefined</a:t>
            </a:r>
            <a:r>
              <a:rPr lang="en-US" sz="1400" dirty="0">
                <a:latin typeface="Times New Roman" panose="02020603050405020304" pitchFamily="18" charset="0"/>
                <a:ea typeface="Instrument Sans Medium"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4" name="Text 11">
            <a:extLst>
              <a:ext uri="{FF2B5EF4-FFF2-40B4-BE49-F238E27FC236}">
                <a16:creationId xmlns:a16="http://schemas.microsoft.com/office/drawing/2014/main" id="{10D68119-99AE-4F3E-952F-8CCF1351FC06}"/>
              </a:ext>
            </a:extLst>
          </p:cNvPr>
          <p:cNvSpPr/>
          <p:nvPr/>
        </p:nvSpPr>
        <p:spPr>
          <a:xfrm>
            <a:off x="6649374" y="2743208"/>
            <a:ext cx="2698811" cy="1029801"/>
          </a:xfrm>
          <a:prstGeom prst="rect">
            <a:avLst/>
          </a:prstGeom>
          <a:noFill/>
          <a:ln/>
        </p:spPr>
        <p:txBody>
          <a:bodyPr wrap="square" lIns="0" tIns="0" rIns="0" bIns="0" rtlCol="0" anchor="t">
            <a:normAutofit/>
          </a:bodyPr>
          <a:lstStyle/>
          <a:p>
            <a:pPr marL="0" indent="0" algn="l">
              <a:lnSpc>
                <a:spcPct val="12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Добавляет элементы в начало массива, сдвигая существующие вправо. Возвращает </a:t>
            </a:r>
            <a:r>
              <a:rPr lang="en-US" sz="1400" b="1" dirty="0">
                <a:latin typeface="Times New Roman" panose="02020603050405020304" pitchFamily="18" charset="0"/>
                <a:ea typeface="Instrument Sans Bold" pitchFamily="34" charset="-122"/>
                <a:cs typeface="Times New Roman" panose="02020603050405020304" pitchFamily="18" charset="0"/>
              </a:rPr>
              <a:t>новую длину</a:t>
            </a:r>
            <a:r>
              <a:rPr lang="en-US" sz="1400" dirty="0">
                <a:latin typeface="Times New Roman" panose="02020603050405020304" pitchFamily="18" charset="0"/>
                <a:ea typeface="Instrument Sans Medium"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5" name="Text 15">
            <a:extLst>
              <a:ext uri="{FF2B5EF4-FFF2-40B4-BE49-F238E27FC236}">
                <a16:creationId xmlns:a16="http://schemas.microsoft.com/office/drawing/2014/main" id="{9A39AAD3-7E74-4103-A41B-7ED954CE4035}"/>
              </a:ext>
            </a:extLst>
          </p:cNvPr>
          <p:cNvSpPr/>
          <p:nvPr/>
        </p:nvSpPr>
        <p:spPr>
          <a:xfrm>
            <a:off x="9511451" y="2680515"/>
            <a:ext cx="2591135" cy="1154088"/>
          </a:xfrm>
          <a:prstGeom prst="rect">
            <a:avLst/>
          </a:prstGeom>
          <a:noFill/>
          <a:ln/>
        </p:spPr>
        <p:txBody>
          <a:bodyPr wrap="square" lIns="0" tIns="0" rIns="0" bIns="0" rtlCol="0" anchor="t">
            <a:noAutofit/>
          </a:bodyPr>
          <a:lstStyle/>
          <a:p>
            <a:pPr marL="0" indent="0" algn="l">
              <a:lnSpc>
                <a:spcPct val="12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Удаляет первый элемент и </a:t>
            </a:r>
            <a:r>
              <a:rPr lang="en-US" sz="1400" b="1" dirty="0">
                <a:latin typeface="Times New Roman" panose="02020603050405020304" pitchFamily="18" charset="0"/>
                <a:ea typeface="Instrument Sans Bold" pitchFamily="34" charset="-122"/>
                <a:cs typeface="Times New Roman" panose="02020603050405020304" pitchFamily="18" charset="0"/>
              </a:rPr>
              <a:t>возвращает его</a:t>
            </a:r>
            <a:r>
              <a:rPr lang="en-US" sz="1400" dirty="0">
                <a:latin typeface="Times New Roman" panose="02020603050405020304" pitchFamily="18" charset="0"/>
                <a:ea typeface="Instrument Sans Medium" pitchFamily="34" charset="-122"/>
                <a:cs typeface="Times New Roman" panose="02020603050405020304" pitchFamily="18" charset="0"/>
              </a:rPr>
              <a:t>. Все остальные элементы сдвигаются на одну позицию влево.</a:t>
            </a:r>
            <a:endParaRPr lang="en-US" sz="1400" dirty="0">
              <a:latin typeface="Times New Roman" panose="02020603050405020304" pitchFamily="18" charset="0"/>
              <a:cs typeface="Times New Roman" panose="02020603050405020304" pitchFamily="18" charset="0"/>
            </a:endParaRPr>
          </a:p>
        </p:txBody>
      </p:sp>
      <p:sp>
        <p:nvSpPr>
          <p:cNvPr id="16" name="Text 5">
            <a:extLst>
              <a:ext uri="{FF2B5EF4-FFF2-40B4-BE49-F238E27FC236}">
                <a16:creationId xmlns:a16="http://schemas.microsoft.com/office/drawing/2014/main" id="{5E92904A-9424-494F-9E0F-879C9B57B458}"/>
              </a:ext>
            </a:extLst>
          </p:cNvPr>
          <p:cNvSpPr/>
          <p:nvPr/>
        </p:nvSpPr>
        <p:spPr>
          <a:xfrm>
            <a:off x="329726" y="3837521"/>
            <a:ext cx="2881707" cy="1733609"/>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nchor="t">
            <a:noAutofit/>
          </a:bodyPr>
          <a:lstStyle/>
          <a:p>
            <a:pPr>
              <a:lnSpc>
                <a:spcPct val="133000"/>
              </a:lnSpc>
            </a:pPr>
            <a:r>
              <a:rPr lang="ru-RU" sz="1400" kern="100" dirty="0" err="1">
                <a:effectLst/>
                <a:latin typeface="Times New Roman" panose="02020603050405020304" pitchFamily="18" charset="0"/>
                <a:ea typeface="Aptos"/>
                <a:cs typeface="Times New Roman" panose="02020603050405020304" pitchFamily="18" charset="0"/>
              </a:rPr>
              <a:t>let</a:t>
            </a:r>
            <a:r>
              <a:rPr lang="ru-RU" sz="1400" kern="100" dirty="0">
                <a:effectLst/>
                <a:latin typeface="Times New Roman" panose="02020603050405020304" pitchFamily="18" charset="0"/>
                <a:ea typeface="Aptos"/>
                <a:cs typeface="Times New Roman" panose="02020603050405020304" pitchFamily="18" charset="0"/>
              </a:rPr>
              <a:t> </a:t>
            </a:r>
            <a:r>
              <a:rPr lang="ru-RU" sz="1400" kern="100" dirty="0" err="1">
                <a:effectLst/>
                <a:latin typeface="Times New Roman" panose="02020603050405020304" pitchFamily="18" charset="0"/>
                <a:ea typeface="Aptos"/>
                <a:cs typeface="Times New Roman" panose="02020603050405020304" pitchFamily="18" charset="0"/>
              </a:rPr>
              <a:t>fruits</a:t>
            </a:r>
            <a:r>
              <a:rPr lang="ru-RU" sz="1400" kern="100" dirty="0">
                <a:effectLst/>
                <a:latin typeface="Times New Roman" panose="02020603050405020304" pitchFamily="18" charset="0"/>
                <a:ea typeface="Aptos"/>
                <a:cs typeface="Times New Roman" panose="02020603050405020304" pitchFamily="18" charset="0"/>
              </a:rPr>
              <a:t> = ["яблоко", "груша"];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err="1">
                <a:latin typeface="Times New Roman" panose="02020603050405020304" pitchFamily="18" charset="0"/>
                <a:ea typeface="Consolas" pitchFamily="34" charset="-122"/>
                <a:cs typeface="Times New Roman" panose="02020603050405020304" pitchFamily="18" charset="0"/>
              </a:rPr>
              <a:t>fruits.push</a:t>
            </a:r>
            <a:r>
              <a:rPr lang="en-US" sz="1400" dirty="0">
                <a:latin typeface="Times New Roman" panose="02020603050405020304" pitchFamily="18" charset="0"/>
                <a:ea typeface="Consolas" pitchFamily="34" charset="-122"/>
                <a:cs typeface="Times New Roman" panose="02020603050405020304" pitchFamily="18" charset="0"/>
              </a:rPr>
              <a:t>("</a:t>
            </a:r>
            <a:r>
              <a:rPr lang="ru-RU" sz="1400" dirty="0">
                <a:latin typeface="Times New Roman" panose="02020603050405020304" pitchFamily="18" charset="0"/>
                <a:ea typeface="Consolas" pitchFamily="34" charset="-122"/>
                <a:cs typeface="Times New Roman" panose="02020603050405020304" pitchFamily="18" charset="0"/>
              </a:rPr>
              <a:t>апельсин");</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t>
            </a:r>
            <a:r>
              <a:rPr lang="ru-RU" sz="1400" kern="100" dirty="0" err="1">
                <a:effectLst/>
                <a:latin typeface="Times New Roman" panose="02020603050405020304" pitchFamily="18" charset="0"/>
                <a:ea typeface="Aptos"/>
                <a:cs typeface="Times New Roman" panose="02020603050405020304" pitchFamily="18" charset="0"/>
              </a:rPr>
              <a:t>fruits</a:t>
            </a:r>
            <a:r>
              <a:rPr lang="en-US" sz="1400" dirty="0">
                <a:latin typeface="Times New Roman" panose="02020603050405020304" pitchFamily="18" charset="0"/>
                <a:ea typeface="Consolas" pitchFamily="34" charset="-122"/>
                <a:cs typeface="Times New Roman" panose="02020603050405020304" pitchFamily="18" charset="0"/>
              </a:rPr>
              <a:t>);   </a:t>
            </a:r>
            <a:r>
              <a:rPr lang="ru-RU" sz="1400" dirty="0">
                <a:latin typeface="Times New Roman" panose="02020603050405020304" pitchFamily="18" charset="0"/>
                <a:ea typeface="Consolas" pitchFamily="34" charset="-122"/>
                <a:cs typeface="Times New Roman" panose="02020603050405020304" pitchFamily="18" charset="0"/>
              </a:rPr>
              <a:t>//Что выведет?</a:t>
            </a:r>
          </a:p>
          <a:p>
            <a:pPr>
              <a:lnSpc>
                <a:spcPct val="133000"/>
              </a:lnSpc>
            </a:pPr>
            <a:r>
              <a:rPr lang="ru-RU" sz="1400" kern="100" dirty="0" err="1">
                <a:effectLst/>
                <a:latin typeface="Times New Roman" panose="02020603050405020304" pitchFamily="18" charset="0"/>
                <a:ea typeface="Aptos"/>
                <a:cs typeface="Times New Roman" panose="02020603050405020304" pitchFamily="18" charset="0"/>
              </a:rPr>
              <a:t>fruits.push</a:t>
            </a:r>
            <a:r>
              <a:rPr lang="ru-RU" sz="1400" kern="100" dirty="0">
                <a:effectLst/>
                <a:latin typeface="Times New Roman" panose="02020603050405020304" pitchFamily="18" charset="0"/>
                <a:ea typeface="Aptos"/>
                <a:cs typeface="Times New Roman" panose="02020603050405020304" pitchFamily="18" charset="0"/>
              </a:rPr>
              <a:t>("банан", "киви");</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t>
            </a:r>
            <a:r>
              <a:rPr lang="ru-RU" sz="1400" kern="100" dirty="0" err="1">
                <a:effectLst/>
                <a:latin typeface="Times New Roman" panose="02020603050405020304" pitchFamily="18" charset="0"/>
                <a:ea typeface="Aptos"/>
                <a:cs typeface="Times New Roman" panose="02020603050405020304" pitchFamily="18" charset="0"/>
              </a:rPr>
              <a:t>fruits</a:t>
            </a:r>
            <a:r>
              <a:rPr lang="en-US" sz="1400" dirty="0">
                <a:latin typeface="Times New Roman" panose="02020603050405020304" pitchFamily="18" charset="0"/>
                <a:ea typeface="Consolas" pitchFamily="34" charset="-122"/>
                <a:cs typeface="Times New Roman" panose="02020603050405020304" pitchFamily="18" charset="0"/>
              </a:rPr>
              <a:t>.length); // </a:t>
            </a:r>
            <a:r>
              <a:rPr lang="ru-RU" sz="1400" dirty="0">
                <a:latin typeface="Times New Roman" panose="02020603050405020304" pitchFamily="18" charset="0"/>
                <a:ea typeface="Consolas" pitchFamily="34" charset="-122"/>
                <a:cs typeface="Times New Roman" panose="02020603050405020304" pitchFamily="18" charset="0"/>
              </a:rPr>
              <a:t>Сколько стало элементов?</a:t>
            </a:r>
            <a:endParaRPr lang="en-US" sz="1400" dirty="0">
              <a:latin typeface="Times New Roman" panose="02020603050405020304" pitchFamily="18" charset="0"/>
              <a:cs typeface="Times New Roman" panose="02020603050405020304" pitchFamily="18" charset="0"/>
            </a:endParaRPr>
          </a:p>
        </p:txBody>
      </p:sp>
      <p:sp>
        <p:nvSpPr>
          <p:cNvPr id="17" name="Text 9">
            <a:extLst>
              <a:ext uri="{FF2B5EF4-FFF2-40B4-BE49-F238E27FC236}">
                <a16:creationId xmlns:a16="http://schemas.microsoft.com/office/drawing/2014/main" id="{BB0150B1-8D9B-4E2A-8733-9E9E18B0227F}"/>
              </a:ext>
            </a:extLst>
          </p:cNvPr>
          <p:cNvSpPr/>
          <p:nvPr/>
        </p:nvSpPr>
        <p:spPr>
          <a:xfrm>
            <a:off x="3293918" y="3986787"/>
            <a:ext cx="3249197" cy="115408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nchor="t">
            <a:noAutofit/>
          </a:bodyPr>
          <a:lstStyle/>
          <a:p>
            <a:pPr marL="0" indent="0" algn="l">
              <a:lnSpc>
                <a:spcPct val="133000"/>
              </a:lnSpc>
              <a:buNone/>
            </a:pPr>
            <a:r>
              <a:rPr lang="ru-RU" sz="1400" dirty="0" err="1">
                <a:latin typeface="Times New Roman" panose="02020603050405020304" pitchFamily="18" charset="0"/>
                <a:ea typeface="Consolas" pitchFamily="34" charset="-122"/>
                <a:cs typeface="Times New Roman" panose="02020603050405020304" pitchFamily="18" charset="0"/>
              </a:rPr>
              <a:t>let</a:t>
            </a:r>
            <a:r>
              <a:rPr lang="ru-RU" sz="1400" dirty="0">
                <a:latin typeface="Times New Roman" panose="02020603050405020304" pitchFamily="18" charset="0"/>
                <a:ea typeface="Consolas" pitchFamily="34" charset="-122"/>
                <a:cs typeface="Times New Roman" panose="02020603050405020304" pitchFamily="18" charset="0"/>
              </a:rPr>
              <a:t> </a:t>
            </a:r>
            <a:r>
              <a:rPr lang="ru-RU" sz="1400" dirty="0" err="1">
                <a:latin typeface="Times New Roman" panose="02020603050405020304" pitchFamily="18" charset="0"/>
                <a:ea typeface="Consolas" pitchFamily="34" charset="-122"/>
                <a:cs typeface="Times New Roman" panose="02020603050405020304" pitchFamily="18" charset="0"/>
              </a:rPr>
              <a:t>fruits</a:t>
            </a:r>
            <a:r>
              <a:rPr lang="ru-RU" sz="1400" dirty="0">
                <a:latin typeface="Times New Roman" panose="02020603050405020304" pitchFamily="18" charset="0"/>
                <a:ea typeface="Consolas" pitchFamily="34" charset="-122"/>
                <a:cs typeface="Times New Roman" panose="02020603050405020304" pitchFamily="18" charset="0"/>
              </a:rPr>
              <a:t> = ["яблоко", "груша", "апельсин"];</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item = </a:t>
            </a:r>
            <a:r>
              <a:rPr lang="en-US" sz="1400" dirty="0" err="1">
                <a:latin typeface="Times New Roman" panose="02020603050405020304" pitchFamily="18" charset="0"/>
                <a:ea typeface="Consolas" pitchFamily="34" charset="-122"/>
                <a:cs typeface="Times New Roman" panose="02020603050405020304" pitchFamily="18" charset="0"/>
              </a:rPr>
              <a:t>fruits.pop</a:t>
            </a:r>
            <a:r>
              <a:rPr lang="en-US" sz="1400" dirty="0">
                <a:latin typeface="Times New Roman" panose="02020603050405020304" pitchFamily="18" charset="0"/>
                <a:ea typeface="Consolas" pitchFamily="34" charset="-122"/>
                <a:cs typeface="Times New Roman" panose="02020603050405020304" pitchFamily="18" charset="0"/>
              </a:rPr>
              <a:t>();</a:t>
            </a:r>
          </a:p>
          <a:p>
            <a:pPr>
              <a:lnSpc>
                <a:spcPct val="133000"/>
              </a:lnSpc>
            </a:pPr>
            <a:r>
              <a:rPr lang="en-US" sz="1400" dirty="0">
                <a:latin typeface="Times New Roman" panose="02020603050405020304" pitchFamily="18" charset="0"/>
                <a:ea typeface="Consolas" pitchFamily="34" charset="-122"/>
                <a:cs typeface="Times New Roman" panose="02020603050405020304" pitchFamily="18" charset="0"/>
              </a:rPr>
              <a:t>console.log(</a:t>
            </a:r>
            <a:r>
              <a:rPr lang="ru-RU" sz="1400" dirty="0" err="1">
                <a:latin typeface="Times New Roman" panose="02020603050405020304" pitchFamily="18" charset="0"/>
                <a:ea typeface="Consolas" pitchFamily="34" charset="-122"/>
                <a:cs typeface="Times New Roman" panose="02020603050405020304" pitchFamily="18" charset="0"/>
              </a:rPr>
              <a:t>fruits</a:t>
            </a:r>
            <a:r>
              <a:rPr lang="en-US" sz="1400" dirty="0">
                <a:latin typeface="Times New Roman" panose="02020603050405020304" pitchFamily="18" charset="0"/>
                <a:ea typeface="Consolas" pitchFamily="34" charset="-122"/>
                <a:cs typeface="Times New Roman" panose="02020603050405020304" pitchFamily="18" charset="0"/>
              </a:rPr>
              <a:t>);  // </a:t>
            </a:r>
            <a:r>
              <a:rPr lang="ru-RU" sz="1400" kern="100" dirty="0">
                <a:effectLst/>
                <a:latin typeface="Times New Roman" panose="02020603050405020304" pitchFamily="18" charset="0"/>
                <a:ea typeface="Aptos"/>
                <a:cs typeface="Times New Roman" panose="02020603050405020304" pitchFamily="18" charset="0"/>
              </a:rPr>
              <a:t>["яблоко", "груша"]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console.log(item); // </a:t>
            </a:r>
            <a:r>
              <a:rPr lang="ru-RU" sz="1400" dirty="0">
                <a:latin typeface="Times New Roman" panose="02020603050405020304" pitchFamily="18" charset="0"/>
                <a:ea typeface="Consolas" pitchFamily="34" charset="-122"/>
                <a:cs typeface="Times New Roman" panose="02020603050405020304" pitchFamily="18" charset="0"/>
              </a:rPr>
              <a:t>"апельсин"</a:t>
            </a:r>
            <a:endParaRPr lang="en-US" sz="1400" dirty="0">
              <a:latin typeface="Times New Roman" panose="02020603050405020304" pitchFamily="18" charset="0"/>
              <a:cs typeface="Times New Roman" panose="02020603050405020304" pitchFamily="18" charset="0"/>
            </a:endParaRPr>
          </a:p>
        </p:txBody>
      </p:sp>
      <p:sp>
        <p:nvSpPr>
          <p:cNvPr id="18" name="Text 13">
            <a:extLst>
              <a:ext uri="{FF2B5EF4-FFF2-40B4-BE49-F238E27FC236}">
                <a16:creationId xmlns:a16="http://schemas.microsoft.com/office/drawing/2014/main" id="{B143479E-2C73-4BA1-98E7-E7180D766A62}"/>
              </a:ext>
            </a:extLst>
          </p:cNvPr>
          <p:cNvSpPr/>
          <p:nvPr/>
        </p:nvSpPr>
        <p:spPr>
          <a:xfrm>
            <a:off x="9380535" y="3799385"/>
            <a:ext cx="2798453" cy="1607626"/>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nchor="t">
            <a:normAutofit lnSpcReduction="10000"/>
          </a:bodyPr>
          <a:lstStyle/>
          <a:p>
            <a:pPr marL="0" indent="0" algn="l">
              <a:lnSpc>
                <a:spcPct val="133000"/>
              </a:lnSpc>
              <a:buNone/>
            </a:pPr>
            <a:r>
              <a:rPr lang="ru-RU" sz="1400" dirty="0" err="1">
                <a:latin typeface="Times New Roman" panose="02020603050405020304" pitchFamily="18" charset="0"/>
                <a:ea typeface="Consolas" pitchFamily="34" charset="-122"/>
                <a:cs typeface="Times New Roman" panose="02020603050405020304" pitchFamily="18" charset="0"/>
              </a:rPr>
              <a:t>let</a:t>
            </a:r>
            <a:r>
              <a:rPr lang="ru-RU" sz="1400" dirty="0">
                <a:latin typeface="Times New Roman" panose="02020603050405020304" pitchFamily="18" charset="0"/>
                <a:ea typeface="Consolas" pitchFamily="34" charset="-122"/>
                <a:cs typeface="Times New Roman" panose="02020603050405020304" pitchFamily="18" charset="0"/>
              </a:rPr>
              <a:t> </a:t>
            </a:r>
            <a:r>
              <a:rPr lang="ru-RU" sz="1400" dirty="0" err="1">
                <a:latin typeface="Times New Roman" panose="02020603050405020304" pitchFamily="18" charset="0"/>
                <a:ea typeface="Consolas" pitchFamily="34" charset="-122"/>
                <a:cs typeface="Times New Roman" panose="02020603050405020304" pitchFamily="18" charset="0"/>
              </a:rPr>
              <a:t>fruits</a:t>
            </a:r>
            <a:r>
              <a:rPr lang="ru-RU" sz="1400" dirty="0">
                <a:latin typeface="Times New Roman" panose="02020603050405020304" pitchFamily="18" charset="0"/>
                <a:ea typeface="Consolas" pitchFamily="34" charset="-122"/>
                <a:cs typeface="Times New Roman" panose="02020603050405020304" pitchFamily="18" charset="0"/>
              </a:rPr>
              <a:t> = ["яблоко", "груша", "апельсин"];</a:t>
            </a:r>
          </a:p>
          <a:p>
            <a:pPr marL="0" indent="0" algn="l">
              <a:lnSpc>
                <a:spcPct val="133000"/>
              </a:lnSpc>
              <a:buNone/>
            </a:pPr>
            <a:r>
              <a:rPr lang="en-US" sz="1400" dirty="0" err="1">
                <a:latin typeface="Times New Roman" panose="02020603050405020304" pitchFamily="18" charset="0"/>
                <a:ea typeface="Consolas" pitchFamily="34" charset="-122"/>
                <a:cs typeface="Times New Roman" panose="02020603050405020304" pitchFamily="18" charset="0"/>
              </a:rPr>
              <a:t>fruits.shift</a:t>
            </a:r>
            <a:r>
              <a:rPr lang="en-US" sz="1400" dirty="0">
                <a:latin typeface="Times New Roman" panose="02020603050405020304" pitchFamily="18" charset="0"/>
                <a:ea typeface="Consolas" pitchFamily="34" charset="-122"/>
                <a:cs typeface="Times New Roman" panose="02020603050405020304" pitchFamily="18" charset="0"/>
              </a:rPr>
              <a:t>();</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t>
            </a:r>
            <a:r>
              <a:rPr lang="ru-RU" sz="1400" dirty="0" err="1">
                <a:latin typeface="Times New Roman" panose="02020603050405020304" pitchFamily="18" charset="0"/>
                <a:ea typeface="Consolas" pitchFamily="34" charset="-122"/>
                <a:cs typeface="Times New Roman" panose="02020603050405020304" pitchFamily="18" charset="0"/>
              </a:rPr>
              <a:t>fruits</a:t>
            </a:r>
            <a:r>
              <a:rPr lang="en-US" sz="1400" dirty="0">
                <a:latin typeface="Times New Roman" panose="02020603050405020304" pitchFamily="18" charset="0"/>
                <a:ea typeface="Consolas" pitchFamily="34" charset="-122"/>
                <a:cs typeface="Times New Roman" panose="02020603050405020304" pitchFamily="18" charset="0"/>
              </a:rPr>
              <a:t>);  // </a:t>
            </a:r>
            <a:r>
              <a:rPr lang="ru-RU" sz="1400" dirty="0">
                <a:latin typeface="Times New Roman" panose="02020603050405020304" pitchFamily="18" charset="0"/>
                <a:ea typeface="Consolas" pitchFamily="34" charset="-122"/>
                <a:cs typeface="Times New Roman" panose="02020603050405020304" pitchFamily="18" charset="0"/>
              </a:rPr>
              <a:t>["груша", "апельсин"]</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t>
            </a:r>
            <a:r>
              <a:rPr lang="ru-RU" sz="1400" kern="100" dirty="0" err="1">
                <a:effectLst/>
                <a:latin typeface="Times New Roman" panose="02020603050405020304" pitchFamily="18" charset="0"/>
                <a:ea typeface="Aptos"/>
                <a:cs typeface="Times New Roman" panose="02020603050405020304" pitchFamily="18" charset="0"/>
              </a:rPr>
              <a:t>fruits</a:t>
            </a:r>
            <a:r>
              <a:rPr lang="en-US" sz="1400" dirty="0">
                <a:latin typeface="Times New Roman" panose="02020603050405020304" pitchFamily="18" charset="0"/>
                <a:ea typeface="Consolas" pitchFamily="34" charset="-122"/>
                <a:cs typeface="Times New Roman" panose="02020603050405020304" pitchFamily="18" charset="0"/>
              </a:rPr>
              <a:t>.length); // </a:t>
            </a:r>
            <a:r>
              <a:rPr lang="ru-RU" sz="1400" dirty="0">
                <a:latin typeface="Times New Roman" panose="02020603050405020304" pitchFamily="18" charset="0"/>
                <a:ea typeface="Consolas" pitchFamily="34" charset="-122"/>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19" name="Text 17">
            <a:extLst>
              <a:ext uri="{FF2B5EF4-FFF2-40B4-BE49-F238E27FC236}">
                <a16:creationId xmlns:a16="http://schemas.microsoft.com/office/drawing/2014/main" id="{C9D50CED-E9C9-46B1-837A-C217B83294D3}"/>
              </a:ext>
            </a:extLst>
          </p:cNvPr>
          <p:cNvSpPr/>
          <p:nvPr/>
        </p:nvSpPr>
        <p:spPr>
          <a:xfrm>
            <a:off x="6666258" y="3879396"/>
            <a:ext cx="2591134" cy="1368868"/>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fruits = ["</a:t>
            </a:r>
            <a:r>
              <a:rPr lang="ru-RU" sz="1400" dirty="0">
                <a:latin typeface="Times New Roman" panose="02020603050405020304" pitchFamily="18" charset="0"/>
                <a:ea typeface="Consolas" pitchFamily="34" charset="-122"/>
                <a:cs typeface="Times New Roman" panose="02020603050405020304" pitchFamily="18" charset="0"/>
              </a:rPr>
              <a:t>груша", "апельсин"];</a:t>
            </a:r>
          </a:p>
          <a:p>
            <a:pPr marL="0" indent="0" algn="l">
              <a:lnSpc>
                <a:spcPct val="133000"/>
              </a:lnSpc>
              <a:buNone/>
            </a:pPr>
            <a:r>
              <a:rPr lang="en-US" sz="1400" dirty="0" err="1">
                <a:latin typeface="Times New Roman" panose="02020603050405020304" pitchFamily="18" charset="0"/>
                <a:ea typeface="Consolas" pitchFamily="34" charset="-122"/>
                <a:cs typeface="Times New Roman" panose="02020603050405020304" pitchFamily="18" charset="0"/>
              </a:rPr>
              <a:t>fruits.unshift</a:t>
            </a:r>
            <a:r>
              <a:rPr lang="en-US" sz="1400" dirty="0">
                <a:latin typeface="Times New Roman" panose="02020603050405020304" pitchFamily="18" charset="0"/>
                <a:ea typeface="Consolas" pitchFamily="34" charset="-122"/>
                <a:cs typeface="Times New Roman" panose="02020603050405020304" pitchFamily="18" charset="0"/>
              </a:rPr>
              <a:t>("</a:t>
            </a:r>
            <a:r>
              <a:rPr lang="ru-RU" sz="1400" dirty="0">
                <a:latin typeface="Times New Roman" panose="02020603050405020304" pitchFamily="18" charset="0"/>
                <a:ea typeface="Consolas" pitchFamily="34" charset="-122"/>
                <a:cs typeface="Times New Roman" panose="02020603050405020304" pitchFamily="18" charset="0"/>
              </a:rPr>
              <a:t>яблоко");</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console.log(fruits);   // </a:t>
            </a:r>
            <a:r>
              <a:rPr lang="ru-RU"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err="1">
                <a:latin typeface="Times New Roman" panose="02020603050405020304" pitchFamily="18" charset="0"/>
                <a:ea typeface="Consolas" pitchFamily="34" charset="-122"/>
                <a:cs typeface="Times New Roman" panose="02020603050405020304" pitchFamily="18" charset="0"/>
              </a:rPr>
              <a:t>fruits.unshift</a:t>
            </a:r>
            <a:r>
              <a:rPr lang="en-US" sz="1400" dirty="0">
                <a:latin typeface="Times New Roman" panose="02020603050405020304" pitchFamily="18" charset="0"/>
                <a:ea typeface="Consolas" pitchFamily="34" charset="-122"/>
                <a:cs typeface="Times New Roman" panose="02020603050405020304" pitchFamily="18" charset="0"/>
              </a:rPr>
              <a:t>("</a:t>
            </a:r>
            <a:r>
              <a:rPr lang="ru-RU" sz="1400" dirty="0">
                <a:latin typeface="Times New Roman" panose="02020603050405020304" pitchFamily="18" charset="0"/>
                <a:ea typeface="Consolas" pitchFamily="34" charset="-122"/>
                <a:cs typeface="Times New Roman" panose="02020603050405020304" pitchFamily="18" charset="0"/>
              </a:rPr>
              <a:t>банан", "киви");</a:t>
            </a:r>
          </a:p>
        </p:txBody>
      </p:sp>
      <p:sp>
        <p:nvSpPr>
          <p:cNvPr id="20" name="Shape 18">
            <a:extLst>
              <a:ext uri="{FF2B5EF4-FFF2-40B4-BE49-F238E27FC236}">
                <a16:creationId xmlns:a16="http://schemas.microsoft.com/office/drawing/2014/main" id="{4F99CF06-B015-4698-9668-E8D1B5123F99}"/>
              </a:ext>
            </a:extLst>
          </p:cNvPr>
          <p:cNvSpPr/>
          <p:nvPr/>
        </p:nvSpPr>
        <p:spPr>
          <a:xfrm>
            <a:off x="504997" y="5600942"/>
            <a:ext cx="11156964" cy="916526"/>
          </a:xfrm>
          <a:prstGeom prst="roundRect">
            <a:avLst>
              <a:gd name="adj" fmla="val 16804"/>
            </a:avLst>
          </a:prstGeom>
          <a:solidFill>
            <a:srgbClr val="B6D6FC"/>
          </a:solidFill>
          <a:ln/>
        </p:spPr>
      </p:sp>
      <p:pic>
        <p:nvPicPr>
          <p:cNvPr id="21" name="Image 4" descr="preencoded.png">
            <a:extLst>
              <a:ext uri="{FF2B5EF4-FFF2-40B4-BE49-F238E27FC236}">
                <a16:creationId xmlns:a16="http://schemas.microsoft.com/office/drawing/2014/main" id="{DE737403-C2F5-431D-8A36-F0AD7842CD5D}"/>
              </a:ext>
            </a:extLst>
          </p:cNvPr>
          <p:cNvPicPr>
            <a:picLocks noChangeAspect="1"/>
          </p:cNvPicPr>
          <p:nvPr/>
        </p:nvPicPr>
        <p:blipFill>
          <a:blip r:embed="rId7"/>
          <a:stretch>
            <a:fillRect/>
          </a:stretch>
        </p:blipFill>
        <p:spPr>
          <a:xfrm>
            <a:off x="617361" y="5757286"/>
            <a:ext cx="213867" cy="171048"/>
          </a:xfrm>
          <a:prstGeom prst="rect">
            <a:avLst/>
          </a:prstGeom>
        </p:spPr>
      </p:pic>
      <p:sp>
        <p:nvSpPr>
          <p:cNvPr id="22" name="Text 19">
            <a:extLst>
              <a:ext uri="{FF2B5EF4-FFF2-40B4-BE49-F238E27FC236}">
                <a16:creationId xmlns:a16="http://schemas.microsoft.com/office/drawing/2014/main" id="{858893E8-9174-42EC-96EA-E46F79E7B8D8}"/>
              </a:ext>
            </a:extLst>
          </p:cNvPr>
          <p:cNvSpPr/>
          <p:nvPr/>
        </p:nvSpPr>
        <p:spPr>
          <a:xfrm>
            <a:off x="870221" y="5730869"/>
            <a:ext cx="10503307" cy="536481"/>
          </a:xfrm>
          <a:prstGeom prst="rect">
            <a:avLst/>
          </a:prstGeom>
          <a:noFill/>
          <a:ln/>
        </p:spPr>
        <p:txBody>
          <a:bodyPr wrap="square" lIns="0" tIns="0" rIns="0" bIns="0" rtlCol="0" anchor="t">
            <a:normAutofit/>
          </a:bodyPr>
          <a:lstStyle/>
          <a:p>
            <a:pPr marL="0" indent="0" algn="l">
              <a:lnSpc>
                <a:spcPct val="127000"/>
              </a:lnSpc>
              <a:buNone/>
            </a:pPr>
            <a:r>
              <a:rPr lang="en-US" sz="1400" b="1" dirty="0">
                <a:latin typeface="Times New Roman" panose="02020603050405020304" pitchFamily="18" charset="0"/>
                <a:ea typeface="Instrument Sans Bold" pitchFamily="34" charset="-122"/>
                <a:cs typeface="Times New Roman" panose="02020603050405020304" pitchFamily="18" charset="0"/>
              </a:rPr>
              <a:t>Производительность:</a:t>
            </a:r>
            <a:r>
              <a:rPr lang="en-US" sz="1400" dirty="0">
                <a:latin typeface="Times New Roman" panose="02020603050405020304" pitchFamily="18" charset="0"/>
                <a:ea typeface="Instrument Sans Medium" pitchFamily="34" charset="-122"/>
                <a:cs typeface="Times New Roman" panose="02020603050405020304" pitchFamily="18" charset="0"/>
              </a:rPr>
              <a:t> Методы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push</a:t>
            </a:r>
            <a:r>
              <a:rPr lang="en-US" sz="1400" dirty="0">
                <a:latin typeface="Times New Roman" panose="02020603050405020304" pitchFamily="18" charset="0"/>
                <a:ea typeface="Instrument Sans Medium" pitchFamily="34" charset="-122"/>
                <a:cs typeface="Times New Roman" panose="02020603050405020304" pitchFamily="18" charset="0"/>
              </a:rPr>
              <a:t> 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pop</a:t>
            </a:r>
            <a:r>
              <a:rPr lang="en-US" sz="1400" dirty="0">
                <a:latin typeface="Times New Roman" panose="02020603050405020304" pitchFamily="18" charset="0"/>
                <a:ea typeface="Instrument Sans Medium" pitchFamily="34" charset="-122"/>
                <a:cs typeface="Times New Roman" panose="02020603050405020304" pitchFamily="18" charset="0"/>
              </a:rPr>
              <a:t> работают быстрее, чем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unshift</a:t>
            </a:r>
            <a:r>
              <a:rPr lang="en-US" sz="1400" dirty="0">
                <a:latin typeface="Times New Roman" panose="02020603050405020304" pitchFamily="18" charset="0"/>
                <a:ea typeface="Instrument Sans Medium" pitchFamily="34" charset="-122"/>
                <a:cs typeface="Times New Roman" panose="02020603050405020304" pitchFamily="18" charset="0"/>
              </a:rPr>
              <a:t> 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shift</a:t>
            </a:r>
            <a:r>
              <a:rPr lang="en-US" sz="1400" dirty="0">
                <a:latin typeface="Times New Roman" panose="02020603050405020304" pitchFamily="18" charset="0"/>
                <a:ea typeface="Instrument Sans Medium" pitchFamily="34" charset="-122"/>
                <a:cs typeface="Times New Roman" panose="02020603050405020304" pitchFamily="18" charset="0"/>
              </a:rPr>
              <a:t>, поскольку последние требуют перемещения всех элементов массива. При работе с большими массивами предпочтительнее использовать конец массива.</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2026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3">
            <a:extLst>
              <a:ext uri="{FF2B5EF4-FFF2-40B4-BE49-F238E27FC236}">
                <a16:creationId xmlns:a16="http://schemas.microsoft.com/office/drawing/2014/main" id="{727BAE19-F1D2-4C8E-9313-EA7B0FC4E339}"/>
              </a:ext>
            </a:extLst>
          </p:cNvPr>
          <p:cNvSpPr/>
          <p:nvPr/>
        </p:nvSpPr>
        <p:spPr>
          <a:xfrm>
            <a:off x="6096001" y="5030253"/>
            <a:ext cx="5879976" cy="1705584"/>
          </a:xfrm>
          <a:prstGeom prst="roundRect">
            <a:avLst>
              <a:gd name="adj" fmla="val 9017"/>
            </a:avLst>
          </a:prstGeom>
          <a:solidFill>
            <a:srgbClr val="CEE6FD"/>
          </a:solidFill>
          <a:ln/>
        </p:spPr>
      </p:sp>
      <p:sp>
        <p:nvSpPr>
          <p:cNvPr id="2" name="Text 0">
            <a:extLst>
              <a:ext uri="{FF2B5EF4-FFF2-40B4-BE49-F238E27FC236}">
                <a16:creationId xmlns:a16="http://schemas.microsoft.com/office/drawing/2014/main" id="{BFC4A6D9-8B70-4CBD-9D57-A24F2BA70067}"/>
              </a:ext>
            </a:extLst>
          </p:cNvPr>
          <p:cNvSpPr/>
          <p:nvPr/>
        </p:nvSpPr>
        <p:spPr>
          <a:xfrm>
            <a:off x="1881036" y="122163"/>
            <a:ext cx="8151763" cy="260449"/>
          </a:xfrm>
          <a:prstGeom prst="rect">
            <a:avLst/>
          </a:prstGeom>
          <a:noFill/>
          <a:ln/>
        </p:spPr>
        <p:txBody>
          <a:bodyPr wrap="none" lIns="0" tIns="0" rIns="0" bIns="0" rtlCol="0" anchor="t"/>
          <a:lstStyle/>
          <a:p>
            <a:pPr marL="0" indent="0" algn="ctr">
              <a:lnSpc>
                <a:spcPct val="104000"/>
              </a:lnSpc>
              <a:buNone/>
            </a:pPr>
            <a:r>
              <a:rPr lang="en-US" sz="2800" dirty="0">
                <a:latin typeface="Times New Roman" panose="02020603050405020304" pitchFamily="18" charset="0"/>
                <a:ea typeface="Instrument Sans SemiBold" pitchFamily="34" charset="-122"/>
                <a:cs typeface="Times New Roman" panose="02020603050405020304" pitchFamily="18" charset="0"/>
              </a:rPr>
              <a:t>Манипуляции: splice и slice</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0A224742-EB4D-475C-93A1-9DF2A811EF88}"/>
              </a:ext>
            </a:extLst>
          </p:cNvPr>
          <p:cNvSpPr/>
          <p:nvPr/>
        </p:nvSpPr>
        <p:spPr>
          <a:xfrm>
            <a:off x="496119" y="769813"/>
            <a:ext cx="11479858" cy="552960"/>
          </a:xfrm>
          <a:prstGeom prst="rect">
            <a:avLst/>
          </a:prstGeom>
          <a:noFill/>
          <a:ln/>
        </p:spPr>
        <p:txBody>
          <a:bodyPr wrap="square" lIns="0" tIns="0" rIns="0" bIns="0" rtlCol="0" anchor="t">
            <a:noAutofit/>
          </a:bodyPr>
          <a:lstStyle/>
          <a:p>
            <a:pPr marL="0" indent="0" algn="l">
              <a:lnSpc>
                <a:spcPct val="111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Два мощнейших метода работы с массивами, которые часто путают из-за схожести названий. Ключевое различие: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splice</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b="1" dirty="0">
                <a:latin typeface="Times New Roman" panose="02020603050405020304" pitchFamily="18" charset="0"/>
                <a:ea typeface="Instrument Sans Bold" pitchFamily="34" charset="-122"/>
                <a:cs typeface="Times New Roman" panose="02020603050405020304" pitchFamily="18" charset="0"/>
              </a:rPr>
              <a:t>изменяет</a:t>
            </a:r>
            <a:r>
              <a:rPr lang="en-US" sz="1400" dirty="0">
                <a:latin typeface="Times New Roman" panose="02020603050405020304" pitchFamily="18" charset="0"/>
                <a:ea typeface="Instrument Sans Medium" pitchFamily="34" charset="-122"/>
                <a:cs typeface="Times New Roman" panose="02020603050405020304" pitchFamily="18" charset="0"/>
              </a:rPr>
              <a:t> исходный массив, а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slice</a:t>
            </a:r>
            <a:r>
              <a:rPr lang="en-US" sz="1400" dirty="0">
                <a:latin typeface="Times New Roman" panose="02020603050405020304" pitchFamily="18" charset="0"/>
                <a:ea typeface="Instrument Sans Medium" pitchFamily="34" charset="-122"/>
                <a:cs typeface="Times New Roman" panose="02020603050405020304" pitchFamily="18" charset="0"/>
              </a:rPr>
              <a:t> создаёт </a:t>
            </a:r>
            <a:r>
              <a:rPr lang="en-US" sz="1400" b="1" dirty="0">
                <a:latin typeface="Times New Roman" panose="02020603050405020304" pitchFamily="18" charset="0"/>
                <a:ea typeface="Instrument Sans Bold" pitchFamily="34" charset="-122"/>
                <a:cs typeface="Times New Roman" panose="02020603050405020304" pitchFamily="18" charset="0"/>
              </a:rPr>
              <a:t>новую копию</a:t>
            </a:r>
            <a:r>
              <a:rPr lang="en-US" sz="1400" dirty="0">
                <a:latin typeface="Times New Roman" panose="02020603050405020304" pitchFamily="18" charset="0"/>
                <a:ea typeface="Instrument Sans Medium" pitchFamily="34" charset="-122"/>
                <a:cs typeface="Times New Roman" panose="02020603050405020304" pitchFamily="18" charset="0"/>
              </a:rPr>
              <a:t> без изменений оригинала.</a:t>
            </a:r>
            <a:endParaRPr lang="en-US" sz="1400" dirty="0">
              <a:latin typeface="Times New Roman" panose="02020603050405020304" pitchFamily="18" charset="0"/>
              <a:cs typeface="Times New Roman" panose="02020603050405020304" pitchFamily="18" charset="0"/>
            </a:endParaRPr>
          </a:p>
        </p:txBody>
      </p:sp>
      <p:sp>
        <p:nvSpPr>
          <p:cNvPr id="4" name="Text 3">
            <a:extLst>
              <a:ext uri="{FF2B5EF4-FFF2-40B4-BE49-F238E27FC236}">
                <a16:creationId xmlns:a16="http://schemas.microsoft.com/office/drawing/2014/main" id="{2CC4CB5D-154F-4376-ADFE-8FC0881F3A7C}"/>
              </a:ext>
            </a:extLst>
          </p:cNvPr>
          <p:cNvSpPr/>
          <p:nvPr/>
        </p:nvSpPr>
        <p:spPr>
          <a:xfrm>
            <a:off x="396106" y="1338845"/>
            <a:ext cx="3927500" cy="195337"/>
          </a:xfrm>
          <a:prstGeom prst="rect">
            <a:avLst/>
          </a:prstGeom>
          <a:noFill/>
          <a:ln/>
        </p:spPr>
        <p:txBody>
          <a:bodyPr wrap="none" lIns="0" tIns="0" rIns="0" bIns="0" rtlCol="0" anchor="t"/>
          <a:lstStyle/>
          <a:p>
            <a:pPr marL="0" indent="0" algn="ctr">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splice() - швейцарский нож</a:t>
            </a:r>
            <a:endParaRPr lang="en-US" sz="1400" dirty="0">
              <a:latin typeface="Times New Roman" panose="02020603050405020304" pitchFamily="18" charset="0"/>
              <a:cs typeface="Times New Roman" panose="02020603050405020304" pitchFamily="18" charset="0"/>
            </a:endParaRPr>
          </a:p>
        </p:txBody>
      </p:sp>
      <p:sp>
        <p:nvSpPr>
          <p:cNvPr id="5" name="Text 4">
            <a:extLst>
              <a:ext uri="{FF2B5EF4-FFF2-40B4-BE49-F238E27FC236}">
                <a16:creationId xmlns:a16="http://schemas.microsoft.com/office/drawing/2014/main" id="{9D9AD427-EB17-4F5E-9A7C-AF51A1CF22AE}"/>
              </a:ext>
            </a:extLst>
          </p:cNvPr>
          <p:cNvSpPr/>
          <p:nvPr/>
        </p:nvSpPr>
        <p:spPr>
          <a:xfrm>
            <a:off x="496119" y="1632816"/>
            <a:ext cx="4741706" cy="642109"/>
          </a:xfrm>
          <a:prstGeom prst="rect">
            <a:avLst/>
          </a:prstGeom>
          <a:noFill/>
          <a:ln/>
        </p:spPr>
        <p:txBody>
          <a:bodyPr wrap="square" lIns="0" tIns="0" rIns="0" bIns="0" rtlCol="0" anchor="t">
            <a:noAutofit/>
          </a:bodyPr>
          <a:lstStyle/>
          <a:p>
            <a:pPr marL="0" indent="0" algn="l">
              <a:lnSpc>
                <a:spcPct val="111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Метод </a:t>
            </a:r>
            <a:r>
              <a:rPr lang="en-US" sz="1400" dirty="0">
                <a:latin typeface="Times New Roman" panose="02020603050405020304" pitchFamily="18" charset="0"/>
                <a:ea typeface="Consolas" pitchFamily="34" charset="-122"/>
                <a:cs typeface="Times New Roman" panose="02020603050405020304" pitchFamily="18" charset="0"/>
              </a:rPr>
              <a:t>splice(pos, deleteCount, ...items)</a:t>
            </a:r>
            <a:r>
              <a:rPr lang="en-US" sz="1400" dirty="0">
                <a:latin typeface="Times New Roman" panose="02020603050405020304" pitchFamily="18" charset="0"/>
                <a:ea typeface="Instrument Sans Medium" pitchFamily="34" charset="-122"/>
                <a:cs typeface="Times New Roman" panose="02020603050405020304" pitchFamily="18" charset="0"/>
              </a:rPr>
              <a:t> позволяет удалять, вставлять и заменять элементы прямо в исходном массиве. Возвращает массив удалённых элементов.</a:t>
            </a:r>
            <a:endParaRPr lang="en-US" sz="1400" dirty="0">
              <a:latin typeface="Times New Roman" panose="02020603050405020304" pitchFamily="18" charset="0"/>
              <a:cs typeface="Times New Roman" panose="02020603050405020304" pitchFamily="18" charset="0"/>
            </a:endParaRPr>
          </a:p>
        </p:txBody>
      </p:sp>
      <p:sp>
        <p:nvSpPr>
          <p:cNvPr id="6" name="Text 6">
            <a:extLst>
              <a:ext uri="{FF2B5EF4-FFF2-40B4-BE49-F238E27FC236}">
                <a16:creationId xmlns:a16="http://schemas.microsoft.com/office/drawing/2014/main" id="{35EE0F59-740B-4E9F-8655-888260345092}"/>
              </a:ext>
            </a:extLst>
          </p:cNvPr>
          <p:cNvSpPr/>
          <p:nvPr/>
        </p:nvSpPr>
        <p:spPr>
          <a:xfrm>
            <a:off x="496119" y="2363701"/>
            <a:ext cx="4315578" cy="3155453"/>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 = ["a", "b", "c", "d"];</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Удалить 2 элемента с позиции 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removed = arr.splice(1, 2);</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     // ["a", "d"]</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console.log(removed); // ["b", "c"]</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Вставить элементы</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arr.splice(1, 0, "x", "y");</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 // ["a", "x", "y", "d"]</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Заменить элементы</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arr.splice(1, 2, "Z");</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 // ["a", "Z", "d"]</a:t>
            </a:r>
            <a:endParaRPr lang="en-US" sz="1400" dirty="0">
              <a:latin typeface="Times New Roman" panose="02020603050405020304" pitchFamily="18" charset="0"/>
              <a:cs typeface="Times New Roman" panose="02020603050405020304" pitchFamily="18" charset="0"/>
            </a:endParaRPr>
          </a:p>
        </p:txBody>
      </p:sp>
      <p:sp>
        <p:nvSpPr>
          <p:cNvPr id="7" name="Text 7">
            <a:extLst>
              <a:ext uri="{FF2B5EF4-FFF2-40B4-BE49-F238E27FC236}">
                <a16:creationId xmlns:a16="http://schemas.microsoft.com/office/drawing/2014/main" id="{557026AF-DB16-4D32-A372-34370224983E}"/>
              </a:ext>
            </a:extLst>
          </p:cNvPr>
          <p:cNvSpPr/>
          <p:nvPr/>
        </p:nvSpPr>
        <p:spPr>
          <a:xfrm>
            <a:off x="496118" y="5607929"/>
            <a:ext cx="4315577" cy="721849"/>
          </a:xfrm>
          <a:prstGeom prst="rect">
            <a:avLst/>
          </a:prstGeom>
          <a:noFill/>
          <a:ln/>
        </p:spPr>
        <p:txBody>
          <a:bodyPr wrap="square" lIns="0" tIns="0" rIns="0" bIns="0" rtlCol="0" anchor="t">
            <a:noAutofit/>
          </a:bodyPr>
          <a:lstStyle/>
          <a:p>
            <a:pPr marL="0" indent="0" algn="l">
              <a:lnSpc>
                <a:spcPct val="111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Если </a:t>
            </a:r>
            <a:r>
              <a:rPr lang="en-US" sz="1400" dirty="0">
                <a:latin typeface="Times New Roman" panose="02020603050405020304" pitchFamily="18" charset="0"/>
                <a:ea typeface="Consolas" pitchFamily="34" charset="-122"/>
                <a:cs typeface="Times New Roman" panose="02020603050405020304" pitchFamily="18" charset="0"/>
              </a:rPr>
              <a:t>deleteCount</a:t>
            </a:r>
            <a:r>
              <a:rPr lang="en-US" sz="1400" dirty="0">
                <a:latin typeface="Times New Roman" panose="02020603050405020304" pitchFamily="18" charset="0"/>
                <a:ea typeface="Instrument Sans Medium" pitchFamily="34" charset="-122"/>
                <a:cs typeface="Times New Roman" panose="02020603050405020304" pitchFamily="18" charset="0"/>
              </a:rPr>
              <a:t> равен 0 - ничего не удаляется, только вставка. Отрицательный </a:t>
            </a:r>
            <a:r>
              <a:rPr lang="en-US" sz="1400" dirty="0">
                <a:latin typeface="Times New Roman" panose="02020603050405020304" pitchFamily="18" charset="0"/>
                <a:ea typeface="Consolas" pitchFamily="34" charset="-122"/>
                <a:cs typeface="Times New Roman" panose="02020603050405020304" pitchFamily="18" charset="0"/>
              </a:rPr>
              <a:t>pos</a:t>
            </a:r>
            <a:r>
              <a:rPr lang="en-US" sz="1400" dirty="0">
                <a:latin typeface="Times New Roman" panose="02020603050405020304" pitchFamily="18" charset="0"/>
                <a:ea typeface="Instrument Sans Medium" pitchFamily="34" charset="-122"/>
                <a:cs typeface="Times New Roman" panose="02020603050405020304" pitchFamily="18" charset="0"/>
              </a:rPr>
              <a:t> отсчитывается с конца.</a:t>
            </a:r>
            <a:endParaRPr lang="en-US" sz="1400" dirty="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4E6FFCD6-6A14-4BBF-A95E-6E5AC26E05C9}"/>
              </a:ext>
            </a:extLst>
          </p:cNvPr>
          <p:cNvSpPr/>
          <p:nvPr/>
        </p:nvSpPr>
        <p:spPr>
          <a:xfrm>
            <a:off x="6954177" y="1381173"/>
            <a:ext cx="3974232" cy="306017"/>
          </a:xfrm>
          <a:prstGeom prst="rect">
            <a:avLst/>
          </a:prstGeom>
          <a:noFill/>
          <a:ln/>
        </p:spPr>
        <p:txBody>
          <a:bodyPr wrap="none" lIns="0" tIns="0" rIns="0" bIns="0" rtlCol="0" anchor="t"/>
          <a:lstStyle/>
          <a:p>
            <a:pPr marL="0" indent="0" algn="ctr">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slice() - безопасная копия</a:t>
            </a:r>
            <a:endParaRPr lang="en-US" sz="1400" dirty="0">
              <a:latin typeface="Times New Roman" panose="02020603050405020304" pitchFamily="18" charset="0"/>
              <a:cs typeface="Times New Roman" panose="02020603050405020304" pitchFamily="18" charset="0"/>
            </a:endParaRPr>
          </a:p>
        </p:txBody>
      </p:sp>
      <p:sp>
        <p:nvSpPr>
          <p:cNvPr id="9" name="Text 9">
            <a:extLst>
              <a:ext uri="{FF2B5EF4-FFF2-40B4-BE49-F238E27FC236}">
                <a16:creationId xmlns:a16="http://schemas.microsoft.com/office/drawing/2014/main" id="{BF81898A-1993-46E3-878B-87C62AAC139E}"/>
              </a:ext>
            </a:extLst>
          </p:cNvPr>
          <p:cNvSpPr/>
          <p:nvPr/>
        </p:nvSpPr>
        <p:spPr>
          <a:xfrm>
            <a:off x="6797338" y="1632816"/>
            <a:ext cx="4959656" cy="642108"/>
          </a:xfrm>
          <a:prstGeom prst="rect">
            <a:avLst/>
          </a:prstGeom>
          <a:noFill/>
          <a:ln/>
        </p:spPr>
        <p:txBody>
          <a:bodyPr wrap="square" lIns="0" tIns="0" rIns="0" bIns="0" rtlCol="0" anchor="t">
            <a:noAutofit/>
          </a:bodyPr>
          <a:lstStyle/>
          <a:p>
            <a:pPr marL="0" indent="0" algn="l">
              <a:lnSpc>
                <a:spcPct val="111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Метод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slice(start, end)</a:t>
            </a:r>
            <a:r>
              <a:rPr lang="en-US" sz="1400" dirty="0">
                <a:latin typeface="Times New Roman" panose="02020603050405020304" pitchFamily="18" charset="0"/>
                <a:ea typeface="Instrument Sans Medium" pitchFamily="34" charset="-122"/>
                <a:cs typeface="Times New Roman" panose="02020603050405020304" pitchFamily="18" charset="0"/>
              </a:rPr>
              <a:t> возвращает новый массив с элементами от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start</a:t>
            </a:r>
            <a:r>
              <a:rPr lang="en-US" sz="1400" dirty="0">
                <a:latin typeface="Times New Roman" panose="02020603050405020304" pitchFamily="18" charset="0"/>
                <a:ea typeface="Instrument Sans Medium" pitchFamily="34" charset="-122"/>
                <a:cs typeface="Times New Roman" panose="02020603050405020304" pitchFamily="18" charset="0"/>
              </a:rPr>
              <a:t> до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end</a:t>
            </a:r>
            <a:r>
              <a:rPr lang="en-US" sz="1400" dirty="0">
                <a:latin typeface="Times New Roman" panose="02020603050405020304" pitchFamily="18" charset="0"/>
                <a:ea typeface="Instrument Sans Medium" pitchFamily="34" charset="-122"/>
                <a:cs typeface="Times New Roman" panose="02020603050405020304" pitchFamily="18" charset="0"/>
              </a:rPr>
              <a:t> (не включая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end</a:t>
            </a:r>
            <a:r>
              <a:rPr lang="en-US" sz="1400" dirty="0">
                <a:latin typeface="Times New Roman" panose="02020603050405020304" pitchFamily="18" charset="0"/>
                <a:ea typeface="Instrument Sans Medium" pitchFamily="34" charset="-122"/>
                <a:cs typeface="Times New Roman" panose="02020603050405020304" pitchFamily="18" charset="0"/>
              </a:rPr>
              <a:t>). Исходный массив не изменяется.</a:t>
            </a:r>
            <a:endParaRPr lang="en-US" sz="1400" dirty="0">
              <a:latin typeface="Times New Roman" panose="02020603050405020304" pitchFamily="18" charset="0"/>
              <a:cs typeface="Times New Roman" panose="02020603050405020304" pitchFamily="18" charset="0"/>
            </a:endParaRPr>
          </a:p>
        </p:txBody>
      </p:sp>
      <p:sp>
        <p:nvSpPr>
          <p:cNvPr id="10" name="Text 11">
            <a:extLst>
              <a:ext uri="{FF2B5EF4-FFF2-40B4-BE49-F238E27FC236}">
                <a16:creationId xmlns:a16="http://schemas.microsoft.com/office/drawing/2014/main" id="{4F4ED025-19BA-410B-91F0-A753E11A1888}"/>
              </a:ext>
            </a:extLst>
          </p:cNvPr>
          <p:cNvSpPr/>
          <p:nvPr/>
        </p:nvSpPr>
        <p:spPr>
          <a:xfrm>
            <a:off x="6867759" y="2171233"/>
            <a:ext cx="4315578" cy="2515533"/>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 = [1, 2, 3, 4, 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part = arr.slice(1, 4);</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console.log(part); // [2, 3, 4]</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  // [1, 2, 3, 4, 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Копия всего массива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copy = </a:t>
            </a:r>
            <a:r>
              <a:rPr lang="en-US" sz="1400" dirty="0" err="1">
                <a:latin typeface="Times New Roman" panose="02020603050405020304" pitchFamily="18" charset="0"/>
                <a:ea typeface="Consolas" pitchFamily="34" charset="-122"/>
                <a:cs typeface="Times New Roman" panose="02020603050405020304" pitchFamily="18" charset="0"/>
              </a:rPr>
              <a:t>arr.slice</a:t>
            </a:r>
            <a:r>
              <a:rPr lang="en-US" sz="1400" dirty="0">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Последние 2 элемента</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lastTwo = arr.slice(-2); // [4, 5]</a:t>
            </a:r>
            <a:endParaRPr lang="en-US" sz="1400" dirty="0">
              <a:latin typeface="Times New Roman" panose="02020603050405020304" pitchFamily="18" charset="0"/>
              <a:cs typeface="Times New Roman" panose="02020603050405020304" pitchFamily="18" charset="0"/>
            </a:endParaRPr>
          </a:p>
        </p:txBody>
      </p:sp>
      <p:sp>
        <p:nvSpPr>
          <p:cNvPr id="11" name="Text 12">
            <a:extLst>
              <a:ext uri="{FF2B5EF4-FFF2-40B4-BE49-F238E27FC236}">
                <a16:creationId xmlns:a16="http://schemas.microsoft.com/office/drawing/2014/main" id="{D6CDEA64-1CC9-4828-ABFC-7E22112CF026}"/>
              </a:ext>
            </a:extLst>
          </p:cNvPr>
          <p:cNvSpPr/>
          <p:nvPr/>
        </p:nvSpPr>
        <p:spPr>
          <a:xfrm>
            <a:off x="6867759" y="4495462"/>
            <a:ext cx="5108218" cy="552961"/>
          </a:xfrm>
          <a:prstGeom prst="rect">
            <a:avLst/>
          </a:prstGeom>
          <a:noFill/>
          <a:ln/>
        </p:spPr>
        <p:txBody>
          <a:bodyPr wrap="square" lIns="0" tIns="0" rIns="0" bIns="0" rtlCol="0" anchor="t">
            <a:noAutofit/>
          </a:bodyPr>
          <a:lstStyle/>
          <a:p>
            <a:pPr marL="0" indent="0" algn="l">
              <a:lnSpc>
                <a:spcPct val="111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Отрицательные индексы отсчитываются с конца. Если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end</a:t>
            </a:r>
            <a:r>
              <a:rPr lang="en-US" sz="1400" dirty="0">
                <a:latin typeface="Times New Roman" panose="02020603050405020304" pitchFamily="18" charset="0"/>
                <a:ea typeface="Instrument Sans Medium" pitchFamily="34" charset="-122"/>
                <a:cs typeface="Times New Roman" panose="02020603050405020304" pitchFamily="18" charset="0"/>
              </a:rPr>
              <a:t> не </a:t>
            </a:r>
            <a:r>
              <a:rPr lang="en-US" sz="1400" dirty="0" err="1">
                <a:latin typeface="Times New Roman" panose="02020603050405020304" pitchFamily="18" charset="0"/>
                <a:ea typeface="Instrument Sans Medium" pitchFamily="34" charset="-122"/>
                <a:cs typeface="Times New Roman" panose="02020603050405020304" pitchFamily="18" charset="0"/>
              </a:rPr>
              <a:t>указан</a:t>
            </a:r>
            <a:r>
              <a:rPr lang="en-US" sz="1400" dirty="0">
                <a:latin typeface="Times New Roman" panose="02020603050405020304" pitchFamily="18" charset="0"/>
                <a:ea typeface="Instrument Sans Medium" pitchFamily="34" charset="-122"/>
                <a:cs typeface="Times New Roman" panose="02020603050405020304" pitchFamily="18" charset="0"/>
              </a:rPr>
              <a:t> - копируется до конца массива.</a:t>
            </a:r>
            <a:endParaRPr lang="en-US" sz="1400" dirty="0">
              <a:latin typeface="Times New Roman" panose="02020603050405020304" pitchFamily="18" charset="0"/>
              <a:cs typeface="Times New Roman" panose="02020603050405020304" pitchFamily="18" charset="0"/>
            </a:endParaRPr>
          </a:p>
        </p:txBody>
      </p:sp>
      <p:graphicFrame>
        <p:nvGraphicFramePr>
          <p:cNvPr id="12" name="Таблица 12">
            <a:extLst>
              <a:ext uri="{FF2B5EF4-FFF2-40B4-BE49-F238E27FC236}">
                <a16:creationId xmlns:a16="http://schemas.microsoft.com/office/drawing/2014/main" id="{F5785183-5533-41AE-99CB-E6F615322A0B}"/>
              </a:ext>
            </a:extLst>
          </p:cNvPr>
          <p:cNvGraphicFramePr>
            <a:graphicFrameLocks noGrp="1"/>
          </p:cNvGraphicFramePr>
          <p:nvPr>
            <p:extLst>
              <p:ext uri="{D42A27DB-BD31-4B8C-83A1-F6EECF244321}">
                <p14:modId xmlns:p14="http://schemas.microsoft.com/office/powerpoint/2010/main" val="1727119054"/>
              </p:ext>
            </p:extLst>
          </p:nvPr>
        </p:nvGraphicFramePr>
        <p:xfrm>
          <a:off x="6263112" y="5334856"/>
          <a:ext cx="5524872" cy="1277036"/>
        </p:xfrm>
        <a:graphic>
          <a:graphicData uri="http://schemas.openxmlformats.org/drawingml/2006/table">
            <a:tbl>
              <a:tblPr firstRow="1" bandRow="1">
                <a:tableStyleId>{2D5ABB26-0587-4C30-8999-92F81FD0307C}</a:tableStyleId>
              </a:tblPr>
              <a:tblGrid>
                <a:gridCol w="1841624">
                  <a:extLst>
                    <a:ext uri="{9D8B030D-6E8A-4147-A177-3AD203B41FA5}">
                      <a16:colId xmlns:a16="http://schemas.microsoft.com/office/drawing/2014/main" val="4041928266"/>
                    </a:ext>
                  </a:extLst>
                </a:gridCol>
                <a:gridCol w="1841624">
                  <a:extLst>
                    <a:ext uri="{9D8B030D-6E8A-4147-A177-3AD203B41FA5}">
                      <a16:colId xmlns:a16="http://schemas.microsoft.com/office/drawing/2014/main" val="3921495600"/>
                    </a:ext>
                  </a:extLst>
                </a:gridCol>
                <a:gridCol w="1841624">
                  <a:extLst>
                    <a:ext uri="{9D8B030D-6E8A-4147-A177-3AD203B41FA5}">
                      <a16:colId xmlns:a16="http://schemas.microsoft.com/office/drawing/2014/main" val="2384962266"/>
                    </a:ext>
                  </a:extLst>
                </a:gridCol>
              </a:tblGrid>
              <a:tr h="280634">
                <a:tc>
                  <a:txBody>
                    <a:bodyPr/>
                    <a:lstStyle/>
                    <a:p>
                      <a:r>
                        <a:rPr lang="ru-RU" b="1" dirty="0">
                          <a:latin typeface="Times New Roman" panose="02020603050405020304" pitchFamily="18" charset="0"/>
                          <a:cs typeface="Times New Roman" panose="02020603050405020304" pitchFamily="18" charset="0"/>
                        </a:rPr>
                        <a:t>Характеристика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Times New Roman" panose="02020603050405020304" pitchFamily="18" charset="0"/>
                          <a:cs typeface="Times New Roman" panose="02020603050405020304" pitchFamily="18" charset="0"/>
                        </a:rPr>
                        <a:t>splice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latin typeface="Times New Roman" panose="02020603050405020304" pitchFamily="18" charset="0"/>
                          <a:ea typeface="Instrument Sans SemiBold" pitchFamily="34" charset="-122"/>
                          <a:cs typeface="Times New Roman" panose="02020603050405020304" pitchFamily="18" charset="0"/>
                        </a:rPr>
                        <a:t>slice</a:t>
                      </a:r>
                      <a:endParaRPr lang="ru-RU"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4757342"/>
                  </a:ext>
                </a:extLst>
              </a:tr>
              <a:tr h="280634">
                <a:tc>
                  <a:txBody>
                    <a:bodyPr/>
                    <a:lstStyle/>
                    <a:p>
                      <a:r>
                        <a:rPr lang="ru-RU" dirty="0">
                          <a:latin typeface="Times New Roman" panose="02020603050405020304" pitchFamily="18" charset="0"/>
                          <a:cs typeface="Times New Roman" panose="02020603050405020304" pitchFamily="18" charset="0"/>
                        </a:rPr>
                        <a:t>Изменяет оригинал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872914"/>
                  </a:ext>
                </a:extLst>
              </a:tr>
              <a:tr h="264342">
                <a:tc>
                  <a:txBody>
                    <a:bodyPr/>
                    <a:lstStyle/>
                    <a:p>
                      <a:r>
                        <a:rPr lang="ru-RU" dirty="0">
                          <a:latin typeface="Times New Roman" panose="02020603050405020304" pitchFamily="18" charset="0"/>
                          <a:cs typeface="Times New Roman" panose="02020603050405020304" pitchFamily="18" charset="0"/>
                        </a:rPr>
                        <a:t>Возвращает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Удалённые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Копию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1200979"/>
                  </a:ext>
                </a:extLst>
              </a:tr>
              <a:tr h="362636">
                <a:tc>
                  <a:txBody>
                    <a:bodyPr/>
                    <a:lstStyle/>
                    <a:p>
                      <a:r>
                        <a:rPr lang="ru-RU" dirty="0">
                          <a:latin typeface="Times New Roman" panose="02020603050405020304" pitchFamily="18" charset="0"/>
                          <a:cs typeface="Times New Roman" panose="02020603050405020304" pitchFamily="18" charset="0"/>
                        </a:rPr>
                        <a:t>Третий параметр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Вставка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66360"/>
                  </a:ext>
                </a:extLst>
              </a:tr>
            </a:tbl>
          </a:graphicData>
        </a:graphic>
      </p:graphicFrame>
      <p:sp>
        <p:nvSpPr>
          <p:cNvPr id="13" name="Text 14">
            <a:extLst>
              <a:ext uri="{FF2B5EF4-FFF2-40B4-BE49-F238E27FC236}">
                <a16:creationId xmlns:a16="http://schemas.microsoft.com/office/drawing/2014/main" id="{327B89DF-B515-444E-A839-520CA4A410F6}"/>
              </a:ext>
            </a:extLst>
          </p:cNvPr>
          <p:cNvSpPr/>
          <p:nvPr/>
        </p:nvSpPr>
        <p:spPr>
          <a:xfrm>
            <a:off x="8593464" y="5030253"/>
            <a:ext cx="1784532" cy="316757"/>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Сравнение</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61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2" descr="preencoded.png">
            <a:extLst>
              <a:ext uri="{FF2B5EF4-FFF2-40B4-BE49-F238E27FC236}">
                <a16:creationId xmlns:a16="http://schemas.microsoft.com/office/drawing/2014/main" id="{F8F2297D-40DC-49E7-822E-7169BF1CC9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9770" y="3860104"/>
            <a:ext cx="5670901" cy="2871796"/>
          </a:xfrm>
          <a:prstGeom prst="rect">
            <a:avLst/>
          </a:prstGeom>
        </p:spPr>
      </p:pic>
      <p:pic>
        <p:nvPicPr>
          <p:cNvPr id="22" name="Image 2" descr="preencoded.png">
            <a:extLst>
              <a:ext uri="{FF2B5EF4-FFF2-40B4-BE49-F238E27FC236}">
                <a16:creationId xmlns:a16="http://schemas.microsoft.com/office/drawing/2014/main" id="{65EFF25A-A734-4F19-86DF-A1158721A6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6000" y="1190566"/>
            <a:ext cx="5670902" cy="2554384"/>
          </a:xfrm>
          <a:prstGeom prst="rect">
            <a:avLst/>
          </a:prstGeom>
        </p:spPr>
      </p:pic>
      <p:pic>
        <p:nvPicPr>
          <p:cNvPr id="21" name="Image 2" descr="preencoded.png">
            <a:extLst>
              <a:ext uri="{FF2B5EF4-FFF2-40B4-BE49-F238E27FC236}">
                <a16:creationId xmlns:a16="http://schemas.microsoft.com/office/drawing/2014/main" id="{95323FD1-09F4-4E1C-8082-25C8FF6233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7175" y="4291964"/>
            <a:ext cx="5263306" cy="2566035"/>
          </a:xfrm>
          <a:prstGeom prst="rect">
            <a:avLst/>
          </a:prstGeom>
        </p:spPr>
      </p:pic>
      <p:pic>
        <p:nvPicPr>
          <p:cNvPr id="20" name="Image 2" descr="preencoded.png">
            <a:extLst>
              <a:ext uri="{FF2B5EF4-FFF2-40B4-BE49-F238E27FC236}">
                <a16:creationId xmlns:a16="http://schemas.microsoft.com/office/drawing/2014/main" id="{80BD96A5-34C5-466A-8835-EADC59D978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7175" y="1184520"/>
            <a:ext cx="5263306" cy="3053749"/>
          </a:xfrm>
          <a:prstGeom prst="rect">
            <a:avLst/>
          </a:prstGeom>
        </p:spPr>
      </p:pic>
      <p:sp>
        <p:nvSpPr>
          <p:cNvPr id="2" name="Text 0">
            <a:extLst>
              <a:ext uri="{FF2B5EF4-FFF2-40B4-BE49-F238E27FC236}">
                <a16:creationId xmlns:a16="http://schemas.microsoft.com/office/drawing/2014/main" id="{DA1644F0-EA34-48F5-B74A-DBB46BE2D61F}"/>
              </a:ext>
            </a:extLst>
          </p:cNvPr>
          <p:cNvSpPr/>
          <p:nvPr/>
        </p:nvSpPr>
        <p:spPr>
          <a:xfrm>
            <a:off x="1952056" y="126100"/>
            <a:ext cx="8151763" cy="266477"/>
          </a:xfrm>
          <a:prstGeom prst="rect">
            <a:avLst/>
          </a:prstGeom>
          <a:noFill/>
          <a:ln/>
        </p:spPr>
        <p:txBody>
          <a:bodyPr wrap="none" lIns="0" tIns="0" rIns="0" bIns="0" rtlCol="0" anchor="t"/>
          <a:lstStyle/>
          <a:p>
            <a:pPr marL="0" indent="0" algn="ctr">
              <a:lnSpc>
                <a:spcPct val="104000"/>
              </a:lnSpc>
              <a:buNone/>
            </a:pPr>
            <a:r>
              <a:rPr lang="en-US" sz="2800" dirty="0">
                <a:latin typeface="Times New Roman" panose="02020603050405020304" pitchFamily="18" charset="0"/>
                <a:ea typeface="Instrument Sans SemiBold" pitchFamily="34" charset="-122"/>
                <a:cs typeface="Times New Roman" panose="02020603050405020304" pitchFamily="18" charset="0"/>
              </a:rPr>
              <a:t>Преобразования и поиск в массивах</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F11D4DBD-7877-4599-A9CA-800F830C793C}"/>
              </a:ext>
            </a:extLst>
          </p:cNvPr>
          <p:cNvSpPr/>
          <p:nvPr/>
        </p:nvSpPr>
        <p:spPr>
          <a:xfrm>
            <a:off x="425098" y="642945"/>
            <a:ext cx="11488735" cy="795238"/>
          </a:xfrm>
          <a:prstGeom prst="rect">
            <a:avLst/>
          </a:prstGeom>
          <a:noFill/>
          <a:ln/>
        </p:spPr>
        <p:txBody>
          <a:bodyPr wrap="square" lIns="0" tIns="0" rIns="0" bIns="0" rtlCol="0" anchor="t">
            <a:noAutofit/>
          </a:bodyPr>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JavaScript предоставляет удобные методы для объединения массивов, преобразования в строку и поиска элементов. Эти методы не изменяют исходные массивы (кроме случаев, явно оговорённых), что делает код предсказуемым и безопасным.</a:t>
            </a:r>
            <a:endParaRPr lang="en-US" sz="1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132264F5-B663-4DED-90D4-AB51CDD8316D}"/>
              </a:ext>
            </a:extLst>
          </p:cNvPr>
          <p:cNvSpPr/>
          <p:nvPr/>
        </p:nvSpPr>
        <p:spPr>
          <a:xfrm>
            <a:off x="588847" y="1229302"/>
            <a:ext cx="3818855" cy="284485"/>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concat()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объединение массивов</a:t>
            </a:r>
            <a:endParaRPr lang="en-US" sz="1400" b="1"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D8720641-9EAC-4E62-858A-578CDAADA637}"/>
              </a:ext>
            </a:extLst>
          </p:cNvPr>
          <p:cNvSpPr/>
          <p:nvPr/>
        </p:nvSpPr>
        <p:spPr>
          <a:xfrm>
            <a:off x="425097" y="1491879"/>
            <a:ext cx="4590785" cy="795237"/>
          </a:xfrm>
          <a:prstGeom prst="rect">
            <a:avLst/>
          </a:prstGeom>
          <a:noFill/>
          <a:ln/>
        </p:spPr>
        <p:txBody>
          <a:bodyPr wrap="square" lIns="0" tIns="0" rIns="0" bIns="0" rtlCol="0" anchor="t">
            <a:noAutofit/>
          </a:bodyPr>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Метод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concat()</a:t>
            </a:r>
            <a:r>
              <a:rPr lang="en-US" sz="1400" dirty="0">
                <a:latin typeface="Times New Roman" panose="02020603050405020304" pitchFamily="18" charset="0"/>
                <a:ea typeface="Instrument Sans Medium" pitchFamily="34" charset="-122"/>
                <a:cs typeface="Times New Roman" panose="02020603050405020304" pitchFamily="18" charset="0"/>
              </a:rPr>
              <a:t> создаёт новый массив, объединяя исходный с переданными значениями или массивами. Исходные массивы не изменяются.</a:t>
            </a:r>
            <a:endParaRPr lang="en-US" sz="1400" dirty="0">
              <a:latin typeface="Times New Roman" panose="02020603050405020304" pitchFamily="18" charset="0"/>
              <a:cs typeface="Times New Roman" panose="02020603050405020304" pitchFamily="18" charset="0"/>
            </a:endParaRPr>
          </a:p>
        </p:txBody>
      </p:sp>
      <p:sp>
        <p:nvSpPr>
          <p:cNvPr id="6" name="Text 5">
            <a:extLst>
              <a:ext uri="{FF2B5EF4-FFF2-40B4-BE49-F238E27FC236}">
                <a16:creationId xmlns:a16="http://schemas.microsoft.com/office/drawing/2014/main" id="{A5986CD6-489C-4D50-873A-AAA972ABC12C}"/>
              </a:ext>
            </a:extLst>
          </p:cNvPr>
          <p:cNvSpPr/>
          <p:nvPr/>
        </p:nvSpPr>
        <p:spPr>
          <a:xfrm>
            <a:off x="422585" y="2257590"/>
            <a:ext cx="4151377" cy="1487360"/>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arr1 = [1, 2];</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arr2 = [3, 4];</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result = arr1.concat(arr2, 5, 6);</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console.log(result); // [1, 2, 3, 4, 5, 6]</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console.log(arr1);   // [1, 2] </a:t>
            </a:r>
            <a:r>
              <a:rPr lang="ru-RU" sz="1400" dirty="0">
                <a:latin typeface="Times New Roman" panose="02020603050405020304" pitchFamily="18" charset="0"/>
                <a:ea typeface="Consolas" pitchFamily="34" charset="-122"/>
                <a:cs typeface="Times New Roman" panose="02020603050405020304" pitchFamily="18" charset="0"/>
              </a:rPr>
              <a:t>-</a:t>
            </a:r>
            <a:r>
              <a:rPr lang="en-US" sz="1400" dirty="0">
                <a:latin typeface="Times New Roman" panose="02020603050405020304" pitchFamily="18" charset="0"/>
                <a:ea typeface="Consolas" pitchFamily="34" charset="-122"/>
                <a:cs typeface="Times New Roman" panose="02020603050405020304" pitchFamily="18" charset="0"/>
              </a:rPr>
              <a:t> не изменился</a:t>
            </a:r>
            <a:endParaRPr lang="en-US" sz="1400" dirty="0">
              <a:latin typeface="Times New Roman" panose="02020603050405020304" pitchFamily="18" charset="0"/>
              <a:cs typeface="Times New Roman" panose="02020603050405020304" pitchFamily="18" charset="0"/>
            </a:endParaRPr>
          </a:p>
        </p:txBody>
      </p:sp>
      <p:sp>
        <p:nvSpPr>
          <p:cNvPr id="7" name="Text 6">
            <a:extLst>
              <a:ext uri="{FF2B5EF4-FFF2-40B4-BE49-F238E27FC236}">
                <a16:creationId xmlns:a16="http://schemas.microsoft.com/office/drawing/2014/main" id="{77AE42C7-C67B-49E6-AE66-29D924F5054A}"/>
              </a:ext>
            </a:extLst>
          </p:cNvPr>
          <p:cNvSpPr/>
          <p:nvPr/>
        </p:nvSpPr>
        <p:spPr>
          <a:xfrm>
            <a:off x="422585" y="3667912"/>
            <a:ext cx="5147896" cy="570357"/>
          </a:xfrm>
          <a:prstGeom prst="rect">
            <a:avLst/>
          </a:prstGeom>
          <a:noFill/>
          <a:ln/>
        </p:spPr>
        <p:txBody>
          <a:bodyPr wrap="square" lIns="0" tIns="0" rIns="0" bIns="0" rtlCol="0" anchor="t">
            <a:noAutofit/>
          </a:bodyPr>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Можно передавать как отдельные значения, так и целые </a:t>
            </a:r>
            <a:r>
              <a:rPr lang="en-US" sz="1400" dirty="0" err="1">
                <a:latin typeface="Times New Roman" panose="02020603050405020304" pitchFamily="18" charset="0"/>
                <a:ea typeface="Instrument Sans Medium" pitchFamily="34" charset="-122"/>
                <a:cs typeface="Times New Roman" panose="02020603050405020304" pitchFamily="18" charset="0"/>
              </a:rPr>
              <a:t>массивы</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они будут «развёрнуты» в результат.</a:t>
            </a:r>
            <a:endParaRPr lang="en-US" sz="1400" dirty="0">
              <a:latin typeface="Times New Roman" panose="02020603050405020304" pitchFamily="18" charset="0"/>
              <a:cs typeface="Times New Roman" panose="02020603050405020304" pitchFamily="18" charset="0"/>
            </a:endParaRPr>
          </a:p>
        </p:txBody>
      </p:sp>
      <p:sp>
        <p:nvSpPr>
          <p:cNvPr id="8" name="Text 7">
            <a:extLst>
              <a:ext uri="{FF2B5EF4-FFF2-40B4-BE49-F238E27FC236}">
                <a16:creationId xmlns:a16="http://schemas.microsoft.com/office/drawing/2014/main" id="{1D8790CA-6085-4FFF-90D7-29A855157663}"/>
              </a:ext>
            </a:extLst>
          </p:cNvPr>
          <p:cNvSpPr/>
          <p:nvPr/>
        </p:nvSpPr>
        <p:spPr>
          <a:xfrm>
            <a:off x="6417562" y="1227028"/>
            <a:ext cx="3818930" cy="208881"/>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join()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массив в строку</a:t>
            </a:r>
            <a:endParaRPr lang="en-US" sz="1400" b="1" dirty="0">
              <a:latin typeface="Times New Roman" panose="02020603050405020304" pitchFamily="18" charset="0"/>
              <a:cs typeface="Times New Roman" panose="02020603050405020304" pitchFamily="18" charset="0"/>
            </a:endParaRPr>
          </a:p>
        </p:txBody>
      </p:sp>
      <p:sp>
        <p:nvSpPr>
          <p:cNvPr id="9" name="Text 8">
            <a:extLst>
              <a:ext uri="{FF2B5EF4-FFF2-40B4-BE49-F238E27FC236}">
                <a16:creationId xmlns:a16="http://schemas.microsoft.com/office/drawing/2014/main" id="{17F02F9E-9025-496D-B084-79D9248B1CAD}"/>
              </a:ext>
            </a:extLst>
          </p:cNvPr>
          <p:cNvSpPr/>
          <p:nvPr/>
        </p:nvSpPr>
        <p:spPr>
          <a:xfrm>
            <a:off x="6417562" y="1435909"/>
            <a:ext cx="5611681" cy="730242"/>
          </a:xfrm>
          <a:prstGeom prst="rect">
            <a:avLst/>
          </a:prstGeom>
          <a:noFill/>
          <a:ln/>
        </p:spPr>
        <p:txBody>
          <a:bodyPr wrap="square" lIns="0" tIns="0" rIns="0" bIns="0" rtlCol="0" anchor="t">
            <a:noAutofit/>
          </a:bodyPr>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Метод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join(separator)</a:t>
            </a:r>
            <a:r>
              <a:rPr lang="en-US" sz="1400" dirty="0">
                <a:latin typeface="Times New Roman" panose="02020603050405020304" pitchFamily="18" charset="0"/>
                <a:ea typeface="Instrument Sans Medium" pitchFamily="34" charset="-122"/>
                <a:cs typeface="Times New Roman" panose="02020603050405020304" pitchFamily="18" charset="0"/>
              </a:rPr>
              <a:t> склеивает все элементы массива в одну строку, разделяя их указанным разделителем. По умолчанию </a:t>
            </a:r>
            <a:r>
              <a:rPr lang="en-US" sz="1400" dirty="0" err="1">
                <a:latin typeface="Times New Roman" panose="02020603050405020304" pitchFamily="18" charset="0"/>
                <a:ea typeface="Instrument Sans Medium" pitchFamily="34" charset="-122"/>
                <a:cs typeface="Times New Roman" panose="02020603050405020304" pitchFamily="18" charset="0"/>
              </a:rPr>
              <a:t>разделитель</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запятая.</a:t>
            </a:r>
            <a:endParaRPr lang="en-US" sz="1400" dirty="0">
              <a:latin typeface="Times New Roman" panose="02020603050405020304" pitchFamily="18" charset="0"/>
              <a:cs typeface="Times New Roman" panose="02020603050405020304" pitchFamily="18" charset="0"/>
            </a:endParaRPr>
          </a:p>
        </p:txBody>
      </p:sp>
      <p:sp>
        <p:nvSpPr>
          <p:cNvPr id="10" name="Text 10">
            <a:extLst>
              <a:ext uri="{FF2B5EF4-FFF2-40B4-BE49-F238E27FC236}">
                <a16:creationId xmlns:a16="http://schemas.microsoft.com/office/drawing/2014/main" id="{465E5E00-5CAD-47EF-A753-122D74559F22}"/>
              </a:ext>
            </a:extLst>
          </p:cNvPr>
          <p:cNvSpPr/>
          <p:nvPr/>
        </p:nvSpPr>
        <p:spPr>
          <a:xfrm>
            <a:off x="6417562" y="2197800"/>
            <a:ext cx="3987605" cy="1060305"/>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 = ["HTML", "CSS", "JS"];</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str1 = arr.join();       // "HTML,CSS,JS"</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str2 = arr.join(" + ");  // "HTML + CSS + JS"</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str3 = arr.join("");     // "HTMLCSSJS"</a:t>
            </a:r>
            <a:endParaRPr lang="en-US" sz="1400" dirty="0">
              <a:latin typeface="Times New Roman" panose="02020603050405020304" pitchFamily="18" charset="0"/>
              <a:cs typeface="Times New Roman" panose="02020603050405020304" pitchFamily="18" charset="0"/>
            </a:endParaRPr>
          </a:p>
        </p:txBody>
      </p:sp>
      <p:sp>
        <p:nvSpPr>
          <p:cNvPr id="11" name="Text 11">
            <a:extLst>
              <a:ext uri="{FF2B5EF4-FFF2-40B4-BE49-F238E27FC236}">
                <a16:creationId xmlns:a16="http://schemas.microsoft.com/office/drawing/2014/main" id="{32FE7BF4-127D-401B-A262-CCD5543E03C1}"/>
              </a:ext>
            </a:extLst>
          </p:cNvPr>
          <p:cNvSpPr/>
          <p:nvPr/>
        </p:nvSpPr>
        <p:spPr>
          <a:xfrm>
            <a:off x="6417562" y="3475252"/>
            <a:ext cx="3818930" cy="333268"/>
          </a:xfrm>
          <a:prstGeom prst="rect">
            <a:avLst/>
          </a:prstGeom>
          <a:noFill/>
          <a:ln/>
        </p:spPr>
        <p:txBody>
          <a:bodyPr wrap="none" lIns="0" tIns="0" rIns="0" bIns="0" rtlCol="0" anchor="t"/>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Обратная </a:t>
            </a:r>
            <a:r>
              <a:rPr lang="en-US" sz="1400" dirty="0" err="1">
                <a:latin typeface="Times New Roman" panose="02020603050405020304" pitchFamily="18" charset="0"/>
                <a:ea typeface="Instrument Sans Medium" pitchFamily="34" charset="-122"/>
                <a:cs typeface="Times New Roman" panose="02020603050405020304" pitchFamily="18" charset="0"/>
              </a:rPr>
              <a:t>операция</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highlight>
                  <a:srgbClr val="F2F2F2"/>
                </a:highlight>
                <a:latin typeface="Times New Roman" panose="02020603050405020304" pitchFamily="18" charset="0"/>
                <a:ea typeface="Consolas" pitchFamily="34" charset="-122"/>
                <a:cs typeface="Times New Roman" panose="02020603050405020304" pitchFamily="18" charset="0"/>
              </a:rPr>
              <a:t>str.split</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разбивает строку на массив.</a:t>
            </a:r>
            <a:endParaRPr lang="en-US" sz="1400" dirty="0">
              <a:latin typeface="Times New Roman" panose="02020603050405020304" pitchFamily="18" charset="0"/>
              <a:cs typeface="Times New Roman" panose="02020603050405020304" pitchFamily="18" charset="0"/>
            </a:endParaRPr>
          </a:p>
        </p:txBody>
      </p:sp>
      <p:sp>
        <p:nvSpPr>
          <p:cNvPr id="12" name="Text 12">
            <a:extLst>
              <a:ext uri="{FF2B5EF4-FFF2-40B4-BE49-F238E27FC236}">
                <a16:creationId xmlns:a16="http://schemas.microsoft.com/office/drawing/2014/main" id="{6D753118-4B35-4702-8BD3-EE99670EC20D}"/>
              </a:ext>
            </a:extLst>
          </p:cNvPr>
          <p:cNvSpPr/>
          <p:nvPr/>
        </p:nvSpPr>
        <p:spPr>
          <a:xfrm>
            <a:off x="925216" y="4287274"/>
            <a:ext cx="3818855" cy="334095"/>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indexOf()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поиск позиции</a:t>
            </a:r>
            <a:endParaRPr lang="en-US" sz="1400" b="1" dirty="0">
              <a:latin typeface="Times New Roman" panose="02020603050405020304" pitchFamily="18" charset="0"/>
              <a:cs typeface="Times New Roman" panose="02020603050405020304" pitchFamily="18" charset="0"/>
            </a:endParaRPr>
          </a:p>
        </p:txBody>
      </p:sp>
      <p:sp>
        <p:nvSpPr>
          <p:cNvPr id="13" name="Text 13">
            <a:extLst>
              <a:ext uri="{FF2B5EF4-FFF2-40B4-BE49-F238E27FC236}">
                <a16:creationId xmlns:a16="http://schemas.microsoft.com/office/drawing/2014/main" id="{81E08F6E-5248-447E-98A1-05F872373A5B}"/>
              </a:ext>
            </a:extLst>
          </p:cNvPr>
          <p:cNvSpPr/>
          <p:nvPr/>
        </p:nvSpPr>
        <p:spPr>
          <a:xfrm>
            <a:off x="422585" y="4501631"/>
            <a:ext cx="4824118" cy="424173"/>
          </a:xfrm>
          <a:prstGeom prst="rect">
            <a:avLst/>
          </a:prstGeom>
          <a:noFill/>
          <a:ln/>
        </p:spPr>
        <p:txBody>
          <a:bodyPr wrap="square" lIns="0" tIns="0" rIns="0" bIns="0" rtlCol="0" anchor="t">
            <a:noAutofit/>
          </a:bodyPr>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Метод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indexOf(item)</a:t>
            </a:r>
            <a:r>
              <a:rPr lang="en-US" sz="1400" dirty="0">
                <a:latin typeface="Times New Roman" panose="02020603050405020304" pitchFamily="18" charset="0"/>
                <a:ea typeface="Instrument Sans Medium" pitchFamily="34" charset="-122"/>
                <a:cs typeface="Times New Roman" panose="02020603050405020304" pitchFamily="18" charset="0"/>
              </a:rPr>
              <a:t> возвращает индекс первого найденного элемента или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-1</a:t>
            </a:r>
            <a:r>
              <a:rPr lang="en-US" sz="1400" dirty="0">
                <a:latin typeface="Times New Roman" panose="02020603050405020304" pitchFamily="18" charset="0"/>
                <a:ea typeface="Instrument Sans Medium" pitchFamily="34" charset="-122"/>
                <a:cs typeface="Times New Roman" panose="02020603050405020304" pitchFamily="18" charset="0"/>
              </a:rPr>
              <a:t>, если элемент не найден. Поиск идёт с начала массива.</a:t>
            </a:r>
            <a:endParaRPr lang="en-US" sz="1400" dirty="0">
              <a:latin typeface="Times New Roman" panose="02020603050405020304" pitchFamily="18" charset="0"/>
              <a:cs typeface="Times New Roman" panose="02020603050405020304" pitchFamily="18" charset="0"/>
            </a:endParaRPr>
          </a:p>
        </p:txBody>
      </p:sp>
      <p:sp>
        <p:nvSpPr>
          <p:cNvPr id="14" name="Text 15">
            <a:extLst>
              <a:ext uri="{FF2B5EF4-FFF2-40B4-BE49-F238E27FC236}">
                <a16:creationId xmlns:a16="http://schemas.microsoft.com/office/drawing/2014/main" id="{FAEA0154-D35A-4FF1-B385-06AFB85A28F5}"/>
              </a:ext>
            </a:extLst>
          </p:cNvPr>
          <p:cNvSpPr/>
          <p:nvPr/>
        </p:nvSpPr>
        <p:spPr>
          <a:xfrm>
            <a:off x="803805" y="5170843"/>
            <a:ext cx="3614217" cy="1202397"/>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 = [10, 20, 30, 20];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console.log(arr.indexOf(20));    // 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console.log(arr.indexOf(99));    // -1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console.log(arr.indexOf(20, 2)); // 3 (с позиции 2)</a:t>
            </a:r>
            <a:endParaRPr lang="en-US" sz="1400" dirty="0">
              <a:latin typeface="Times New Roman" panose="02020603050405020304" pitchFamily="18" charset="0"/>
              <a:cs typeface="Times New Roman" panose="02020603050405020304" pitchFamily="18" charset="0"/>
            </a:endParaRPr>
          </a:p>
        </p:txBody>
      </p:sp>
      <p:sp>
        <p:nvSpPr>
          <p:cNvPr id="15" name="Text 16">
            <a:extLst>
              <a:ext uri="{FF2B5EF4-FFF2-40B4-BE49-F238E27FC236}">
                <a16:creationId xmlns:a16="http://schemas.microsoft.com/office/drawing/2014/main" id="{E7714582-0456-43D9-A059-907141A70E9C}"/>
              </a:ext>
            </a:extLst>
          </p:cNvPr>
          <p:cNvSpPr/>
          <p:nvPr/>
        </p:nvSpPr>
        <p:spPr>
          <a:xfrm>
            <a:off x="493617" y="6335556"/>
            <a:ext cx="4890421" cy="509882"/>
          </a:xfrm>
          <a:prstGeom prst="rect">
            <a:avLst/>
          </a:prstGeom>
          <a:noFill/>
          <a:ln/>
        </p:spPr>
        <p:txBody>
          <a:bodyPr wrap="square" lIns="0" tIns="0" rIns="0" bIns="0" rtlCol="0" anchor="t">
            <a:noAutofit/>
          </a:bodyPr>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Второй параметр задаёт начальную позицию поиска. Для поиска с конца используется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lastIndexOf()</a:t>
            </a:r>
            <a:r>
              <a:rPr lang="en-US" sz="1400" dirty="0">
                <a:latin typeface="Times New Roman" panose="02020603050405020304" pitchFamily="18" charset="0"/>
                <a:ea typeface="Instrument Sans Medium"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6" name="Text 17">
            <a:extLst>
              <a:ext uri="{FF2B5EF4-FFF2-40B4-BE49-F238E27FC236}">
                <a16:creationId xmlns:a16="http://schemas.microsoft.com/office/drawing/2014/main" id="{948F7EF1-F0E5-400E-B094-F4FBC54DB9C9}"/>
              </a:ext>
            </a:extLst>
          </p:cNvPr>
          <p:cNvSpPr/>
          <p:nvPr/>
        </p:nvSpPr>
        <p:spPr>
          <a:xfrm>
            <a:off x="6621520" y="3873395"/>
            <a:ext cx="3818930" cy="249286"/>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includes()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проверка наличия</a:t>
            </a:r>
            <a:endParaRPr lang="en-US" sz="1400" b="1" dirty="0">
              <a:latin typeface="Times New Roman" panose="02020603050405020304" pitchFamily="18" charset="0"/>
              <a:cs typeface="Times New Roman" panose="02020603050405020304" pitchFamily="18" charset="0"/>
            </a:endParaRPr>
          </a:p>
        </p:txBody>
      </p:sp>
      <p:sp>
        <p:nvSpPr>
          <p:cNvPr id="17" name="Text 18">
            <a:extLst>
              <a:ext uri="{FF2B5EF4-FFF2-40B4-BE49-F238E27FC236}">
                <a16:creationId xmlns:a16="http://schemas.microsoft.com/office/drawing/2014/main" id="{20DA433D-F028-49F2-AF44-39BBB563A066}"/>
              </a:ext>
            </a:extLst>
          </p:cNvPr>
          <p:cNvSpPr/>
          <p:nvPr/>
        </p:nvSpPr>
        <p:spPr>
          <a:xfrm>
            <a:off x="6223925" y="4094603"/>
            <a:ext cx="5402590" cy="680464"/>
          </a:xfrm>
          <a:prstGeom prst="rect">
            <a:avLst/>
          </a:prstGeom>
          <a:noFill/>
          <a:ln/>
        </p:spPr>
        <p:txBody>
          <a:bodyPr wrap="square" lIns="0" tIns="0" rIns="0" bIns="0" rtlCol="0" anchor="t">
            <a:noAutofit/>
          </a:bodyPr>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Метод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includes(item)</a:t>
            </a:r>
            <a:r>
              <a:rPr lang="en-US" sz="1400" dirty="0">
                <a:latin typeface="Times New Roman" panose="02020603050405020304" pitchFamily="18" charset="0"/>
                <a:ea typeface="Instrument Sans Medium" pitchFamily="34" charset="-122"/>
                <a:cs typeface="Times New Roman" panose="02020603050405020304" pitchFamily="18" charset="0"/>
              </a:rPr>
              <a:t> возвращает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true</a:t>
            </a:r>
            <a:r>
              <a:rPr lang="en-US" sz="1400" dirty="0">
                <a:latin typeface="Times New Roman" panose="02020603050405020304" pitchFamily="18" charset="0"/>
                <a:ea typeface="Instrument Sans Medium" pitchFamily="34" charset="-122"/>
                <a:cs typeface="Times New Roman" panose="02020603050405020304" pitchFamily="18" charset="0"/>
              </a:rPr>
              <a:t> или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false</a:t>
            </a:r>
            <a:r>
              <a:rPr lang="en-US" sz="1400" dirty="0">
                <a:latin typeface="Times New Roman" panose="02020603050405020304" pitchFamily="18" charset="0"/>
                <a:ea typeface="Instrument Sans Medium" pitchFamily="34" charset="-122"/>
                <a:cs typeface="Times New Roman" panose="02020603050405020304" pitchFamily="18" charset="0"/>
              </a:rPr>
              <a:t> в зависимости от того, найден ли элемент. Более читаемая альтернатива </a:t>
            </a:r>
            <a:r>
              <a:rPr lang="en-US" sz="1400" dirty="0" err="1">
                <a:latin typeface="Times New Roman" panose="02020603050405020304" pitchFamily="18" charset="0"/>
                <a:ea typeface="Instrument Sans Medium" pitchFamily="34" charset="-122"/>
                <a:cs typeface="Times New Roman" panose="02020603050405020304" pitchFamily="18" charset="0"/>
              </a:rPr>
              <a:t>проверке</a:t>
            </a:r>
            <a:r>
              <a:rPr lang="en-US" sz="1400" dirty="0">
                <a:latin typeface="Times New Roman" panose="02020603050405020304" pitchFamily="18" charset="0"/>
                <a:ea typeface="Instrument Sans Medium" pitchFamily="34" charset="-122"/>
                <a:cs typeface="Times New Roman" panose="02020603050405020304" pitchFamily="18" charset="0"/>
              </a:rPr>
              <a:t>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12000"/>
              </a:lnSpc>
              <a:buNone/>
            </a:pPr>
            <a:r>
              <a:rPr lang="en-US" sz="1400" dirty="0" err="1">
                <a:highlight>
                  <a:srgbClr val="F2F2F2"/>
                </a:highlight>
                <a:latin typeface="Times New Roman" panose="02020603050405020304" pitchFamily="18" charset="0"/>
                <a:ea typeface="Consolas" pitchFamily="34" charset="-122"/>
                <a:cs typeface="Times New Roman" panose="02020603050405020304" pitchFamily="18" charset="0"/>
              </a:rPr>
              <a:t>indexOf</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 !== -1</a:t>
            </a:r>
            <a:r>
              <a:rPr lang="en-US" sz="1400" dirty="0">
                <a:latin typeface="Times New Roman" panose="02020603050405020304" pitchFamily="18" charset="0"/>
                <a:ea typeface="Instrument Sans Medium"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18" name="Text 20">
            <a:extLst>
              <a:ext uri="{FF2B5EF4-FFF2-40B4-BE49-F238E27FC236}">
                <a16:creationId xmlns:a16="http://schemas.microsoft.com/office/drawing/2014/main" id="{CF6E630E-95C3-4EC7-A940-319DD3779433}"/>
              </a:ext>
            </a:extLst>
          </p:cNvPr>
          <p:cNvSpPr/>
          <p:nvPr/>
        </p:nvSpPr>
        <p:spPr>
          <a:xfrm>
            <a:off x="7267934" y="4812566"/>
            <a:ext cx="4346291" cy="1417875"/>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 = [1, 2, 3, 4];</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console.log(arr.includes(3));  // true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console.log(arr.includes(99)); // false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С начальной позиции</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console.log(arr.includes(2, 2)); // false</a:t>
            </a:r>
            <a:endParaRPr lang="en-US" sz="1400" dirty="0">
              <a:latin typeface="Times New Roman" panose="02020603050405020304" pitchFamily="18" charset="0"/>
              <a:cs typeface="Times New Roman" panose="02020603050405020304" pitchFamily="18" charset="0"/>
            </a:endParaRPr>
          </a:p>
        </p:txBody>
      </p:sp>
      <p:sp>
        <p:nvSpPr>
          <p:cNvPr id="19" name="Text 21">
            <a:extLst>
              <a:ext uri="{FF2B5EF4-FFF2-40B4-BE49-F238E27FC236}">
                <a16:creationId xmlns:a16="http://schemas.microsoft.com/office/drawing/2014/main" id="{CF1C03FD-4629-4EB3-ABB7-6B9EFAB2EF07}"/>
              </a:ext>
            </a:extLst>
          </p:cNvPr>
          <p:cNvSpPr/>
          <p:nvPr/>
        </p:nvSpPr>
        <p:spPr>
          <a:xfrm>
            <a:off x="6284889" y="6230441"/>
            <a:ext cx="5256082" cy="419440"/>
          </a:xfrm>
          <a:prstGeom prst="rect">
            <a:avLst/>
          </a:prstGeom>
          <a:noFill/>
          <a:ln/>
        </p:spPr>
        <p:txBody>
          <a:bodyPr wrap="none" lIns="0" tIns="0" rIns="0" bIns="0" rtlCol="0" anchor="t"/>
          <a:lstStyle/>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Также поддерживает отрицательные индексы для </a:t>
            </a:r>
            <a:r>
              <a:rPr lang="en-US" sz="1400" dirty="0" err="1">
                <a:latin typeface="Times New Roman" panose="02020603050405020304" pitchFamily="18" charset="0"/>
                <a:ea typeface="Instrument Sans Medium" pitchFamily="34" charset="-122"/>
                <a:cs typeface="Times New Roman" panose="02020603050405020304" pitchFamily="18" charset="0"/>
              </a:rPr>
              <a:t>поиска</a:t>
            </a:r>
            <a:r>
              <a:rPr lang="en-US" sz="1400" dirty="0">
                <a:latin typeface="Times New Roman" panose="02020603050405020304" pitchFamily="18" charset="0"/>
                <a:ea typeface="Instrument Sans Medium" pitchFamily="34" charset="-122"/>
                <a:cs typeface="Times New Roman" panose="02020603050405020304" pitchFamily="18" charset="0"/>
              </a:rPr>
              <a:t>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12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с конца массива.</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600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9D91DB0-168E-4C7B-9A74-6F63AEEF9EF4}"/>
              </a:ext>
            </a:extLst>
          </p:cNvPr>
          <p:cNvSpPr/>
          <p:nvPr/>
        </p:nvSpPr>
        <p:spPr>
          <a:xfrm>
            <a:off x="1312865" y="123057"/>
            <a:ext cx="8151763" cy="345281"/>
          </a:xfrm>
          <a:prstGeom prst="rect">
            <a:avLst/>
          </a:prstGeom>
          <a:noFill/>
          <a:ln/>
        </p:spPr>
        <p:txBody>
          <a:bodyPr wrap="none" lIns="0" tIns="0" rIns="0" bIns="0" rtlCol="0" anchor="t"/>
          <a:lstStyle/>
          <a:p>
            <a:pPr marL="0" indent="0" algn="ctr">
              <a:lnSpc>
                <a:spcPct val="104000"/>
              </a:lnSpc>
              <a:buNone/>
            </a:pPr>
            <a:r>
              <a:rPr lang="en-US" sz="2800" dirty="0">
                <a:latin typeface="Times New Roman" panose="02020603050405020304" pitchFamily="18" charset="0"/>
                <a:ea typeface="Instrument Sans SemiBold" pitchFamily="34" charset="-122"/>
                <a:cs typeface="Times New Roman" panose="02020603050405020304" pitchFamily="18" charset="0"/>
              </a:rPr>
              <a:t>Упорядочивание: sort и reverse</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555A6010-E824-4BA8-BD25-9162180E31E7}"/>
              </a:ext>
            </a:extLst>
          </p:cNvPr>
          <p:cNvSpPr/>
          <p:nvPr/>
        </p:nvSpPr>
        <p:spPr>
          <a:xfrm>
            <a:off x="345198" y="630822"/>
            <a:ext cx="11506491" cy="549908"/>
          </a:xfrm>
          <a:prstGeom prst="rect">
            <a:avLst/>
          </a:prstGeom>
          <a:noFill/>
          <a:ln/>
        </p:spPr>
        <p:txBody>
          <a:bodyPr wrap="square" lIns="0" tIns="0" rIns="0" bIns="0" rtlCol="0" anchor="t">
            <a:noAutofit/>
          </a:bodyPr>
          <a:lstStyle/>
          <a:p>
            <a:pPr marL="0" indent="0" algn="l">
              <a:lnSpc>
                <a:spcPct val="126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Два метода для изменения порядка элементов: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reverse()</a:t>
            </a:r>
            <a:r>
              <a:rPr lang="en-US" sz="1400" dirty="0">
                <a:latin typeface="Times New Roman" panose="02020603050405020304" pitchFamily="18" charset="0"/>
                <a:ea typeface="Instrument Sans Medium" pitchFamily="34" charset="-122"/>
                <a:cs typeface="Times New Roman" panose="02020603050405020304" pitchFamily="18" charset="0"/>
              </a:rPr>
              <a:t> для простого переворота 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sort()</a:t>
            </a:r>
            <a:r>
              <a:rPr lang="en-US" sz="1400" dirty="0">
                <a:latin typeface="Times New Roman" panose="02020603050405020304" pitchFamily="18" charset="0"/>
                <a:ea typeface="Instrument Sans Medium" pitchFamily="34" charset="-122"/>
                <a:cs typeface="Times New Roman" panose="02020603050405020304" pitchFamily="18" charset="0"/>
              </a:rPr>
              <a:t> для полноценной сортировки. Оба метода </a:t>
            </a:r>
            <a:r>
              <a:rPr lang="en-US" sz="1400" b="1" dirty="0">
                <a:latin typeface="Times New Roman" panose="02020603050405020304" pitchFamily="18" charset="0"/>
                <a:ea typeface="Instrument Sans Bold" pitchFamily="34" charset="-122"/>
                <a:cs typeface="Times New Roman" panose="02020603050405020304" pitchFamily="18" charset="0"/>
              </a:rPr>
              <a:t>изменяют исходный массив</a:t>
            </a:r>
            <a:r>
              <a:rPr lang="en-US" sz="1400" dirty="0">
                <a:latin typeface="Times New Roman" panose="02020603050405020304" pitchFamily="18" charset="0"/>
                <a:ea typeface="Instrument Sans Medium" pitchFamily="34" charset="-122"/>
                <a:cs typeface="Times New Roman" panose="02020603050405020304" pitchFamily="18" charset="0"/>
              </a:rPr>
              <a:t> и возвращают ссылку на него.</a:t>
            </a:r>
            <a:endParaRPr lang="en-US" sz="1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5A20DF47-45F7-4975-886E-419D21437C0A}"/>
              </a:ext>
            </a:extLst>
          </p:cNvPr>
          <p:cNvSpPr/>
          <p:nvPr/>
        </p:nvSpPr>
        <p:spPr>
          <a:xfrm>
            <a:off x="1896060" y="1241491"/>
            <a:ext cx="8151763" cy="172641"/>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reverse()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зеркальный переворот</a:t>
            </a:r>
            <a:endParaRPr lang="en-US" sz="1400" b="1"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B4271132-C369-4594-AE5F-26FEDB0C7802}"/>
              </a:ext>
            </a:extLst>
          </p:cNvPr>
          <p:cNvSpPr/>
          <p:nvPr/>
        </p:nvSpPr>
        <p:spPr>
          <a:xfrm>
            <a:off x="345198" y="1501899"/>
            <a:ext cx="11364449" cy="365793"/>
          </a:xfrm>
          <a:prstGeom prst="rect">
            <a:avLst/>
          </a:prstGeom>
          <a:noFill/>
          <a:ln/>
        </p:spPr>
        <p:txBody>
          <a:bodyPr wrap="none" lIns="0" tIns="0" rIns="0" bIns="0" rtlCol="0" anchor="t"/>
          <a:lstStyle/>
          <a:p>
            <a:pPr marL="0" indent="0" algn="l">
              <a:lnSpc>
                <a:spcPct val="126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Метод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reverse()</a:t>
            </a:r>
            <a:r>
              <a:rPr lang="en-US" sz="1400" dirty="0">
                <a:latin typeface="Times New Roman" panose="02020603050405020304" pitchFamily="18" charset="0"/>
                <a:ea typeface="Instrument Sans Medium" pitchFamily="34" charset="-122"/>
                <a:cs typeface="Times New Roman" panose="02020603050405020304" pitchFamily="18" charset="0"/>
              </a:rPr>
              <a:t> разворачивает порядок элементов в обратном направлении. Прост в использовании, но изменяет оригинал.</a:t>
            </a:r>
            <a:endParaRPr lang="en-US" sz="1400" dirty="0">
              <a:latin typeface="Times New Roman" panose="02020603050405020304" pitchFamily="18" charset="0"/>
              <a:cs typeface="Times New Roman" panose="02020603050405020304" pitchFamily="18" charset="0"/>
            </a:endParaRPr>
          </a:p>
        </p:txBody>
      </p:sp>
      <p:sp>
        <p:nvSpPr>
          <p:cNvPr id="6" name="Text 5">
            <a:extLst>
              <a:ext uri="{FF2B5EF4-FFF2-40B4-BE49-F238E27FC236}">
                <a16:creationId xmlns:a16="http://schemas.microsoft.com/office/drawing/2014/main" id="{6041EB58-6121-40C0-B5BE-F482926DC8E1}"/>
              </a:ext>
            </a:extLst>
          </p:cNvPr>
          <p:cNvSpPr/>
          <p:nvPr/>
        </p:nvSpPr>
        <p:spPr>
          <a:xfrm>
            <a:off x="425098" y="1941956"/>
            <a:ext cx="2842519" cy="1126909"/>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arr = [1, 2, 3, 4, 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arr.reverse();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console.log(arr); // [5, 4, 3, 2, 1]</a:t>
            </a:r>
            <a:endParaRPr lang="en-US" sz="1400" dirty="0">
              <a:latin typeface="Times New Roman" panose="02020603050405020304" pitchFamily="18" charset="0"/>
              <a:cs typeface="Times New Roman" panose="02020603050405020304" pitchFamily="18" charset="0"/>
            </a:endParaRPr>
          </a:p>
        </p:txBody>
      </p:sp>
      <p:sp>
        <p:nvSpPr>
          <p:cNvPr id="7" name="Text 6">
            <a:extLst>
              <a:ext uri="{FF2B5EF4-FFF2-40B4-BE49-F238E27FC236}">
                <a16:creationId xmlns:a16="http://schemas.microsoft.com/office/drawing/2014/main" id="{BAB5F45E-6B42-4421-ADA6-630E64C47952}"/>
              </a:ext>
            </a:extLst>
          </p:cNvPr>
          <p:cNvSpPr/>
          <p:nvPr/>
        </p:nvSpPr>
        <p:spPr>
          <a:xfrm>
            <a:off x="425097" y="2760337"/>
            <a:ext cx="8608963" cy="428667"/>
          </a:xfrm>
          <a:prstGeom prst="rect">
            <a:avLst/>
          </a:prstGeom>
          <a:noFill/>
          <a:ln/>
        </p:spPr>
        <p:txBody>
          <a:bodyPr wrap="none" lIns="0" tIns="0" rIns="0" bIns="0" rtlCol="0" anchor="t"/>
          <a:lstStyle/>
          <a:p>
            <a:pPr marL="0" indent="0" algn="l">
              <a:lnSpc>
                <a:spcPct val="126000"/>
              </a:lnSpc>
              <a:buNone/>
            </a:pPr>
            <a:r>
              <a:rPr lang="en-US" sz="1400" dirty="0" err="1">
                <a:latin typeface="Times New Roman" panose="02020603050405020304" pitchFamily="18" charset="0"/>
                <a:ea typeface="Instrument Sans Medium" pitchFamily="34" charset="-122"/>
                <a:cs typeface="Times New Roman" panose="02020603050405020304" pitchFamily="18" charset="0"/>
              </a:rPr>
              <a:t>Чтобы</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не</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изменять</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оригинал</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сначала</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создайте</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копию</a:t>
            </a:r>
            <a:r>
              <a:rPr lang="en-US" sz="1400" dirty="0">
                <a:latin typeface="Times New Roman" panose="02020603050405020304" pitchFamily="18" charset="0"/>
                <a:ea typeface="Instrument Sans Medium" pitchFamily="34" charset="-122"/>
                <a:cs typeface="Times New Roman" panose="02020603050405020304" pitchFamily="18" charset="0"/>
              </a:rPr>
              <a:t>: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26000"/>
              </a:lnSpc>
              <a:buNone/>
            </a:pP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let copy = </a:t>
            </a:r>
            <a:r>
              <a:rPr lang="en-US" sz="1400" dirty="0" err="1">
                <a:highlight>
                  <a:srgbClr val="F2F2F2"/>
                </a:highlight>
                <a:latin typeface="Times New Roman" panose="02020603050405020304" pitchFamily="18" charset="0"/>
                <a:ea typeface="Consolas" pitchFamily="34" charset="-122"/>
                <a:cs typeface="Times New Roman" panose="02020603050405020304" pitchFamily="18" charset="0"/>
              </a:rPr>
              <a:t>numbers.slice</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a:t>
            </a:r>
          </a:p>
          <a:p>
            <a:pPr marL="0" indent="0" algn="l">
              <a:lnSpc>
                <a:spcPct val="126000"/>
              </a:lnSpc>
              <a:buNone/>
            </a:pPr>
            <a:r>
              <a:rPr lang="en-US" sz="1400" dirty="0" err="1">
                <a:highlight>
                  <a:srgbClr val="F2F2F2"/>
                </a:highlight>
                <a:latin typeface="Times New Roman" panose="02020603050405020304" pitchFamily="18" charset="0"/>
                <a:ea typeface="Consolas" pitchFamily="34" charset="-122"/>
                <a:cs typeface="Times New Roman" panose="02020603050405020304" pitchFamily="18" charset="0"/>
              </a:rPr>
              <a:t>copy.reverse</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a:t>
            </a:r>
          </a:p>
          <a:p>
            <a:pPr marL="0" indent="0" algn="l">
              <a:lnSpc>
                <a:spcPct val="126000"/>
              </a:lnSpc>
              <a:buNone/>
            </a:pPr>
            <a:endParaRPr lang="en-US" sz="1400" dirty="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430422EA-836C-4FB3-920F-420A3198E923}"/>
              </a:ext>
            </a:extLst>
          </p:cNvPr>
          <p:cNvSpPr/>
          <p:nvPr/>
        </p:nvSpPr>
        <p:spPr>
          <a:xfrm>
            <a:off x="1721635" y="3449412"/>
            <a:ext cx="8151763" cy="172641"/>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sort()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сортировка элементов</a:t>
            </a:r>
            <a:endParaRPr lang="en-US" sz="1400" b="1" dirty="0">
              <a:latin typeface="Times New Roman" panose="02020603050405020304" pitchFamily="18" charset="0"/>
              <a:cs typeface="Times New Roman" panose="02020603050405020304" pitchFamily="18" charset="0"/>
            </a:endParaRPr>
          </a:p>
        </p:txBody>
      </p:sp>
      <p:sp>
        <p:nvSpPr>
          <p:cNvPr id="9" name="Text 9">
            <a:extLst>
              <a:ext uri="{FF2B5EF4-FFF2-40B4-BE49-F238E27FC236}">
                <a16:creationId xmlns:a16="http://schemas.microsoft.com/office/drawing/2014/main" id="{D1C02EBB-0DD1-437A-9710-F03DDF8D1F6A}"/>
              </a:ext>
            </a:extLst>
          </p:cNvPr>
          <p:cNvSpPr/>
          <p:nvPr/>
        </p:nvSpPr>
        <p:spPr>
          <a:xfrm>
            <a:off x="198521" y="4948340"/>
            <a:ext cx="8608963" cy="301345"/>
          </a:xfrm>
          <a:prstGeom prst="rect">
            <a:avLst/>
          </a:prstGeom>
          <a:noFill/>
          <a:ln/>
        </p:spPr>
        <p:txBody>
          <a:bodyPr wrap="none" lIns="0" tIns="0" rIns="0" bIns="0" rtlCol="0" anchor="t"/>
          <a:lstStyle/>
          <a:p>
            <a:pPr marL="0" indent="0" algn="l">
              <a:lnSpc>
                <a:spcPct val="126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Без аргумента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sort()</a:t>
            </a:r>
            <a:r>
              <a:rPr lang="en-US" sz="1400" dirty="0">
                <a:latin typeface="Times New Roman" panose="02020603050405020304" pitchFamily="18" charset="0"/>
                <a:ea typeface="Instrument Sans Medium" pitchFamily="34" charset="-122"/>
                <a:cs typeface="Times New Roman" panose="02020603050405020304" pitchFamily="18" charset="0"/>
              </a:rPr>
              <a:t> преобразует элементы в строки и сортирует их по Unicode. Это приводит к неожиданным результатам с числами!</a:t>
            </a:r>
            <a:endParaRPr lang="en-US" sz="1400" dirty="0">
              <a:latin typeface="Times New Roman" panose="02020603050405020304" pitchFamily="18" charset="0"/>
              <a:cs typeface="Times New Roman" panose="02020603050405020304" pitchFamily="18" charset="0"/>
            </a:endParaRPr>
          </a:p>
        </p:txBody>
      </p:sp>
      <p:sp>
        <p:nvSpPr>
          <p:cNvPr id="10" name="Text 11">
            <a:extLst>
              <a:ext uri="{FF2B5EF4-FFF2-40B4-BE49-F238E27FC236}">
                <a16:creationId xmlns:a16="http://schemas.microsoft.com/office/drawing/2014/main" id="{8F65DD41-0D2A-4837-821F-3908093A284D}"/>
              </a:ext>
            </a:extLst>
          </p:cNvPr>
          <p:cNvSpPr/>
          <p:nvPr/>
        </p:nvSpPr>
        <p:spPr>
          <a:xfrm>
            <a:off x="345198" y="5203773"/>
            <a:ext cx="5087936" cy="1588111"/>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nums = [10, 2, 30, 1];</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nums.sort();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console.log(nums); // [1, 10, 2, 30]</a:t>
            </a:r>
            <a:endParaRPr lang="ru-RU" sz="1400" dirty="0">
              <a:latin typeface="Times New Roman" panose="02020603050405020304" pitchFamily="18" charset="0"/>
              <a:ea typeface="Consolas" pitchFamily="34" charset="-122"/>
              <a:cs typeface="Times New Roman" panose="02020603050405020304" pitchFamily="18" charset="0"/>
            </a:endParaRPr>
          </a:p>
          <a:p>
            <a:pPr marL="0" indent="0" algn="l">
              <a:lnSpc>
                <a:spcPct val="133000"/>
              </a:lnSpc>
              <a:buNone/>
            </a:pPr>
            <a:r>
              <a:rPr lang="en-US" sz="1400" dirty="0" err="1">
                <a:latin typeface="Times New Roman" panose="02020603050405020304" pitchFamily="18" charset="0"/>
                <a:cs typeface="Times New Roman" panose="02020603050405020304" pitchFamily="18" charset="0"/>
              </a:rPr>
              <a:t>numbers.sort</a:t>
            </a:r>
            <a:r>
              <a:rPr lang="en-US" sz="1400" dirty="0">
                <a:latin typeface="Times New Roman" panose="02020603050405020304" pitchFamily="18" charset="0"/>
                <a:cs typeface="Times New Roman" panose="02020603050405020304" pitchFamily="18" charset="0"/>
              </a:rPr>
              <a:t>((a, b) =&gt; a - b);</a:t>
            </a:r>
            <a:r>
              <a:rPr lang="ru-RU" sz="1400" dirty="0">
                <a:latin typeface="Times New Roman" panose="02020603050405020304" pitchFamily="18" charset="0"/>
                <a:cs typeface="Times New Roman" panose="02020603050405020304" pitchFamily="18" charset="0"/>
              </a:rPr>
              <a:t> // по возрастанию</a:t>
            </a:r>
          </a:p>
          <a:p>
            <a:pPr marL="0" indent="0" algn="l">
              <a:lnSpc>
                <a:spcPct val="133000"/>
              </a:lnSpc>
              <a:buNone/>
            </a:pPr>
            <a:r>
              <a:rPr lang="en-US" sz="1400" dirty="0" err="1">
                <a:latin typeface="Times New Roman" panose="02020603050405020304" pitchFamily="18" charset="0"/>
                <a:cs typeface="Times New Roman" panose="02020603050405020304" pitchFamily="18" charset="0"/>
              </a:rPr>
              <a:t>numbers.sort</a:t>
            </a:r>
            <a:r>
              <a:rPr lang="en-US" sz="1400" dirty="0">
                <a:latin typeface="Times New Roman" panose="02020603050405020304" pitchFamily="18" charset="0"/>
                <a:cs typeface="Times New Roman" panose="02020603050405020304" pitchFamily="18" charset="0"/>
              </a:rPr>
              <a:t>((a, b) =&gt; b - a);</a:t>
            </a:r>
            <a:r>
              <a:rPr lang="ru-RU" sz="1400" dirty="0">
                <a:latin typeface="Times New Roman" panose="02020603050405020304" pitchFamily="18" charset="0"/>
                <a:cs typeface="Times New Roman" panose="02020603050405020304" pitchFamily="18" charset="0"/>
              </a:rPr>
              <a:t> // по убыванию</a:t>
            </a:r>
            <a:endParaRPr lang="en-US" sz="1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E581AF-4494-4844-B92B-E99978713523}"/>
              </a:ext>
            </a:extLst>
          </p:cNvPr>
          <p:cNvSpPr txBox="1"/>
          <p:nvPr/>
        </p:nvSpPr>
        <p:spPr>
          <a:xfrm>
            <a:off x="7980187" y="5341960"/>
            <a:ext cx="3388398" cy="1384995"/>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let users = [ </a:t>
            </a:r>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name: "</a:t>
            </a:r>
            <a:r>
              <a:rPr lang="ru-RU" sz="1400" dirty="0">
                <a:latin typeface="Times New Roman" panose="02020603050405020304" pitchFamily="18" charset="0"/>
                <a:cs typeface="Times New Roman" panose="02020603050405020304" pitchFamily="18" charset="0"/>
              </a:rPr>
              <a:t>Иван", </a:t>
            </a:r>
            <a:r>
              <a:rPr lang="en-US" sz="1400" dirty="0">
                <a:latin typeface="Times New Roman" panose="02020603050405020304" pitchFamily="18" charset="0"/>
                <a:cs typeface="Times New Roman" panose="02020603050405020304" pitchFamily="18" charset="0"/>
              </a:rPr>
              <a:t>age: 22 }, </a:t>
            </a:r>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name: "</a:t>
            </a:r>
            <a:r>
              <a:rPr lang="ru-RU" sz="1400" dirty="0">
                <a:latin typeface="Times New Roman" panose="02020603050405020304" pitchFamily="18" charset="0"/>
                <a:cs typeface="Times New Roman" panose="02020603050405020304" pitchFamily="18" charset="0"/>
              </a:rPr>
              <a:t>Анна", </a:t>
            </a:r>
            <a:r>
              <a:rPr lang="en-US" sz="1400" dirty="0">
                <a:latin typeface="Times New Roman" panose="02020603050405020304" pitchFamily="18" charset="0"/>
                <a:cs typeface="Times New Roman" panose="02020603050405020304" pitchFamily="18" charset="0"/>
              </a:rPr>
              <a:t>age: 19 }, </a:t>
            </a:r>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name: "</a:t>
            </a:r>
            <a:r>
              <a:rPr lang="ru-RU" sz="1400" dirty="0">
                <a:latin typeface="Times New Roman" panose="02020603050405020304" pitchFamily="18" charset="0"/>
                <a:cs typeface="Times New Roman" panose="02020603050405020304" pitchFamily="18" charset="0"/>
              </a:rPr>
              <a:t>Олег", </a:t>
            </a:r>
            <a:r>
              <a:rPr lang="en-US" sz="1400" dirty="0">
                <a:latin typeface="Times New Roman" panose="02020603050405020304" pitchFamily="18" charset="0"/>
                <a:cs typeface="Times New Roman" panose="02020603050405020304" pitchFamily="18" charset="0"/>
              </a:rPr>
              <a:t>age: 25 } </a:t>
            </a:r>
            <a:endParaRPr lang="ru-RU"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t>
            </a:r>
            <a:endParaRPr lang="ru-RU"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users.sort</a:t>
            </a:r>
            <a:r>
              <a:rPr lang="en-US" sz="1400" dirty="0">
                <a:latin typeface="Times New Roman" panose="02020603050405020304" pitchFamily="18" charset="0"/>
                <a:cs typeface="Times New Roman" panose="02020603050405020304" pitchFamily="18" charset="0"/>
              </a:rPr>
              <a:t>((a, b) =&gt; </a:t>
            </a:r>
            <a:r>
              <a:rPr lang="en-US" sz="1400" dirty="0" err="1">
                <a:latin typeface="Times New Roman" panose="02020603050405020304" pitchFamily="18" charset="0"/>
                <a:cs typeface="Times New Roman" panose="02020603050405020304" pitchFamily="18" charset="0"/>
              </a:rPr>
              <a:t>a.age</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b.age</a:t>
            </a:r>
            <a:r>
              <a:rPr lang="en-US" sz="1400" dirty="0">
                <a:latin typeface="Times New Roman" panose="02020603050405020304" pitchFamily="18" charset="0"/>
                <a:cs typeface="Times New Roman" panose="02020603050405020304" pitchFamily="18" charset="0"/>
              </a:rPr>
              <a:t>);</a:t>
            </a:r>
            <a:endParaRPr lang="ru-RU" sz="1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7A2D888-3F60-49C5-AD75-0EFBBC98BCC9}"/>
              </a:ext>
            </a:extLst>
          </p:cNvPr>
          <p:cNvSpPr txBox="1"/>
          <p:nvPr/>
        </p:nvSpPr>
        <p:spPr>
          <a:xfrm>
            <a:off x="0" y="3668997"/>
            <a:ext cx="5754142" cy="1346331"/>
          </a:xfrm>
          <a:prstGeom prst="rect">
            <a:avLst/>
          </a:prstGeom>
          <a:noFill/>
        </p:spPr>
        <p:txBody>
          <a:bodyPr wrap="square">
            <a:spAutoFit/>
          </a:bodyPr>
          <a:lstStyle/>
          <a:p>
            <a:pPr indent="450215" algn="just">
              <a:lnSpc>
                <a:spcPct val="150000"/>
              </a:lnSpc>
            </a:pPr>
            <a:r>
              <a:rPr lang="ru-RU" sz="1400" kern="100" dirty="0" err="1">
                <a:effectLst/>
                <a:latin typeface="Times New Roman" panose="02020603050405020304" pitchFamily="18" charset="0"/>
                <a:ea typeface="Aptos"/>
                <a:cs typeface="Times New Roman" panose="02020603050405020304" pitchFamily="18" charset="0"/>
              </a:rPr>
              <a:t>let</a:t>
            </a:r>
            <a:r>
              <a:rPr lang="ru-RU" sz="1400" kern="100" dirty="0">
                <a:effectLst/>
                <a:latin typeface="Times New Roman" panose="02020603050405020304" pitchFamily="18" charset="0"/>
                <a:ea typeface="Aptos"/>
                <a:cs typeface="Times New Roman" panose="02020603050405020304" pitchFamily="18" charset="0"/>
              </a:rPr>
              <a:t> </a:t>
            </a:r>
            <a:r>
              <a:rPr lang="ru-RU" sz="1400" kern="100" dirty="0" err="1">
                <a:effectLst/>
                <a:latin typeface="Times New Roman" panose="02020603050405020304" pitchFamily="18" charset="0"/>
                <a:ea typeface="Aptos"/>
                <a:cs typeface="Times New Roman" panose="02020603050405020304" pitchFamily="18" charset="0"/>
              </a:rPr>
              <a:t>fruits</a:t>
            </a:r>
            <a:r>
              <a:rPr lang="ru-RU" sz="1400" kern="100" dirty="0">
                <a:effectLst/>
                <a:latin typeface="Times New Roman" panose="02020603050405020304" pitchFamily="18" charset="0"/>
                <a:ea typeface="Aptos"/>
                <a:cs typeface="Times New Roman" panose="02020603050405020304" pitchFamily="18" charset="0"/>
              </a:rPr>
              <a:t> = ["банан", "яблоко", "апельсин"];</a:t>
            </a:r>
          </a:p>
          <a:p>
            <a:pPr indent="450215" algn="just">
              <a:lnSpc>
                <a:spcPct val="150000"/>
              </a:lnSpc>
            </a:pPr>
            <a:r>
              <a:rPr lang="ru-RU" sz="1400" kern="100" dirty="0" err="1">
                <a:effectLst/>
                <a:latin typeface="Times New Roman" panose="02020603050405020304" pitchFamily="18" charset="0"/>
                <a:ea typeface="Aptos"/>
                <a:cs typeface="Times New Roman" panose="02020603050405020304" pitchFamily="18" charset="0"/>
              </a:rPr>
              <a:t>fruits.sort</a:t>
            </a:r>
            <a:r>
              <a:rPr lang="ru-RU" sz="1400" kern="100" dirty="0">
                <a:effectLst/>
                <a:latin typeface="Times New Roman" panose="02020603050405020304" pitchFamily="18" charset="0"/>
                <a:ea typeface="Aptos"/>
                <a:cs typeface="Times New Roman" panose="02020603050405020304" pitchFamily="18" charset="0"/>
              </a:rPr>
              <a:t>();</a:t>
            </a:r>
          </a:p>
          <a:p>
            <a:pPr indent="450215" algn="just">
              <a:lnSpc>
                <a:spcPct val="150000"/>
              </a:lnSpc>
            </a:pPr>
            <a:r>
              <a:rPr lang="ru-RU" sz="1400" kern="100" dirty="0">
                <a:effectLst/>
                <a:latin typeface="Times New Roman" panose="02020603050405020304" pitchFamily="18" charset="0"/>
                <a:ea typeface="Aptos"/>
                <a:cs typeface="Times New Roman" panose="02020603050405020304" pitchFamily="18" charset="0"/>
              </a:rPr>
              <a:t>После выполнения программы получится следующий результат:</a:t>
            </a:r>
          </a:p>
          <a:p>
            <a:pPr indent="450215" algn="just">
              <a:lnSpc>
                <a:spcPct val="150000"/>
              </a:lnSpc>
            </a:pPr>
            <a:r>
              <a:rPr lang="ru-RU" sz="1400" kern="100" dirty="0">
                <a:effectLst/>
                <a:latin typeface="Times New Roman" panose="02020603050405020304" pitchFamily="18" charset="0"/>
                <a:ea typeface="Aptos"/>
                <a:cs typeface="Times New Roman" panose="02020603050405020304" pitchFamily="18" charset="0"/>
              </a:rPr>
              <a:t>["апельсин", "банан", "яблоко"]</a:t>
            </a:r>
          </a:p>
        </p:txBody>
      </p:sp>
    </p:spTree>
    <p:extLst>
      <p:ext uri="{BB962C8B-B14F-4D97-AF65-F5344CB8AC3E}">
        <p14:creationId xmlns:p14="http://schemas.microsoft.com/office/powerpoint/2010/main" val="420268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8" name="Image 2" descr="preencoded.png">
            <a:extLst>
              <a:ext uri="{FF2B5EF4-FFF2-40B4-BE49-F238E27FC236}">
                <a16:creationId xmlns:a16="http://schemas.microsoft.com/office/drawing/2014/main" id="{FED7CFD8-5F17-48A1-9FB5-A843CF4025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34319" y="3904992"/>
            <a:ext cx="6257682" cy="2287560"/>
          </a:xfrm>
          <a:prstGeom prst="rect">
            <a:avLst/>
          </a:prstGeom>
        </p:spPr>
      </p:pic>
      <p:pic>
        <p:nvPicPr>
          <p:cNvPr id="27" name="Image 2" descr="preencoded.png">
            <a:extLst>
              <a:ext uri="{FF2B5EF4-FFF2-40B4-BE49-F238E27FC236}">
                <a16:creationId xmlns:a16="http://schemas.microsoft.com/office/drawing/2014/main" id="{F52A1333-DC14-47D3-96BA-BCC3BDC7EF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0061" y="3880403"/>
            <a:ext cx="5263306" cy="2287560"/>
          </a:xfrm>
          <a:prstGeom prst="rect">
            <a:avLst/>
          </a:prstGeom>
        </p:spPr>
      </p:pic>
      <p:pic>
        <p:nvPicPr>
          <p:cNvPr id="20" name="Image 2" descr="preencoded.png">
            <a:extLst>
              <a:ext uri="{FF2B5EF4-FFF2-40B4-BE49-F238E27FC236}">
                <a16:creationId xmlns:a16="http://schemas.microsoft.com/office/drawing/2014/main" id="{B13C1556-47A8-4CF6-8FF5-94522C134C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1604" y="750102"/>
            <a:ext cx="6696736" cy="2930671"/>
          </a:xfrm>
          <a:prstGeom prst="rect">
            <a:avLst/>
          </a:prstGeom>
        </p:spPr>
      </p:pic>
      <p:sp>
        <p:nvSpPr>
          <p:cNvPr id="3" name="TextBox 2">
            <a:extLst>
              <a:ext uri="{FF2B5EF4-FFF2-40B4-BE49-F238E27FC236}">
                <a16:creationId xmlns:a16="http://schemas.microsoft.com/office/drawing/2014/main" id="{F054BAEA-6431-444C-9942-83FD12F38A7E}"/>
              </a:ext>
            </a:extLst>
          </p:cNvPr>
          <p:cNvSpPr txBox="1"/>
          <p:nvPr/>
        </p:nvSpPr>
        <p:spPr>
          <a:xfrm>
            <a:off x="3366855" y="130490"/>
            <a:ext cx="6094520" cy="523220"/>
          </a:xfrm>
          <a:prstGeom prst="rect">
            <a:avLst/>
          </a:prstGeom>
          <a:noFill/>
        </p:spPr>
        <p:txBody>
          <a:bodyPr wrap="square">
            <a:spAutoFit/>
          </a:bodyPr>
          <a:lstStyle/>
          <a:p>
            <a:pPr algn="l"/>
            <a:r>
              <a:rPr lang="ru-RU" sz="2800" i="0" dirty="0">
                <a:solidFill>
                  <a:srgbClr val="000000"/>
                </a:solidFill>
                <a:effectLst/>
                <a:latin typeface="Times New Roman" panose="02020603050405020304" pitchFamily="18" charset="0"/>
                <a:cs typeface="Times New Roman" panose="02020603050405020304" pitchFamily="18" charset="0"/>
              </a:rPr>
              <a:t>Проверка наличия элемента</a:t>
            </a:r>
          </a:p>
        </p:txBody>
      </p:sp>
      <p:sp>
        <p:nvSpPr>
          <p:cNvPr id="14" name="TextBox 13">
            <a:extLst>
              <a:ext uri="{FF2B5EF4-FFF2-40B4-BE49-F238E27FC236}">
                <a16:creationId xmlns:a16="http://schemas.microsoft.com/office/drawing/2014/main" id="{8F7BC3D5-C723-4A73-8E34-2C2CC2DE2D3F}"/>
              </a:ext>
            </a:extLst>
          </p:cNvPr>
          <p:cNvSpPr txBox="1"/>
          <p:nvPr/>
        </p:nvSpPr>
        <p:spPr>
          <a:xfrm>
            <a:off x="2422072" y="773209"/>
            <a:ext cx="6312495" cy="1169551"/>
          </a:xfrm>
          <a:prstGeom prst="rect">
            <a:avLst/>
          </a:prstGeom>
          <a:noFill/>
        </p:spPr>
        <p:txBody>
          <a:bodyPr wrap="square">
            <a:spAutoFit/>
          </a:bodyPr>
          <a:lstStyle/>
          <a:p>
            <a:pPr algn="ctr"/>
            <a:r>
              <a:rPr lang="ru-RU" sz="1400" b="1" dirty="0">
                <a:latin typeface="Times New Roman" panose="02020603050405020304" pitchFamily="18" charset="0"/>
                <a:cs typeface="Times New Roman" panose="02020603050405020304" pitchFamily="18" charset="0"/>
              </a:rPr>
              <a:t>Метод </a:t>
            </a:r>
            <a:r>
              <a:rPr lang="en-US" sz="1400" b="1" dirty="0">
                <a:latin typeface="Times New Roman" panose="02020603050405020304" pitchFamily="18" charset="0"/>
                <a:cs typeface="Times New Roman" panose="02020603050405020304" pitchFamily="18" charset="0"/>
              </a:rPr>
              <a:t>every()</a:t>
            </a:r>
            <a:endParaRPr lang="ru-RU" sz="1400" b="1" dirty="0">
              <a:latin typeface="Times New Roman" panose="02020603050405020304" pitchFamily="18" charset="0"/>
              <a:cs typeface="Times New Roman" panose="02020603050405020304" pitchFamily="18" charset="0"/>
            </a:endParaRPr>
          </a:p>
          <a:p>
            <a:r>
              <a:rPr lang="ru-RU" sz="1400" dirty="0">
                <a:solidFill>
                  <a:srgbClr val="000000"/>
                </a:solidFill>
                <a:latin typeface="Times New Roman" panose="02020603050405020304" pitchFamily="18" charset="0"/>
                <a:cs typeface="Times New Roman" panose="02020603050405020304" pitchFamily="18" charset="0"/>
              </a:rPr>
              <a:t>П</a:t>
            </a:r>
            <a:r>
              <a:rPr lang="ru-RU" sz="1400" b="0" i="0" dirty="0">
                <a:solidFill>
                  <a:srgbClr val="000000"/>
                </a:solidFill>
                <a:effectLst/>
                <a:latin typeface="Times New Roman" panose="02020603050405020304" pitchFamily="18" charset="0"/>
                <a:cs typeface="Times New Roman" panose="02020603050405020304" pitchFamily="18" charset="0"/>
              </a:rPr>
              <a:t>роверяет, все ли элементы соответствуют определенному условию. В метод </a:t>
            </a:r>
            <a:r>
              <a:rPr lang="ru-RU" sz="1400" b="0" i="0" dirty="0" err="1">
                <a:solidFill>
                  <a:srgbClr val="000000"/>
                </a:solidFill>
                <a:effectLst/>
                <a:latin typeface="Times New Roman" panose="02020603050405020304" pitchFamily="18" charset="0"/>
                <a:cs typeface="Times New Roman" panose="02020603050405020304" pitchFamily="18" charset="0"/>
              </a:rPr>
              <a:t>every</a:t>
            </a:r>
            <a:r>
              <a:rPr lang="ru-RU" sz="1400" b="0" i="0" dirty="0">
                <a:solidFill>
                  <a:srgbClr val="000000"/>
                </a:solidFill>
                <a:effectLst/>
                <a:latin typeface="Times New Roman" panose="02020603050405020304" pitchFamily="18" charset="0"/>
                <a:cs typeface="Times New Roman" panose="02020603050405020304" pitchFamily="18" charset="0"/>
              </a:rPr>
              <a:t>() в качестве параметра передается функция, которая представляет условие. Эта функция в качестве параметра принимает элемент и возвращает </a:t>
            </a:r>
            <a:r>
              <a:rPr lang="ru-RU" sz="1400" b="0" i="0" dirty="0" err="1">
                <a:solidFill>
                  <a:srgbClr val="000000"/>
                </a:solidFill>
                <a:effectLst/>
                <a:latin typeface="Times New Roman" panose="02020603050405020304" pitchFamily="18" charset="0"/>
                <a:cs typeface="Times New Roman" panose="02020603050405020304" pitchFamily="18" charset="0"/>
              </a:rPr>
              <a:t>true</a:t>
            </a:r>
            <a:r>
              <a:rPr lang="ru-RU" sz="1400" b="0" i="0" dirty="0">
                <a:solidFill>
                  <a:srgbClr val="000000"/>
                </a:solidFill>
                <a:effectLst/>
                <a:latin typeface="Times New Roman" panose="02020603050405020304" pitchFamily="18" charset="0"/>
                <a:cs typeface="Times New Roman" panose="02020603050405020304" pitchFamily="18" charset="0"/>
              </a:rPr>
              <a:t> (если элемент соответствует условию) или </a:t>
            </a:r>
            <a:r>
              <a:rPr lang="ru-RU" sz="1400" b="0" i="0" dirty="0" err="1">
                <a:solidFill>
                  <a:srgbClr val="000000"/>
                </a:solidFill>
                <a:effectLst/>
                <a:latin typeface="Times New Roman" panose="02020603050405020304" pitchFamily="18" charset="0"/>
                <a:cs typeface="Times New Roman" panose="02020603050405020304" pitchFamily="18" charset="0"/>
              </a:rPr>
              <a:t>false</a:t>
            </a:r>
            <a:r>
              <a:rPr lang="ru-RU" sz="1400" b="0" i="0" dirty="0">
                <a:solidFill>
                  <a:srgbClr val="000000"/>
                </a:solidFill>
                <a:effectLst/>
                <a:latin typeface="Times New Roman" panose="02020603050405020304" pitchFamily="18" charset="0"/>
                <a:cs typeface="Times New Roman" panose="02020603050405020304" pitchFamily="18" charset="0"/>
              </a:rPr>
              <a:t> (если не соответствует). </a:t>
            </a:r>
            <a:endParaRPr lang="ru-RU" sz="1400" b="1" dirty="0">
              <a:latin typeface="Times New Roman" panose="02020603050405020304" pitchFamily="18" charset="0"/>
              <a:cs typeface="Times New Roman" panose="02020603050405020304" pitchFamily="18" charset="0"/>
            </a:endParaRPr>
          </a:p>
        </p:txBody>
      </p:sp>
      <p:sp>
        <p:nvSpPr>
          <p:cNvPr id="16" name="Rectangle 6">
            <a:extLst>
              <a:ext uri="{FF2B5EF4-FFF2-40B4-BE49-F238E27FC236}">
                <a16:creationId xmlns:a16="http://schemas.microsoft.com/office/drawing/2014/main" id="{09461CFF-39CE-4409-8A37-A2B6F725C779}"/>
              </a:ext>
            </a:extLst>
          </p:cNvPr>
          <p:cNvSpPr>
            <a:spLocks noChangeArrowheads="1"/>
          </p:cNvSpPr>
          <p:nvPr/>
        </p:nvSpPr>
        <p:spPr bwMode="auto">
          <a:xfrm>
            <a:off x="4054929" y="2039152"/>
            <a:ext cx="40821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const</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numbers</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[ 1, -12, 8, -4, 25, 42 ];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const</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passed</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numbers.every</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(n =&gt; n &gt; 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console.log(</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passed</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Что вернет метод?</a:t>
            </a:r>
          </a:p>
        </p:txBody>
      </p:sp>
      <p:sp>
        <p:nvSpPr>
          <p:cNvPr id="19" name="TextBox 18">
            <a:extLst>
              <a:ext uri="{FF2B5EF4-FFF2-40B4-BE49-F238E27FC236}">
                <a16:creationId xmlns:a16="http://schemas.microsoft.com/office/drawing/2014/main" id="{A626706E-DE06-4159-AE6D-BF33883E76C3}"/>
              </a:ext>
            </a:extLst>
          </p:cNvPr>
          <p:cNvSpPr txBox="1"/>
          <p:nvPr/>
        </p:nvSpPr>
        <p:spPr>
          <a:xfrm>
            <a:off x="2394857" y="2921518"/>
            <a:ext cx="6203233" cy="523220"/>
          </a:xfrm>
          <a:prstGeom prst="rect">
            <a:avLst/>
          </a:prstGeom>
          <a:noFill/>
        </p:spPr>
        <p:txBody>
          <a:bodyPr wrap="square">
            <a:spAutoFit/>
          </a:bodyPr>
          <a:lstStyle/>
          <a:p>
            <a:r>
              <a:rPr lang="ru-RU" sz="1400" dirty="0">
                <a:latin typeface="Times New Roman" panose="02020603050405020304" pitchFamily="18" charset="0"/>
                <a:cs typeface="Times New Roman" panose="02020603050405020304" pitchFamily="18" charset="0"/>
              </a:rPr>
              <a:t>Условие задается с помощью лямбда-выражения n =&gt; n &gt; 0, которое проверяет, больше ли элемент нуля.</a:t>
            </a:r>
          </a:p>
        </p:txBody>
      </p:sp>
      <p:sp>
        <p:nvSpPr>
          <p:cNvPr id="22" name="TextBox 21">
            <a:extLst>
              <a:ext uri="{FF2B5EF4-FFF2-40B4-BE49-F238E27FC236}">
                <a16:creationId xmlns:a16="http://schemas.microsoft.com/office/drawing/2014/main" id="{95463FA5-6624-4BDC-9E35-4A23F3D043A1}"/>
              </a:ext>
            </a:extLst>
          </p:cNvPr>
          <p:cNvSpPr txBox="1"/>
          <p:nvPr/>
        </p:nvSpPr>
        <p:spPr>
          <a:xfrm>
            <a:off x="200061" y="3945910"/>
            <a:ext cx="5362536" cy="1169551"/>
          </a:xfrm>
          <a:prstGeom prst="rect">
            <a:avLst/>
          </a:prstGeom>
          <a:noFill/>
        </p:spPr>
        <p:txBody>
          <a:bodyPr wrap="square">
            <a:spAutoFit/>
          </a:bodyPr>
          <a:lstStyle/>
          <a:p>
            <a:pPr algn="ctr"/>
            <a:r>
              <a:rPr lang="en-US" sz="1400" b="1" dirty="0">
                <a:latin typeface="Times New Roman" panose="02020603050405020304" pitchFamily="18" charset="0"/>
                <a:cs typeface="Times New Roman" panose="02020603050405020304" pitchFamily="18" charset="0"/>
              </a:rPr>
              <a:t>some()</a:t>
            </a:r>
            <a:endParaRPr lang="ru-RU" sz="1400" b="1"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Метод </a:t>
            </a:r>
            <a:r>
              <a:rPr lang="ru-RU" sz="1400" dirty="0" err="1">
                <a:latin typeface="Times New Roman" panose="02020603050405020304" pitchFamily="18" charset="0"/>
                <a:cs typeface="Times New Roman" panose="02020603050405020304" pitchFamily="18" charset="0"/>
              </a:rPr>
              <a:t>some</a:t>
            </a:r>
            <a:r>
              <a:rPr lang="ru-RU" sz="1400" dirty="0">
                <a:latin typeface="Times New Roman" panose="02020603050405020304" pitchFamily="18" charset="0"/>
                <a:cs typeface="Times New Roman" panose="02020603050405020304" pitchFamily="18" charset="0"/>
              </a:rPr>
              <a:t>() похож на метод </a:t>
            </a:r>
            <a:r>
              <a:rPr lang="ru-RU" sz="1400" dirty="0" err="1">
                <a:latin typeface="Times New Roman" panose="02020603050405020304" pitchFamily="18" charset="0"/>
                <a:cs typeface="Times New Roman" panose="02020603050405020304" pitchFamily="18" charset="0"/>
              </a:rPr>
              <a:t>every</a:t>
            </a:r>
            <a:r>
              <a:rPr lang="ru-RU" sz="1400" dirty="0">
                <a:latin typeface="Times New Roman" panose="02020603050405020304" pitchFamily="18" charset="0"/>
                <a:cs typeface="Times New Roman" panose="02020603050405020304" pitchFamily="18" charset="0"/>
              </a:rPr>
              <a:t>(), только он проверяет, соответствует ли хотя бы один элемент условию. И в этом случае метод </a:t>
            </a:r>
            <a:r>
              <a:rPr lang="ru-RU" sz="1400" dirty="0" err="1">
                <a:latin typeface="Times New Roman" panose="02020603050405020304" pitchFamily="18" charset="0"/>
                <a:cs typeface="Times New Roman" panose="02020603050405020304" pitchFamily="18" charset="0"/>
              </a:rPr>
              <a:t>some</a:t>
            </a:r>
            <a:r>
              <a:rPr lang="ru-RU" sz="1400" dirty="0">
                <a:latin typeface="Times New Roman" panose="02020603050405020304" pitchFamily="18" charset="0"/>
                <a:cs typeface="Times New Roman" panose="02020603050405020304" pitchFamily="18" charset="0"/>
              </a:rPr>
              <a:t>() возвращает </a:t>
            </a:r>
            <a:r>
              <a:rPr lang="ru-RU" sz="1400" dirty="0" err="1">
                <a:latin typeface="Times New Roman" panose="02020603050405020304" pitchFamily="18" charset="0"/>
                <a:cs typeface="Times New Roman" panose="02020603050405020304" pitchFamily="18" charset="0"/>
              </a:rPr>
              <a:t>true</a:t>
            </a:r>
            <a:r>
              <a:rPr lang="ru-RU" sz="1400" dirty="0">
                <a:latin typeface="Times New Roman" panose="02020603050405020304" pitchFamily="18" charset="0"/>
                <a:cs typeface="Times New Roman" panose="02020603050405020304" pitchFamily="18" charset="0"/>
              </a:rPr>
              <a:t>. Если элементов, соответствующих условию, в массиве нет, то возвращается значение </a:t>
            </a:r>
            <a:r>
              <a:rPr lang="ru-RU" sz="1400" dirty="0" err="1">
                <a:latin typeface="Times New Roman" panose="02020603050405020304" pitchFamily="18" charset="0"/>
                <a:cs typeface="Times New Roman" panose="02020603050405020304" pitchFamily="18" charset="0"/>
              </a:rPr>
              <a:t>false</a:t>
            </a:r>
            <a:endParaRPr lang="ru-RU" sz="1400" dirty="0">
              <a:latin typeface="Times New Roman" panose="02020603050405020304" pitchFamily="18" charset="0"/>
              <a:cs typeface="Times New Roman" panose="02020603050405020304" pitchFamily="18" charset="0"/>
            </a:endParaRPr>
          </a:p>
        </p:txBody>
      </p:sp>
      <p:sp>
        <p:nvSpPr>
          <p:cNvPr id="23" name="Rectangle 8">
            <a:extLst>
              <a:ext uri="{FF2B5EF4-FFF2-40B4-BE49-F238E27FC236}">
                <a16:creationId xmlns:a16="http://schemas.microsoft.com/office/drawing/2014/main" id="{BA1C8C07-3B96-4B25-B746-EE93E7B2B6BA}"/>
              </a:ext>
            </a:extLst>
          </p:cNvPr>
          <p:cNvSpPr>
            <a:spLocks noChangeArrowheads="1"/>
          </p:cNvSpPr>
          <p:nvPr/>
        </p:nvSpPr>
        <p:spPr bwMode="auto">
          <a:xfrm>
            <a:off x="580432" y="5292988"/>
            <a:ext cx="45025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const</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numbers</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[ 1, -12, 8, -4, 25, 42 ];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const</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passed</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numbers.some</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(n =&gt; n &gt; 0);</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console.log(</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passed</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Что вернет метод?</a:t>
            </a:r>
          </a:p>
        </p:txBody>
      </p:sp>
      <p:sp>
        <p:nvSpPr>
          <p:cNvPr id="25" name="TextBox 24">
            <a:extLst>
              <a:ext uri="{FF2B5EF4-FFF2-40B4-BE49-F238E27FC236}">
                <a16:creationId xmlns:a16="http://schemas.microsoft.com/office/drawing/2014/main" id="{FA7330DF-8A51-4818-A24E-666966E6B6CE}"/>
              </a:ext>
            </a:extLst>
          </p:cNvPr>
          <p:cNvSpPr txBox="1"/>
          <p:nvPr/>
        </p:nvSpPr>
        <p:spPr>
          <a:xfrm>
            <a:off x="6096000" y="3978372"/>
            <a:ext cx="5562598" cy="1169551"/>
          </a:xfrm>
          <a:prstGeom prst="rect">
            <a:avLst/>
          </a:prstGeom>
          <a:noFill/>
        </p:spPr>
        <p:txBody>
          <a:bodyPr wrap="square">
            <a:spAutoFit/>
          </a:bodyPr>
          <a:lstStyle/>
          <a:p>
            <a:pPr algn="ctr"/>
            <a:r>
              <a:rPr lang="en-US" sz="1400" b="1" i="0" dirty="0">
                <a:solidFill>
                  <a:srgbClr val="000000"/>
                </a:solidFill>
                <a:effectLst/>
                <a:latin typeface="Times New Roman" panose="02020603050405020304" pitchFamily="18" charset="0"/>
                <a:cs typeface="Times New Roman" panose="02020603050405020304" pitchFamily="18" charset="0"/>
              </a:rPr>
              <a:t>with</a:t>
            </a:r>
            <a:r>
              <a:rPr lang="ru-RU" sz="1400" b="1" i="0" dirty="0">
                <a:solidFill>
                  <a:srgbClr val="000000"/>
                </a:solidFill>
                <a:effectLst/>
                <a:latin typeface="Times New Roman" panose="02020603050405020304" pitchFamily="18" charset="0"/>
                <a:cs typeface="Times New Roman" panose="02020603050405020304" pitchFamily="18" charset="0"/>
              </a:rPr>
              <a:t>()</a:t>
            </a:r>
          </a:p>
          <a:p>
            <a:pPr algn="l"/>
            <a:r>
              <a:rPr lang="ru-RU" sz="1400" i="0" dirty="0">
                <a:solidFill>
                  <a:srgbClr val="000000"/>
                </a:solidFill>
                <a:effectLst/>
                <a:latin typeface="Times New Roman" panose="02020603050405020304" pitchFamily="18" charset="0"/>
                <a:cs typeface="Times New Roman" panose="02020603050405020304" pitchFamily="18" charset="0"/>
              </a:rPr>
              <a:t>Иногда необходимо изменить элемент массива, но при этом также сохранить старое состояние массива. Метод </a:t>
            </a:r>
            <a:r>
              <a:rPr lang="ru-RU" sz="1400" i="0" dirty="0" err="1">
                <a:solidFill>
                  <a:srgbClr val="000000"/>
                </a:solidFill>
                <a:effectLst/>
                <a:latin typeface="Times New Roman" panose="02020603050405020304" pitchFamily="18" charset="0"/>
                <a:cs typeface="Times New Roman" panose="02020603050405020304" pitchFamily="18" charset="0"/>
              </a:rPr>
              <a:t>with</a:t>
            </a:r>
            <a:r>
              <a:rPr lang="ru-RU" sz="1400" i="0" dirty="0">
                <a:solidFill>
                  <a:srgbClr val="000000"/>
                </a:solidFill>
                <a:effectLst/>
                <a:latin typeface="Times New Roman" panose="02020603050405020304" pitchFamily="18" charset="0"/>
                <a:cs typeface="Times New Roman" panose="02020603050405020304" pitchFamily="18" charset="0"/>
              </a:rPr>
              <a:t>() автоматически создает копию старого массива, изменяет в ней элемент и возвращает новый массив с измененным элементом</a:t>
            </a:r>
            <a:endParaRPr lang="en-US" sz="1400" i="0" dirty="0">
              <a:solidFill>
                <a:srgbClr val="000000"/>
              </a:solidFill>
              <a:effectLst/>
              <a:latin typeface="Times New Roman" panose="02020603050405020304" pitchFamily="18" charset="0"/>
              <a:cs typeface="Times New Roman" panose="02020603050405020304" pitchFamily="18" charset="0"/>
            </a:endParaRPr>
          </a:p>
        </p:txBody>
      </p:sp>
      <p:sp>
        <p:nvSpPr>
          <p:cNvPr id="26" name="Rectangle 9">
            <a:extLst>
              <a:ext uri="{FF2B5EF4-FFF2-40B4-BE49-F238E27FC236}">
                <a16:creationId xmlns:a16="http://schemas.microsoft.com/office/drawing/2014/main" id="{A4E3BCAD-EF07-46E7-907F-EE8BF9F3A013}"/>
              </a:ext>
            </a:extLst>
          </p:cNvPr>
          <p:cNvSpPr>
            <a:spLocks noChangeArrowheads="1"/>
          </p:cNvSpPr>
          <p:nvPr/>
        </p:nvSpPr>
        <p:spPr bwMode="auto">
          <a:xfrm>
            <a:off x="6064329" y="5170368"/>
            <a:ext cx="610314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const</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people</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Tom</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Bob</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Sam</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const</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modified</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people.with</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(0,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Tomas</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изменяем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Tom</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на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Tomas</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console.log(</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people</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Tom</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Bob</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Sam</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начальный массив не изменился</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console.log(</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modified</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Tomas</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Bob</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ru-RU" altLang="ru-RU" sz="1400" b="0" i="0" u="none" strike="noStrike" cap="none" normalizeH="0" baseline="0" dirty="0" err="1">
                <a:ln>
                  <a:noFill/>
                </a:ln>
                <a:effectLst/>
                <a:latin typeface="Times New Roman" panose="02020603050405020304" pitchFamily="18" charset="0"/>
                <a:cs typeface="Times New Roman" panose="02020603050405020304" pitchFamily="18" charset="0"/>
              </a:rPr>
              <a:t>Sam</a:t>
            </a:r>
            <a:r>
              <a:rPr kumimoji="0" lang="ru-RU" altLang="ru-RU" sz="1400" b="0" i="0" u="none" strike="noStrike" cap="none" normalizeH="0" baseline="0" dirty="0">
                <a:ln>
                  <a:noFill/>
                </a:ln>
                <a:effectLst/>
                <a:latin typeface="Times New Roman" panose="02020603050405020304" pitchFamily="18" charset="0"/>
                <a:cs typeface="Times New Roman" panose="02020603050405020304" pitchFamily="18" charset="0"/>
              </a:rPr>
              <a:t>"] - изменилась копия</a:t>
            </a:r>
          </a:p>
        </p:txBody>
      </p:sp>
    </p:spTree>
    <p:extLst>
      <p:ext uri="{BB962C8B-B14F-4D97-AF65-F5344CB8AC3E}">
        <p14:creationId xmlns:p14="http://schemas.microsoft.com/office/powerpoint/2010/main" val="187099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DF19DC8-39E7-433F-923D-364BC22908FE}"/>
              </a:ext>
            </a:extLst>
          </p:cNvPr>
          <p:cNvSpPr/>
          <p:nvPr/>
        </p:nvSpPr>
        <p:spPr>
          <a:xfrm>
            <a:off x="1854733" y="114501"/>
            <a:ext cx="8151763" cy="290736"/>
          </a:xfrm>
          <a:prstGeom prst="rect">
            <a:avLst/>
          </a:prstGeom>
          <a:noFill/>
          <a:ln/>
        </p:spPr>
        <p:txBody>
          <a:bodyPr wrap="none" lIns="0" tIns="0" rIns="0" bIns="0" rtlCol="0" anchor="t"/>
          <a:lstStyle/>
          <a:p>
            <a:pPr marL="0" indent="0" algn="ctr">
              <a:lnSpc>
                <a:spcPct val="104000"/>
              </a:lnSpc>
              <a:buNone/>
            </a:pPr>
            <a:r>
              <a:rPr lang="en-US" sz="2800" dirty="0" err="1">
                <a:latin typeface="Times New Roman" panose="02020603050405020304" pitchFamily="18" charset="0"/>
                <a:ea typeface="Instrument Sans SemiBold" pitchFamily="34" charset="-122"/>
                <a:cs typeface="Times New Roman" panose="02020603050405020304" pitchFamily="18" charset="0"/>
              </a:rPr>
              <a:t>Эволюция</a:t>
            </a:r>
            <a:r>
              <a:rPr lang="en-US" sz="2800" dirty="0">
                <a:latin typeface="Times New Roman" panose="02020603050405020304" pitchFamily="18" charset="0"/>
                <a:ea typeface="Instrument Sans SemiBold" pitchFamily="34" charset="-122"/>
                <a:cs typeface="Times New Roman" panose="02020603050405020304" pitchFamily="18" charset="0"/>
              </a:rPr>
              <a:t> перебора массивов</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DDBC1B63-6B44-48DB-8F91-11FF33483F3A}"/>
              </a:ext>
            </a:extLst>
          </p:cNvPr>
          <p:cNvSpPr/>
          <p:nvPr/>
        </p:nvSpPr>
        <p:spPr>
          <a:xfrm>
            <a:off x="380709" y="631259"/>
            <a:ext cx="11266794" cy="664879"/>
          </a:xfrm>
          <a:prstGeom prst="rect">
            <a:avLst/>
          </a:prstGeom>
          <a:noFill/>
          <a:ln/>
        </p:spPr>
        <p:txBody>
          <a:bodyPr wrap="square" lIns="0" tIns="0" rIns="0" bIns="0" rtlCol="0" anchor="t">
            <a:noAutofit/>
          </a:bodyPr>
          <a:lstStyle/>
          <a:p>
            <a:pPr marL="0" indent="0" algn="l">
              <a:lnSpc>
                <a:spcPct val="11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JavaScript предлагает три основных подхода к перебору массивов: классический цикл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for</a:t>
            </a:r>
            <a:r>
              <a:rPr lang="en-US" sz="1400" dirty="0">
                <a:latin typeface="Times New Roman" panose="02020603050405020304" pitchFamily="18" charset="0"/>
                <a:ea typeface="Instrument Sans Medium" pitchFamily="34" charset="-122"/>
                <a:cs typeface="Times New Roman" panose="02020603050405020304" pitchFamily="18" charset="0"/>
              </a:rPr>
              <a:t>, современный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for...of</a:t>
            </a:r>
            <a:r>
              <a:rPr lang="en-US" sz="1400" dirty="0">
                <a:latin typeface="Times New Roman" panose="02020603050405020304" pitchFamily="18" charset="0"/>
                <a:ea typeface="Instrument Sans Medium" pitchFamily="34" charset="-122"/>
                <a:cs typeface="Times New Roman" panose="02020603050405020304" pitchFamily="18" charset="0"/>
              </a:rPr>
              <a:t> и функциональный метод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forEach</a:t>
            </a:r>
            <a:r>
              <a:rPr lang="en-US" sz="1400" dirty="0">
                <a:latin typeface="Times New Roman" panose="02020603050405020304" pitchFamily="18" charset="0"/>
                <a:ea typeface="Instrument Sans Medium" pitchFamily="34" charset="-122"/>
                <a:cs typeface="Times New Roman" panose="02020603050405020304" pitchFamily="18" charset="0"/>
              </a:rPr>
              <a:t>. Каждый имеет свои преимущества и области применения.</a:t>
            </a:r>
            <a:endParaRPr lang="en-US" sz="1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FC4AA703-587E-42B2-B9FB-3DB4F8C001F0}"/>
              </a:ext>
            </a:extLst>
          </p:cNvPr>
          <p:cNvSpPr/>
          <p:nvPr/>
        </p:nvSpPr>
        <p:spPr>
          <a:xfrm>
            <a:off x="589136" y="1254545"/>
            <a:ext cx="2531194" cy="145331"/>
          </a:xfrm>
          <a:prstGeom prst="rect">
            <a:avLst/>
          </a:prstGeom>
          <a:noFill/>
          <a:ln/>
        </p:spPr>
        <p:txBody>
          <a:bodyPr wrap="none" lIns="0" tIns="0" rIns="0" bIns="0" rtlCol="0" anchor="t"/>
          <a:lstStyle/>
          <a:p>
            <a:pPr marL="0" indent="0" algn="ctr">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Классический for</a:t>
            </a:r>
            <a:endParaRPr lang="en-US" sz="14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4137A537-4418-4AD1-9EA5-C4835A4594CD}"/>
              </a:ext>
            </a:extLst>
          </p:cNvPr>
          <p:cNvSpPr/>
          <p:nvPr/>
        </p:nvSpPr>
        <p:spPr>
          <a:xfrm>
            <a:off x="380708" y="1471009"/>
            <a:ext cx="2739622" cy="1274402"/>
          </a:xfrm>
          <a:prstGeom prst="rect">
            <a:avLst/>
          </a:prstGeom>
          <a:noFill/>
          <a:ln/>
        </p:spPr>
        <p:txBody>
          <a:bodyPr wrap="square" lIns="0" tIns="0" rIns="0" bIns="0" rtlCol="0" anchor="t">
            <a:noAutofit/>
          </a:bodyPr>
          <a:lstStyle/>
          <a:p>
            <a:pPr marL="0" indent="0" algn="l">
              <a:lnSpc>
                <a:spcPct val="11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Максимальный контроль: доступ к индексу, возможность прервать цикл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break</a:t>
            </a:r>
            <a:r>
              <a:rPr lang="en-US" sz="1400" dirty="0">
                <a:latin typeface="Times New Roman" panose="02020603050405020304" pitchFamily="18" charset="0"/>
                <a:ea typeface="Instrument Sans Medium" pitchFamily="34" charset="-122"/>
                <a:cs typeface="Times New Roman" panose="02020603050405020304" pitchFamily="18" charset="0"/>
              </a:rPr>
              <a:t>) или пропустить итерацию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continue</a:t>
            </a:r>
            <a:r>
              <a:rPr lang="en-US" sz="1400" dirty="0">
                <a:latin typeface="Times New Roman" panose="02020603050405020304" pitchFamily="18" charset="0"/>
                <a:ea typeface="Instrument Sans Medium" pitchFamily="34" charset="-122"/>
                <a:cs typeface="Times New Roman" panose="02020603050405020304" pitchFamily="18" charset="0"/>
              </a:rPr>
              <a:t>). Подходит для сложных алгоритмов.</a:t>
            </a:r>
            <a:endParaRPr lang="en-US" sz="1400" dirty="0">
              <a:latin typeface="Times New Roman" panose="02020603050405020304" pitchFamily="18" charset="0"/>
              <a:cs typeface="Times New Roman" panose="02020603050405020304" pitchFamily="18" charset="0"/>
            </a:endParaRPr>
          </a:p>
        </p:txBody>
      </p:sp>
      <p:sp>
        <p:nvSpPr>
          <p:cNvPr id="6" name="Text 6">
            <a:extLst>
              <a:ext uri="{FF2B5EF4-FFF2-40B4-BE49-F238E27FC236}">
                <a16:creationId xmlns:a16="http://schemas.microsoft.com/office/drawing/2014/main" id="{85079A3C-B1B3-4360-8194-3BB766CD1817}"/>
              </a:ext>
            </a:extLst>
          </p:cNvPr>
          <p:cNvSpPr/>
          <p:nvPr/>
        </p:nvSpPr>
        <p:spPr>
          <a:xfrm>
            <a:off x="3239981" y="1223472"/>
            <a:ext cx="2531194" cy="145331"/>
          </a:xfrm>
          <a:prstGeom prst="rect">
            <a:avLst/>
          </a:prstGeom>
          <a:noFill/>
          <a:ln/>
        </p:spPr>
        <p:txBody>
          <a:bodyPr wrap="none" lIns="0" tIns="0" rIns="0" bIns="0" rtlCol="0" anchor="t"/>
          <a:lstStyle/>
          <a:p>
            <a:pPr marL="0" indent="0" algn="ctr">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for...of</a:t>
            </a:r>
            <a:endParaRPr lang="en-US" sz="1400" dirty="0">
              <a:latin typeface="Times New Roman" panose="02020603050405020304" pitchFamily="18" charset="0"/>
              <a:cs typeface="Times New Roman" panose="02020603050405020304" pitchFamily="18" charset="0"/>
            </a:endParaRPr>
          </a:p>
        </p:txBody>
      </p:sp>
      <p:sp>
        <p:nvSpPr>
          <p:cNvPr id="7" name="Text 7">
            <a:extLst>
              <a:ext uri="{FF2B5EF4-FFF2-40B4-BE49-F238E27FC236}">
                <a16:creationId xmlns:a16="http://schemas.microsoft.com/office/drawing/2014/main" id="{0B0B279A-49D3-4730-9102-E5DB55F1364E}"/>
              </a:ext>
            </a:extLst>
          </p:cNvPr>
          <p:cNvSpPr/>
          <p:nvPr/>
        </p:nvSpPr>
        <p:spPr>
          <a:xfrm>
            <a:off x="3598933" y="1471009"/>
            <a:ext cx="3627490" cy="1211090"/>
          </a:xfrm>
          <a:prstGeom prst="rect">
            <a:avLst/>
          </a:prstGeom>
          <a:noFill/>
          <a:ln/>
        </p:spPr>
        <p:txBody>
          <a:bodyPr wrap="square" lIns="0" tIns="0" rIns="0" bIns="0" rtlCol="0" anchor="t">
            <a:noAutofit/>
          </a:bodyPr>
          <a:lstStyle/>
          <a:p>
            <a:pPr marL="0" indent="0" algn="l">
              <a:lnSpc>
                <a:spcPct val="11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Современный и лаконичный синтаксис для доступа к значениям. Не даёт индекса, но поддерживает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break</a:t>
            </a:r>
            <a:r>
              <a:rPr lang="en-US" sz="1400" dirty="0">
                <a:latin typeface="Times New Roman" panose="02020603050405020304" pitchFamily="18" charset="0"/>
                <a:ea typeface="Instrument Sans Medium" pitchFamily="34" charset="-122"/>
                <a:cs typeface="Times New Roman" panose="02020603050405020304" pitchFamily="18" charset="0"/>
              </a:rPr>
              <a:t> 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continue</a:t>
            </a:r>
            <a:r>
              <a:rPr lang="en-US" sz="1400" dirty="0">
                <a:latin typeface="Times New Roman" panose="02020603050405020304" pitchFamily="18" charset="0"/>
                <a:ea typeface="Instrument Sans Medium" pitchFamily="34" charset="-122"/>
                <a:cs typeface="Times New Roman" panose="02020603050405020304" pitchFamily="18" charset="0"/>
              </a:rPr>
              <a:t>. Работает с любыми итерируемыми объектами.</a:t>
            </a:r>
            <a:endParaRPr lang="en-US" sz="1400" dirty="0">
              <a:latin typeface="Times New Roman" panose="02020603050405020304" pitchFamily="18" charset="0"/>
              <a:cs typeface="Times New Roman" panose="02020603050405020304" pitchFamily="18" charset="0"/>
            </a:endParaRPr>
          </a:p>
        </p:txBody>
      </p:sp>
      <p:sp>
        <p:nvSpPr>
          <p:cNvPr id="8" name="Text 10">
            <a:extLst>
              <a:ext uri="{FF2B5EF4-FFF2-40B4-BE49-F238E27FC236}">
                <a16:creationId xmlns:a16="http://schemas.microsoft.com/office/drawing/2014/main" id="{AE627B61-A03C-4D1B-8D39-E9F6FF9A0A90}"/>
              </a:ext>
            </a:extLst>
          </p:cNvPr>
          <p:cNvSpPr/>
          <p:nvPr/>
        </p:nvSpPr>
        <p:spPr>
          <a:xfrm>
            <a:off x="7994438" y="1181879"/>
            <a:ext cx="2531194" cy="145331"/>
          </a:xfrm>
          <a:prstGeom prst="rect">
            <a:avLst/>
          </a:prstGeom>
          <a:noFill/>
          <a:ln/>
        </p:spPr>
        <p:txBody>
          <a:bodyPr wrap="none" lIns="0" tIns="0" rIns="0" bIns="0" rtlCol="0" anchor="t"/>
          <a:lstStyle/>
          <a:p>
            <a:pPr marL="0" indent="0" algn="ctr">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forEach</a:t>
            </a:r>
            <a:endParaRPr lang="en-US" sz="1400" dirty="0">
              <a:latin typeface="Times New Roman" panose="02020603050405020304" pitchFamily="18" charset="0"/>
              <a:cs typeface="Times New Roman" panose="02020603050405020304" pitchFamily="18" charset="0"/>
            </a:endParaRPr>
          </a:p>
        </p:txBody>
      </p:sp>
      <p:sp>
        <p:nvSpPr>
          <p:cNvPr id="9" name="Text 11">
            <a:extLst>
              <a:ext uri="{FF2B5EF4-FFF2-40B4-BE49-F238E27FC236}">
                <a16:creationId xmlns:a16="http://schemas.microsoft.com/office/drawing/2014/main" id="{E044EC22-06F3-47D2-BA41-B35D26DA8A82}"/>
              </a:ext>
            </a:extLst>
          </p:cNvPr>
          <p:cNvSpPr/>
          <p:nvPr/>
        </p:nvSpPr>
        <p:spPr>
          <a:xfrm>
            <a:off x="7801366" y="1444540"/>
            <a:ext cx="3841428" cy="1110495"/>
          </a:xfrm>
          <a:prstGeom prst="rect">
            <a:avLst/>
          </a:prstGeom>
          <a:noFill/>
          <a:ln/>
        </p:spPr>
        <p:txBody>
          <a:bodyPr wrap="square" lIns="0" tIns="0" rIns="0" bIns="0" rtlCol="0" anchor="t">
            <a:noAutofit/>
          </a:bodyPr>
          <a:lstStyle/>
          <a:p>
            <a:pPr marL="0" indent="0" algn="l">
              <a:lnSpc>
                <a:spcPct val="117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Функциональный стиль: callback вызывается для каждого элемента. Нельзя прервать выполнение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break</a:t>
            </a:r>
            <a:r>
              <a:rPr lang="en-US" sz="1400" dirty="0">
                <a:latin typeface="Times New Roman" panose="02020603050405020304" pitchFamily="18" charset="0"/>
                <a:ea typeface="Instrument Sans Medium" pitchFamily="34" charset="-122"/>
                <a:cs typeface="Times New Roman" panose="02020603050405020304" pitchFamily="18" charset="0"/>
              </a:rPr>
              <a:t> не работает), но код чище и выразительнее.</a:t>
            </a:r>
            <a:endParaRPr lang="en-US" sz="1400" dirty="0">
              <a:latin typeface="Times New Roman" panose="02020603050405020304" pitchFamily="18" charset="0"/>
              <a:cs typeface="Times New Roman" panose="02020603050405020304" pitchFamily="18" charset="0"/>
            </a:endParaRPr>
          </a:p>
        </p:txBody>
      </p:sp>
      <p:sp>
        <p:nvSpPr>
          <p:cNvPr id="10" name="Text 5">
            <a:extLst>
              <a:ext uri="{FF2B5EF4-FFF2-40B4-BE49-F238E27FC236}">
                <a16:creationId xmlns:a16="http://schemas.microsoft.com/office/drawing/2014/main" id="{3D3A4B1D-3951-4DB4-9F2B-A25F47146D18}"/>
              </a:ext>
            </a:extLst>
          </p:cNvPr>
          <p:cNvSpPr/>
          <p:nvPr/>
        </p:nvSpPr>
        <p:spPr>
          <a:xfrm>
            <a:off x="380707" y="2766268"/>
            <a:ext cx="2859273" cy="1274402"/>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fruits = ["</a:t>
            </a:r>
            <a:r>
              <a:rPr lang="ru-RU" sz="1400" dirty="0">
                <a:latin typeface="Times New Roman" panose="02020603050405020304" pitchFamily="18" charset="0"/>
                <a:ea typeface="Consolas" pitchFamily="34" charset="-122"/>
                <a:cs typeface="Times New Roman" panose="02020603050405020304" pitchFamily="18" charset="0"/>
              </a:rPr>
              <a:t>яблоко", "груша", "слива"];</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for (let </a:t>
            </a:r>
            <a:r>
              <a:rPr lang="en-US" sz="1400" dirty="0" err="1">
                <a:latin typeface="Times New Roman" panose="02020603050405020304" pitchFamily="18" charset="0"/>
                <a:ea typeface="Consolas" pitchFamily="34" charset="-122"/>
                <a:cs typeface="Times New Roman" panose="02020603050405020304" pitchFamily="18" charset="0"/>
              </a:rPr>
              <a:t>i</a:t>
            </a:r>
            <a:r>
              <a:rPr lang="en-US" sz="1400" dirty="0">
                <a:latin typeface="Times New Roman" panose="02020603050405020304" pitchFamily="18" charset="0"/>
                <a:ea typeface="Consolas" pitchFamily="34" charset="-122"/>
                <a:cs typeface="Times New Roman" panose="02020603050405020304" pitchFamily="18" charset="0"/>
              </a:rPr>
              <a:t> = 0; </a:t>
            </a:r>
            <a:r>
              <a:rPr lang="en-US" sz="1400" dirty="0" err="1">
                <a:latin typeface="Times New Roman" panose="02020603050405020304" pitchFamily="18" charset="0"/>
                <a:ea typeface="Consolas" pitchFamily="34" charset="-122"/>
                <a:cs typeface="Times New Roman" panose="02020603050405020304" pitchFamily="18" charset="0"/>
              </a:rPr>
              <a:t>i</a:t>
            </a:r>
            <a:r>
              <a:rPr lang="en-US" sz="1400" dirty="0">
                <a:latin typeface="Times New Roman" panose="02020603050405020304" pitchFamily="18" charset="0"/>
                <a:ea typeface="Consolas" pitchFamily="34" charset="-122"/>
                <a:cs typeface="Times New Roman" panose="02020603050405020304" pitchFamily="18" charset="0"/>
              </a:rPr>
              <a:t> &lt; </a:t>
            </a:r>
            <a:r>
              <a:rPr lang="en-US" sz="1400" dirty="0" err="1">
                <a:latin typeface="Times New Roman" panose="02020603050405020304" pitchFamily="18" charset="0"/>
                <a:ea typeface="Consolas" pitchFamily="34" charset="-122"/>
                <a:cs typeface="Times New Roman" panose="02020603050405020304" pitchFamily="18" charset="0"/>
              </a:rPr>
              <a:t>fruits.length</a:t>
            </a:r>
            <a:r>
              <a:rPr lang="en-US" sz="1400" dirty="0">
                <a:latin typeface="Times New Roman" panose="02020603050405020304" pitchFamily="18" charset="0"/>
                <a:ea typeface="Consolas" pitchFamily="34" charset="-122"/>
                <a:cs typeface="Times New Roman" panose="02020603050405020304" pitchFamily="18" charset="0"/>
              </a:rPr>
              <a:t>; </a:t>
            </a:r>
            <a:r>
              <a:rPr lang="en-US" sz="1400" dirty="0" err="1">
                <a:latin typeface="Times New Roman" panose="02020603050405020304" pitchFamily="18" charset="0"/>
                <a:ea typeface="Consolas" pitchFamily="34" charset="-122"/>
                <a:cs typeface="Times New Roman" panose="02020603050405020304" pitchFamily="18" charset="0"/>
              </a:rPr>
              <a:t>i</a:t>
            </a:r>
            <a:r>
              <a:rPr lang="en-US" sz="1400" dirty="0">
                <a:latin typeface="Times New Roman" panose="02020603050405020304" pitchFamily="18" charset="0"/>
                <a:ea typeface="Consolas" pitchFamily="34" charset="-122"/>
                <a:cs typeface="Times New Roman" panose="02020603050405020304" pitchFamily="18" charset="0"/>
              </a:rPr>
              <a:t>++) {</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console.log(fruits[</a:t>
            </a:r>
            <a:r>
              <a:rPr lang="en-US" sz="1400" dirty="0" err="1">
                <a:latin typeface="Times New Roman" panose="02020603050405020304" pitchFamily="18" charset="0"/>
                <a:ea typeface="Consolas" pitchFamily="34" charset="-122"/>
                <a:cs typeface="Times New Roman" panose="02020603050405020304" pitchFamily="18" charset="0"/>
              </a:rPr>
              <a:t>i</a:t>
            </a:r>
            <a:r>
              <a:rPr lang="en-US" sz="1400" dirty="0">
                <a:latin typeface="Times New Roman" panose="02020603050405020304" pitchFamily="18" charset="0"/>
                <a:ea typeface="Consolas" pitchFamily="34" charset="-122"/>
                <a:cs typeface="Times New Roman" panose="02020603050405020304" pitchFamily="18" charset="0"/>
              </a:rPr>
              <a:t>]);</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p>
        </p:txBody>
      </p:sp>
      <p:sp>
        <p:nvSpPr>
          <p:cNvPr id="11" name="Text 9">
            <a:extLst>
              <a:ext uri="{FF2B5EF4-FFF2-40B4-BE49-F238E27FC236}">
                <a16:creationId xmlns:a16="http://schemas.microsoft.com/office/drawing/2014/main" id="{2745570A-6099-4EA0-B8E2-E851A6C08935}"/>
              </a:ext>
            </a:extLst>
          </p:cNvPr>
          <p:cNvSpPr/>
          <p:nvPr/>
        </p:nvSpPr>
        <p:spPr>
          <a:xfrm>
            <a:off x="3733157" y="2575001"/>
            <a:ext cx="2694646" cy="1101774"/>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for (let fruit of fruits) {</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console.log(fruit);</a:t>
            </a: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p>
        </p:txBody>
      </p:sp>
      <p:sp>
        <p:nvSpPr>
          <p:cNvPr id="12" name="Text 13">
            <a:extLst>
              <a:ext uri="{FF2B5EF4-FFF2-40B4-BE49-F238E27FC236}">
                <a16:creationId xmlns:a16="http://schemas.microsoft.com/office/drawing/2014/main" id="{59B25882-77FF-478D-8708-2C841DEDA283}"/>
              </a:ext>
            </a:extLst>
          </p:cNvPr>
          <p:cNvSpPr/>
          <p:nvPr/>
        </p:nvSpPr>
        <p:spPr>
          <a:xfrm>
            <a:off x="7839250" y="2305245"/>
            <a:ext cx="3493267" cy="1785246"/>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arr.forEach((item, index) =&gt; {</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  console.log(index, item);</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a:t>
            </a:r>
            <a:endParaRPr lang="ru-RU" sz="1400" dirty="0">
              <a:latin typeface="Times New Roman" panose="02020603050405020304" pitchFamily="18" charset="0"/>
              <a:ea typeface="Consolas" pitchFamily="34" charset="-122"/>
              <a:cs typeface="Times New Roman" panose="02020603050405020304" pitchFamily="18" charset="0"/>
            </a:endParaRPr>
          </a:p>
          <a:p>
            <a:pPr marL="0" indent="0" algn="l">
              <a:lnSpc>
                <a:spcPct val="133000"/>
              </a:lnSpc>
              <a:buNone/>
            </a:pPr>
            <a:r>
              <a:rPr lang="en-US" sz="1400" dirty="0" err="1">
                <a:latin typeface="Times New Roman" panose="02020603050405020304" pitchFamily="18" charset="0"/>
                <a:cs typeface="Times New Roman" panose="02020603050405020304" pitchFamily="18" charset="0"/>
              </a:rPr>
              <a:t>arr.forEach</a:t>
            </a:r>
            <a:r>
              <a:rPr lang="en-US" sz="1400" dirty="0">
                <a:latin typeface="Times New Roman" panose="02020603050405020304" pitchFamily="18" charset="0"/>
                <a:cs typeface="Times New Roman" panose="02020603050405020304" pitchFamily="18" charset="0"/>
              </a:rPr>
              <a:t>(function(item) {</a:t>
            </a:r>
            <a:endParaRPr lang="ru-RU" sz="1400" dirty="0">
              <a:latin typeface="Times New Roman" panose="02020603050405020304" pitchFamily="18" charset="0"/>
              <a:cs typeface="Times New Roman" panose="02020603050405020304" pitchFamily="18" charset="0"/>
            </a:endParaRPr>
          </a:p>
          <a:p>
            <a:pPr marL="0" indent="0" algn="l">
              <a:lnSpc>
                <a:spcPct val="133000"/>
              </a:lnSpc>
              <a:buNone/>
            </a:pPr>
            <a:r>
              <a:rPr lang="ru-RU"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console.log(item); </a:t>
            </a:r>
            <a:endParaRPr lang="ru-RU"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cs typeface="Times New Roman" panose="02020603050405020304" pitchFamily="18" charset="0"/>
              </a:rPr>
              <a:t>});</a:t>
            </a:r>
          </a:p>
        </p:txBody>
      </p:sp>
      <p:sp>
        <p:nvSpPr>
          <p:cNvPr id="13" name="Text 40">
            <a:extLst>
              <a:ext uri="{FF2B5EF4-FFF2-40B4-BE49-F238E27FC236}">
                <a16:creationId xmlns:a16="http://schemas.microsoft.com/office/drawing/2014/main" id="{796AE59A-3187-499E-A264-2726F8820751}"/>
              </a:ext>
            </a:extLst>
          </p:cNvPr>
          <p:cNvSpPr/>
          <p:nvPr/>
        </p:nvSpPr>
        <p:spPr>
          <a:xfrm>
            <a:off x="7457242" y="4079402"/>
            <a:ext cx="3962400" cy="145331"/>
          </a:xfrm>
          <a:prstGeom prst="rect">
            <a:avLst/>
          </a:prstGeom>
          <a:noFill/>
          <a:ln/>
        </p:spPr>
        <p:txBody>
          <a:bodyPr wrap="none" lIns="0" tIns="0" rIns="0" bIns="0" rtlCol="0" anchor="t"/>
          <a:lstStyle/>
          <a:p>
            <a:pPr marL="0" indent="0" algn="ctr">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Когда что использовать?</a:t>
            </a:r>
            <a:endParaRPr lang="en-US" sz="1400" dirty="0">
              <a:latin typeface="Times New Roman" panose="02020603050405020304" pitchFamily="18" charset="0"/>
              <a:cs typeface="Times New Roman" panose="02020603050405020304" pitchFamily="18" charset="0"/>
            </a:endParaRPr>
          </a:p>
        </p:txBody>
      </p:sp>
      <p:sp>
        <p:nvSpPr>
          <p:cNvPr id="14" name="Text 41">
            <a:extLst>
              <a:ext uri="{FF2B5EF4-FFF2-40B4-BE49-F238E27FC236}">
                <a16:creationId xmlns:a16="http://schemas.microsoft.com/office/drawing/2014/main" id="{DD5262F0-4819-44A6-872F-36DF61F9078D}"/>
              </a:ext>
            </a:extLst>
          </p:cNvPr>
          <p:cNvSpPr/>
          <p:nvPr/>
        </p:nvSpPr>
        <p:spPr>
          <a:xfrm>
            <a:off x="7226423" y="4462051"/>
            <a:ext cx="4740676" cy="2134057"/>
          </a:xfrm>
          <a:prstGeom prst="rect">
            <a:avLst/>
          </a:prstGeom>
          <a:noFill/>
          <a:ln/>
        </p:spPr>
        <p:txBody>
          <a:bodyPr wrap="square" lIns="0" tIns="0" rIns="0" bIns="0" rtlCol="0" anchor="t">
            <a:noAutofit/>
          </a:bodyPr>
          <a:lstStyle/>
          <a:p>
            <a:pPr marL="142240" indent="-142240" algn="l">
              <a:lnSpc>
                <a:spcPct val="117000"/>
              </a:lnSpc>
              <a:buSzPct val="100000"/>
              <a:buChar char="•"/>
            </a:pPr>
            <a:r>
              <a:rPr lang="en-US" sz="1400" b="1" dirty="0">
                <a:latin typeface="Times New Roman" panose="02020603050405020304" pitchFamily="18" charset="0"/>
                <a:ea typeface="Instrument Sans Bold" pitchFamily="34" charset="-122"/>
                <a:cs typeface="Times New Roman" panose="02020603050405020304" pitchFamily="18" charset="0"/>
              </a:rPr>
              <a:t>for</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когда нужен индекс, изменение массива на лету или преждевременный выход из цикла</a:t>
            </a:r>
            <a:endParaRPr lang="en-US" sz="1400" dirty="0">
              <a:latin typeface="Times New Roman" panose="02020603050405020304" pitchFamily="18" charset="0"/>
              <a:cs typeface="Times New Roman" panose="02020603050405020304" pitchFamily="18" charset="0"/>
            </a:endParaRPr>
          </a:p>
          <a:p>
            <a:pPr marL="142240" indent="-142240" algn="l">
              <a:lnSpc>
                <a:spcPct val="117000"/>
              </a:lnSpc>
              <a:buSzPct val="100000"/>
              <a:buChar char="•"/>
            </a:pPr>
            <a:r>
              <a:rPr lang="en-US" sz="1400" b="1" dirty="0">
                <a:latin typeface="Times New Roman" panose="02020603050405020304" pitchFamily="18" charset="0"/>
                <a:ea typeface="Instrument Sans Bold" pitchFamily="34" charset="-122"/>
                <a:cs typeface="Times New Roman" panose="02020603050405020304" pitchFamily="18" charset="0"/>
              </a:rPr>
              <a:t>for...of</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когда нужно просто пройтись по значениям с возможностью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break</a:t>
            </a:r>
            <a:endParaRPr lang="en-US" sz="1400" dirty="0">
              <a:latin typeface="Times New Roman" panose="02020603050405020304" pitchFamily="18" charset="0"/>
              <a:cs typeface="Times New Roman" panose="02020603050405020304" pitchFamily="18" charset="0"/>
            </a:endParaRPr>
          </a:p>
          <a:p>
            <a:pPr marL="142240" indent="-142240" algn="l">
              <a:lnSpc>
                <a:spcPct val="117000"/>
              </a:lnSpc>
              <a:buSzPct val="100000"/>
              <a:buChar char="•"/>
            </a:pPr>
            <a:r>
              <a:rPr lang="en-US" sz="1400" b="1" dirty="0" err="1">
                <a:latin typeface="Times New Roman" panose="02020603050405020304" pitchFamily="18" charset="0"/>
                <a:ea typeface="Instrument Sans Bold" pitchFamily="34" charset="-122"/>
                <a:cs typeface="Times New Roman" panose="02020603050405020304" pitchFamily="18" charset="0"/>
              </a:rPr>
              <a:t>forEach</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когда нужно выполнить действие для каждого элемента без прерывания</a:t>
            </a:r>
            <a:endParaRPr lang="en-US" sz="1400" dirty="0">
              <a:latin typeface="Times New Roman" panose="02020603050405020304" pitchFamily="18" charset="0"/>
              <a:cs typeface="Times New Roman" panose="02020603050405020304" pitchFamily="18" charset="0"/>
            </a:endParaRPr>
          </a:p>
          <a:p>
            <a:pPr marL="142240" indent="-142240" algn="l">
              <a:lnSpc>
                <a:spcPct val="117000"/>
              </a:lnSpc>
              <a:buSzPct val="100000"/>
              <a:buChar char="•"/>
            </a:pPr>
            <a:r>
              <a:rPr lang="en-US" sz="1400" b="1" dirty="0">
                <a:latin typeface="Times New Roman" panose="02020603050405020304" pitchFamily="18" charset="0"/>
                <a:ea typeface="Instrument Sans Bold" pitchFamily="34" charset="-122"/>
                <a:cs typeface="Times New Roman" panose="02020603050405020304" pitchFamily="18" charset="0"/>
              </a:rPr>
              <a:t>map / filter / reduce</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когда нужно преобразовать данные и получить новый результат</a:t>
            </a:r>
            <a:endParaRPr lang="en-US" sz="1400" dirty="0">
              <a:latin typeface="Times New Roman" panose="02020603050405020304" pitchFamily="18" charset="0"/>
              <a:cs typeface="Times New Roman" panose="02020603050405020304" pitchFamily="18" charset="0"/>
            </a:endParaRPr>
          </a:p>
        </p:txBody>
      </p:sp>
      <p:sp>
        <p:nvSpPr>
          <p:cNvPr id="15" name="Text 14">
            <a:extLst>
              <a:ext uri="{FF2B5EF4-FFF2-40B4-BE49-F238E27FC236}">
                <a16:creationId xmlns:a16="http://schemas.microsoft.com/office/drawing/2014/main" id="{DA12B60C-C4EE-46E6-9C74-BCEF760DB179}"/>
              </a:ext>
            </a:extLst>
          </p:cNvPr>
          <p:cNvSpPr/>
          <p:nvPr/>
        </p:nvSpPr>
        <p:spPr>
          <a:xfrm>
            <a:off x="1139130" y="4397151"/>
            <a:ext cx="3962400" cy="281597"/>
          </a:xfrm>
          <a:prstGeom prst="rect">
            <a:avLst/>
          </a:prstGeom>
          <a:noFill/>
          <a:ln/>
        </p:spPr>
        <p:txBody>
          <a:bodyPr wrap="none" lIns="0" tIns="0" rIns="0" bIns="0" rtlCol="0" anchor="t"/>
          <a:lstStyle/>
          <a:p>
            <a:pPr marL="0" indent="0" algn="ctr">
              <a:lnSpc>
                <a:spcPct val="104000"/>
              </a:lnSpc>
              <a:buNone/>
            </a:pPr>
            <a:r>
              <a:rPr lang="en-US" sz="1400" dirty="0">
                <a:latin typeface="Times New Roman" panose="02020603050405020304" pitchFamily="18" charset="0"/>
                <a:ea typeface="Instrument Sans SemiBold" pitchFamily="34" charset="-122"/>
                <a:cs typeface="Times New Roman" panose="02020603050405020304" pitchFamily="18" charset="0"/>
              </a:rPr>
              <a:t>Сравнение подходов</a:t>
            </a:r>
            <a:endParaRPr lang="en-US" sz="1400" dirty="0">
              <a:latin typeface="Times New Roman" panose="02020603050405020304" pitchFamily="18" charset="0"/>
              <a:cs typeface="Times New Roman" panose="02020603050405020304" pitchFamily="18" charset="0"/>
            </a:endParaRPr>
          </a:p>
        </p:txBody>
      </p:sp>
      <p:graphicFrame>
        <p:nvGraphicFramePr>
          <p:cNvPr id="16" name="Таблица 16">
            <a:extLst>
              <a:ext uri="{FF2B5EF4-FFF2-40B4-BE49-F238E27FC236}">
                <a16:creationId xmlns:a16="http://schemas.microsoft.com/office/drawing/2014/main" id="{CBD9FB85-AD1D-4C17-A55B-42A93197E605}"/>
              </a:ext>
            </a:extLst>
          </p:cNvPr>
          <p:cNvGraphicFramePr>
            <a:graphicFrameLocks noGrp="1"/>
          </p:cNvGraphicFramePr>
          <p:nvPr>
            <p:extLst>
              <p:ext uri="{D42A27DB-BD31-4B8C-83A1-F6EECF244321}">
                <p14:modId xmlns:p14="http://schemas.microsoft.com/office/powerpoint/2010/main" val="682918051"/>
              </p:ext>
            </p:extLst>
          </p:nvPr>
        </p:nvGraphicFramePr>
        <p:xfrm>
          <a:off x="269907" y="4761046"/>
          <a:ext cx="6157896" cy="1854200"/>
        </p:xfrm>
        <a:graphic>
          <a:graphicData uri="http://schemas.openxmlformats.org/drawingml/2006/table">
            <a:tbl>
              <a:tblPr firstRow="1" bandRow="1">
                <a:tableStyleId>{2D5ABB26-0587-4C30-8999-92F81FD0307C}</a:tableStyleId>
              </a:tblPr>
              <a:tblGrid>
                <a:gridCol w="1539474">
                  <a:extLst>
                    <a:ext uri="{9D8B030D-6E8A-4147-A177-3AD203B41FA5}">
                      <a16:colId xmlns:a16="http://schemas.microsoft.com/office/drawing/2014/main" val="1423837798"/>
                    </a:ext>
                  </a:extLst>
                </a:gridCol>
                <a:gridCol w="1539474">
                  <a:extLst>
                    <a:ext uri="{9D8B030D-6E8A-4147-A177-3AD203B41FA5}">
                      <a16:colId xmlns:a16="http://schemas.microsoft.com/office/drawing/2014/main" val="180503724"/>
                    </a:ext>
                  </a:extLst>
                </a:gridCol>
                <a:gridCol w="1539474">
                  <a:extLst>
                    <a:ext uri="{9D8B030D-6E8A-4147-A177-3AD203B41FA5}">
                      <a16:colId xmlns:a16="http://schemas.microsoft.com/office/drawing/2014/main" val="3385500715"/>
                    </a:ext>
                  </a:extLst>
                </a:gridCol>
                <a:gridCol w="1539474">
                  <a:extLst>
                    <a:ext uri="{9D8B030D-6E8A-4147-A177-3AD203B41FA5}">
                      <a16:colId xmlns:a16="http://schemas.microsoft.com/office/drawing/2014/main" val="3042679484"/>
                    </a:ext>
                  </a:extLst>
                </a:gridCol>
              </a:tblGrid>
              <a:tr h="370840">
                <a:tc>
                  <a:txBody>
                    <a:bodyPr/>
                    <a:lstStyle/>
                    <a:p>
                      <a:r>
                        <a:rPr lang="ru-RU" b="1" dirty="0">
                          <a:latin typeface="Times New Roman" panose="02020603050405020304" pitchFamily="18" charset="0"/>
                          <a:cs typeface="Times New Roman" panose="02020603050405020304" pitchFamily="18" charset="0"/>
                        </a:rPr>
                        <a:t>Возможность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Times New Roman" panose="02020603050405020304" pitchFamily="18" charset="0"/>
                          <a:cs typeface="Times New Roman" panose="02020603050405020304" pitchFamily="18" charset="0"/>
                        </a:rPr>
                        <a:t>for</a:t>
                      </a:r>
                      <a:endParaRPr lang="ru-RU"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Times New Roman" panose="02020603050405020304" pitchFamily="18" charset="0"/>
                          <a:cs typeface="Times New Roman" panose="02020603050405020304" pitchFamily="18" charset="0"/>
                        </a:rPr>
                        <a:t>for...of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err="1">
                          <a:latin typeface="Times New Roman" panose="02020603050405020304" pitchFamily="18" charset="0"/>
                          <a:cs typeface="Times New Roman" panose="02020603050405020304" pitchFamily="18" charset="0"/>
                        </a:rPr>
                        <a:t>forEach</a:t>
                      </a:r>
                      <a:endParaRPr lang="en-US"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7571223"/>
                  </a:ext>
                </a:extLst>
              </a:tr>
              <a:tr h="370840">
                <a:tc>
                  <a:txBody>
                    <a:bodyPr/>
                    <a:lstStyle/>
                    <a:p>
                      <a:r>
                        <a:rPr lang="ru-RU" dirty="0">
                          <a:latin typeface="Times New Roman" panose="02020603050405020304" pitchFamily="18" charset="0"/>
                          <a:cs typeface="Times New Roman" panose="02020603050405020304" pitchFamily="18" charset="0"/>
                        </a:rPr>
                        <a:t>Доступ к индексу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4523654"/>
                  </a:ext>
                </a:extLst>
              </a:tr>
              <a:tr h="370840">
                <a:tc>
                  <a:txBody>
                    <a:bodyPr/>
                    <a:lstStyle/>
                    <a:p>
                      <a:r>
                        <a:rPr lang="en-US" dirty="0">
                          <a:latin typeface="Times New Roman" panose="02020603050405020304" pitchFamily="18" charset="0"/>
                          <a:cs typeface="Times New Roman" panose="02020603050405020304" pitchFamily="18" charset="0"/>
                        </a:rPr>
                        <a:t>break / continue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ru-RU" dirty="0">
                          <a:latin typeface="Times New Roman" panose="02020603050405020304" pitchFamily="18" charset="0"/>
                          <a:cs typeface="Times New Roman" panose="02020603050405020304" pitchFamily="18" charset="0"/>
                        </a:rPr>
                        <a:t>❌ 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8818349"/>
                  </a:ext>
                </a:extLst>
              </a:tr>
              <a:tr h="370840">
                <a:tc>
                  <a:txBody>
                    <a:bodyPr/>
                    <a:lstStyle/>
                    <a:p>
                      <a:r>
                        <a:rPr lang="ru-RU" dirty="0">
                          <a:latin typeface="Times New Roman" panose="02020603050405020304" pitchFamily="18" charset="0"/>
                          <a:cs typeface="Times New Roman" panose="02020603050405020304" pitchFamily="18" charset="0"/>
                        </a:rPr>
                        <a:t>Асинхронность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ru-RU" dirty="0">
                          <a:latin typeface="Times New Roman" panose="02020603050405020304" pitchFamily="18" charset="0"/>
                          <a:cs typeface="Times New Roman" panose="02020603050405020304" pitchFamily="18" charset="0"/>
                        </a:rPr>
                        <a:t>✅ 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ru-RU" dirty="0">
                          <a:latin typeface="Times New Roman" panose="02020603050405020304" pitchFamily="18" charset="0"/>
                          <a:cs typeface="Times New Roman" panose="02020603050405020304" pitchFamily="18" charset="0"/>
                        </a:rPr>
                        <a:t>✅ Да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 Сложно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1385301"/>
                  </a:ext>
                </a:extLst>
              </a:tr>
              <a:tr h="370840">
                <a:tc>
                  <a:txBody>
                    <a:bodyPr/>
                    <a:lstStyle/>
                    <a:p>
                      <a:r>
                        <a:rPr lang="ru-RU" dirty="0">
                          <a:latin typeface="Times New Roman" panose="02020603050405020304" pitchFamily="18" charset="0"/>
                          <a:cs typeface="Times New Roman" panose="02020603050405020304" pitchFamily="18" charset="0"/>
                        </a:rPr>
                        <a:t>Читаемость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Средняя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dirty="0">
                          <a:latin typeface="Times New Roman" panose="02020603050405020304" pitchFamily="18" charset="0"/>
                          <a:cs typeface="Times New Roman" panose="02020603050405020304" pitchFamily="18" charset="0"/>
                        </a:rPr>
                        <a:t>Высокая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eaLnBrk="1" fontAlgn="auto" latinLnBrk="0" hangingPunct="1">
                        <a:lnSpc>
                          <a:spcPct val="100000"/>
                        </a:lnSpc>
                        <a:spcBef>
                          <a:spcPts val="0"/>
                        </a:spcBef>
                        <a:spcAft>
                          <a:spcPts val="0"/>
                        </a:spcAft>
                        <a:buClr>
                          <a:srgbClr val="000000"/>
                        </a:buClr>
                        <a:buSzTx/>
                        <a:buFont typeface="Arial"/>
                        <a:buNone/>
                        <a:tabLst/>
                        <a:defRPr/>
                      </a:pPr>
                      <a:r>
                        <a:rPr lang="ru-RU" dirty="0">
                          <a:latin typeface="Times New Roman" panose="02020603050405020304" pitchFamily="18" charset="0"/>
                          <a:cs typeface="Times New Roman" panose="02020603050405020304" pitchFamily="18" charset="0"/>
                        </a:rPr>
                        <a:t>Высокая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346884"/>
                  </a:ext>
                </a:extLst>
              </a:tr>
            </a:tbl>
          </a:graphicData>
        </a:graphic>
      </p:graphicFrame>
    </p:spTree>
    <p:extLst>
      <p:ext uri="{BB962C8B-B14F-4D97-AF65-F5344CB8AC3E}">
        <p14:creationId xmlns:p14="http://schemas.microsoft.com/office/powerpoint/2010/main" val="2566838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12">
            <a:extLst>
              <a:ext uri="{FF2B5EF4-FFF2-40B4-BE49-F238E27FC236}">
                <a16:creationId xmlns:a16="http://schemas.microsoft.com/office/drawing/2014/main" id="{3A9D2132-9639-43A0-AF50-5001F2A48E03}"/>
              </a:ext>
            </a:extLst>
          </p:cNvPr>
          <p:cNvSpPr/>
          <p:nvPr/>
        </p:nvSpPr>
        <p:spPr>
          <a:xfrm>
            <a:off x="5267289" y="3006873"/>
            <a:ext cx="3590304" cy="1713834"/>
          </a:xfrm>
          <a:prstGeom prst="roundRect">
            <a:avLst>
              <a:gd name="adj" fmla="val 5179"/>
            </a:avLst>
          </a:prstGeom>
          <a:solidFill>
            <a:srgbClr val="CEE6FD"/>
          </a:solidFill>
          <a:ln/>
        </p:spPr>
      </p:sp>
      <p:sp>
        <p:nvSpPr>
          <p:cNvPr id="18" name="Shape 12">
            <a:extLst>
              <a:ext uri="{FF2B5EF4-FFF2-40B4-BE49-F238E27FC236}">
                <a16:creationId xmlns:a16="http://schemas.microsoft.com/office/drawing/2014/main" id="{A977715B-B9E3-4287-A48F-F6741B00C991}"/>
              </a:ext>
            </a:extLst>
          </p:cNvPr>
          <p:cNvSpPr/>
          <p:nvPr/>
        </p:nvSpPr>
        <p:spPr>
          <a:xfrm>
            <a:off x="5256239" y="1184813"/>
            <a:ext cx="3590304" cy="1713834"/>
          </a:xfrm>
          <a:prstGeom prst="roundRect">
            <a:avLst>
              <a:gd name="adj" fmla="val 5179"/>
            </a:avLst>
          </a:prstGeom>
          <a:solidFill>
            <a:srgbClr val="CEE6FD"/>
          </a:solidFill>
          <a:ln/>
        </p:spPr>
      </p:sp>
      <p:sp>
        <p:nvSpPr>
          <p:cNvPr id="17" name="Shape 12">
            <a:extLst>
              <a:ext uri="{FF2B5EF4-FFF2-40B4-BE49-F238E27FC236}">
                <a16:creationId xmlns:a16="http://schemas.microsoft.com/office/drawing/2014/main" id="{70C329C6-FF46-440B-B9F5-AFF2C265EF0F}"/>
              </a:ext>
            </a:extLst>
          </p:cNvPr>
          <p:cNvSpPr/>
          <p:nvPr/>
        </p:nvSpPr>
        <p:spPr>
          <a:xfrm>
            <a:off x="394209" y="2991289"/>
            <a:ext cx="4151157" cy="1713834"/>
          </a:xfrm>
          <a:prstGeom prst="roundRect">
            <a:avLst>
              <a:gd name="adj" fmla="val 5179"/>
            </a:avLst>
          </a:prstGeom>
          <a:solidFill>
            <a:srgbClr val="CEE6FD"/>
          </a:solidFill>
          <a:ln/>
        </p:spPr>
      </p:sp>
      <p:sp>
        <p:nvSpPr>
          <p:cNvPr id="16" name="Shape 12">
            <a:extLst>
              <a:ext uri="{FF2B5EF4-FFF2-40B4-BE49-F238E27FC236}">
                <a16:creationId xmlns:a16="http://schemas.microsoft.com/office/drawing/2014/main" id="{D1CAB97F-B4E6-4A1D-ADA0-5D0AB6B07EB7}"/>
              </a:ext>
            </a:extLst>
          </p:cNvPr>
          <p:cNvSpPr/>
          <p:nvPr/>
        </p:nvSpPr>
        <p:spPr>
          <a:xfrm>
            <a:off x="394209" y="1222947"/>
            <a:ext cx="4151157" cy="1713834"/>
          </a:xfrm>
          <a:prstGeom prst="roundRect">
            <a:avLst>
              <a:gd name="adj" fmla="val 5179"/>
            </a:avLst>
          </a:prstGeom>
          <a:solidFill>
            <a:srgbClr val="CEE6FD"/>
          </a:solidFill>
          <a:ln/>
        </p:spPr>
      </p:sp>
      <p:sp>
        <p:nvSpPr>
          <p:cNvPr id="2" name="Text 0">
            <a:extLst>
              <a:ext uri="{FF2B5EF4-FFF2-40B4-BE49-F238E27FC236}">
                <a16:creationId xmlns:a16="http://schemas.microsoft.com/office/drawing/2014/main" id="{C1F7E1DC-4A22-43EC-B539-745F86556746}"/>
              </a:ext>
            </a:extLst>
          </p:cNvPr>
          <p:cNvSpPr/>
          <p:nvPr/>
        </p:nvSpPr>
        <p:spPr>
          <a:xfrm>
            <a:off x="1801137" y="131383"/>
            <a:ext cx="8151763" cy="218033"/>
          </a:xfrm>
          <a:prstGeom prst="rect">
            <a:avLst/>
          </a:prstGeom>
          <a:noFill/>
          <a:ln/>
        </p:spPr>
        <p:txBody>
          <a:bodyPr wrap="none" lIns="0" tIns="0" rIns="0" bIns="0" rtlCol="0" anchor="t"/>
          <a:lstStyle/>
          <a:p>
            <a:pPr marL="0" indent="0" algn="ctr">
              <a:lnSpc>
                <a:spcPct val="104000"/>
              </a:lnSpc>
              <a:buNone/>
            </a:pPr>
            <a:r>
              <a:rPr lang="en-US" sz="2800" dirty="0">
                <a:latin typeface="Times New Roman" panose="02020603050405020304" pitchFamily="18" charset="0"/>
                <a:ea typeface="Instrument Sans SemiBold" pitchFamily="34" charset="-122"/>
                <a:cs typeface="Times New Roman" panose="02020603050405020304" pitchFamily="18" charset="0"/>
              </a:rPr>
              <a:t>Обработка данных и типичные ошибки</a:t>
            </a:r>
            <a:endParaRPr lang="en-US" sz="2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142E602C-5BAB-4993-A685-AD5DB4DD8A6C}"/>
              </a:ext>
            </a:extLst>
          </p:cNvPr>
          <p:cNvSpPr/>
          <p:nvPr/>
        </p:nvSpPr>
        <p:spPr>
          <a:xfrm>
            <a:off x="496119" y="676424"/>
            <a:ext cx="11328937" cy="886046"/>
          </a:xfrm>
          <a:prstGeom prst="rect">
            <a:avLst/>
          </a:prstGeom>
          <a:noFill/>
          <a:ln/>
        </p:spPr>
        <p:txBody>
          <a:bodyPr wrap="square" lIns="0" tIns="0" rIns="0" bIns="0" rtlCol="0" anchor="t">
            <a:noAutofit/>
          </a:bodyPr>
          <a:lstStyle/>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Функциональные методы </a:t>
            </a:r>
            <a:r>
              <a:rPr lang="en-US" sz="1400" dirty="0" err="1">
                <a:latin typeface="Times New Roman" panose="02020603050405020304" pitchFamily="18" charset="0"/>
                <a:ea typeface="Instrument Sans Medium" pitchFamily="34" charset="-122"/>
                <a:cs typeface="Times New Roman" panose="02020603050405020304" pitchFamily="18" charset="0"/>
              </a:rPr>
              <a:t>массивов</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map</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filter</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find</a:t>
            </a:r>
            <a:r>
              <a:rPr lang="en-US" sz="1400" dirty="0">
                <a:latin typeface="Times New Roman" panose="02020603050405020304" pitchFamily="18" charset="0"/>
                <a:ea typeface="Instrument Sans Medium" pitchFamily="34" charset="-122"/>
                <a:cs typeface="Times New Roman" panose="02020603050405020304" pitchFamily="18" charset="0"/>
              </a:rPr>
              <a:t> 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reduce</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ru-RU" sz="1400" dirty="0">
                <a:latin typeface="Times New Roman" panose="02020603050405020304" pitchFamily="18" charset="0"/>
                <a:ea typeface="Instrument Sans Medium" pitchFamily="34" charset="-122"/>
                <a:cs typeface="Times New Roman" panose="02020603050405020304" pitchFamily="18" charset="0"/>
              </a:rPr>
              <a:t>-</a:t>
            </a:r>
            <a:r>
              <a:rPr lang="en-US" sz="1400" dirty="0">
                <a:latin typeface="Times New Roman" panose="02020603050405020304" pitchFamily="18" charset="0"/>
                <a:ea typeface="Instrument Sans Medium" pitchFamily="34" charset="-122"/>
                <a:cs typeface="Times New Roman" panose="02020603050405020304" pitchFamily="18" charset="0"/>
              </a:rPr>
              <a:t> позволяют писать выразительный код для обработки данных без явных циклов. Понимание их различий и типичных ловушек критически важно для написания надёжного кода.</a:t>
            </a:r>
            <a:endParaRPr lang="en-US" sz="1400" dirty="0">
              <a:latin typeface="Times New Roman" panose="02020603050405020304" pitchFamily="18" charset="0"/>
              <a:cs typeface="Times New Roman" panose="02020603050405020304" pitchFamily="18" charset="0"/>
            </a:endParaRPr>
          </a:p>
        </p:txBody>
      </p:sp>
      <p:sp>
        <p:nvSpPr>
          <p:cNvPr id="4" name="Text 3">
            <a:extLst>
              <a:ext uri="{FF2B5EF4-FFF2-40B4-BE49-F238E27FC236}">
                <a16:creationId xmlns:a16="http://schemas.microsoft.com/office/drawing/2014/main" id="{F5FA8DCE-D857-4B54-A82B-86B0A7C6AD3D}"/>
              </a:ext>
            </a:extLst>
          </p:cNvPr>
          <p:cNvSpPr/>
          <p:nvPr/>
        </p:nvSpPr>
        <p:spPr>
          <a:xfrm>
            <a:off x="496119" y="1231282"/>
            <a:ext cx="3916784" cy="251289"/>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map()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преобразование</a:t>
            </a:r>
            <a:endParaRPr lang="en-US" sz="1400" b="1" dirty="0">
              <a:latin typeface="Times New Roman" panose="02020603050405020304" pitchFamily="18" charset="0"/>
              <a:cs typeface="Times New Roman" panose="02020603050405020304" pitchFamily="18" charset="0"/>
            </a:endParaRPr>
          </a:p>
        </p:txBody>
      </p:sp>
      <p:sp>
        <p:nvSpPr>
          <p:cNvPr id="5" name="Text 4">
            <a:extLst>
              <a:ext uri="{FF2B5EF4-FFF2-40B4-BE49-F238E27FC236}">
                <a16:creationId xmlns:a16="http://schemas.microsoft.com/office/drawing/2014/main" id="{08F06C5C-F8AF-4C94-B1A2-07DB7D439B64}"/>
              </a:ext>
            </a:extLst>
          </p:cNvPr>
          <p:cNvSpPr/>
          <p:nvPr/>
        </p:nvSpPr>
        <p:spPr>
          <a:xfrm>
            <a:off x="496119" y="1478865"/>
            <a:ext cx="4519764" cy="247109"/>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Создаёт новый массив, применяя </a:t>
            </a:r>
            <a:r>
              <a:rPr lang="en-US" sz="1400" dirty="0" err="1">
                <a:latin typeface="Times New Roman" panose="02020603050405020304" pitchFamily="18" charset="0"/>
                <a:ea typeface="Instrument Sans Medium" pitchFamily="34" charset="-122"/>
                <a:cs typeface="Times New Roman" panose="02020603050405020304" pitchFamily="18" charset="0"/>
              </a:rPr>
              <a:t>функцию</a:t>
            </a:r>
            <a:r>
              <a:rPr lang="en-US" sz="1400" dirty="0">
                <a:latin typeface="Times New Roman" panose="02020603050405020304" pitchFamily="18" charset="0"/>
                <a:ea typeface="Instrument Sans Medium" pitchFamily="34" charset="-122"/>
                <a:cs typeface="Times New Roman" panose="02020603050405020304" pitchFamily="18" charset="0"/>
              </a:rPr>
              <a:t>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к каждому элементу исходного.</a:t>
            </a:r>
            <a:endParaRPr lang="en-US" sz="1400" dirty="0">
              <a:latin typeface="Times New Roman" panose="02020603050405020304" pitchFamily="18" charset="0"/>
              <a:cs typeface="Times New Roman" panose="02020603050405020304" pitchFamily="18" charset="0"/>
            </a:endParaRPr>
          </a:p>
        </p:txBody>
      </p:sp>
      <p:sp>
        <p:nvSpPr>
          <p:cNvPr id="6" name="Text 6">
            <a:extLst>
              <a:ext uri="{FF2B5EF4-FFF2-40B4-BE49-F238E27FC236}">
                <a16:creationId xmlns:a16="http://schemas.microsoft.com/office/drawing/2014/main" id="{0E2E2CC3-EC0C-4BC8-A263-21E938FB8A76}"/>
              </a:ext>
            </a:extLst>
          </p:cNvPr>
          <p:cNvSpPr/>
          <p:nvPr/>
        </p:nvSpPr>
        <p:spPr>
          <a:xfrm>
            <a:off x="452081" y="2011032"/>
            <a:ext cx="4004860" cy="1034766"/>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nums = [1, 2, 3, 4];</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squares = nums.map(n =&gt; n * n);</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console.log(squares); // [1, 4, 9, 16]</a:t>
            </a:r>
            <a:endParaRPr lang="en-US" sz="1400" dirty="0">
              <a:latin typeface="Times New Roman" panose="02020603050405020304" pitchFamily="18" charset="0"/>
              <a:cs typeface="Times New Roman" panose="02020603050405020304" pitchFamily="18" charset="0"/>
            </a:endParaRPr>
          </a:p>
        </p:txBody>
      </p:sp>
      <p:sp>
        <p:nvSpPr>
          <p:cNvPr id="7" name="Text 8">
            <a:extLst>
              <a:ext uri="{FF2B5EF4-FFF2-40B4-BE49-F238E27FC236}">
                <a16:creationId xmlns:a16="http://schemas.microsoft.com/office/drawing/2014/main" id="{C1E8DC79-F143-41EA-B6D5-DDA22B7A1669}"/>
              </a:ext>
            </a:extLst>
          </p:cNvPr>
          <p:cNvSpPr/>
          <p:nvPr/>
        </p:nvSpPr>
        <p:spPr>
          <a:xfrm>
            <a:off x="5117793" y="1199707"/>
            <a:ext cx="3916859" cy="109017"/>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filter()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фильтрация</a:t>
            </a:r>
            <a:endParaRPr lang="en-US" sz="1400" b="1" dirty="0">
              <a:latin typeface="Times New Roman" panose="02020603050405020304" pitchFamily="18" charset="0"/>
              <a:cs typeface="Times New Roman" panose="02020603050405020304" pitchFamily="18" charset="0"/>
            </a:endParaRPr>
          </a:p>
        </p:txBody>
      </p:sp>
      <p:sp>
        <p:nvSpPr>
          <p:cNvPr id="8" name="Text 9">
            <a:extLst>
              <a:ext uri="{FF2B5EF4-FFF2-40B4-BE49-F238E27FC236}">
                <a16:creationId xmlns:a16="http://schemas.microsoft.com/office/drawing/2014/main" id="{CDCBEE93-F08F-4D1D-8C05-6656187FAD4D}"/>
              </a:ext>
            </a:extLst>
          </p:cNvPr>
          <p:cNvSpPr/>
          <p:nvPr/>
        </p:nvSpPr>
        <p:spPr>
          <a:xfrm>
            <a:off x="5334726" y="1418153"/>
            <a:ext cx="3916859" cy="87213"/>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Создаёт новый массив только с элементами,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04000"/>
              </a:lnSpc>
              <a:buNone/>
            </a:pPr>
            <a:r>
              <a:rPr lang="en-US" sz="1400" dirty="0" err="1">
                <a:latin typeface="Times New Roman" panose="02020603050405020304" pitchFamily="18" charset="0"/>
                <a:ea typeface="Instrument Sans Medium" pitchFamily="34" charset="-122"/>
                <a:cs typeface="Times New Roman" panose="02020603050405020304" pitchFamily="18" charset="0"/>
              </a:rPr>
              <a:t>прошедшими</a:t>
            </a:r>
            <a:r>
              <a:rPr lang="en-US" sz="1400" dirty="0">
                <a:latin typeface="Times New Roman" panose="02020603050405020304" pitchFamily="18" charset="0"/>
                <a:ea typeface="Instrument Sans Medium" pitchFamily="34" charset="-122"/>
                <a:cs typeface="Times New Roman" panose="02020603050405020304" pitchFamily="18" charset="0"/>
              </a:rPr>
              <a:t> проверку.</a:t>
            </a:r>
            <a:endParaRPr lang="en-US" sz="1400" dirty="0">
              <a:latin typeface="Times New Roman" panose="02020603050405020304" pitchFamily="18" charset="0"/>
              <a:cs typeface="Times New Roman" panose="02020603050405020304" pitchFamily="18" charset="0"/>
            </a:endParaRPr>
          </a:p>
        </p:txBody>
      </p:sp>
      <p:sp>
        <p:nvSpPr>
          <p:cNvPr id="9" name="Text 11">
            <a:extLst>
              <a:ext uri="{FF2B5EF4-FFF2-40B4-BE49-F238E27FC236}">
                <a16:creationId xmlns:a16="http://schemas.microsoft.com/office/drawing/2014/main" id="{6144E83A-D6A0-463A-842C-58F2A84CA027}"/>
              </a:ext>
            </a:extLst>
          </p:cNvPr>
          <p:cNvSpPr/>
          <p:nvPr/>
        </p:nvSpPr>
        <p:spPr>
          <a:xfrm>
            <a:off x="5414047" y="1872645"/>
            <a:ext cx="3324349" cy="886046"/>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nums = [1, 2, 3, 4, 5];</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evens = nums.filter(n =&gt; n % 2 === 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console.log(evens); // [2, 4]</a:t>
            </a:r>
            <a:endParaRPr lang="en-US" sz="1400" dirty="0">
              <a:latin typeface="Times New Roman" panose="02020603050405020304" pitchFamily="18" charset="0"/>
              <a:cs typeface="Times New Roman" panose="02020603050405020304" pitchFamily="18" charset="0"/>
            </a:endParaRPr>
          </a:p>
        </p:txBody>
      </p:sp>
      <p:sp>
        <p:nvSpPr>
          <p:cNvPr id="10" name="Text 13">
            <a:extLst>
              <a:ext uri="{FF2B5EF4-FFF2-40B4-BE49-F238E27FC236}">
                <a16:creationId xmlns:a16="http://schemas.microsoft.com/office/drawing/2014/main" id="{D31A79C4-2D48-447F-A48F-9D7E55191676}"/>
              </a:ext>
            </a:extLst>
          </p:cNvPr>
          <p:cNvSpPr/>
          <p:nvPr/>
        </p:nvSpPr>
        <p:spPr>
          <a:xfrm>
            <a:off x="452080" y="2991289"/>
            <a:ext cx="3916784" cy="109017"/>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find() / findIndex()</a:t>
            </a:r>
            <a:endParaRPr lang="en-US" sz="1400" b="1" dirty="0">
              <a:latin typeface="Times New Roman" panose="02020603050405020304" pitchFamily="18" charset="0"/>
              <a:cs typeface="Times New Roman" panose="02020603050405020304" pitchFamily="18" charset="0"/>
            </a:endParaRPr>
          </a:p>
        </p:txBody>
      </p:sp>
      <p:sp>
        <p:nvSpPr>
          <p:cNvPr id="11" name="Text 14">
            <a:extLst>
              <a:ext uri="{FF2B5EF4-FFF2-40B4-BE49-F238E27FC236}">
                <a16:creationId xmlns:a16="http://schemas.microsoft.com/office/drawing/2014/main" id="{83A5F846-CE10-450D-9AE6-8267AFDF18CD}"/>
              </a:ext>
            </a:extLst>
          </p:cNvPr>
          <p:cNvSpPr/>
          <p:nvPr/>
        </p:nvSpPr>
        <p:spPr>
          <a:xfrm>
            <a:off x="452081" y="3293293"/>
            <a:ext cx="3960822" cy="464401"/>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Возвращает первый найденный элемент </a:t>
            </a:r>
            <a:r>
              <a:rPr lang="en-US" sz="1400" dirty="0" err="1">
                <a:latin typeface="Times New Roman" panose="02020603050405020304" pitchFamily="18" charset="0"/>
                <a:ea typeface="Instrument Sans Medium" pitchFamily="34" charset="-122"/>
                <a:cs typeface="Times New Roman" panose="02020603050405020304" pitchFamily="18" charset="0"/>
              </a:rPr>
              <a:t>или</a:t>
            </a:r>
            <a:r>
              <a:rPr lang="en-US" sz="1400" dirty="0">
                <a:latin typeface="Times New Roman" panose="02020603050405020304" pitchFamily="18" charset="0"/>
                <a:ea typeface="Instrument Sans Medium" pitchFamily="34" charset="-122"/>
                <a:cs typeface="Times New Roman" panose="02020603050405020304" pitchFamily="18" charset="0"/>
              </a:rPr>
              <a:t>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04000"/>
              </a:lnSpc>
              <a:buNone/>
            </a:pPr>
            <a:r>
              <a:rPr lang="en-US" sz="1400" dirty="0" err="1">
                <a:latin typeface="Times New Roman" panose="02020603050405020304" pitchFamily="18" charset="0"/>
                <a:ea typeface="Instrument Sans Medium" pitchFamily="34" charset="-122"/>
                <a:cs typeface="Times New Roman" panose="02020603050405020304" pitchFamily="18" charset="0"/>
              </a:rPr>
              <a:t>его</a:t>
            </a:r>
            <a:r>
              <a:rPr lang="en-US" sz="1400" dirty="0">
                <a:latin typeface="Times New Roman" panose="02020603050405020304" pitchFamily="18" charset="0"/>
                <a:ea typeface="Instrument Sans Medium" pitchFamily="34" charset="-122"/>
                <a:cs typeface="Times New Roman" panose="02020603050405020304" pitchFamily="18" charset="0"/>
              </a:rPr>
              <a:t> индекс, а не массив.</a:t>
            </a:r>
            <a:endParaRPr lang="en-US" sz="1400" dirty="0">
              <a:latin typeface="Times New Roman" panose="02020603050405020304" pitchFamily="18" charset="0"/>
              <a:cs typeface="Times New Roman" panose="02020603050405020304" pitchFamily="18" charset="0"/>
            </a:endParaRPr>
          </a:p>
        </p:txBody>
      </p:sp>
      <p:sp>
        <p:nvSpPr>
          <p:cNvPr id="12" name="Text 16">
            <a:extLst>
              <a:ext uri="{FF2B5EF4-FFF2-40B4-BE49-F238E27FC236}">
                <a16:creationId xmlns:a16="http://schemas.microsoft.com/office/drawing/2014/main" id="{ECA22E57-5E21-4A0E-A56F-FD8E43BAC451}"/>
              </a:ext>
            </a:extLst>
          </p:cNvPr>
          <p:cNvSpPr/>
          <p:nvPr/>
        </p:nvSpPr>
        <p:spPr>
          <a:xfrm>
            <a:off x="496119" y="3812686"/>
            <a:ext cx="3749353" cy="669727"/>
          </a:xfrm>
          <a:prstGeom prst="rect">
            <a:avLst/>
          </a:prstGeom>
          <a:noFill/>
          <a:ln/>
        </p:spPr>
        <p:txBody>
          <a:bodyPr wrap="square" lIns="0" tIns="0" rIns="0" bIns="0" rtlCol="0" anchor="t">
            <a:norm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numbers = [5, 12, 8, 20];</a:t>
            </a:r>
            <a:endParaRPr lang="ru-RU" sz="1400" dirty="0">
              <a:latin typeface="Times New Roman" panose="02020603050405020304" pitchFamily="18" charset="0"/>
              <a:ea typeface="Consolas" pitchFamily="34" charset="-122"/>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value = </a:t>
            </a:r>
            <a:r>
              <a:rPr lang="en-US" sz="1400" dirty="0" err="1">
                <a:latin typeface="Times New Roman" panose="02020603050405020304" pitchFamily="18" charset="0"/>
                <a:ea typeface="Consolas" pitchFamily="34" charset="-122"/>
                <a:cs typeface="Times New Roman" panose="02020603050405020304" pitchFamily="18" charset="0"/>
              </a:rPr>
              <a:t>numbers.find</a:t>
            </a:r>
            <a:r>
              <a:rPr lang="en-US" sz="1400" dirty="0">
                <a:latin typeface="Times New Roman" panose="02020603050405020304" pitchFamily="18" charset="0"/>
                <a:ea typeface="Consolas" pitchFamily="34" charset="-122"/>
                <a:cs typeface="Times New Roman" panose="02020603050405020304" pitchFamily="18" charset="0"/>
              </a:rPr>
              <a:t>(num =&gt; num &gt; 10);</a:t>
            </a:r>
            <a:endParaRPr lang="en-US" sz="1400" dirty="0">
              <a:latin typeface="Times New Roman" panose="02020603050405020304" pitchFamily="18" charset="0"/>
              <a:cs typeface="Times New Roman" panose="02020603050405020304" pitchFamily="18" charset="0"/>
            </a:endParaRPr>
          </a:p>
        </p:txBody>
      </p:sp>
      <p:sp>
        <p:nvSpPr>
          <p:cNvPr id="13" name="Text 18">
            <a:extLst>
              <a:ext uri="{FF2B5EF4-FFF2-40B4-BE49-F238E27FC236}">
                <a16:creationId xmlns:a16="http://schemas.microsoft.com/office/drawing/2014/main" id="{1ABEEFD8-49A2-4935-9D49-7AFC9F65A046}"/>
              </a:ext>
            </a:extLst>
          </p:cNvPr>
          <p:cNvSpPr/>
          <p:nvPr/>
        </p:nvSpPr>
        <p:spPr>
          <a:xfrm>
            <a:off x="5290677" y="3072521"/>
            <a:ext cx="3916859" cy="214915"/>
          </a:xfrm>
          <a:prstGeom prst="rect">
            <a:avLst/>
          </a:prstGeom>
          <a:noFill/>
          <a:ln/>
        </p:spPr>
        <p:txBody>
          <a:bodyPr wrap="none" lIns="0" tIns="0" rIns="0" bIns="0" rtlCol="0" anchor="t"/>
          <a:lstStyle/>
          <a:p>
            <a:pPr marL="0" indent="0" algn="ctr">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reduce() </a:t>
            </a:r>
            <a:r>
              <a:rPr lang="ru-RU" sz="1400" b="1" dirty="0">
                <a:latin typeface="Times New Roman" panose="02020603050405020304" pitchFamily="18" charset="0"/>
                <a:ea typeface="Instrument Sans SemiBold" pitchFamily="34" charset="-122"/>
                <a:cs typeface="Times New Roman" panose="02020603050405020304" pitchFamily="18" charset="0"/>
              </a:rPr>
              <a:t>-</a:t>
            </a:r>
            <a:r>
              <a:rPr lang="en-US" sz="1400" b="1" dirty="0">
                <a:latin typeface="Times New Roman" panose="02020603050405020304" pitchFamily="18" charset="0"/>
                <a:ea typeface="Instrument Sans SemiBold" pitchFamily="34" charset="-122"/>
                <a:cs typeface="Times New Roman" panose="02020603050405020304" pitchFamily="18" charset="0"/>
              </a:rPr>
              <a:t> накопление</a:t>
            </a:r>
            <a:endParaRPr lang="en-US" sz="1400" b="1" dirty="0">
              <a:latin typeface="Times New Roman" panose="02020603050405020304" pitchFamily="18" charset="0"/>
              <a:cs typeface="Times New Roman" panose="02020603050405020304" pitchFamily="18" charset="0"/>
            </a:endParaRPr>
          </a:p>
        </p:txBody>
      </p:sp>
      <p:sp>
        <p:nvSpPr>
          <p:cNvPr id="14" name="Text 19">
            <a:extLst>
              <a:ext uri="{FF2B5EF4-FFF2-40B4-BE49-F238E27FC236}">
                <a16:creationId xmlns:a16="http://schemas.microsoft.com/office/drawing/2014/main" id="{AD94DC8E-EB7D-436F-9084-55E39E8250CF}"/>
              </a:ext>
            </a:extLst>
          </p:cNvPr>
          <p:cNvSpPr/>
          <p:nvPr/>
        </p:nvSpPr>
        <p:spPr>
          <a:xfrm>
            <a:off x="5334726" y="3327018"/>
            <a:ext cx="3916859" cy="214915"/>
          </a:xfrm>
          <a:prstGeom prst="rect">
            <a:avLst/>
          </a:prstGeom>
          <a:noFill/>
          <a:ln/>
        </p:spPr>
        <p:txBody>
          <a:bodyPr wrap="none" lIns="0" tIns="0" rIns="0" bIns="0" rtlCol="0" anchor="t"/>
          <a:lstStyle/>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Сворачивает массив в одно значение с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04000"/>
              </a:lnSpc>
              <a:buNone/>
            </a:pPr>
            <a:r>
              <a:rPr lang="en-US" sz="1400" dirty="0" err="1">
                <a:latin typeface="Times New Roman" panose="02020603050405020304" pitchFamily="18" charset="0"/>
                <a:ea typeface="Instrument Sans Medium" pitchFamily="34" charset="-122"/>
                <a:cs typeface="Times New Roman" panose="02020603050405020304" pitchFamily="18" charset="0"/>
              </a:rPr>
              <a:t>помощью</a:t>
            </a:r>
            <a:r>
              <a:rPr lang="en-US" sz="1400" dirty="0">
                <a:latin typeface="Times New Roman" panose="02020603050405020304" pitchFamily="18" charset="0"/>
                <a:ea typeface="Instrument Sans Medium" pitchFamily="34" charset="-122"/>
                <a:cs typeface="Times New Roman" panose="02020603050405020304" pitchFamily="18" charset="0"/>
              </a:rPr>
              <a:t> аккумулятора.</a:t>
            </a:r>
            <a:endParaRPr lang="en-US" sz="1400" dirty="0">
              <a:latin typeface="Times New Roman" panose="02020603050405020304" pitchFamily="18" charset="0"/>
              <a:cs typeface="Times New Roman" panose="02020603050405020304" pitchFamily="18" charset="0"/>
            </a:endParaRPr>
          </a:p>
        </p:txBody>
      </p:sp>
      <p:sp>
        <p:nvSpPr>
          <p:cNvPr id="15" name="Text 21">
            <a:extLst>
              <a:ext uri="{FF2B5EF4-FFF2-40B4-BE49-F238E27FC236}">
                <a16:creationId xmlns:a16="http://schemas.microsoft.com/office/drawing/2014/main" id="{98A974C1-8C38-4F56-BE27-38C85B393CA1}"/>
              </a:ext>
            </a:extLst>
          </p:cNvPr>
          <p:cNvSpPr/>
          <p:nvPr/>
        </p:nvSpPr>
        <p:spPr>
          <a:xfrm>
            <a:off x="5334726" y="3737815"/>
            <a:ext cx="4194802" cy="886046"/>
          </a:xfrm>
          <a:prstGeom prst="rect">
            <a:avLst/>
          </a:prstGeom>
          <a:noFill/>
          <a:ln/>
        </p:spPr>
        <p:txBody>
          <a:bodyPr wrap="square" lIns="0" tIns="0" rIns="0" bIns="0" rtlCol="0" anchor="t">
            <a:noAutofit/>
          </a:bodyPr>
          <a:lstStyle/>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nums = [1, 2, 3, 4];</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let sum = </a:t>
            </a:r>
            <a:r>
              <a:rPr lang="en-US" sz="1400" dirty="0" err="1">
                <a:latin typeface="Times New Roman" panose="02020603050405020304" pitchFamily="18" charset="0"/>
                <a:ea typeface="Consolas" pitchFamily="34" charset="-122"/>
                <a:cs typeface="Times New Roman" panose="02020603050405020304" pitchFamily="18" charset="0"/>
              </a:rPr>
              <a:t>nums.reduce</a:t>
            </a:r>
            <a:r>
              <a:rPr lang="en-US" sz="1400" dirty="0">
                <a:latin typeface="Times New Roman" panose="02020603050405020304" pitchFamily="18" charset="0"/>
                <a:ea typeface="Consolas" pitchFamily="34" charset="-122"/>
                <a:cs typeface="Times New Roman" panose="02020603050405020304" pitchFamily="18" charset="0"/>
              </a:rPr>
              <a:t>((total, n) =&gt; total + n, 0);</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latin typeface="Times New Roman" panose="02020603050405020304" pitchFamily="18" charset="0"/>
                <a:ea typeface="Consolas" pitchFamily="34" charset="-122"/>
                <a:cs typeface="Times New Roman" panose="02020603050405020304" pitchFamily="18" charset="0"/>
              </a:rPr>
              <a:t>console.log(sum); // 10</a:t>
            </a:r>
            <a:endParaRPr lang="en-US" sz="1400" dirty="0">
              <a:latin typeface="Times New Roman" panose="02020603050405020304" pitchFamily="18" charset="0"/>
              <a:cs typeface="Times New Roman" panose="02020603050405020304" pitchFamily="18" charset="0"/>
            </a:endParaRPr>
          </a:p>
        </p:txBody>
      </p:sp>
      <p:sp>
        <p:nvSpPr>
          <p:cNvPr id="20" name="Text 22">
            <a:extLst>
              <a:ext uri="{FF2B5EF4-FFF2-40B4-BE49-F238E27FC236}">
                <a16:creationId xmlns:a16="http://schemas.microsoft.com/office/drawing/2014/main" id="{77B00CC7-3838-4102-B1B3-9FA68D615F9F}"/>
              </a:ext>
            </a:extLst>
          </p:cNvPr>
          <p:cNvSpPr/>
          <p:nvPr/>
        </p:nvSpPr>
        <p:spPr>
          <a:xfrm>
            <a:off x="2250059" y="4789093"/>
            <a:ext cx="3990826" cy="109017"/>
          </a:xfrm>
          <a:prstGeom prst="rect">
            <a:avLst/>
          </a:prstGeom>
          <a:noFill/>
          <a:ln/>
        </p:spPr>
        <p:txBody>
          <a:bodyPr wrap="none" lIns="0" tIns="0" rIns="0" bIns="0" rtlCol="0" anchor="t"/>
          <a:lstStyle/>
          <a:p>
            <a:pPr marL="0" indent="0" algn="ctr">
              <a:lnSpc>
                <a:spcPct val="104000"/>
              </a:lnSpc>
              <a:buNone/>
            </a:pPr>
            <a:r>
              <a:rPr lang="en-US" sz="1400" dirty="0">
                <a:solidFill>
                  <a:srgbClr val="091C53"/>
                </a:solidFill>
                <a:latin typeface="Times New Roman" panose="02020603050405020304" pitchFamily="18" charset="0"/>
                <a:ea typeface="Instrument Sans SemiBold" pitchFamily="34" charset="-122"/>
                <a:cs typeface="Times New Roman" panose="02020603050405020304" pitchFamily="18" charset="0"/>
              </a:rPr>
              <a:t>Цепочки методов</a:t>
            </a:r>
            <a:endParaRPr lang="en-US" sz="1400" dirty="0">
              <a:latin typeface="Times New Roman" panose="02020603050405020304" pitchFamily="18" charset="0"/>
              <a:cs typeface="Times New Roman" panose="02020603050405020304" pitchFamily="18" charset="0"/>
            </a:endParaRPr>
          </a:p>
        </p:txBody>
      </p:sp>
      <p:sp>
        <p:nvSpPr>
          <p:cNvPr id="21" name="Text 23">
            <a:extLst>
              <a:ext uri="{FF2B5EF4-FFF2-40B4-BE49-F238E27FC236}">
                <a16:creationId xmlns:a16="http://schemas.microsoft.com/office/drawing/2014/main" id="{A7A3A657-E832-48B3-A233-4E1E2EAB236B}"/>
              </a:ext>
            </a:extLst>
          </p:cNvPr>
          <p:cNvSpPr/>
          <p:nvPr/>
        </p:nvSpPr>
        <p:spPr>
          <a:xfrm>
            <a:off x="446120" y="5081435"/>
            <a:ext cx="3990826" cy="922588"/>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1E3063"/>
                </a:solidFill>
                <a:latin typeface="Times New Roman" panose="02020603050405020304" pitchFamily="18" charset="0"/>
                <a:ea typeface="Instrument Sans Medium" pitchFamily="34" charset="-122"/>
                <a:cs typeface="Times New Roman" panose="02020603050405020304" pitchFamily="18" charset="0"/>
              </a:rPr>
              <a:t>Мощь функциональных методов раскрывается при комбинировании в цепочки. Каждый метод возвращает новый массив, позволяя вызывать следующий.</a:t>
            </a:r>
            <a:endParaRPr lang="en-US" sz="1400" dirty="0">
              <a:latin typeface="Times New Roman" panose="02020603050405020304" pitchFamily="18" charset="0"/>
              <a:cs typeface="Times New Roman" panose="02020603050405020304" pitchFamily="18" charset="0"/>
            </a:endParaRPr>
          </a:p>
        </p:txBody>
      </p:sp>
      <p:sp>
        <p:nvSpPr>
          <p:cNvPr id="22" name="Text 25">
            <a:extLst>
              <a:ext uri="{FF2B5EF4-FFF2-40B4-BE49-F238E27FC236}">
                <a16:creationId xmlns:a16="http://schemas.microsoft.com/office/drawing/2014/main" id="{D5812EAC-073F-4605-8103-B12E5577036C}"/>
              </a:ext>
            </a:extLst>
          </p:cNvPr>
          <p:cNvSpPr/>
          <p:nvPr/>
        </p:nvSpPr>
        <p:spPr>
          <a:xfrm>
            <a:off x="4587903" y="5132027"/>
            <a:ext cx="2759177" cy="1529825"/>
          </a:xfrm>
          <a:prstGeom prst="rect">
            <a:avLst/>
          </a:prstGeom>
          <a:noFill/>
          <a:ln/>
        </p:spPr>
        <p:txBody>
          <a:bodyPr wrap="square" lIns="0" tIns="0" rIns="0" bIns="0" rtlCol="0" anchor="t">
            <a:noAutofit/>
          </a:bodyPr>
          <a:lstStyle/>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let result = users</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.filter(u =&gt; u.age &gt;= 18)</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.map(u =&gt; u.name.toUpperCase())</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.sort()</a:t>
            </a:r>
            <a:endParaRPr lang="en-US" sz="1400" dirty="0">
              <a:latin typeface="Times New Roman" panose="02020603050405020304" pitchFamily="18" charset="0"/>
              <a:cs typeface="Times New Roman" panose="02020603050405020304" pitchFamily="18" charset="0"/>
            </a:endParaRPr>
          </a:p>
          <a:p>
            <a:pPr marL="0" indent="0" algn="l">
              <a:lnSpc>
                <a:spcPct val="133000"/>
              </a:lnSpc>
              <a:buNone/>
            </a:pPr>
            <a:r>
              <a:rPr lang="en-US" sz="1400" dirty="0">
                <a:solidFill>
                  <a:srgbClr val="24292E"/>
                </a:solidFill>
                <a:latin typeface="Times New Roman" panose="02020603050405020304" pitchFamily="18" charset="0"/>
                <a:ea typeface="Consolas" pitchFamily="34" charset="-122"/>
                <a:cs typeface="Times New Roman" panose="02020603050405020304" pitchFamily="18" charset="0"/>
              </a:rPr>
              <a:t>  .slice(0, 5);</a:t>
            </a:r>
            <a:endParaRPr lang="en-US" sz="1400" dirty="0">
              <a:latin typeface="Times New Roman" panose="02020603050405020304" pitchFamily="18" charset="0"/>
              <a:cs typeface="Times New Roman" panose="02020603050405020304" pitchFamily="18" charset="0"/>
            </a:endParaRPr>
          </a:p>
        </p:txBody>
      </p:sp>
      <p:sp>
        <p:nvSpPr>
          <p:cNvPr id="23" name="Text 27">
            <a:extLst>
              <a:ext uri="{FF2B5EF4-FFF2-40B4-BE49-F238E27FC236}">
                <a16:creationId xmlns:a16="http://schemas.microsoft.com/office/drawing/2014/main" id="{6A8D8EF0-BF40-4942-B3FB-5DABB8484421}"/>
              </a:ext>
            </a:extLst>
          </p:cNvPr>
          <p:cNvSpPr/>
          <p:nvPr/>
        </p:nvSpPr>
        <p:spPr>
          <a:xfrm>
            <a:off x="9452930" y="1298255"/>
            <a:ext cx="1956682" cy="327008"/>
          </a:xfrm>
          <a:prstGeom prst="rect">
            <a:avLst/>
          </a:prstGeom>
          <a:noFill/>
          <a:ln/>
        </p:spPr>
        <p:txBody>
          <a:bodyPr wrap="none" lIns="0" tIns="0" rIns="0" bIns="0" rtlCol="0" anchor="t"/>
          <a:lstStyle/>
          <a:p>
            <a:pPr marL="0" indent="0" algn="l">
              <a:lnSpc>
                <a:spcPct val="104000"/>
              </a:lnSpc>
              <a:buNone/>
            </a:pPr>
            <a:r>
              <a:rPr lang="en-US" sz="1400" b="1" u="sng" dirty="0">
                <a:latin typeface="Times New Roman" panose="02020603050405020304" pitchFamily="18" charset="0"/>
                <a:ea typeface="Twemoji Mozilla" pitchFamily="34" charset="-122"/>
                <a:cs typeface="Times New Roman" panose="02020603050405020304" pitchFamily="18" charset="0"/>
              </a:rPr>
              <a:t>⚠️</a:t>
            </a:r>
            <a:r>
              <a:rPr lang="en-US" sz="1400" b="1" u="sng" dirty="0">
                <a:latin typeface="Times New Roman" panose="02020603050405020304" pitchFamily="18" charset="0"/>
                <a:ea typeface="Instrument Sans SemiBold" pitchFamily="34" charset="-122"/>
                <a:cs typeface="Times New Roman" panose="02020603050405020304" pitchFamily="18" charset="0"/>
              </a:rPr>
              <a:t> Типичные ошибки</a:t>
            </a:r>
            <a:endParaRPr lang="en-US" sz="1400" b="1" u="sng" dirty="0">
              <a:latin typeface="Times New Roman" panose="02020603050405020304" pitchFamily="18" charset="0"/>
              <a:cs typeface="Times New Roman" panose="02020603050405020304" pitchFamily="18" charset="0"/>
            </a:endParaRPr>
          </a:p>
        </p:txBody>
      </p:sp>
      <p:sp>
        <p:nvSpPr>
          <p:cNvPr id="24" name="Text 28">
            <a:extLst>
              <a:ext uri="{FF2B5EF4-FFF2-40B4-BE49-F238E27FC236}">
                <a16:creationId xmlns:a16="http://schemas.microsoft.com/office/drawing/2014/main" id="{48F95E71-633D-482C-8B2B-2C59BE75DCE8}"/>
              </a:ext>
            </a:extLst>
          </p:cNvPr>
          <p:cNvSpPr/>
          <p:nvPr/>
        </p:nvSpPr>
        <p:spPr>
          <a:xfrm>
            <a:off x="9251585" y="1592337"/>
            <a:ext cx="2764414" cy="224031"/>
          </a:xfrm>
          <a:prstGeom prst="rect">
            <a:avLst/>
          </a:prstGeom>
          <a:noFill/>
          <a:ln/>
        </p:spPr>
        <p:txBody>
          <a:bodyPr wrap="none" lIns="0" tIns="0" rIns="0" bIns="0" rtlCol="0" anchor="t"/>
          <a:lstStyle/>
          <a:p>
            <a:pPr marL="0" indent="0" algn="l">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Изменение массива при итерации</a:t>
            </a:r>
            <a:endParaRPr lang="en-US" sz="1400" b="1" dirty="0">
              <a:latin typeface="Times New Roman" panose="02020603050405020304" pitchFamily="18" charset="0"/>
              <a:cs typeface="Times New Roman" panose="02020603050405020304" pitchFamily="18" charset="0"/>
            </a:endParaRPr>
          </a:p>
        </p:txBody>
      </p:sp>
      <p:sp>
        <p:nvSpPr>
          <p:cNvPr id="25" name="Text 29">
            <a:extLst>
              <a:ext uri="{FF2B5EF4-FFF2-40B4-BE49-F238E27FC236}">
                <a16:creationId xmlns:a16="http://schemas.microsoft.com/office/drawing/2014/main" id="{FEF55DDA-F878-4D26-9AF6-0DA61801387E}"/>
              </a:ext>
            </a:extLst>
          </p:cNvPr>
          <p:cNvSpPr/>
          <p:nvPr/>
        </p:nvSpPr>
        <p:spPr>
          <a:xfrm>
            <a:off x="9154184" y="1872645"/>
            <a:ext cx="3037816" cy="1112696"/>
          </a:xfrm>
          <a:prstGeom prst="rect">
            <a:avLst/>
          </a:prstGeom>
          <a:noFill/>
          <a:ln/>
        </p:spPr>
        <p:txBody>
          <a:bodyPr wrap="square" lIns="0" tIns="0" rIns="0" bIns="0" rtlCol="0" anchor="t">
            <a:noAutofit/>
          </a:bodyPr>
          <a:lstStyle/>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Удаление элементов из массива во время перебора через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forEach</a:t>
            </a:r>
            <a:r>
              <a:rPr lang="en-US" sz="1400" dirty="0">
                <a:latin typeface="Times New Roman" panose="02020603050405020304" pitchFamily="18" charset="0"/>
                <a:ea typeface="Instrument Sans Medium" pitchFamily="34" charset="-122"/>
                <a:cs typeface="Times New Roman" panose="02020603050405020304" pitchFamily="18" charset="0"/>
              </a:rPr>
              <a:t> или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for...of</a:t>
            </a:r>
            <a:r>
              <a:rPr lang="en-US" sz="1400" dirty="0">
                <a:latin typeface="Times New Roman" panose="02020603050405020304" pitchFamily="18" charset="0"/>
                <a:ea typeface="Instrument Sans Medium" pitchFamily="34" charset="-122"/>
                <a:cs typeface="Times New Roman" panose="02020603050405020304" pitchFamily="18" charset="0"/>
              </a:rPr>
              <a:t> приводит к пропуску элементов. Используйте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filter</a:t>
            </a:r>
            <a:r>
              <a:rPr lang="en-US" sz="1400" dirty="0">
                <a:latin typeface="Times New Roman" panose="02020603050405020304" pitchFamily="18" charset="0"/>
                <a:ea typeface="Instrument Sans Medium" pitchFamily="34" charset="-122"/>
                <a:cs typeface="Times New Roman" panose="02020603050405020304" pitchFamily="18" charset="0"/>
              </a:rPr>
              <a:t> для создания нового массива.</a:t>
            </a:r>
            <a:endParaRPr lang="en-US" sz="1400" dirty="0">
              <a:latin typeface="Times New Roman" panose="02020603050405020304" pitchFamily="18" charset="0"/>
              <a:cs typeface="Times New Roman" panose="02020603050405020304" pitchFamily="18" charset="0"/>
            </a:endParaRPr>
          </a:p>
        </p:txBody>
      </p:sp>
      <p:sp>
        <p:nvSpPr>
          <p:cNvPr id="26" name="Text 30">
            <a:extLst>
              <a:ext uri="{FF2B5EF4-FFF2-40B4-BE49-F238E27FC236}">
                <a16:creationId xmlns:a16="http://schemas.microsoft.com/office/drawing/2014/main" id="{89EE54B4-05F8-4F17-BFCF-2559325DFE5D}"/>
              </a:ext>
            </a:extLst>
          </p:cNvPr>
          <p:cNvSpPr/>
          <p:nvPr/>
        </p:nvSpPr>
        <p:spPr>
          <a:xfrm>
            <a:off x="9207536" y="2985341"/>
            <a:ext cx="3135018" cy="417832"/>
          </a:xfrm>
          <a:prstGeom prst="rect">
            <a:avLst/>
          </a:prstGeom>
          <a:noFill/>
          <a:ln/>
        </p:spPr>
        <p:txBody>
          <a:bodyPr wrap="none" lIns="0" tIns="0" rIns="0" bIns="0" rtlCol="0" anchor="t"/>
          <a:lstStyle/>
          <a:p>
            <a:pPr marL="0" indent="0" algn="l">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Путаница: мутирующие vs </a:t>
            </a:r>
            <a:endParaRPr lang="ru-RU" sz="1400" b="1" dirty="0">
              <a:latin typeface="Times New Roman" panose="02020603050405020304" pitchFamily="18" charset="0"/>
              <a:ea typeface="Instrument Sans SemiBold" pitchFamily="34" charset="-122"/>
              <a:cs typeface="Times New Roman" panose="02020603050405020304" pitchFamily="18" charset="0"/>
            </a:endParaRPr>
          </a:p>
          <a:p>
            <a:pPr marL="0" indent="0" algn="l">
              <a:lnSpc>
                <a:spcPct val="104000"/>
              </a:lnSpc>
              <a:buNone/>
            </a:pPr>
            <a:r>
              <a:rPr lang="en-US" sz="1400" b="1" dirty="0" err="1">
                <a:latin typeface="Times New Roman" panose="02020603050405020304" pitchFamily="18" charset="0"/>
                <a:ea typeface="Instrument Sans SemiBold" pitchFamily="34" charset="-122"/>
                <a:cs typeface="Times New Roman" panose="02020603050405020304" pitchFamily="18" charset="0"/>
              </a:rPr>
              <a:t>не</a:t>
            </a:r>
            <a:r>
              <a:rPr lang="en-US" sz="1400" b="1" dirty="0">
                <a:latin typeface="Times New Roman" panose="02020603050405020304" pitchFamily="18" charset="0"/>
                <a:ea typeface="Instrument Sans SemiBold" pitchFamily="34" charset="-122"/>
                <a:cs typeface="Times New Roman" panose="02020603050405020304" pitchFamily="18" charset="0"/>
              </a:rPr>
              <a:t> мутирующие</a:t>
            </a:r>
            <a:endParaRPr lang="en-US" sz="1400" b="1" dirty="0">
              <a:latin typeface="Times New Roman" panose="02020603050405020304" pitchFamily="18" charset="0"/>
              <a:cs typeface="Times New Roman" panose="02020603050405020304" pitchFamily="18" charset="0"/>
            </a:endParaRPr>
          </a:p>
        </p:txBody>
      </p:sp>
      <p:sp>
        <p:nvSpPr>
          <p:cNvPr id="27" name="Text 31">
            <a:extLst>
              <a:ext uri="{FF2B5EF4-FFF2-40B4-BE49-F238E27FC236}">
                <a16:creationId xmlns:a16="http://schemas.microsoft.com/office/drawing/2014/main" id="{BF86F233-C211-48D1-BCFE-A86928A3151B}"/>
              </a:ext>
            </a:extLst>
          </p:cNvPr>
          <p:cNvSpPr/>
          <p:nvPr/>
        </p:nvSpPr>
        <p:spPr>
          <a:xfrm>
            <a:off x="9034652" y="3468821"/>
            <a:ext cx="3066824" cy="816862"/>
          </a:xfrm>
          <a:prstGeom prst="rect">
            <a:avLst/>
          </a:prstGeom>
          <a:noFill/>
          <a:ln/>
        </p:spPr>
        <p:txBody>
          <a:bodyPr wrap="square" lIns="0" tIns="0" rIns="0" bIns="0" rtlCol="0" anchor="t">
            <a:noAutofit/>
          </a:bodyPr>
          <a:lstStyle/>
          <a:p>
            <a:pPr marL="0" indent="0" algn="l">
              <a:lnSpc>
                <a:spcPct val="104000"/>
              </a:lnSpc>
              <a:buNone/>
            </a:pP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push/pop/splice/sort/reverse</a:t>
            </a:r>
            <a:r>
              <a:rPr lang="en-US" sz="1400" dirty="0">
                <a:latin typeface="Times New Roman" panose="02020603050405020304" pitchFamily="18" charset="0"/>
                <a:ea typeface="Instrument Sans Medium" pitchFamily="34" charset="-122"/>
                <a:cs typeface="Times New Roman" panose="02020603050405020304" pitchFamily="18" charset="0"/>
              </a:rPr>
              <a:t> изменяют оригинал.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map/filter/slice/concat</a:t>
            </a:r>
            <a:r>
              <a:rPr lang="en-US" sz="1400" dirty="0">
                <a:latin typeface="Times New Roman" panose="02020603050405020304" pitchFamily="18" charset="0"/>
                <a:ea typeface="Instrument Sans Medium" pitchFamily="34" charset="-122"/>
                <a:cs typeface="Times New Roman" panose="02020603050405020304" pitchFamily="18" charset="0"/>
              </a:rPr>
              <a:t> возвращают новый массив. Забывчивость ведёт к трудноуловимым багам.</a:t>
            </a:r>
            <a:endParaRPr lang="en-US" sz="1400" dirty="0">
              <a:latin typeface="Times New Roman" panose="02020603050405020304" pitchFamily="18" charset="0"/>
              <a:cs typeface="Times New Roman" panose="02020603050405020304" pitchFamily="18" charset="0"/>
            </a:endParaRPr>
          </a:p>
        </p:txBody>
      </p:sp>
      <p:sp>
        <p:nvSpPr>
          <p:cNvPr id="28" name="Text 32">
            <a:extLst>
              <a:ext uri="{FF2B5EF4-FFF2-40B4-BE49-F238E27FC236}">
                <a16:creationId xmlns:a16="http://schemas.microsoft.com/office/drawing/2014/main" id="{0225358D-3CFB-48A8-83D5-F6073F1820B5}"/>
              </a:ext>
            </a:extLst>
          </p:cNvPr>
          <p:cNvSpPr/>
          <p:nvPr/>
        </p:nvSpPr>
        <p:spPr>
          <a:xfrm>
            <a:off x="9417037" y="4642593"/>
            <a:ext cx="2302053" cy="265878"/>
          </a:xfrm>
          <a:prstGeom prst="rect">
            <a:avLst/>
          </a:prstGeom>
          <a:noFill/>
          <a:ln/>
        </p:spPr>
        <p:txBody>
          <a:bodyPr wrap="none" lIns="0" tIns="0" rIns="0" bIns="0" rtlCol="0" anchor="t"/>
          <a:lstStyle/>
          <a:p>
            <a:pPr marL="0" indent="0" algn="l">
              <a:lnSpc>
                <a:spcPct val="104000"/>
              </a:lnSpc>
              <a:buNone/>
            </a:pPr>
            <a:r>
              <a:rPr lang="en-US" sz="1400" b="1" dirty="0">
                <a:latin typeface="Times New Roman" panose="02020603050405020304" pitchFamily="18" charset="0"/>
                <a:ea typeface="Instrument Sans SemiBold" pitchFamily="34" charset="-122"/>
                <a:cs typeface="Times New Roman" panose="02020603050405020304" pitchFamily="18" charset="0"/>
              </a:rPr>
              <a:t>sort() без функции сравнения</a:t>
            </a:r>
            <a:endParaRPr lang="en-US" sz="1400" b="1" dirty="0">
              <a:latin typeface="Times New Roman" panose="02020603050405020304" pitchFamily="18" charset="0"/>
              <a:cs typeface="Times New Roman" panose="02020603050405020304" pitchFamily="18" charset="0"/>
            </a:endParaRPr>
          </a:p>
        </p:txBody>
      </p:sp>
      <p:sp>
        <p:nvSpPr>
          <p:cNvPr id="29" name="Text 33">
            <a:extLst>
              <a:ext uri="{FF2B5EF4-FFF2-40B4-BE49-F238E27FC236}">
                <a16:creationId xmlns:a16="http://schemas.microsoft.com/office/drawing/2014/main" id="{D980E939-8B55-486F-A08D-637460706CB1}"/>
              </a:ext>
            </a:extLst>
          </p:cNvPr>
          <p:cNvSpPr/>
          <p:nvPr/>
        </p:nvSpPr>
        <p:spPr>
          <a:xfrm>
            <a:off x="7951656" y="5271249"/>
            <a:ext cx="3365176" cy="640663"/>
          </a:xfrm>
          <a:prstGeom prst="rect">
            <a:avLst/>
          </a:prstGeom>
          <a:noFill/>
          <a:ln/>
        </p:spPr>
        <p:txBody>
          <a:bodyPr wrap="none" lIns="0" tIns="0" rIns="0" bIns="0" rtlCol="0" anchor="t"/>
          <a:lstStyle/>
          <a:p>
            <a:pPr marL="0" indent="0" algn="l">
              <a:lnSpc>
                <a:spcPct val="104000"/>
              </a:lnSpc>
              <a:buNone/>
            </a:pPr>
            <a:endParaRPr lang="en-US" sz="14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2B3E2D49-D8CA-476D-AA99-6391B70E509D}"/>
              </a:ext>
            </a:extLst>
          </p:cNvPr>
          <p:cNvSpPr txBox="1"/>
          <p:nvPr/>
        </p:nvSpPr>
        <p:spPr>
          <a:xfrm>
            <a:off x="9207536" y="4867539"/>
            <a:ext cx="2628089" cy="974626"/>
          </a:xfrm>
          <a:prstGeom prst="rect">
            <a:avLst/>
          </a:prstGeom>
          <a:noFill/>
        </p:spPr>
        <p:txBody>
          <a:bodyPr wrap="square">
            <a:spAutoFit/>
          </a:bodyPr>
          <a:lstStyle/>
          <a:p>
            <a:pPr marL="0" indent="0" algn="l">
              <a:lnSpc>
                <a:spcPct val="104000"/>
              </a:lnSpc>
              <a:buNone/>
            </a:pPr>
            <a:r>
              <a:rPr lang="en-US" sz="1400" dirty="0" err="1">
                <a:latin typeface="Times New Roman" panose="02020603050405020304" pitchFamily="18" charset="0"/>
                <a:ea typeface="Instrument Sans Medium" pitchFamily="34" charset="-122"/>
                <a:cs typeface="Times New Roman" panose="02020603050405020304" pitchFamily="18" charset="0"/>
              </a:rPr>
              <a:t>Числа</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сортируются</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как</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строки</a:t>
            </a:r>
            <a:r>
              <a:rPr lang="en-US" sz="1400" dirty="0">
                <a:latin typeface="Times New Roman" panose="02020603050405020304" pitchFamily="18" charset="0"/>
                <a:ea typeface="Instrument Sans Medium" pitchFamily="34" charset="-122"/>
                <a:cs typeface="Times New Roman" panose="02020603050405020304" pitchFamily="18" charset="0"/>
              </a:rPr>
              <a:t>:</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04000"/>
              </a:lnSpc>
              <a:buNone/>
            </a:pP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[10, 2, 30].sort()</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даст</a:t>
            </a:r>
            <a:r>
              <a:rPr lang="en-US" sz="1400" dirty="0">
                <a:latin typeface="Times New Roman" panose="02020603050405020304" pitchFamily="18" charset="0"/>
                <a:ea typeface="Instrument Sans Medium" pitchFamily="34" charset="-122"/>
                <a:cs typeface="Times New Roman" panose="02020603050405020304" pitchFamily="18" charset="0"/>
              </a:rPr>
              <a:t>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04000"/>
              </a:lnSpc>
              <a:buNone/>
            </a:pP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[10, 2, 30]</a:t>
            </a:r>
            <a:r>
              <a:rPr lang="en-US" sz="1400" dirty="0">
                <a:latin typeface="Times New Roman" panose="02020603050405020304" pitchFamily="18" charset="0"/>
                <a:ea typeface="Instrument Sans Medium" pitchFamily="34" charset="-122"/>
                <a:cs typeface="Times New Roman" panose="02020603050405020304" pitchFamily="18" charset="0"/>
              </a:rPr>
              <a:t>, а </a:t>
            </a:r>
            <a:r>
              <a:rPr lang="en-US" sz="1400" dirty="0" err="1">
                <a:latin typeface="Times New Roman" panose="02020603050405020304" pitchFamily="18" charset="0"/>
                <a:ea typeface="Instrument Sans Medium" pitchFamily="34" charset="-122"/>
                <a:cs typeface="Times New Roman" panose="02020603050405020304" pitchFamily="18" charset="0"/>
              </a:rPr>
              <a:t>не</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a:highlight>
                  <a:srgbClr val="F2F2F2"/>
                </a:highlight>
                <a:latin typeface="Times New Roman" panose="02020603050405020304" pitchFamily="18" charset="0"/>
                <a:ea typeface="Consolas" pitchFamily="34" charset="-122"/>
                <a:cs typeface="Times New Roman" panose="02020603050405020304" pitchFamily="18" charset="0"/>
              </a:rPr>
              <a:t>[2, 10, 30]</a:t>
            </a:r>
            <a:r>
              <a:rPr lang="en-US" sz="1400" dirty="0">
                <a:latin typeface="Times New Roman" panose="02020603050405020304" pitchFamily="18" charset="0"/>
                <a:ea typeface="Instrument Sans Medium" pitchFamily="34" charset="-122"/>
                <a:cs typeface="Times New Roman" panose="02020603050405020304" pitchFamily="18" charset="0"/>
              </a:rPr>
              <a:t>. </a:t>
            </a:r>
            <a:endParaRPr lang="ru-RU" sz="1400" dirty="0">
              <a:latin typeface="Times New Roman" panose="02020603050405020304" pitchFamily="18" charset="0"/>
              <a:ea typeface="Instrument Sans Medium" pitchFamily="34" charset="-122"/>
              <a:cs typeface="Times New Roman" panose="02020603050405020304" pitchFamily="18" charset="0"/>
            </a:endParaRPr>
          </a:p>
          <a:p>
            <a:pPr marL="0" indent="0" algn="l">
              <a:lnSpc>
                <a:spcPct val="104000"/>
              </a:lnSpc>
              <a:buNone/>
            </a:pPr>
            <a:r>
              <a:rPr lang="en-US" sz="1400" dirty="0" err="1">
                <a:latin typeface="Times New Roman" panose="02020603050405020304" pitchFamily="18" charset="0"/>
                <a:ea typeface="Instrument Sans Medium" pitchFamily="34" charset="-122"/>
                <a:cs typeface="Times New Roman" panose="02020603050405020304" pitchFamily="18" charset="0"/>
              </a:rPr>
              <a:t>Всегда</a:t>
            </a:r>
            <a:r>
              <a:rPr lang="en-US" sz="1400" dirty="0">
                <a:latin typeface="Times New Roman" panose="02020603050405020304" pitchFamily="18" charset="0"/>
                <a:ea typeface="Instrument Sans Medium" pitchFamily="34" charset="-122"/>
                <a:cs typeface="Times New Roman" panose="02020603050405020304" pitchFamily="18" charset="0"/>
              </a:rPr>
              <a:t> </a:t>
            </a:r>
            <a:r>
              <a:rPr lang="en-US" sz="1400" dirty="0" err="1">
                <a:latin typeface="Times New Roman" panose="02020603050405020304" pitchFamily="18" charset="0"/>
                <a:ea typeface="Instrument Sans Medium" pitchFamily="34" charset="-122"/>
                <a:cs typeface="Times New Roman" panose="02020603050405020304" pitchFamily="18" charset="0"/>
              </a:rPr>
              <a:t>используйте</a:t>
            </a:r>
            <a:r>
              <a:rPr lang="en-US" sz="1400" dirty="0">
                <a:latin typeface="Times New Roman" panose="02020603050405020304" pitchFamily="18" charset="0"/>
                <a:ea typeface="Instrument Sans Medium" pitchFamily="34" charset="-122"/>
                <a:cs typeface="Times New Roman" panose="02020603050405020304" pitchFamily="18" charset="0"/>
              </a:rPr>
              <a:t> callback.</a:t>
            </a:r>
            <a:endParaRPr lang="en-US" sz="1400" dirty="0">
              <a:latin typeface="Times New Roman" panose="02020603050405020304" pitchFamily="18" charset="0"/>
              <a:cs typeface="Times New Roman" panose="02020603050405020304" pitchFamily="18" charset="0"/>
            </a:endParaRPr>
          </a:p>
        </p:txBody>
      </p:sp>
      <p:sp>
        <p:nvSpPr>
          <p:cNvPr id="32" name="Shape 7">
            <a:extLst>
              <a:ext uri="{FF2B5EF4-FFF2-40B4-BE49-F238E27FC236}">
                <a16:creationId xmlns:a16="http://schemas.microsoft.com/office/drawing/2014/main" id="{A176D28D-B757-46E3-BE2D-EACA147FA742}"/>
              </a:ext>
            </a:extLst>
          </p:cNvPr>
          <p:cNvSpPr/>
          <p:nvPr/>
        </p:nvSpPr>
        <p:spPr>
          <a:xfrm flipH="1">
            <a:off x="8929819" y="1207776"/>
            <a:ext cx="45719" cy="5518841"/>
          </a:xfrm>
          <a:prstGeom prst="roundRect">
            <a:avLst>
              <a:gd name="adj" fmla="val 49998"/>
            </a:avLst>
          </a:prstGeom>
          <a:solidFill>
            <a:srgbClr val="1E3063">
              <a:alpha val="50000"/>
            </a:srgbClr>
          </a:solidFill>
          <a:ln/>
        </p:spPr>
      </p:sp>
    </p:spTree>
    <p:extLst>
      <p:ext uri="{BB962C8B-B14F-4D97-AF65-F5344CB8AC3E}">
        <p14:creationId xmlns:p14="http://schemas.microsoft.com/office/powerpoint/2010/main" val="2045418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title">
            <a:extLst>
              <a:ext uri="{FF2B5EF4-FFF2-40B4-BE49-F238E27FC236}">
                <a16:creationId xmlns:a16="http://schemas.microsoft.com/office/drawing/2014/main" id="{A4C6903E-0FFB-4EAB-B5AA-2877D29E3851}"/>
              </a:ext>
            </a:extLst>
          </p:cNvPr>
          <p:cNvSpPr>
            <a:spLocks noGrp="1"/>
          </p:cNvSpPr>
          <p:nvPr/>
        </p:nvSpPr>
        <p:spPr>
          <a:xfrm>
            <a:off x="323850" y="66675"/>
            <a:ext cx="11544300" cy="523875"/>
          </a:xfrm>
          <a:prstGeom prst="rect">
            <a:avLst/>
          </a:prstGeom>
          <a:noFill/>
          <a:ln w="0">
            <a:noFill/>
          </a:ln>
        </p:spPr>
        <p:txBody>
          <a:bodyPr lIns="47625" tIns="0" rIns="47625" bIns="0" anchor="t">
            <a:normAutofit/>
          </a:bodyPr>
          <a:lstStyle/>
          <a:p>
            <a:pPr algn="ctr">
              <a:lnSpc>
                <a:spcPct val="104000"/>
              </a:lnSpc>
              <a:buNone/>
              <a:defRPr sz="2925" b="0">
                <a:solidFill>
                  <a:srgbClr val="111827"/>
                </a:solidFill>
                <a:latin typeface="Arial"/>
                <a:ea typeface="Arial"/>
                <a:cs typeface="Arial"/>
              </a:defRPr>
            </a:pPr>
            <a:r>
              <a:rPr sz="2925" b="0">
                <a:solidFill>
                  <a:srgbClr val="111827"/>
                </a:solidFill>
                <a:latin typeface="Times New Roman" panose="02020603050405020304" pitchFamily="18" charset="0"/>
                <a:ea typeface="Arial"/>
                <a:cs typeface="Times New Roman" panose="02020603050405020304" pitchFamily="18" charset="0"/>
              </a:rPr>
              <a:t>Math.min(), Math.max() и spread-оператор</a:t>
            </a:r>
          </a:p>
        </p:txBody>
      </p:sp>
      <p:sp>
        <p:nvSpPr>
          <p:cNvPr id="2" name="slide-subtitle">
            <a:extLst>
              <a:ext uri="{FF2B5EF4-FFF2-40B4-BE49-F238E27FC236}">
                <a16:creationId xmlns:a16="http://schemas.microsoft.com/office/drawing/2014/main" id="{81B813E7-DDFE-417C-8023-F6B88180DEA9}"/>
              </a:ext>
            </a:extLst>
          </p:cNvPr>
          <p:cNvSpPr>
            <a:spLocks noGrp="1"/>
          </p:cNvSpPr>
          <p:nvPr/>
        </p:nvSpPr>
        <p:spPr>
          <a:xfrm>
            <a:off x="552450" y="581025"/>
            <a:ext cx="11087100" cy="400050"/>
          </a:xfrm>
          <a:prstGeom prst="rect">
            <a:avLst/>
          </a:prstGeom>
          <a:noFill/>
          <a:ln w="0">
            <a:noFill/>
          </a:ln>
        </p:spPr>
        <p:txBody>
          <a:bodyPr lIns="47625" tIns="0" rIns="47625" bIns="0" anchor="ctr">
            <a:normAutofit fontScale="96417"/>
          </a:bodyPr>
          <a:lstStyle/>
          <a:p>
            <a:pPr algn="ctr">
              <a:lnSpc>
                <a:spcPct val="104000"/>
              </a:lnSpc>
              <a:buNone/>
              <a:defRPr sz="1388" b="0">
                <a:solidFill>
                  <a:srgbClr val="334155"/>
                </a:solidFill>
                <a:latin typeface="Arial"/>
                <a:ea typeface="Arial"/>
                <a:cs typeface="Arial"/>
              </a:defRPr>
            </a:pPr>
            <a:r>
              <a:rPr sz="1400" b="0" dirty="0" err="1">
                <a:solidFill>
                  <a:srgbClr val="334155"/>
                </a:solidFill>
                <a:latin typeface="Times New Roman" panose="02020603050405020304" pitchFamily="18" charset="0"/>
                <a:ea typeface="Arial"/>
                <a:cs typeface="Times New Roman" panose="02020603050405020304" pitchFamily="18" charset="0"/>
              </a:rPr>
              <a:t>Math.min</a:t>
            </a:r>
            <a:r>
              <a:rPr sz="1400" b="0" dirty="0">
                <a:solidFill>
                  <a:srgbClr val="334155"/>
                </a:solidFill>
                <a:latin typeface="Times New Roman" panose="02020603050405020304" pitchFamily="18" charset="0"/>
                <a:ea typeface="Arial"/>
                <a:cs typeface="Times New Roman" panose="02020603050405020304" pitchFamily="18" charset="0"/>
              </a:rPr>
              <a:t>() и </a:t>
            </a:r>
            <a:r>
              <a:rPr sz="1400" b="0" dirty="0" err="1">
                <a:solidFill>
                  <a:srgbClr val="334155"/>
                </a:solidFill>
                <a:latin typeface="Times New Roman" panose="02020603050405020304" pitchFamily="18" charset="0"/>
                <a:ea typeface="Arial"/>
                <a:cs typeface="Times New Roman" panose="02020603050405020304" pitchFamily="18" charset="0"/>
              </a:rPr>
              <a:t>Math.max</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принимают</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отдельные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числа</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Оператор</a:t>
            </a:r>
            <a:r>
              <a:rPr sz="1400" b="0" dirty="0">
                <a:solidFill>
                  <a:srgbClr val="334155"/>
                </a:solidFill>
                <a:latin typeface="Times New Roman" panose="02020603050405020304" pitchFamily="18" charset="0"/>
                <a:ea typeface="Arial"/>
                <a:cs typeface="Times New Roman" panose="02020603050405020304" pitchFamily="18" charset="0"/>
              </a:rPr>
              <a:t> ... </a:t>
            </a:r>
            <a:r>
              <a:rPr sz="1400" b="0" dirty="0" err="1">
                <a:solidFill>
                  <a:srgbClr val="334155"/>
                </a:solidFill>
                <a:latin typeface="Times New Roman" panose="02020603050405020304" pitchFamily="18" charset="0"/>
                <a:ea typeface="Arial"/>
                <a:cs typeface="Times New Roman" panose="02020603050405020304" pitchFamily="18" charset="0"/>
              </a:rPr>
              <a:t>раскрывает</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массив</a:t>
            </a:r>
            <a:r>
              <a:rPr sz="1400" b="0" dirty="0">
                <a:solidFill>
                  <a:srgbClr val="334155"/>
                </a:solidFill>
                <a:latin typeface="Times New Roman" panose="02020603050405020304" pitchFamily="18" charset="0"/>
                <a:ea typeface="Arial"/>
                <a:cs typeface="Times New Roman" panose="02020603050405020304" pitchFamily="18" charset="0"/>
              </a:rPr>
              <a:t> и </a:t>
            </a:r>
            <a:r>
              <a:rPr sz="1400" b="0" dirty="0" err="1">
                <a:solidFill>
                  <a:srgbClr val="334155"/>
                </a:solidFill>
                <a:latin typeface="Times New Roman" panose="02020603050405020304" pitchFamily="18" charset="0"/>
                <a:ea typeface="Arial"/>
                <a:cs typeface="Times New Roman" panose="02020603050405020304" pitchFamily="18" charset="0"/>
              </a:rPr>
              <a:t>передаёт</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его</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элементы</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как</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отдельные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аргументы</a:t>
            </a:r>
            <a:endParaRPr sz="1400" b="0" dirty="0">
              <a:solidFill>
                <a:srgbClr val="334155"/>
              </a:solidFill>
              <a:latin typeface="Times New Roman" panose="02020603050405020304" pitchFamily="18" charset="0"/>
              <a:ea typeface="Arial"/>
              <a:cs typeface="Times New Roman" panose="02020603050405020304" pitchFamily="18" charset="0"/>
            </a:endParaRPr>
          </a:p>
        </p:txBody>
      </p:sp>
      <p:sp>
        <p:nvSpPr>
          <p:cNvPr id="3" name="math-surface">
            <a:extLst>
              <a:ext uri="{FF2B5EF4-FFF2-40B4-BE49-F238E27FC236}">
                <a16:creationId xmlns:a16="http://schemas.microsoft.com/office/drawing/2014/main" id="{4F0F8838-7E08-462A-888B-6979D5149815}"/>
              </a:ext>
            </a:extLst>
          </p:cNvPr>
          <p:cNvSpPr>
            <a:spLocks noGrp="1"/>
          </p:cNvSpPr>
          <p:nvPr/>
        </p:nvSpPr>
        <p:spPr>
          <a:xfrm>
            <a:off x="438150" y="1104900"/>
            <a:ext cx="5572125" cy="5010150"/>
          </a:xfrm>
          <a:prstGeom prst="roundRect">
            <a:avLst>
              <a:gd name="adj" fmla="val 2662"/>
            </a:avLst>
          </a:prstGeom>
          <a:solidFill>
            <a:srgbClr val="EAF4FD"/>
          </a:solidFill>
          <a:ln w="9525">
            <a:solidFill>
              <a:srgbClr val="9BB8D3"/>
            </a:solidFill>
            <a:prstDash val="solid"/>
          </a:ln>
        </p:spPr>
      </p:sp>
      <p:sp>
        <p:nvSpPr>
          <p:cNvPr id="4" name="math-heading">
            <a:extLst>
              <a:ext uri="{FF2B5EF4-FFF2-40B4-BE49-F238E27FC236}">
                <a16:creationId xmlns:a16="http://schemas.microsoft.com/office/drawing/2014/main" id="{D062106B-ECE9-4089-B665-6B39314136F5}"/>
              </a:ext>
            </a:extLst>
          </p:cNvPr>
          <p:cNvSpPr>
            <a:spLocks noGrp="1"/>
          </p:cNvSpPr>
          <p:nvPr/>
        </p:nvSpPr>
        <p:spPr>
          <a:xfrm>
            <a:off x="638175" y="1219200"/>
            <a:ext cx="5191125" cy="352425"/>
          </a:xfrm>
          <a:prstGeom prst="rect">
            <a:avLst/>
          </a:prstGeom>
          <a:noFill/>
          <a:ln w="0">
            <a:noFill/>
          </a:ln>
        </p:spPr>
        <p:txBody>
          <a:bodyPr lIns="28575" tIns="19050" rIns="28575" bIns="19050" anchor="t">
            <a:normAutofit/>
          </a:bodyPr>
          <a:lstStyle/>
          <a:p>
            <a:pPr algn="ctr">
              <a:lnSpc>
                <a:spcPct val="104000"/>
              </a:lnSpc>
              <a:buNone/>
              <a:defRPr sz="1613" b="1">
                <a:solidFill>
                  <a:srgbClr val="1F3A72"/>
                </a:solidFill>
                <a:latin typeface="Arial"/>
                <a:ea typeface="Arial"/>
                <a:cs typeface="Arial"/>
              </a:defRPr>
            </a:pPr>
            <a:r>
              <a:rPr sz="1613" b="1" dirty="0" err="1">
                <a:solidFill>
                  <a:srgbClr val="1F3A72"/>
                </a:solidFill>
                <a:latin typeface="Times New Roman" panose="02020603050405020304" pitchFamily="18" charset="0"/>
                <a:ea typeface="Arial"/>
                <a:cs typeface="Times New Roman" panose="02020603050405020304" pitchFamily="18" charset="0"/>
              </a:rPr>
              <a:t>Поиск</a:t>
            </a:r>
            <a:r>
              <a:rPr sz="1613" b="1" dirty="0">
                <a:solidFill>
                  <a:srgbClr val="1F3A72"/>
                </a:solidFill>
                <a:latin typeface="Times New Roman" panose="02020603050405020304" pitchFamily="18" charset="0"/>
                <a:ea typeface="Arial"/>
                <a:cs typeface="Times New Roman" panose="02020603050405020304" pitchFamily="18" charset="0"/>
              </a:rPr>
              <a:t> </a:t>
            </a:r>
            <a:r>
              <a:rPr sz="1613" b="1" dirty="0" err="1">
                <a:solidFill>
                  <a:srgbClr val="1F3A72"/>
                </a:solidFill>
                <a:latin typeface="Times New Roman" panose="02020603050405020304" pitchFamily="18" charset="0"/>
                <a:ea typeface="Arial"/>
                <a:cs typeface="Times New Roman" panose="02020603050405020304" pitchFamily="18" charset="0"/>
              </a:rPr>
              <a:t>минимального</a:t>
            </a:r>
            <a:r>
              <a:rPr sz="1613" b="1" dirty="0">
                <a:solidFill>
                  <a:srgbClr val="1F3A72"/>
                </a:solidFill>
                <a:latin typeface="Times New Roman" panose="02020603050405020304" pitchFamily="18" charset="0"/>
                <a:ea typeface="Arial"/>
                <a:cs typeface="Times New Roman" panose="02020603050405020304" pitchFamily="18" charset="0"/>
              </a:rPr>
              <a:t> и </a:t>
            </a:r>
            <a:r>
              <a:rPr sz="1613" b="1" dirty="0" err="1">
                <a:solidFill>
                  <a:srgbClr val="1F3A72"/>
                </a:solidFill>
                <a:latin typeface="Times New Roman" panose="02020603050405020304" pitchFamily="18" charset="0"/>
                <a:ea typeface="Arial"/>
                <a:cs typeface="Times New Roman" panose="02020603050405020304" pitchFamily="18" charset="0"/>
              </a:rPr>
              <a:t>максимального</a:t>
            </a:r>
            <a:r>
              <a:rPr sz="1613" b="1" dirty="0">
                <a:solidFill>
                  <a:srgbClr val="1F3A72"/>
                </a:solidFill>
                <a:latin typeface="Times New Roman" panose="02020603050405020304" pitchFamily="18" charset="0"/>
                <a:ea typeface="Arial"/>
                <a:cs typeface="Times New Roman" panose="02020603050405020304" pitchFamily="18" charset="0"/>
              </a:rPr>
              <a:t> </a:t>
            </a:r>
            <a:r>
              <a:rPr sz="1613" b="1" dirty="0" err="1">
                <a:solidFill>
                  <a:srgbClr val="1F3A72"/>
                </a:solidFill>
                <a:latin typeface="Times New Roman" panose="02020603050405020304" pitchFamily="18" charset="0"/>
                <a:ea typeface="Arial"/>
                <a:cs typeface="Times New Roman" panose="02020603050405020304" pitchFamily="18" charset="0"/>
              </a:rPr>
              <a:t>значения</a:t>
            </a:r>
            <a:endParaRPr sz="1613" b="1" dirty="0">
              <a:solidFill>
                <a:srgbClr val="1F3A72"/>
              </a:solidFill>
              <a:latin typeface="Times New Roman" panose="02020603050405020304" pitchFamily="18" charset="0"/>
              <a:ea typeface="Arial"/>
              <a:cs typeface="Times New Roman" panose="02020603050405020304" pitchFamily="18" charset="0"/>
            </a:endParaRPr>
          </a:p>
        </p:txBody>
      </p:sp>
      <p:sp>
        <p:nvSpPr>
          <p:cNvPr id="5" name="math-source-array">
            <a:extLst>
              <a:ext uri="{FF2B5EF4-FFF2-40B4-BE49-F238E27FC236}">
                <a16:creationId xmlns:a16="http://schemas.microsoft.com/office/drawing/2014/main" id="{8593AD77-C69D-42F9-8543-BFD752FD7B75}"/>
              </a:ext>
            </a:extLst>
          </p:cNvPr>
          <p:cNvSpPr>
            <a:spLocks noGrp="1"/>
          </p:cNvSpPr>
          <p:nvPr/>
        </p:nvSpPr>
        <p:spPr>
          <a:xfrm>
            <a:off x="666750" y="1657350"/>
            <a:ext cx="5114925" cy="590550"/>
          </a:xfrm>
          <a:prstGeom prst="roundRect">
            <a:avLst>
              <a:gd name="adj" fmla="val 11290"/>
            </a:avLst>
          </a:prstGeom>
          <a:solidFill>
            <a:srgbClr val="FFFFFF"/>
          </a:solidFill>
          <a:ln w="9525">
            <a:solidFill>
              <a:srgbClr val="C8D9E8"/>
            </a:solidFill>
            <a:prstDash val="solid"/>
          </a:ln>
        </p:spPr>
        <p:txBody>
          <a:bodyPr lIns="95250" tIns="76200" rIns="95250" bIns="76200" anchor="t">
            <a:normAutofit/>
          </a:bodyPr>
          <a:lstStyle/>
          <a:p>
            <a:pPr algn="l">
              <a:lnSpc>
                <a:spcPct val="104000"/>
              </a:lnSpc>
              <a:buNone/>
              <a:defRPr sz="1425" b="0">
                <a:solidFill>
                  <a:srgbClr val="111827"/>
                </a:solidFill>
                <a:latin typeface="Arial"/>
                <a:ea typeface="Arial"/>
                <a:cs typeface="Arial"/>
              </a:defRPr>
            </a:pPr>
            <a:r>
              <a:rPr sz="1425" b="0" dirty="0">
                <a:solidFill>
                  <a:srgbClr val="111827"/>
                </a:solidFill>
                <a:latin typeface="Times New Roman" panose="02020603050405020304" pitchFamily="18" charset="0"/>
                <a:ea typeface="Arial"/>
                <a:cs typeface="Times New Roman" panose="02020603050405020304" pitchFamily="18" charset="0"/>
              </a:rPr>
              <a:t>const numbers = [8, 3, 12, 5];</a:t>
            </a:r>
          </a:p>
        </p:txBody>
      </p:sp>
      <p:sp>
        <p:nvSpPr>
          <p:cNvPr id="6" name="without-spread-label">
            <a:extLst>
              <a:ext uri="{FF2B5EF4-FFF2-40B4-BE49-F238E27FC236}">
                <a16:creationId xmlns:a16="http://schemas.microsoft.com/office/drawing/2014/main" id="{F88A128C-CA34-4B46-BF79-7FDED1432B00}"/>
              </a:ext>
            </a:extLst>
          </p:cNvPr>
          <p:cNvSpPr>
            <a:spLocks noGrp="1"/>
          </p:cNvSpPr>
          <p:nvPr/>
        </p:nvSpPr>
        <p:spPr>
          <a:xfrm>
            <a:off x="685800" y="2352675"/>
            <a:ext cx="5076825" cy="266700"/>
          </a:xfrm>
          <a:prstGeom prst="rect">
            <a:avLst/>
          </a:prstGeom>
          <a:noFill/>
          <a:ln w="0">
            <a:noFill/>
          </a:ln>
        </p:spPr>
        <p:txBody>
          <a:bodyPr lIns="19050" tIns="9525" rIns="19050" bIns="9525" anchor="t">
            <a:normAutofit/>
          </a:bodyPr>
          <a:lstStyle/>
          <a:p>
            <a:pPr algn="l">
              <a:lnSpc>
                <a:spcPct val="104000"/>
              </a:lnSpc>
              <a:buNone/>
              <a:defRPr sz="1388" b="1">
                <a:solidFill>
                  <a:srgbClr val="9F1239"/>
                </a:solidFill>
                <a:latin typeface="Arial"/>
                <a:ea typeface="Arial"/>
                <a:cs typeface="Arial"/>
              </a:defRPr>
            </a:pPr>
            <a:r>
              <a:rPr sz="1388" b="1">
                <a:solidFill>
                  <a:srgbClr val="9F1239"/>
                </a:solidFill>
                <a:latin typeface="Times New Roman" panose="02020603050405020304" pitchFamily="18" charset="0"/>
                <a:ea typeface="Arial"/>
                <a:cs typeface="Times New Roman" panose="02020603050405020304" pitchFamily="18" charset="0"/>
              </a:rPr>
              <a:t>Без оператора распространения</a:t>
            </a:r>
          </a:p>
        </p:txBody>
      </p:sp>
      <p:sp>
        <p:nvSpPr>
          <p:cNvPr id="7" name="without-spread-code">
            <a:extLst>
              <a:ext uri="{FF2B5EF4-FFF2-40B4-BE49-F238E27FC236}">
                <a16:creationId xmlns:a16="http://schemas.microsoft.com/office/drawing/2014/main" id="{CDBB15BE-ABF5-4526-BD4A-334597AD11AD}"/>
              </a:ext>
            </a:extLst>
          </p:cNvPr>
          <p:cNvSpPr>
            <a:spLocks noGrp="1"/>
          </p:cNvSpPr>
          <p:nvPr/>
        </p:nvSpPr>
        <p:spPr>
          <a:xfrm>
            <a:off x="666750" y="2667000"/>
            <a:ext cx="5114925" cy="685800"/>
          </a:xfrm>
          <a:prstGeom prst="roundRect">
            <a:avLst>
              <a:gd name="adj" fmla="val 9722"/>
            </a:avLst>
          </a:prstGeom>
          <a:solidFill>
            <a:srgbClr val="FFF7F8"/>
          </a:solidFill>
          <a:ln w="9525">
            <a:solidFill>
              <a:srgbClr val="C8D9E8"/>
            </a:solidFill>
            <a:prstDash val="solid"/>
          </a:ln>
        </p:spPr>
        <p:txBody>
          <a:bodyPr lIns="95250" tIns="76200" rIns="95250" bIns="76200" anchor="t">
            <a:normAutofit/>
          </a:bodyPr>
          <a:lstStyle/>
          <a:p>
            <a:pPr algn="l">
              <a:lnSpc>
                <a:spcPct val="104000"/>
              </a:lnSpc>
              <a:buNone/>
              <a:defRPr sz="1350" b="0">
                <a:solidFill>
                  <a:srgbClr val="111827"/>
                </a:solidFill>
                <a:latin typeface="Arial"/>
                <a:ea typeface="Arial"/>
                <a:cs typeface="Arial"/>
              </a:defRPr>
            </a:pPr>
            <a:r>
              <a:rPr sz="1350" b="0" dirty="0" err="1">
                <a:solidFill>
                  <a:srgbClr val="111827"/>
                </a:solidFill>
                <a:latin typeface="Times New Roman" panose="02020603050405020304" pitchFamily="18" charset="0"/>
                <a:ea typeface="Arial"/>
                <a:cs typeface="Times New Roman" panose="02020603050405020304" pitchFamily="18" charset="0"/>
              </a:rPr>
              <a:t>Math.min</a:t>
            </a:r>
            <a:r>
              <a:rPr sz="1350" b="0" dirty="0">
                <a:solidFill>
                  <a:srgbClr val="111827"/>
                </a:solidFill>
                <a:latin typeface="Times New Roman" panose="02020603050405020304" pitchFamily="18" charset="0"/>
                <a:ea typeface="Arial"/>
                <a:cs typeface="Times New Roman" panose="02020603050405020304" pitchFamily="18" charset="0"/>
              </a:rPr>
              <a:t>(numbers); // </a:t>
            </a:r>
            <a:r>
              <a:rPr sz="1350" b="0" dirty="0" err="1">
                <a:solidFill>
                  <a:srgbClr val="111827"/>
                </a:solidFill>
                <a:latin typeface="Times New Roman" panose="02020603050405020304" pitchFamily="18" charset="0"/>
                <a:ea typeface="Arial"/>
                <a:cs typeface="Times New Roman" panose="02020603050405020304" pitchFamily="18" charset="0"/>
              </a:rPr>
              <a:t>NaN</a:t>
            </a:r>
            <a:endParaRPr sz="1350" b="0" dirty="0">
              <a:solidFill>
                <a:srgbClr val="111827"/>
              </a:solidFill>
              <a:latin typeface="Times New Roman" panose="02020603050405020304" pitchFamily="18" charset="0"/>
              <a:ea typeface="Arial"/>
              <a:cs typeface="Times New Roman" panose="02020603050405020304" pitchFamily="18" charset="0"/>
            </a:endParaRPr>
          </a:p>
          <a:p>
            <a:pPr algn="l">
              <a:lnSpc>
                <a:spcPct val="104000"/>
              </a:lnSpc>
              <a:buNone/>
              <a:defRPr sz="1350" b="0">
                <a:solidFill>
                  <a:srgbClr val="111827"/>
                </a:solidFill>
                <a:latin typeface="Arial"/>
                <a:ea typeface="Arial"/>
                <a:cs typeface="Arial"/>
              </a:defRPr>
            </a:pPr>
            <a:r>
              <a:rPr sz="1350" b="0" dirty="0" err="1">
                <a:solidFill>
                  <a:srgbClr val="111827"/>
                </a:solidFill>
                <a:latin typeface="Times New Roman" panose="02020603050405020304" pitchFamily="18" charset="0"/>
                <a:ea typeface="Arial"/>
                <a:cs typeface="Times New Roman" panose="02020603050405020304" pitchFamily="18" charset="0"/>
              </a:rPr>
              <a:t>Math.max</a:t>
            </a:r>
            <a:r>
              <a:rPr sz="1350" b="0" dirty="0">
                <a:solidFill>
                  <a:srgbClr val="111827"/>
                </a:solidFill>
                <a:latin typeface="Times New Roman" panose="02020603050405020304" pitchFamily="18" charset="0"/>
                <a:ea typeface="Arial"/>
                <a:cs typeface="Times New Roman" panose="02020603050405020304" pitchFamily="18" charset="0"/>
              </a:rPr>
              <a:t>(numbers); // </a:t>
            </a:r>
            <a:r>
              <a:rPr sz="1350" b="0" dirty="0" err="1">
                <a:solidFill>
                  <a:srgbClr val="111827"/>
                </a:solidFill>
                <a:latin typeface="Times New Roman" panose="02020603050405020304" pitchFamily="18" charset="0"/>
                <a:ea typeface="Arial"/>
                <a:cs typeface="Times New Roman" panose="02020603050405020304" pitchFamily="18" charset="0"/>
              </a:rPr>
              <a:t>NaN</a:t>
            </a:r>
            <a:endParaRPr sz="1350" b="0" dirty="0">
              <a:solidFill>
                <a:srgbClr val="111827"/>
              </a:solidFill>
              <a:latin typeface="Times New Roman" panose="02020603050405020304" pitchFamily="18" charset="0"/>
              <a:ea typeface="Arial"/>
              <a:cs typeface="Times New Roman" panose="02020603050405020304" pitchFamily="18" charset="0"/>
            </a:endParaRPr>
          </a:p>
        </p:txBody>
      </p:sp>
      <p:sp>
        <p:nvSpPr>
          <p:cNvPr id="8" name="with-spread-label">
            <a:extLst>
              <a:ext uri="{FF2B5EF4-FFF2-40B4-BE49-F238E27FC236}">
                <a16:creationId xmlns:a16="http://schemas.microsoft.com/office/drawing/2014/main" id="{9A77247B-5019-4B32-A64E-A95A0500B8A9}"/>
              </a:ext>
            </a:extLst>
          </p:cNvPr>
          <p:cNvSpPr>
            <a:spLocks noGrp="1"/>
          </p:cNvSpPr>
          <p:nvPr/>
        </p:nvSpPr>
        <p:spPr>
          <a:xfrm>
            <a:off x="685800" y="3476625"/>
            <a:ext cx="5076825" cy="266700"/>
          </a:xfrm>
          <a:prstGeom prst="rect">
            <a:avLst/>
          </a:prstGeom>
          <a:noFill/>
          <a:ln w="0">
            <a:noFill/>
          </a:ln>
        </p:spPr>
        <p:txBody>
          <a:bodyPr lIns="19050" tIns="9525" rIns="19050" bIns="9525" anchor="t">
            <a:normAutofit/>
          </a:bodyPr>
          <a:lstStyle/>
          <a:p>
            <a:pPr algn="l">
              <a:lnSpc>
                <a:spcPct val="104000"/>
              </a:lnSpc>
              <a:buNone/>
              <a:defRPr sz="1388" b="1">
                <a:solidFill>
                  <a:srgbClr val="1F3A72"/>
                </a:solidFill>
                <a:latin typeface="Arial"/>
                <a:ea typeface="Arial"/>
                <a:cs typeface="Arial"/>
              </a:defRPr>
            </a:pPr>
            <a:r>
              <a:rPr sz="1388" b="1">
                <a:solidFill>
                  <a:srgbClr val="1F3A72"/>
                </a:solidFill>
                <a:latin typeface="Times New Roman" panose="02020603050405020304" pitchFamily="18" charset="0"/>
                <a:ea typeface="Arial"/>
                <a:cs typeface="Times New Roman" panose="02020603050405020304" pitchFamily="18" charset="0"/>
              </a:rPr>
              <a:t>С оператором распространения</a:t>
            </a:r>
          </a:p>
        </p:txBody>
      </p:sp>
      <p:sp>
        <p:nvSpPr>
          <p:cNvPr id="9" name="with-spread-code">
            <a:extLst>
              <a:ext uri="{FF2B5EF4-FFF2-40B4-BE49-F238E27FC236}">
                <a16:creationId xmlns:a16="http://schemas.microsoft.com/office/drawing/2014/main" id="{8F99C655-5FD0-48CE-A24C-F41F8231E86B}"/>
              </a:ext>
            </a:extLst>
          </p:cNvPr>
          <p:cNvSpPr>
            <a:spLocks noGrp="1"/>
          </p:cNvSpPr>
          <p:nvPr/>
        </p:nvSpPr>
        <p:spPr>
          <a:xfrm>
            <a:off x="666750" y="3790950"/>
            <a:ext cx="5114925" cy="933450"/>
          </a:xfrm>
          <a:prstGeom prst="roundRect">
            <a:avLst>
              <a:gd name="adj" fmla="val 7143"/>
            </a:avLst>
          </a:prstGeom>
          <a:solidFill>
            <a:srgbClr val="FFFFFF"/>
          </a:solidFill>
          <a:ln w="9525">
            <a:solidFill>
              <a:srgbClr val="C8D9E8"/>
            </a:solidFill>
            <a:prstDash val="solid"/>
          </a:ln>
        </p:spPr>
        <p:txBody>
          <a:bodyPr lIns="95250" tIns="76200" rIns="95250" bIns="76200" anchor="t">
            <a:normAutofit fontScale="97502" lnSpcReduction="10000"/>
          </a:bodyPr>
          <a:lstStyle/>
          <a:p>
            <a:pPr algn="l">
              <a:lnSpc>
                <a:spcPct val="104000"/>
              </a:lnSpc>
              <a:buNone/>
              <a:defRPr sz="1313" b="0">
                <a:solidFill>
                  <a:srgbClr val="111827"/>
                </a:solidFill>
                <a:latin typeface="Arial"/>
                <a:ea typeface="Arial"/>
                <a:cs typeface="Arial"/>
              </a:defRPr>
            </a:pPr>
            <a:r>
              <a:rPr sz="1313" b="0">
                <a:solidFill>
                  <a:srgbClr val="111827"/>
                </a:solidFill>
                <a:latin typeface="Times New Roman" panose="02020603050405020304" pitchFamily="18" charset="0"/>
                <a:ea typeface="Arial"/>
                <a:cs typeface="Times New Roman" panose="02020603050405020304" pitchFamily="18" charset="0"/>
              </a:rPr>
              <a:t>Math.min(...numbers); // 3</a:t>
            </a:r>
          </a:p>
          <a:p>
            <a:pPr algn="l">
              <a:lnSpc>
                <a:spcPct val="104000"/>
              </a:lnSpc>
              <a:buNone/>
              <a:defRPr sz="1313" b="0">
                <a:solidFill>
                  <a:srgbClr val="111827"/>
                </a:solidFill>
                <a:latin typeface="Arial"/>
                <a:ea typeface="Arial"/>
                <a:cs typeface="Arial"/>
              </a:defRPr>
            </a:pPr>
            <a:r>
              <a:rPr sz="1313" b="0">
                <a:solidFill>
                  <a:srgbClr val="111827"/>
                </a:solidFill>
                <a:latin typeface="Times New Roman" panose="02020603050405020304" pitchFamily="18" charset="0"/>
                <a:ea typeface="Arial"/>
                <a:cs typeface="Times New Roman" panose="02020603050405020304" pitchFamily="18" charset="0"/>
              </a:rPr>
              <a:t>Math.max(...numbers); // 12</a:t>
            </a:r>
          </a:p>
          <a:p>
            <a:endParaRPr sz="1313" b="0">
              <a:solidFill>
                <a:srgbClr val="111827"/>
              </a:solidFill>
              <a:latin typeface="Times New Roman" panose="02020603050405020304" pitchFamily="18" charset="0"/>
              <a:ea typeface="Arial"/>
              <a:cs typeface="Times New Roman" panose="02020603050405020304" pitchFamily="18" charset="0"/>
            </a:endParaRPr>
          </a:p>
          <a:p>
            <a:pPr algn="l">
              <a:lnSpc>
                <a:spcPct val="104000"/>
              </a:lnSpc>
              <a:buNone/>
              <a:defRPr sz="1313" b="0">
                <a:solidFill>
                  <a:srgbClr val="111827"/>
                </a:solidFill>
                <a:latin typeface="Arial"/>
                <a:ea typeface="Arial"/>
                <a:cs typeface="Arial"/>
              </a:defRPr>
            </a:pPr>
            <a:r>
              <a:rPr sz="1313" b="0">
                <a:solidFill>
                  <a:srgbClr val="111827"/>
                </a:solidFill>
                <a:latin typeface="Times New Roman" panose="02020603050405020304" pitchFamily="18" charset="0"/>
                <a:ea typeface="Arial"/>
                <a:cs typeface="Times New Roman" panose="02020603050405020304" pitchFamily="18" charset="0"/>
              </a:rPr>
              <a:t>// ...numbers раскрывается в 8, 3, 12, 5</a:t>
            </a:r>
          </a:p>
        </p:txBody>
      </p:sp>
      <p:sp>
        <p:nvSpPr>
          <p:cNvPr id="10" name="spread-explanation">
            <a:extLst>
              <a:ext uri="{FF2B5EF4-FFF2-40B4-BE49-F238E27FC236}">
                <a16:creationId xmlns:a16="http://schemas.microsoft.com/office/drawing/2014/main" id="{6F5DEDEF-DD7C-469E-94E9-386B715B9A97}"/>
              </a:ext>
            </a:extLst>
          </p:cNvPr>
          <p:cNvSpPr>
            <a:spLocks noGrp="1"/>
          </p:cNvSpPr>
          <p:nvPr/>
        </p:nvSpPr>
        <p:spPr>
          <a:xfrm>
            <a:off x="666750" y="4857750"/>
            <a:ext cx="5114925" cy="1057275"/>
          </a:xfrm>
          <a:prstGeom prst="roundRect">
            <a:avLst>
              <a:gd name="adj" fmla="val 8108"/>
            </a:avLst>
          </a:prstGeom>
          <a:solidFill>
            <a:srgbClr val="CBE3FA"/>
          </a:solidFill>
          <a:ln w="0">
            <a:noFill/>
          </a:ln>
        </p:spPr>
        <p:txBody>
          <a:bodyPr lIns="114300" tIns="85725" rIns="114300" bIns="85725" anchor="ctr">
            <a:normAutofit/>
          </a:bodyPr>
          <a:lstStyle/>
          <a:p>
            <a:pPr algn="l">
              <a:lnSpc>
                <a:spcPct val="104000"/>
              </a:lnSpc>
              <a:buNone/>
              <a:defRPr sz="1350" b="0">
                <a:solidFill>
                  <a:srgbClr val="334155"/>
                </a:solidFill>
                <a:latin typeface="Arial"/>
                <a:ea typeface="Arial"/>
                <a:cs typeface="Arial"/>
              </a:defRPr>
            </a:pPr>
            <a:r>
              <a:rPr sz="1350" b="0" dirty="0" err="1">
                <a:solidFill>
                  <a:srgbClr val="334155"/>
                </a:solidFill>
                <a:latin typeface="Times New Roman" panose="02020603050405020304" pitchFamily="18" charset="0"/>
                <a:ea typeface="Arial"/>
                <a:cs typeface="Times New Roman" panose="02020603050405020304" pitchFamily="18" charset="0"/>
              </a:rPr>
              <a:t>Без</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трёх</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точек</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метод</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получает</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один</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аргумент</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массив</a:t>
            </a:r>
            <a:r>
              <a:rPr sz="1350" b="0" dirty="0">
                <a:solidFill>
                  <a:srgbClr val="334155"/>
                </a:solidFill>
                <a:latin typeface="Times New Roman" panose="02020603050405020304" pitchFamily="18" charset="0"/>
                <a:ea typeface="Arial"/>
                <a:cs typeface="Times New Roman" panose="02020603050405020304" pitchFamily="18" charset="0"/>
              </a:rPr>
              <a:t>. Spread-</a:t>
            </a:r>
            <a:r>
              <a:rPr sz="1350" b="0" dirty="0" err="1">
                <a:solidFill>
                  <a:srgbClr val="334155"/>
                </a:solidFill>
                <a:latin typeface="Times New Roman" panose="02020603050405020304" pitchFamily="18" charset="0"/>
                <a:ea typeface="Arial"/>
                <a:cs typeface="Times New Roman" panose="02020603050405020304" pitchFamily="18" charset="0"/>
              </a:rPr>
              <a:t>оператор</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извлекает</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элементы</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массива</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поэтому</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вызов</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работает</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как</a:t>
            </a:r>
            <a:r>
              <a:rPr sz="1350" b="0" dirty="0">
                <a:solidFill>
                  <a:srgbClr val="334155"/>
                </a:solidFill>
                <a:latin typeface="Times New Roman" panose="02020603050405020304" pitchFamily="18" charset="0"/>
                <a:ea typeface="Arial"/>
                <a:cs typeface="Times New Roman" panose="02020603050405020304" pitchFamily="18" charset="0"/>
              </a:rPr>
              <a:t> </a:t>
            </a:r>
            <a:r>
              <a:rPr sz="1350" b="0" dirty="0" err="1">
                <a:solidFill>
                  <a:srgbClr val="334155"/>
                </a:solidFill>
                <a:latin typeface="Times New Roman" panose="02020603050405020304" pitchFamily="18" charset="0"/>
                <a:ea typeface="Arial"/>
                <a:cs typeface="Times New Roman" panose="02020603050405020304" pitchFamily="18" charset="0"/>
              </a:rPr>
              <a:t>Math.min</a:t>
            </a:r>
            <a:r>
              <a:rPr sz="1350" b="0" dirty="0">
                <a:solidFill>
                  <a:srgbClr val="334155"/>
                </a:solidFill>
                <a:latin typeface="Times New Roman" panose="02020603050405020304" pitchFamily="18" charset="0"/>
                <a:ea typeface="Arial"/>
                <a:cs typeface="Times New Roman" panose="02020603050405020304" pitchFamily="18" charset="0"/>
              </a:rPr>
              <a:t>(8, 3, 12, 5).</a:t>
            </a:r>
          </a:p>
        </p:txBody>
      </p:sp>
      <p:sp>
        <p:nvSpPr>
          <p:cNvPr id="11" name="uses-heading">
            <a:extLst>
              <a:ext uri="{FF2B5EF4-FFF2-40B4-BE49-F238E27FC236}">
                <a16:creationId xmlns:a16="http://schemas.microsoft.com/office/drawing/2014/main" id="{EC1285AF-FBB8-4FBE-90C7-3B6FC4E674C7}"/>
              </a:ext>
            </a:extLst>
          </p:cNvPr>
          <p:cNvSpPr>
            <a:spLocks noGrp="1"/>
          </p:cNvSpPr>
          <p:nvPr/>
        </p:nvSpPr>
        <p:spPr>
          <a:xfrm>
            <a:off x="6372225" y="1133475"/>
            <a:ext cx="5305425" cy="400050"/>
          </a:xfrm>
          <a:prstGeom prst="rect">
            <a:avLst/>
          </a:prstGeom>
          <a:noFill/>
          <a:ln w="0">
            <a:noFill/>
          </a:ln>
        </p:spPr>
        <p:txBody>
          <a:bodyPr lIns="28575" tIns="19050" rIns="28575" bIns="19050" anchor="t">
            <a:normAutofit/>
          </a:bodyPr>
          <a:lstStyle/>
          <a:p>
            <a:pPr algn="ctr">
              <a:lnSpc>
                <a:spcPct val="104000"/>
              </a:lnSpc>
              <a:buNone/>
              <a:defRPr sz="1650" b="1">
                <a:solidFill>
                  <a:srgbClr val="1F3A72"/>
                </a:solidFill>
                <a:latin typeface="Arial"/>
                <a:ea typeface="Arial"/>
                <a:cs typeface="Arial"/>
              </a:defRPr>
            </a:pPr>
            <a:r>
              <a:rPr sz="1650" b="1">
                <a:solidFill>
                  <a:srgbClr val="1F3A72"/>
                </a:solidFill>
                <a:latin typeface="Times New Roman" panose="02020603050405020304" pitchFamily="18" charset="0"/>
                <a:ea typeface="Arial"/>
                <a:cs typeface="Times New Roman" panose="02020603050405020304" pitchFamily="18" charset="0"/>
              </a:rPr>
              <a:t>Где ещё используется оператор ...</a:t>
            </a:r>
          </a:p>
        </p:txBody>
      </p:sp>
      <p:sp>
        <p:nvSpPr>
          <p:cNvPr id="12" name="spread-use-1-surface">
            <a:extLst>
              <a:ext uri="{FF2B5EF4-FFF2-40B4-BE49-F238E27FC236}">
                <a16:creationId xmlns:a16="http://schemas.microsoft.com/office/drawing/2014/main" id="{2CA8B938-B3CD-4D8E-B473-F5B089CE49E4}"/>
              </a:ext>
            </a:extLst>
          </p:cNvPr>
          <p:cNvSpPr>
            <a:spLocks noGrp="1"/>
          </p:cNvSpPr>
          <p:nvPr/>
        </p:nvSpPr>
        <p:spPr>
          <a:xfrm>
            <a:off x="6276975" y="1647825"/>
            <a:ext cx="5476875" cy="971550"/>
          </a:xfrm>
          <a:prstGeom prst="roundRect">
            <a:avLst>
              <a:gd name="adj" fmla="val 10784"/>
            </a:avLst>
          </a:prstGeom>
          <a:solidFill>
            <a:srgbClr val="EAF4FD"/>
          </a:solidFill>
          <a:ln w="9525">
            <a:solidFill>
              <a:srgbClr val="9BB8D3"/>
            </a:solidFill>
            <a:prstDash val="solid"/>
          </a:ln>
        </p:spPr>
      </p:sp>
      <p:sp>
        <p:nvSpPr>
          <p:cNvPr id="13" name="spread-use-1-title">
            <a:extLst>
              <a:ext uri="{FF2B5EF4-FFF2-40B4-BE49-F238E27FC236}">
                <a16:creationId xmlns:a16="http://schemas.microsoft.com/office/drawing/2014/main" id="{6ECAC20E-012F-4207-A1C7-1452F8D3FFBD}"/>
              </a:ext>
            </a:extLst>
          </p:cNvPr>
          <p:cNvSpPr>
            <a:spLocks noGrp="1"/>
          </p:cNvSpPr>
          <p:nvPr/>
        </p:nvSpPr>
        <p:spPr>
          <a:xfrm>
            <a:off x="6429375" y="1714500"/>
            <a:ext cx="5172075" cy="257175"/>
          </a:xfrm>
          <a:prstGeom prst="rect">
            <a:avLst/>
          </a:prstGeom>
          <a:noFill/>
          <a:ln w="0">
            <a:noFill/>
          </a:ln>
        </p:spPr>
        <p:txBody>
          <a:bodyPr lIns="19050" tIns="9525" rIns="19050" bIns="9525" anchor="t">
            <a:normAutofit/>
          </a:bodyPr>
          <a:lstStyle/>
          <a:p>
            <a:pPr algn="l">
              <a:lnSpc>
                <a:spcPct val="104000"/>
              </a:lnSpc>
              <a:buNone/>
              <a:defRPr sz="1388" b="1">
                <a:solidFill>
                  <a:srgbClr val="1F3A72"/>
                </a:solidFill>
                <a:latin typeface="Arial"/>
                <a:ea typeface="Arial"/>
                <a:cs typeface="Arial"/>
              </a:defRPr>
            </a:pPr>
            <a:r>
              <a:rPr sz="1388" b="1">
                <a:solidFill>
                  <a:srgbClr val="1F3A72"/>
                </a:solidFill>
                <a:latin typeface="Times New Roman" panose="02020603050405020304" pitchFamily="18" charset="0"/>
                <a:ea typeface="Arial"/>
                <a:cs typeface="Times New Roman" panose="02020603050405020304" pitchFamily="18" charset="0"/>
              </a:rPr>
              <a:t>Вызов функции</a:t>
            </a:r>
          </a:p>
        </p:txBody>
      </p:sp>
      <p:sp>
        <p:nvSpPr>
          <p:cNvPr id="14" name="spread-use-1-code">
            <a:extLst>
              <a:ext uri="{FF2B5EF4-FFF2-40B4-BE49-F238E27FC236}">
                <a16:creationId xmlns:a16="http://schemas.microsoft.com/office/drawing/2014/main" id="{190437CB-1B95-4FF2-9725-C6F2BE762940}"/>
              </a:ext>
            </a:extLst>
          </p:cNvPr>
          <p:cNvSpPr>
            <a:spLocks noGrp="1"/>
          </p:cNvSpPr>
          <p:nvPr/>
        </p:nvSpPr>
        <p:spPr>
          <a:xfrm>
            <a:off x="6429375" y="2009775"/>
            <a:ext cx="5172075" cy="533400"/>
          </a:xfrm>
          <a:prstGeom prst="roundRect">
            <a:avLst>
              <a:gd name="adj" fmla="val 10714"/>
            </a:avLst>
          </a:prstGeom>
          <a:solidFill>
            <a:srgbClr val="FFFFFF"/>
          </a:solidFill>
          <a:ln w="9525">
            <a:solidFill>
              <a:srgbClr val="C8D9E8"/>
            </a:solidFill>
            <a:prstDash val="solid"/>
          </a:ln>
        </p:spPr>
        <p:txBody>
          <a:bodyPr lIns="76200" tIns="47625" rIns="76200" bIns="47625" anchor="ctr">
            <a:normAutofit lnSpcReduction="10000"/>
          </a:bodyPr>
          <a:lstStyle/>
          <a:p>
            <a:pPr algn="l">
              <a:lnSpc>
                <a:spcPct val="104000"/>
              </a:lnSpc>
              <a:buNone/>
              <a:defRPr sz="1163"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values = [4, 7, 2];</a:t>
            </a:r>
          </a:p>
          <a:p>
            <a:pPr algn="l">
              <a:lnSpc>
                <a:spcPct val="104000"/>
              </a:lnSpc>
              <a:buNone/>
              <a:defRPr sz="1163" b="0">
                <a:solidFill>
                  <a:srgbClr val="111827"/>
                </a:solidFill>
                <a:latin typeface="Arial"/>
                <a:ea typeface="Arial"/>
                <a:cs typeface="Arial"/>
              </a:defRPr>
            </a:pPr>
            <a:r>
              <a:rPr sz="1400" b="0" dirty="0" err="1">
                <a:solidFill>
                  <a:srgbClr val="111827"/>
                </a:solidFill>
                <a:latin typeface="Times New Roman" panose="02020603050405020304" pitchFamily="18" charset="0"/>
                <a:ea typeface="Arial"/>
                <a:cs typeface="Times New Roman" panose="02020603050405020304" pitchFamily="18" charset="0"/>
              </a:rPr>
              <a:t>showValues</a:t>
            </a:r>
            <a:r>
              <a:rPr sz="1400" b="0" dirty="0">
                <a:solidFill>
                  <a:srgbClr val="111827"/>
                </a:solidFill>
                <a:latin typeface="Times New Roman" panose="02020603050405020304" pitchFamily="18" charset="0"/>
                <a:ea typeface="Arial"/>
                <a:cs typeface="Times New Roman" panose="02020603050405020304" pitchFamily="18" charset="0"/>
              </a:rPr>
              <a:t>(...values); // </a:t>
            </a:r>
            <a:r>
              <a:rPr sz="1400" b="0" dirty="0" err="1">
                <a:solidFill>
                  <a:srgbClr val="111827"/>
                </a:solidFill>
                <a:latin typeface="Times New Roman" panose="02020603050405020304" pitchFamily="18" charset="0"/>
                <a:ea typeface="Arial"/>
                <a:cs typeface="Times New Roman" panose="02020603050405020304" pitchFamily="18" charset="0"/>
              </a:rPr>
              <a:t>showValues</a:t>
            </a:r>
            <a:r>
              <a:rPr sz="1400" b="0" dirty="0">
                <a:solidFill>
                  <a:srgbClr val="111827"/>
                </a:solidFill>
                <a:latin typeface="Times New Roman" panose="02020603050405020304" pitchFamily="18" charset="0"/>
                <a:ea typeface="Arial"/>
                <a:cs typeface="Times New Roman" panose="02020603050405020304" pitchFamily="18" charset="0"/>
              </a:rPr>
              <a:t>(4, 7, 2)</a:t>
            </a:r>
          </a:p>
        </p:txBody>
      </p:sp>
      <p:sp>
        <p:nvSpPr>
          <p:cNvPr id="15" name="spread-use-2-surface">
            <a:extLst>
              <a:ext uri="{FF2B5EF4-FFF2-40B4-BE49-F238E27FC236}">
                <a16:creationId xmlns:a16="http://schemas.microsoft.com/office/drawing/2014/main" id="{D6065E1D-EB3A-40DD-A1E5-BC11C54459DA}"/>
              </a:ext>
            </a:extLst>
          </p:cNvPr>
          <p:cNvSpPr>
            <a:spLocks noGrp="1"/>
          </p:cNvSpPr>
          <p:nvPr/>
        </p:nvSpPr>
        <p:spPr>
          <a:xfrm>
            <a:off x="6276975" y="2714625"/>
            <a:ext cx="5476875" cy="971550"/>
          </a:xfrm>
          <a:prstGeom prst="roundRect">
            <a:avLst>
              <a:gd name="adj" fmla="val 10784"/>
            </a:avLst>
          </a:prstGeom>
          <a:solidFill>
            <a:srgbClr val="EEE9FF"/>
          </a:solidFill>
          <a:ln w="9525">
            <a:solidFill>
              <a:srgbClr val="9BB8D3"/>
            </a:solidFill>
            <a:prstDash val="solid"/>
          </a:ln>
        </p:spPr>
      </p:sp>
      <p:sp>
        <p:nvSpPr>
          <p:cNvPr id="16" name="spread-use-2-title">
            <a:extLst>
              <a:ext uri="{FF2B5EF4-FFF2-40B4-BE49-F238E27FC236}">
                <a16:creationId xmlns:a16="http://schemas.microsoft.com/office/drawing/2014/main" id="{A8006816-DBD1-400F-9937-509868FF0819}"/>
              </a:ext>
            </a:extLst>
          </p:cNvPr>
          <p:cNvSpPr>
            <a:spLocks noGrp="1"/>
          </p:cNvSpPr>
          <p:nvPr/>
        </p:nvSpPr>
        <p:spPr>
          <a:xfrm>
            <a:off x="6429375" y="2781300"/>
            <a:ext cx="5172075" cy="257175"/>
          </a:xfrm>
          <a:prstGeom prst="rect">
            <a:avLst/>
          </a:prstGeom>
          <a:noFill/>
          <a:ln w="0">
            <a:noFill/>
          </a:ln>
        </p:spPr>
        <p:txBody>
          <a:bodyPr lIns="19050" tIns="9525" rIns="19050" bIns="9525" anchor="t">
            <a:normAutofit/>
          </a:bodyPr>
          <a:lstStyle/>
          <a:p>
            <a:pPr algn="l">
              <a:lnSpc>
                <a:spcPct val="104000"/>
              </a:lnSpc>
              <a:buNone/>
              <a:defRPr sz="1388" b="1">
                <a:solidFill>
                  <a:srgbClr val="1F3A72"/>
                </a:solidFill>
                <a:latin typeface="Arial"/>
                <a:ea typeface="Arial"/>
                <a:cs typeface="Arial"/>
              </a:defRPr>
            </a:pPr>
            <a:r>
              <a:rPr sz="1388" b="1">
                <a:solidFill>
                  <a:srgbClr val="1F3A72"/>
                </a:solidFill>
                <a:latin typeface="Times New Roman" panose="02020603050405020304" pitchFamily="18" charset="0"/>
                <a:ea typeface="Arial"/>
                <a:cs typeface="Times New Roman" panose="02020603050405020304" pitchFamily="18" charset="0"/>
              </a:rPr>
              <a:t>Копирование и объединение массивов</a:t>
            </a:r>
          </a:p>
        </p:txBody>
      </p:sp>
      <p:sp>
        <p:nvSpPr>
          <p:cNvPr id="17" name="spread-use-2-code">
            <a:extLst>
              <a:ext uri="{FF2B5EF4-FFF2-40B4-BE49-F238E27FC236}">
                <a16:creationId xmlns:a16="http://schemas.microsoft.com/office/drawing/2014/main" id="{028BB6C2-FAA4-401C-9BEA-9DC5429465A0}"/>
              </a:ext>
            </a:extLst>
          </p:cNvPr>
          <p:cNvSpPr>
            <a:spLocks noGrp="1"/>
          </p:cNvSpPr>
          <p:nvPr/>
        </p:nvSpPr>
        <p:spPr>
          <a:xfrm>
            <a:off x="6429375" y="3076575"/>
            <a:ext cx="5172075" cy="533400"/>
          </a:xfrm>
          <a:prstGeom prst="roundRect">
            <a:avLst>
              <a:gd name="adj" fmla="val 10714"/>
            </a:avLst>
          </a:prstGeom>
          <a:solidFill>
            <a:srgbClr val="FFFFFF"/>
          </a:solidFill>
          <a:ln w="9525">
            <a:solidFill>
              <a:srgbClr val="C8D9E8"/>
            </a:solidFill>
            <a:prstDash val="solid"/>
          </a:ln>
        </p:spPr>
        <p:txBody>
          <a:bodyPr lIns="76200" tIns="47625" rIns="76200" bIns="47625" anchor="ctr">
            <a:normAutofit lnSpcReduction="10000"/>
          </a:bodyPr>
          <a:lstStyle/>
          <a:p>
            <a:pPr algn="l">
              <a:lnSpc>
                <a:spcPct val="104000"/>
              </a:lnSpc>
              <a:buNone/>
              <a:defRPr sz="1163"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copy = [...numbers];</a:t>
            </a:r>
          </a:p>
          <a:p>
            <a:pPr algn="l">
              <a:lnSpc>
                <a:spcPct val="104000"/>
              </a:lnSpc>
              <a:buNone/>
              <a:defRPr sz="1163"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result = [...first, ...second];</a:t>
            </a:r>
          </a:p>
        </p:txBody>
      </p:sp>
      <p:sp>
        <p:nvSpPr>
          <p:cNvPr id="18" name="spread-use-3-surface">
            <a:extLst>
              <a:ext uri="{FF2B5EF4-FFF2-40B4-BE49-F238E27FC236}">
                <a16:creationId xmlns:a16="http://schemas.microsoft.com/office/drawing/2014/main" id="{9387B7C6-4797-46BB-8440-B0BDF949B9E7}"/>
              </a:ext>
            </a:extLst>
          </p:cNvPr>
          <p:cNvSpPr>
            <a:spLocks noGrp="1"/>
          </p:cNvSpPr>
          <p:nvPr/>
        </p:nvSpPr>
        <p:spPr>
          <a:xfrm>
            <a:off x="6276975" y="3781425"/>
            <a:ext cx="5476875" cy="971550"/>
          </a:xfrm>
          <a:prstGeom prst="roundRect">
            <a:avLst>
              <a:gd name="adj" fmla="val 10784"/>
            </a:avLst>
          </a:prstGeom>
          <a:solidFill>
            <a:srgbClr val="EAF4FD"/>
          </a:solidFill>
          <a:ln w="9525">
            <a:solidFill>
              <a:srgbClr val="9BB8D3"/>
            </a:solidFill>
            <a:prstDash val="solid"/>
          </a:ln>
        </p:spPr>
      </p:sp>
      <p:sp>
        <p:nvSpPr>
          <p:cNvPr id="19" name="spread-use-3-title">
            <a:extLst>
              <a:ext uri="{FF2B5EF4-FFF2-40B4-BE49-F238E27FC236}">
                <a16:creationId xmlns:a16="http://schemas.microsoft.com/office/drawing/2014/main" id="{3D4EC4B5-6CEB-480F-9B08-349DE9F09D23}"/>
              </a:ext>
            </a:extLst>
          </p:cNvPr>
          <p:cNvSpPr>
            <a:spLocks noGrp="1"/>
          </p:cNvSpPr>
          <p:nvPr/>
        </p:nvSpPr>
        <p:spPr>
          <a:xfrm>
            <a:off x="6429375" y="3848100"/>
            <a:ext cx="5172075" cy="257175"/>
          </a:xfrm>
          <a:prstGeom prst="rect">
            <a:avLst/>
          </a:prstGeom>
          <a:noFill/>
          <a:ln w="0">
            <a:noFill/>
          </a:ln>
        </p:spPr>
        <p:txBody>
          <a:bodyPr lIns="19050" tIns="9525" rIns="19050" bIns="9525" anchor="t">
            <a:normAutofit/>
          </a:bodyPr>
          <a:lstStyle/>
          <a:p>
            <a:pPr algn="l">
              <a:lnSpc>
                <a:spcPct val="104000"/>
              </a:lnSpc>
              <a:buNone/>
              <a:defRPr sz="1388" b="1">
                <a:solidFill>
                  <a:srgbClr val="1F3A72"/>
                </a:solidFill>
                <a:latin typeface="Arial"/>
                <a:ea typeface="Arial"/>
                <a:cs typeface="Arial"/>
              </a:defRPr>
            </a:pPr>
            <a:r>
              <a:rPr sz="1388" b="1">
                <a:solidFill>
                  <a:srgbClr val="1F3A72"/>
                </a:solidFill>
                <a:latin typeface="Times New Roman" panose="02020603050405020304" pitchFamily="18" charset="0"/>
                <a:ea typeface="Arial"/>
                <a:cs typeface="Times New Roman" panose="02020603050405020304" pitchFamily="18" charset="0"/>
              </a:rPr>
              <a:t>Добавление нескольких элементов</a:t>
            </a:r>
          </a:p>
        </p:txBody>
      </p:sp>
      <p:sp>
        <p:nvSpPr>
          <p:cNvPr id="20" name="spread-use-3-code">
            <a:extLst>
              <a:ext uri="{FF2B5EF4-FFF2-40B4-BE49-F238E27FC236}">
                <a16:creationId xmlns:a16="http://schemas.microsoft.com/office/drawing/2014/main" id="{18B09908-FEFB-43E0-8996-93DCC419623C}"/>
              </a:ext>
            </a:extLst>
          </p:cNvPr>
          <p:cNvSpPr>
            <a:spLocks noGrp="1"/>
          </p:cNvSpPr>
          <p:nvPr/>
        </p:nvSpPr>
        <p:spPr>
          <a:xfrm>
            <a:off x="6429375" y="4143375"/>
            <a:ext cx="5172075" cy="533400"/>
          </a:xfrm>
          <a:prstGeom prst="roundRect">
            <a:avLst>
              <a:gd name="adj" fmla="val 10714"/>
            </a:avLst>
          </a:prstGeom>
          <a:solidFill>
            <a:srgbClr val="FFFFFF"/>
          </a:solidFill>
          <a:ln w="9525">
            <a:solidFill>
              <a:srgbClr val="C8D9E8"/>
            </a:solidFill>
            <a:prstDash val="solid"/>
          </a:ln>
        </p:spPr>
        <p:txBody>
          <a:bodyPr lIns="76200" tIns="47625" rIns="76200" bIns="47625" anchor="ctr">
            <a:normAutofit lnSpcReduction="10000"/>
          </a:bodyPr>
          <a:lstStyle/>
          <a:p>
            <a:pPr algn="l">
              <a:lnSpc>
                <a:spcPct val="104000"/>
              </a:lnSpc>
              <a:buNone/>
              <a:defRPr sz="1163"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a:t>
            </a:r>
            <a:r>
              <a:rPr sz="1400" b="0" dirty="0" err="1">
                <a:solidFill>
                  <a:srgbClr val="111827"/>
                </a:solidFill>
                <a:latin typeface="Times New Roman" panose="02020603050405020304" pitchFamily="18" charset="0"/>
                <a:ea typeface="Arial"/>
                <a:cs typeface="Times New Roman" panose="02020603050405020304" pitchFamily="18" charset="0"/>
              </a:rPr>
              <a:t>newItems</a:t>
            </a:r>
            <a:r>
              <a:rPr sz="1400" b="0" dirty="0">
                <a:solidFill>
                  <a:srgbClr val="111827"/>
                </a:solidFill>
                <a:latin typeface="Times New Roman" panose="02020603050405020304" pitchFamily="18" charset="0"/>
                <a:ea typeface="Arial"/>
                <a:cs typeface="Times New Roman" panose="02020603050405020304" pitchFamily="18" charset="0"/>
              </a:rPr>
              <a:t> = ["</a:t>
            </a:r>
            <a:r>
              <a:rPr sz="1400" b="0" dirty="0" err="1">
                <a:solidFill>
                  <a:srgbClr val="111827"/>
                </a:solidFill>
                <a:latin typeface="Times New Roman" panose="02020603050405020304" pitchFamily="18" charset="0"/>
                <a:ea typeface="Arial"/>
                <a:cs typeface="Times New Roman" panose="02020603050405020304" pitchFamily="18" charset="0"/>
              </a:rPr>
              <a:t>Фото</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Видео</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163" b="0">
                <a:solidFill>
                  <a:srgbClr val="111827"/>
                </a:solidFill>
                <a:latin typeface="Arial"/>
                <a:ea typeface="Arial"/>
                <a:cs typeface="Arial"/>
              </a:defRPr>
            </a:pPr>
            <a:r>
              <a:rPr sz="1400" b="0" dirty="0" err="1">
                <a:solidFill>
                  <a:srgbClr val="111827"/>
                </a:solidFill>
                <a:latin typeface="Times New Roman" panose="02020603050405020304" pitchFamily="18" charset="0"/>
                <a:ea typeface="Arial"/>
                <a:cs typeface="Times New Roman" panose="02020603050405020304" pitchFamily="18" charset="0"/>
              </a:rPr>
              <a:t>items.push</a:t>
            </a:r>
            <a:r>
              <a:rPr sz="1400" b="0" dirty="0">
                <a:solidFill>
                  <a:srgbClr val="111827"/>
                </a:solidFill>
                <a:latin typeface="Times New Roman" panose="02020603050405020304" pitchFamily="18" charset="0"/>
                <a:ea typeface="Arial"/>
                <a:cs typeface="Times New Roman" panose="02020603050405020304" pitchFamily="18" charset="0"/>
              </a:rPr>
              <a:t>(...</a:t>
            </a:r>
            <a:r>
              <a:rPr sz="1400" b="0" dirty="0" err="1">
                <a:solidFill>
                  <a:srgbClr val="111827"/>
                </a:solidFill>
                <a:latin typeface="Times New Roman" panose="02020603050405020304" pitchFamily="18" charset="0"/>
                <a:ea typeface="Arial"/>
                <a:cs typeface="Times New Roman" panose="02020603050405020304" pitchFamily="18" charset="0"/>
              </a:rPr>
              <a:t>newItems</a:t>
            </a:r>
            <a:r>
              <a:rPr sz="1400" b="0" dirty="0">
                <a:solidFill>
                  <a:srgbClr val="111827"/>
                </a:solidFill>
                <a:latin typeface="Times New Roman" panose="02020603050405020304" pitchFamily="18" charset="0"/>
                <a:ea typeface="Arial"/>
                <a:cs typeface="Times New Roman" panose="02020603050405020304" pitchFamily="18" charset="0"/>
              </a:rPr>
              <a:t>);</a:t>
            </a:r>
          </a:p>
        </p:txBody>
      </p:sp>
      <p:sp>
        <p:nvSpPr>
          <p:cNvPr id="21" name="spread-use-4-surface">
            <a:extLst>
              <a:ext uri="{FF2B5EF4-FFF2-40B4-BE49-F238E27FC236}">
                <a16:creationId xmlns:a16="http://schemas.microsoft.com/office/drawing/2014/main" id="{8F285B20-7524-433D-B9C7-7E52399E17F6}"/>
              </a:ext>
            </a:extLst>
          </p:cNvPr>
          <p:cNvSpPr>
            <a:spLocks noGrp="1"/>
          </p:cNvSpPr>
          <p:nvPr/>
        </p:nvSpPr>
        <p:spPr>
          <a:xfrm>
            <a:off x="6276975" y="4848225"/>
            <a:ext cx="5476875" cy="971550"/>
          </a:xfrm>
          <a:prstGeom prst="roundRect">
            <a:avLst>
              <a:gd name="adj" fmla="val 10784"/>
            </a:avLst>
          </a:prstGeom>
          <a:solidFill>
            <a:srgbClr val="EEE9FF"/>
          </a:solidFill>
          <a:ln w="9525">
            <a:solidFill>
              <a:srgbClr val="9BB8D3"/>
            </a:solidFill>
            <a:prstDash val="solid"/>
          </a:ln>
        </p:spPr>
      </p:sp>
      <p:sp>
        <p:nvSpPr>
          <p:cNvPr id="22" name="spread-use-4-title">
            <a:extLst>
              <a:ext uri="{FF2B5EF4-FFF2-40B4-BE49-F238E27FC236}">
                <a16:creationId xmlns:a16="http://schemas.microsoft.com/office/drawing/2014/main" id="{16BF4F9C-030E-4834-8405-F4C43E7C1044}"/>
              </a:ext>
            </a:extLst>
          </p:cNvPr>
          <p:cNvSpPr>
            <a:spLocks noGrp="1"/>
          </p:cNvSpPr>
          <p:nvPr/>
        </p:nvSpPr>
        <p:spPr>
          <a:xfrm>
            <a:off x="6429375" y="4914900"/>
            <a:ext cx="5172075" cy="257175"/>
          </a:xfrm>
          <a:prstGeom prst="rect">
            <a:avLst/>
          </a:prstGeom>
          <a:noFill/>
          <a:ln w="0">
            <a:noFill/>
          </a:ln>
        </p:spPr>
        <p:txBody>
          <a:bodyPr lIns="19050" tIns="9525" rIns="19050" bIns="9525" anchor="t">
            <a:normAutofit/>
          </a:bodyPr>
          <a:lstStyle/>
          <a:p>
            <a:pPr algn="l">
              <a:lnSpc>
                <a:spcPct val="104000"/>
              </a:lnSpc>
              <a:buNone/>
              <a:defRPr sz="1388" b="1">
                <a:solidFill>
                  <a:srgbClr val="1F3A72"/>
                </a:solidFill>
                <a:latin typeface="Arial"/>
                <a:ea typeface="Arial"/>
                <a:cs typeface="Arial"/>
              </a:defRPr>
            </a:pPr>
            <a:r>
              <a:rPr sz="1388" b="1">
                <a:solidFill>
                  <a:srgbClr val="1F3A72"/>
                </a:solidFill>
                <a:latin typeface="Times New Roman" panose="02020603050405020304" pitchFamily="18" charset="0"/>
                <a:ea typeface="Arial"/>
                <a:cs typeface="Times New Roman" panose="02020603050405020304" pitchFamily="18" charset="0"/>
              </a:rPr>
              <a:t>Создание нового массива с элементами</a:t>
            </a:r>
          </a:p>
        </p:txBody>
      </p:sp>
      <p:sp>
        <p:nvSpPr>
          <p:cNvPr id="23" name="spread-use-4-code">
            <a:extLst>
              <a:ext uri="{FF2B5EF4-FFF2-40B4-BE49-F238E27FC236}">
                <a16:creationId xmlns:a16="http://schemas.microsoft.com/office/drawing/2014/main" id="{9386A2B0-C2C2-4BA9-8F7C-89F869D47CB0}"/>
              </a:ext>
            </a:extLst>
          </p:cNvPr>
          <p:cNvSpPr>
            <a:spLocks noGrp="1"/>
          </p:cNvSpPr>
          <p:nvPr/>
        </p:nvSpPr>
        <p:spPr>
          <a:xfrm>
            <a:off x="6429375" y="5210175"/>
            <a:ext cx="5172075" cy="533400"/>
          </a:xfrm>
          <a:prstGeom prst="roundRect">
            <a:avLst>
              <a:gd name="adj" fmla="val 10714"/>
            </a:avLst>
          </a:prstGeom>
          <a:solidFill>
            <a:srgbClr val="FFFFFF"/>
          </a:solidFill>
          <a:ln w="9525">
            <a:solidFill>
              <a:srgbClr val="C8D9E8"/>
            </a:solidFill>
            <a:prstDash val="solid"/>
          </a:ln>
        </p:spPr>
        <p:txBody>
          <a:bodyPr lIns="76200" tIns="47625" rIns="76200" bIns="47625" anchor="ctr">
            <a:normAutofit lnSpcReduction="10000"/>
          </a:bodyPr>
          <a:lstStyle/>
          <a:p>
            <a:pPr algn="l">
              <a:lnSpc>
                <a:spcPct val="104000"/>
              </a:lnSpc>
              <a:buNone/>
              <a:defRPr sz="1163"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extended = [0, ...numbers, 20];</a:t>
            </a:r>
          </a:p>
          <a:p>
            <a:pPr algn="l">
              <a:lnSpc>
                <a:spcPct val="104000"/>
              </a:lnSpc>
              <a:buNone/>
              <a:defRPr sz="1163"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[0, 8, 3, 12, 5, 20]</a:t>
            </a:r>
          </a:p>
        </p:txBody>
      </p:sp>
    </p:spTree>
    <p:extLst>
      <p:ext uri="{BB962C8B-B14F-4D97-AF65-F5344CB8AC3E}">
        <p14:creationId xmlns:p14="http://schemas.microsoft.com/office/powerpoint/2010/main" val="648761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E380AB3B-E9E2-4E14-9987-E67F3C7B6D18}"/>
              </a:ext>
            </a:extLst>
          </p:cNvPr>
          <p:cNvSpPr>
            <a:spLocks noGrp="1"/>
          </p:cNvSpPr>
          <p:nvPr/>
        </p:nvSpPr>
        <p:spPr>
          <a:xfrm>
            <a:off x="342900" y="76200"/>
            <a:ext cx="11506200" cy="533400"/>
          </a:xfrm>
          <a:prstGeom prst="rect">
            <a:avLst/>
          </a:prstGeom>
          <a:noFill/>
          <a:ln w="0">
            <a:noFill/>
          </a:ln>
        </p:spPr>
        <p:txBody>
          <a:bodyPr lIns="57150" tIns="0" rIns="57150" bIns="0" anchor="t">
            <a:normAutofit/>
          </a:bodyPr>
          <a:lstStyle/>
          <a:p>
            <a:pPr algn="ctr">
              <a:lnSpc>
                <a:spcPct val="104000"/>
              </a:lnSpc>
              <a:buNone/>
              <a:defRPr sz="3000" b="0">
                <a:solidFill>
                  <a:srgbClr val="111827"/>
                </a:solidFill>
                <a:latin typeface="Arial"/>
                <a:ea typeface="Arial"/>
                <a:cs typeface="Arial"/>
              </a:defRPr>
            </a:pPr>
            <a:r>
              <a:rPr sz="3000" b="0">
                <a:solidFill>
                  <a:srgbClr val="111827"/>
                </a:solidFill>
                <a:latin typeface="Times New Roman" panose="02020603050405020304" pitchFamily="18" charset="0"/>
                <a:ea typeface="Arial"/>
                <a:cs typeface="Times New Roman" panose="02020603050405020304" pitchFamily="18" charset="0"/>
              </a:rPr>
              <a:t>Практикум: ошибки индексации</a:t>
            </a:r>
          </a:p>
        </p:txBody>
      </p:sp>
      <p:sp>
        <p:nvSpPr>
          <p:cNvPr id="2" name="slide-subtitle">
            <a:extLst>
              <a:ext uri="{FF2B5EF4-FFF2-40B4-BE49-F238E27FC236}">
                <a16:creationId xmlns:a16="http://schemas.microsoft.com/office/drawing/2014/main" id="{AE915114-3DC5-4348-988E-D10529596A4D}"/>
              </a:ext>
            </a:extLst>
          </p:cNvPr>
          <p:cNvSpPr>
            <a:spLocks noGrp="1"/>
          </p:cNvSpPr>
          <p:nvPr/>
        </p:nvSpPr>
        <p:spPr>
          <a:xfrm>
            <a:off x="514350" y="609600"/>
            <a:ext cx="11163300" cy="381000"/>
          </a:xfrm>
          <a:prstGeom prst="rect">
            <a:avLst/>
          </a:prstGeom>
          <a:noFill/>
          <a:ln w="0">
            <a:noFill/>
          </a:ln>
        </p:spPr>
        <p:txBody>
          <a:bodyPr lIns="38100" tIns="0" rIns="38100" bIns="0" anchor="ctr">
            <a:normAutofit/>
          </a:bodyPr>
          <a:lstStyle/>
          <a:p>
            <a:pPr algn="ctr">
              <a:lnSpc>
                <a:spcPct val="104000"/>
              </a:lnSpc>
              <a:buNone/>
              <a:defRPr sz="1425" b="0">
                <a:solidFill>
                  <a:srgbClr val="334155"/>
                </a:solidFill>
                <a:latin typeface="Arial"/>
                <a:ea typeface="Arial"/>
                <a:cs typeface="Arial"/>
              </a:defRPr>
            </a:pPr>
            <a:r>
              <a:rPr sz="1425" b="0" dirty="0" err="1">
                <a:solidFill>
                  <a:srgbClr val="334155"/>
                </a:solidFill>
                <a:latin typeface="Times New Roman" panose="02020603050405020304" pitchFamily="18" charset="0"/>
                <a:ea typeface="Arial"/>
                <a:cs typeface="Times New Roman" panose="02020603050405020304" pitchFamily="18" charset="0"/>
              </a:rPr>
              <a:t>Для</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каждого</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фрагмента</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определите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результат</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выполнения</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объясните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ошибку</a:t>
            </a:r>
            <a:r>
              <a:rPr sz="1425" b="0" dirty="0">
                <a:solidFill>
                  <a:srgbClr val="334155"/>
                </a:solidFill>
                <a:latin typeface="Times New Roman" panose="02020603050405020304" pitchFamily="18" charset="0"/>
                <a:ea typeface="Arial"/>
                <a:cs typeface="Times New Roman" panose="02020603050405020304" pitchFamily="18" charset="0"/>
              </a:rPr>
              <a:t> и </a:t>
            </a:r>
            <a:r>
              <a:rPr sz="1425" b="0" dirty="0" err="1">
                <a:solidFill>
                  <a:srgbClr val="334155"/>
                </a:solidFill>
                <a:latin typeface="Times New Roman" panose="02020603050405020304" pitchFamily="18" charset="0"/>
                <a:ea typeface="Arial"/>
                <a:cs typeface="Times New Roman" panose="02020603050405020304" pitchFamily="18" charset="0"/>
              </a:rPr>
              <a:t>запишите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исправленный</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код</a:t>
            </a:r>
            <a:endParaRPr sz="1425" b="0" dirty="0">
              <a:solidFill>
                <a:srgbClr val="334155"/>
              </a:solidFill>
              <a:latin typeface="Times New Roman" panose="02020603050405020304" pitchFamily="18" charset="0"/>
              <a:ea typeface="Arial"/>
              <a:cs typeface="Times New Roman" panose="02020603050405020304" pitchFamily="18" charset="0"/>
            </a:endParaRPr>
          </a:p>
        </p:txBody>
      </p:sp>
      <p:sp>
        <p:nvSpPr>
          <p:cNvPr id="3" name="task-1-surface">
            <a:extLst>
              <a:ext uri="{FF2B5EF4-FFF2-40B4-BE49-F238E27FC236}">
                <a16:creationId xmlns:a16="http://schemas.microsoft.com/office/drawing/2014/main" id="{8792E8B4-3665-47E8-BC59-E49B66731AE8}"/>
              </a:ext>
            </a:extLst>
          </p:cNvPr>
          <p:cNvSpPr>
            <a:spLocks noGrp="1"/>
          </p:cNvSpPr>
          <p:nvPr/>
        </p:nvSpPr>
        <p:spPr>
          <a:xfrm>
            <a:off x="400050" y="1104900"/>
            <a:ext cx="3619500" cy="4953000"/>
          </a:xfrm>
          <a:prstGeom prst="roundRect">
            <a:avLst>
              <a:gd name="adj" fmla="val 3684"/>
            </a:avLst>
          </a:prstGeom>
          <a:solidFill>
            <a:srgbClr val="CBE3FA"/>
          </a:solidFill>
          <a:ln w="9525">
            <a:solidFill>
              <a:srgbClr val="9BB8D3"/>
            </a:solidFill>
            <a:prstDash val="solid"/>
          </a:ln>
        </p:spPr>
      </p:sp>
      <p:sp>
        <p:nvSpPr>
          <p:cNvPr id="4" name="task-1-title">
            <a:extLst>
              <a:ext uri="{FF2B5EF4-FFF2-40B4-BE49-F238E27FC236}">
                <a16:creationId xmlns:a16="http://schemas.microsoft.com/office/drawing/2014/main" id="{0F3B838D-6043-4CBA-B709-EBAD029F0C91}"/>
              </a:ext>
            </a:extLst>
          </p:cNvPr>
          <p:cNvSpPr>
            <a:spLocks noGrp="1"/>
          </p:cNvSpPr>
          <p:nvPr/>
        </p:nvSpPr>
        <p:spPr>
          <a:xfrm>
            <a:off x="533400" y="1200150"/>
            <a:ext cx="3352800" cy="323850"/>
          </a:xfrm>
          <a:prstGeom prst="rect">
            <a:avLst/>
          </a:prstGeom>
          <a:noFill/>
          <a:ln w="0">
            <a:noFill/>
          </a:ln>
        </p:spPr>
        <p:txBody>
          <a:bodyPr lIns="19050" tIns="19050" rIns="19050" bIns="19050" anchor="t">
            <a:normAutofit/>
          </a:bodyPr>
          <a:lstStyle/>
          <a:p>
            <a:pPr algn="l">
              <a:lnSpc>
                <a:spcPct val="104000"/>
              </a:lnSpc>
              <a:buNone/>
              <a:defRPr sz="1575" b="1">
                <a:solidFill>
                  <a:srgbClr val="1F3A72"/>
                </a:solidFill>
                <a:latin typeface="Arial"/>
                <a:ea typeface="Arial"/>
                <a:cs typeface="Arial"/>
              </a:defRPr>
            </a:pPr>
            <a:r>
              <a:rPr sz="1575" b="1">
                <a:solidFill>
                  <a:srgbClr val="1F3A72"/>
                </a:solidFill>
                <a:latin typeface="Times New Roman" panose="02020603050405020304" pitchFamily="18" charset="0"/>
                <a:ea typeface="Arial"/>
                <a:cs typeface="Times New Roman" panose="02020603050405020304" pitchFamily="18" charset="0"/>
              </a:rPr>
              <a:t>Задание 1. Последний элемент</a:t>
            </a:r>
          </a:p>
        </p:txBody>
      </p:sp>
      <p:sp>
        <p:nvSpPr>
          <p:cNvPr id="5" name="task-1-code">
            <a:extLst>
              <a:ext uri="{FF2B5EF4-FFF2-40B4-BE49-F238E27FC236}">
                <a16:creationId xmlns:a16="http://schemas.microsoft.com/office/drawing/2014/main" id="{905CCDDB-5590-4DC5-A463-6BC863DDEB87}"/>
              </a:ext>
            </a:extLst>
          </p:cNvPr>
          <p:cNvSpPr>
            <a:spLocks noGrp="1"/>
          </p:cNvSpPr>
          <p:nvPr/>
        </p:nvSpPr>
        <p:spPr>
          <a:xfrm>
            <a:off x="533400" y="1571625"/>
            <a:ext cx="3352800" cy="3771900"/>
          </a:xfrm>
          <a:prstGeom prst="roundRect">
            <a:avLst>
              <a:gd name="adj" fmla="val 1989"/>
            </a:avLst>
          </a:prstGeom>
          <a:solidFill>
            <a:srgbClr val="FFFFFF"/>
          </a:solidFill>
          <a:ln w="9525">
            <a:solidFill>
              <a:srgbClr val="BFD2E5"/>
            </a:solidFill>
            <a:prstDash val="solid"/>
          </a:ln>
        </p:spPr>
        <p:txBody>
          <a:bodyPr lIns="85725" tIns="85725" rIns="85725" bIns="85725" anchor="t">
            <a:normAutofit/>
          </a:bodyPr>
          <a:lstStyle/>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colors = ["red", "green", "blue"];</a:t>
            </a:r>
          </a:p>
          <a:p>
            <a:endParaRPr sz="1400" b="0" dirty="0">
              <a:solidFill>
                <a:srgbClr val="111827"/>
              </a:solidFill>
              <a:latin typeface="Times New Roman" panose="02020603050405020304" pitchFamily="18" charset="0"/>
              <a:ea typeface="Arial"/>
              <a:cs typeface="Times New Roman" panose="02020603050405020304" pitchFamily="18" charset="0"/>
            </a:endParaRP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console.log(</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colors[</a:t>
            </a:r>
            <a:r>
              <a:rPr sz="1400" b="0" dirty="0" err="1">
                <a:solidFill>
                  <a:srgbClr val="111827"/>
                </a:solidFill>
                <a:latin typeface="Times New Roman" panose="02020603050405020304" pitchFamily="18" charset="0"/>
                <a:ea typeface="Arial"/>
                <a:cs typeface="Times New Roman" panose="02020603050405020304" pitchFamily="18" charset="0"/>
              </a:rPr>
              <a:t>colors.length</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a:t>
            </a:r>
          </a:p>
        </p:txBody>
      </p:sp>
      <p:sp>
        <p:nvSpPr>
          <p:cNvPr id="6" name="task-1-prompt">
            <a:extLst>
              <a:ext uri="{FF2B5EF4-FFF2-40B4-BE49-F238E27FC236}">
                <a16:creationId xmlns:a16="http://schemas.microsoft.com/office/drawing/2014/main" id="{657C2104-66E5-41C4-814D-580065B9759A}"/>
              </a:ext>
            </a:extLst>
          </p:cNvPr>
          <p:cNvSpPr>
            <a:spLocks noGrp="1"/>
          </p:cNvSpPr>
          <p:nvPr/>
        </p:nvSpPr>
        <p:spPr>
          <a:xfrm>
            <a:off x="533400" y="5438775"/>
            <a:ext cx="3352800" cy="495300"/>
          </a:xfrm>
          <a:prstGeom prst="rect">
            <a:avLst/>
          </a:prstGeom>
          <a:noFill/>
          <a:ln w="0">
            <a:noFill/>
          </a:ln>
        </p:spPr>
        <p:txBody>
          <a:bodyPr lIns="19050" tIns="19050" rIns="19050" bIns="19050" anchor="t">
            <a:normAutofit/>
          </a:bodyPr>
          <a:lstStyle/>
          <a:p>
            <a:pPr algn="l">
              <a:lnSpc>
                <a:spcPct val="104000"/>
              </a:lnSpc>
              <a:buNone/>
              <a:defRPr sz="1275" b="0">
                <a:solidFill>
                  <a:srgbClr val="334155"/>
                </a:solidFill>
                <a:latin typeface="Arial"/>
                <a:ea typeface="Arial"/>
                <a:cs typeface="Arial"/>
              </a:defRPr>
            </a:pPr>
            <a:r>
              <a:rPr sz="1400" b="0" dirty="0" err="1">
                <a:solidFill>
                  <a:srgbClr val="334155"/>
                </a:solidFill>
                <a:latin typeface="Times New Roman" panose="02020603050405020304" pitchFamily="18" charset="0"/>
                <a:ea typeface="Arial"/>
                <a:cs typeface="Times New Roman" panose="02020603050405020304" pitchFamily="18" charset="0"/>
              </a:rPr>
              <a:t>Почему</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программа</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выводит</a:t>
            </a:r>
            <a:r>
              <a:rPr sz="1400" b="0" dirty="0">
                <a:solidFill>
                  <a:srgbClr val="334155"/>
                </a:solidFill>
                <a:latin typeface="Times New Roman" panose="02020603050405020304" pitchFamily="18" charset="0"/>
                <a:ea typeface="Arial"/>
                <a:cs typeface="Times New Roman" panose="02020603050405020304" pitchFamily="18" charset="0"/>
              </a:rPr>
              <a:t> undefined? </a:t>
            </a:r>
            <a:r>
              <a:rPr sz="1400" b="0" dirty="0" err="1">
                <a:solidFill>
                  <a:srgbClr val="334155"/>
                </a:solidFill>
                <a:latin typeface="Times New Roman" panose="02020603050405020304" pitchFamily="18" charset="0"/>
                <a:ea typeface="Arial"/>
                <a:cs typeface="Times New Roman" panose="02020603050405020304" pitchFamily="18" charset="0"/>
              </a:rPr>
              <a:t>Как</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обратиться</a:t>
            </a:r>
            <a:r>
              <a:rPr sz="1400" b="0" dirty="0">
                <a:solidFill>
                  <a:srgbClr val="334155"/>
                </a:solidFill>
                <a:latin typeface="Times New Roman" panose="02020603050405020304" pitchFamily="18" charset="0"/>
                <a:ea typeface="Arial"/>
                <a:cs typeface="Times New Roman" panose="02020603050405020304" pitchFamily="18" charset="0"/>
              </a:rPr>
              <a:t> к </a:t>
            </a:r>
            <a:r>
              <a:rPr sz="1400" b="0" dirty="0" err="1">
                <a:solidFill>
                  <a:srgbClr val="334155"/>
                </a:solidFill>
                <a:latin typeface="Times New Roman" panose="02020603050405020304" pitchFamily="18" charset="0"/>
                <a:ea typeface="Arial"/>
                <a:cs typeface="Times New Roman" panose="02020603050405020304" pitchFamily="18" charset="0"/>
              </a:rPr>
              <a:t>последнему</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элементу</a:t>
            </a:r>
            <a:r>
              <a:rPr sz="1400" b="0" dirty="0">
                <a:solidFill>
                  <a:srgbClr val="334155"/>
                </a:solidFill>
                <a:latin typeface="Times New Roman" panose="02020603050405020304" pitchFamily="18" charset="0"/>
                <a:ea typeface="Arial"/>
                <a:cs typeface="Times New Roman" panose="02020603050405020304" pitchFamily="18" charset="0"/>
              </a:rPr>
              <a:t>?</a:t>
            </a:r>
          </a:p>
        </p:txBody>
      </p:sp>
      <p:sp>
        <p:nvSpPr>
          <p:cNvPr id="7" name="task-2-surface">
            <a:extLst>
              <a:ext uri="{FF2B5EF4-FFF2-40B4-BE49-F238E27FC236}">
                <a16:creationId xmlns:a16="http://schemas.microsoft.com/office/drawing/2014/main" id="{6A50F92D-5E3B-49BC-B1B7-87FB2CFB60F1}"/>
              </a:ext>
            </a:extLst>
          </p:cNvPr>
          <p:cNvSpPr>
            <a:spLocks noGrp="1"/>
          </p:cNvSpPr>
          <p:nvPr/>
        </p:nvSpPr>
        <p:spPr>
          <a:xfrm>
            <a:off x="4286250" y="1104900"/>
            <a:ext cx="3619500" cy="4953000"/>
          </a:xfrm>
          <a:prstGeom prst="roundRect">
            <a:avLst>
              <a:gd name="adj" fmla="val 3684"/>
            </a:avLst>
          </a:prstGeom>
          <a:solidFill>
            <a:srgbClr val="EAF4FD"/>
          </a:solidFill>
          <a:ln w="9525">
            <a:solidFill>
              <a:srgbClr val="9BB8D3"/>
            </a:solidFill>
            <a:prstDash val="solid"/>
          </a:ln>
        </p:spPr>
      </p:sp>
      <p:sp>
        <p:nvSpPr>
          <p:cNvPr id="8" name="task-2-title">
            <a:extLst>
              <a:ext uri="{FF2B5EF4-FFF2-40B4-BE49-F238E27FC236}">
                <a16:creationId xmlns:a16="http://schemas.microsoft.com/office/drawing/2014/main" id="{AC06F6F7-E6B6-4872-B1DE-CD7B8057B51E}"/>
              </a:ext>
            </a:extLst>
          </p:cNvPr>
          <p:cNvSpPr>
            <a:spLocks noGrp="1"/>
          </p:cNvSpPr>
          <p:nvPr/>
        </p:nvSpPr>
        <p:spPr>
          <a:xfrm>
            <a:off x="4419600" y="1200150"/>
            <a:ext cx="3352800" cy="323850"/>
          </a:xfrm>
          <a:prstGeom prst="rect">
            <a:avLst/>
          </a:prstGeom>
          <a:noFill/>
          <a:ln w="0">
            <a:noFill/>
          </a:ln>
        </p:spPr>
        <p:txBody>
          <a:bodyPr lIns="19050" tIns="19050" rIns="19050" bIns="19050" anchor="t">
            <a:normAutofit/>
          </a:bodyPr>
          <a:lstStyle/>
          <a:p>
            <a:pPr algn="l">
              <a:lnSpc>
                <a:spcPct val="104000"/>
              </a:lnSpc>
              <a:buNone/>
              <a:defRPr sz="1575" b="1">
                <a:solidFill>
                  <a:srgbClr val="1F3A72"/>
                </a:solidFill>
                <a:latin typeface="Arial"/>
                <a:ea typeface="Arial"/>
                <a:cs typeface="Arial"/>
              </a:defRPr>
            </a:pPr>
            <a:r>
              <a:rPr sz="1575" b="1">
                <a:solidFill>
                  <a:srgbClr val="1F3A72"/>
                </a:solidFill>
                <a:latin typeface="Times New Roman" panose="02020603050405020304" pitchFamily="18" charset="0"/>
                <a:ea typeface="Arial"/>
                <a:cs typeface="Times New Roman" panose="02020603050405020304" pitchFamily="18" charset="0"/>
              </a:rPr>
              <a:t>Задание 2. Условие цикла</a:t>
            </a:r>
          </a:p>
        </p:txBody>
      </p:sp>
      <p:sp>
        <p:nvSpPr>
          <p:cNvPr id="9" name="task-2-code">
            <a:extLst>
              <a:ext uri="{FF2B5EF4-FFF2-40B4-BE49-F238E27FC236}">
                <a16:creationId xmlns:a16="http://schemas.microsoft.com/office/drawing/2014/main" id="{03F8EBB9-2E68-4565-9689-E854381A7EB7}"/>
              </a:ext>
            </a:extLst>
          </p:cNvPr>
          <p:cNvSpPr>
            <a:spLocks noGrp="1"/>
          </p:cNvSpPr>
          <p:nvPr/>
        </p:nvSpPr>
        <p:spPr>
          <a:xfrm>
            <a:off x="4419600" y="1571625"/>
            <a:ext cx="3352800" cy="3771900"/>
          </a:xfrm>
          <a:prstGeom prst="roundRect">
            <a:avLst>
              <a:gd name="adj" fmla="val 1989"/>
            </a:avLst>
          </a:prstGeom>
          <a:solidFill>
            <a:srgbClr val="FFFFFF"/>
          </a:solidFill>
          <a:ln w="9525">
            <a:solidFill>
              <a:srgbClr val="BFD2E5"/>
            </a:solidFill>
            <a:prstDash val="solid"/>
          </a:ln>
        </p:spPr>
        <p:txBody>
          <a:bodyPr lIns="85725" tIns="85725" rIns="85725" bIns="85725" anchor="t">
            <a:normAutofit/>
          </a:bodyPr>
          <a:lstStyle/>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a:t>
            </a:r>
            <a:r>
              <a:rPr sz="1400" b="0" dirty="0" err="1">
                <a:solidFill>
                  <a:srgbClr val="111827"/>
                </a:solidFill>
                <a:latin typeface="Times New Roman" panose="02020603050405020304" pitchFamily="18" charset="0"/>
                <a:ea typeface="Arial"/>
                <a:cs typeface="Times New Roman" panose="02020603050405020304" pitchFamily="18" charset="0"/>
              </a:rPr>
              <a:t>nums</a:t>
            </a:r>
            <a:r>
              <a:rPr sz="1400" b="0" dirty="0">
                <a:solidFill>
                  <a:srgbClr val="111827"/>
                </a:solidFill>
                <a:latin typeface="Times New Roman" panose="02020603050405020304" pitchFamily="18" charset="0"/>
                <a:ea typeface="Arial"/>
                <a:cs typeface="Times New Roman" panose="02020603050405020304" pitchFamily="18" charset="0"/>
              </a:rPr>
              <a:t> = [3, 6, 9];</a:t>
            </a:r>
          </a:p>
          <a:p>
            <a:endParaRPr sz="1400" b="0" dirty="0">
              <a:solidFill>
                <a:srgbClr val="111827"/>
              </a:solidFill>
              <a:latin typeface="Times New Roman" panose="02020603050405020304" pitchFamily="18" charset="0"/>
              <a:ea typeface="Arial"/>
              <a:cs typeface="Times New Roman" panose="02020603050405020304" pitchFamily="18" charset="0"/>
            </a:endParaRP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for (let </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 0;</a:t>
            </a:r>
            <a:r>
              <a:rPr lang="en-US" sz="1400" b="0" dirty="0">
                <a:solidFill>
                  <a:srgbClr val="111827"/>
                </a:solidFill>
                <a:latin typeface="Times New Roman" panose="02020603050405020304" pitchFamily="18" charset="0"/>
                <a:ea typeface="Arial"/>
                <a:cs typeface="Times New Roman" panose="02020603050405020304" pitchFamily="18" charset="0"/>
              </a:rPr>
              <a:t> </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&lt;= </a:t>
            </a:r>
            <a:r>
              <a:rPr sz="1400" b="0" dirty="0" err="1">
                <a:solidFill>
                  <a:srgbClr val="111827"/>
                </a:solidFill>
                <a:latin typeface="Times New Roman" panose="02020603050405020304" pitchFamily="18" charset="0"/>
                <a:ea typeface="Arial"/>
                <a:cs typeface="Times New Roman" panose="02020603050405020304" pitchFamily="18" charset="0"/>
              </a:rPr>
              <a:t>nums.length</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console.log(</a:t>
            </a:r>
            <a:r>
              <a:rPr sz="1400" b="0" dirty="0" err="1">
                <a:solidFill>
                  <a:srgbClr val="111827"/>
                </a:solidFill>
                <a:latin typeface="Times New Roman" panose="02020603050405020304" pitchFamily="18" charset="0"/>
                <a:ea typeface="Arial"/>
                <a:cs typeface="Times New Roman" panose="02020603050405020304" pitchFamily="18" charset="0"/>
              </a:rPr>
              <a:t>nums</a:t>
            </a:r>
            <a:r>
              <a:rPr sz="1400" b="0" dirty="0">
                <a:solidFill>
                  <a:srgbClr val="111827"/>
                </a:solidFill>
                <a:latin typeface="Times New Roman" panose="02020603050405020304" pitchFamily="18" charset="0"/>
                <a:ea typeface="Arial"/>
                <a:cs typeface="Times New Roman" panose="02020603050405020304" pitchFamily="18" charset="0"/>
              </a:rPr>
              <a:t>[</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a:t>
            </a:r>
          </a:p>
        </p:txBody>
      </p:sp>
      <p:sp>
        <p:nvSpPr>
          <p:cNvPr id="10" name="task-2-prompt">
            <a:extLst>
              <a:ext uri="{FF2B5EF4-FFF2-40B4-BE49-F238E27FC236}">
                <a16:creationId xmlns:a16="http://schemas.microsoft.com/office/drawing/2014/main" id="{14EA38D5-1F7D-4435-AA37-A065130E034A}"/>
              </a:ext>
            </a:extLst>
          </p:cNvPr>
          <p:cNvSpPr>
            <a:spLocks noGrp="1"/>
          </p:cNvSpPr>
          <p:nvPr/>
        </p:nvSpPr>
        <p:spPr>
          <a:xfrm>
            <a:off x="4419600" y="5343525"/>
            <a:ext cx="3352800" cy="495300"/>
          </a:xfrm>
          <a:prstGeom prst="rect">
            <a:avLst/>
          </a:prstGeom>
          <a:noFill/>
          <a:ln w="0">
            <a:noFill/>
          </a:ln>
        </p:spPr>
        <p:txBody>
          <a:bodyPr lIns="19050" tIns="19050" rIns="19050" bIns="19050" anchor="t">
            <a:noAutofit/>
          </a:bodyPr>
          <a:lstStyle/>
          <a:p>
            <a:pPr algn="l">
              <a:lnSpc>
                <a:spcPct val="104000"/>
              </a:lnSpc>
              <a:buNone/>
              <a:defRPr sz="1275" b="0">
                <a:solidFill>
                  <a:srgbClr val="334155"/>
                </a:solidFill>
                <a:latin typeface="Arial"/>
                <a:ea typeface="Arial"/>
                <a:cs typeface="Arial"/>
              </a:defRPr>
            </a:pPr>
            <a:r>
              <a:rPr sz="1400" b="0" dirty="0" err="1">
                <a:solidFill>
                  <a:srgbClr val="334155"/>
                </a:solidFill>
                <a:latin typeface="Times New Roman" panose="02020603050405020304" pitchFamily="18" charset="0"/>
                <a:ea typeface="Arial"/>
                <a:cs typeface="Times New Roman" panose="02020603050405020304" pitchFamily="18" charset="0"/>
              </a:rPr>
              <a:t>Сколько</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значений</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выведет</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цикл</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Исправьте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условие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так</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чтобы</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не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появлялся</a:t>
            </a:r>
            <a:r>
              <a:rPr sz="1400" b="0" dirty="0">
                <a:solidFill>
                  <a:srgbClr val="334155"/>
                </a:solidFill>
                <a:latin typeface="Times New Roman" panose="02020603050405020304" pitchFamily="18" charset="0"/>
                <a:ea typeface="Arial"/>
                <a:cs typeface="Times New Roman" panose="02020603050405020304" pitchFamily="18" charset="0"/>
              </a:rPr>
              <a:t> undefined.</a:t>
            </a:r>
          </a:p>
        </p:txBody>
      </p:sp>
      <p:sp>
        <p:nvSpPr>
          <p:cNvPr id="11" name="task-3-surface">
            <a:extLst>
              <a:ext uri="{FF2B5EF4-FFF2-40B4-BE49-F238E27FC236}">
                <a16:creationId xmlns:a16="http://schemas.microsoft.com/office/drawing/2014/main" id="{248E75BA-C47B-46B9-9F30-314B4076575C}"/>
              </a:ext>
            </a:extLst>
          </p:cNvPr>
          <p:cNvSpPr>
            <a:spLocks noGrp="1"/>
          </p:cNvSpPr>
          <p:nvPr/>
        </p:nvSpPr>
        <p:spPr>
          <a:xfrm>
            <a:off x="8172450" y="1104900"/>
            <a:ext cx="3619500" cy="4953000"/>
          </a:xfrm>
          <a:prstGeom prst="roundRect">
            <a:avLst>
              <a:gd name="adj" fmla="val 3684"/>
            </a:avLst>
          </a:prstGeom>
          <a:solidFill>
            <a:srgbClr val="CBE3FA"/>
          </a:solidFill>
          <a:ln w="9525">
            <a:solidFill>
              <a:srgbClr val="9BB8D3"/>
            </a:solidFill>
            <a:prstDash val="solid"/>
          </a:ln>
        </p:spPr>
      </p:sp>
      <p:sp>
        <p:nvSpPr>
          <p:cNvPr id="12" name="task-3-title">
            <a:extLst>
              <a:ext uri="{FF2B5EF4-FFF2-40B4-BE49-F238E27FC236}">
                <a16:creationId xmlns:a16="http://schemas.microsoft.com/office/drawing/2014/main" id="{C9786585-8406-4717-B30A-C009A3F0A41A}"/>
              </a:ext>
            </a:extLst>
          </p:cNvPr>
          <p:cNvSpPr>
            <a:spLocks noGrp="1"/>
          </p:cNvSpPr>
          <p:nvPr/>
        </p:nvSpPr>
        <p:spPr>
          <a:xfrm>
            <a:off x="8305800" y="1200150"/>
            <a:ext cx="3352800" cy="323850"/>
          </a:xfrm>
          <a:prstGeom prst="rect">
            <a:avLst/>
          </a:prstGeom>
          <a:noFill/>
          <a:ln w="0">
            <a:noFill/>
          </a:ln>
        </p:spPr>
        <p:txBody>
          <a:bodyPr lIns="19050" tIns="19050" rIns="19050" bIns="19050" anchor="t">
            <a:normAutofit/>
          </a:bodyPr>
          <a:lstStyle/>
          <a:p>
            <a:pPr algn="l">
              <a:lnSpc>
                <a:spcPct val="104000"/>
              </a:lnSpc>
              <a:buNone/>
              <a:defRPr sz="1575" b="1">
                <a:solidFill>
                  <a:srgbClr val="1F3A72"/>
                </a:solidFill>
                <a:latin typeface="Arial"/>
                <a:ea typeface="Arial"/>
                <a:cs typeface="Arial"/>
              </a:defRPr>
            </a:pPr>
            <a:r>
              <a:rPr sz="1575" b="1">
                <a:solidFill>
                  <a:srgbClr val="1F3A72"/>
                </a:solidFill>
                <a:latin typeface="Times New Roman" panose="02020603050405020304" pitchFamily="18" charset="0"/>
                <a:ea typeface="Arial"/>
                <a:cs typeface="Times New Roman" panose="02020603050405020304" pitchFamily="18" charset="0"/>
              </a:rPr>
              <a:t>Задание 3. Проверка indexOf()</a:t>
            </a:r>
          </a:p>
        </p:txBody>
      </p:sp>
      <p:sp>
        <p:nvSpPr>
          <p:cNvPr id="13" name="task-3-code">
            <a:extLst>
              <a:ext uri="{FF2B5EF4-FFF2-40B4-BE49-F238E27FC236}">
                <a16:creationId xmlns:a16="http://schemas.microsoft.com/office/drawing/2014/main" id="{8267D4E8-BEB4-4DE9-AF34-C9C29C747A2A}"/>
              </a:ext>
            </a:extLst>
          </p:cNvPr>
          <p:cNvSpPr>
            <a:spLocks noGrp="1"/>
          </p:cNvSpPr>
          <p:nvPr/>
        </p:nvSpPr>
        <p:spPr>
          <a:xfrm>
            <a:off x="8305800" y="1571625"/>
            <a:ext cx="3352800" cy="3771900"/>
          </a:xfrm>
          <a:prstGeom prst="roundRect">
            <a:avLst>
              <a:gd name="adj" fmla="val 1989"/>
            </a:avLst>
          </a:prstGeom>
          <a:solidFill>
            <a:srgbClr val="FFFFFF"/>
          </a:solidFill>
          <a:ln w="9525">
            <a:solidFill>
              <a:srgbClr val="BFD2E5"/>
            </a:solidFill>
            <a:prstDash val="solid"/>
          </a:ln>
        </p:spPr>
        <p:txBody>
          <a:bodyPr lIns="85725" tIns="85725" rIns="85725" bIns="85725" anchor="t">
            <a:normAutofit/>
          </a:bodyPr>
          <a:lstStyle/>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const users = [</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Анна</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Олег</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Ира</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a:t>
            </a:r>
          </a:p>
          <a:p>
            <a:endParaRPr sz="1400" b="0" dirty="0">
              <a:solidFill>
                <a:srgbClr val="111827"/>
              </a:solidFill>
              <a:latin typeface="Times New Roman" panose="02020603050405020304" pitchFamily="18" charset="0"/>
              <a:ea typeface="Arial"/>
              <a:cs typeface="Times New Roman" panose="02020603050405020304" pitchFamily="18" charset="0"/>
            </a:endParaRP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if (</a:t>
            </a:r>
            <a:r>
              <a:rPr sz="1400" b="0" dirty="0" err="1">
                <a:solidFill>
                  <a:srgbClr val="111827"/>
                </a:solidFill>
                <a:latin typeface="Times New Roman" panose="02020603050405020304" pitchFamily="18" charset="0"/>
                <a:ea typeface="Arial"/>
                <a:cs typeface="Times New Roman" panose="02020603050405020304" pitchFamily="18" charset="0"/>
              </a:rPr>
              <a:t>users.indexOf</a:t>
            </a:r>
            <a:r>
              <a:rPr sz="1400" b="0" dirty="0">
                <a:solidFill>
                  <a:srgbClr val="111827"/>
                </a:solidFill>
                <a:latin typeface="Times New Roman" panose="02020603050405020304" pitchFamily="18" charset="0"/>
                <a:ea typeface="Arial"/>
                <a:cs typeface="Times New Roman" panose="02020603050405020304" pitchFamily="18" charset="0"/>
              </a:rPr>
              <a:t>("</a:t>
            </a:r>
            <a:r>
              <a:rPr sz="1400" b="0" dirty="0" err="1">
                <a:solidFill>
                  <a:srgbClr val="111827"/>
                </a:solidFill>
                <a:latin typeface="Times New Roman" panose="02020603050405020304" pitchFamily="18" charset="0"/>
                <a:ea typeface="Arial"/>
                <a:cs typeface="Times New Roman" panose="02020603050405020304" pitchFamily="18" charset="0"/>
              </a:rPr>
              <a:t>Анна</a:t>
            </a:r>
            <a:r>
              <a:rPr sz="1400" b="0" dirty="0">
                <a:solidFill>
                  <a:srgbClr val="111827"/>
                </a:solidFill>
                <a:latin typeface="Times New Roman" panose="02020603050405020304" pitchFamily="18" charset="0"/>
                <a:ea typeface="Arial"/>
                <a:cs typeface="Times New Roman" panose="02020603050405020304" pitchFamily="18" charset="0"/>
              </a:rPr>
              <a:t>")) {</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console.log("</a:t>
            </a:r>
            <a:r>
              <a:rPr sz="1400" b="0" dirty="0" err="1">
                <a:solidFill>
                  <a:srgbClr val="111827"/>
                </a:solidFill>
                <a:latin typeface="Times New Roman" panose="02020603050405020304" pitchFamily="18" charset="0"/>
                <a:ea typeface="Arial"/>
                <a:cs typeface="Times New Roman" panose="02020603050405020304" pitchFamily="18" charset="0"/>
              </a:rPr>
              <a:t>Найдено</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else {</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console.log("</a:t>
            </a:r>
            <a:r>
              <a:rPr sz="1400" b="0" dirty="0" err="1">
                <a:solidFill>
                  <a:srgbClr val="111827"/>
                </a:solidFill>
                <a:latin typeface="Times New Roman" panose="02020603050405020304" pitchFamily="18" charset="0"/>
                <a:ea typeface="Arial"/>
                <a:cs typeface="Times New Roman" panose="02020603050405020304" pitchFamily="18" charset="0"/>
              </a:rPr>
              <a:t>Нет</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75"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a:t>
            </a:r>
          </a:p>
        </p:txBody>
      </p:sp>
      <p:sp>
        <p:nvSpPr>
          <p:cNvPr id="14" name="task-3-prompt">
            <a:extLst>
              <a:ext uri="{FF2B5EF4-FFF2-40B4-BE49-F238E27FC236}">
                <a16:creationId xmlns:a16="http://schemas.microsoft.com/office/drawing/2014/main" id="{9CBBBBC0-4CC5-45DC-87B1-49A2A2F1EF74}"/>
              </a:ext>
            </a:extLst>
          </p:cNvPr>
          <p:cNvSpPr>
            <a:spLocks noGrp="1"/>
          </p:cNvSpPr>
          <p:nvPr/>
        </p:nvSpPr>
        <p:spPr>
          <a:xfrm>
            <a:off x="8305800" y="5372902"/>
            <a:ext cx="3352800" cy="495300"/>
          </a:xfrm>
          <a:prstGeom prst="rect">
            <a:avLst/>
          </a:prstGeom>
          <a:noFill/>
          <a:ln w="0">
            <a:noFill/>
          </a:ln>
        </p:spPr>
        <p:txBody>
          <a:bodyPr lIns="19050" tIns="19050" rIns="19050" bIns="19050" anchor="t">
            <a:noAutofit/>
          </a:bodyPr>
          <a:lstStyle/>
          <a:p>
            <a:pPr algn="l">
              <a:lnSpc>
                <a:spcPct val="104000"/>
              </a:lnSpc>
              <a:buNone/>
              <a:defRPr sz="1275" b="0">
                <a:solidFill>
                  <a:srgbClr val="334155"/>
                </a:solidFill>
                <a:latin typeface="Arial"/>
                <a:ea typeface="Arial"/>
                <a:cs typeface="Arial"/>
              </a:defRPr>
            </a:pPr>
            <a:r>
              <a:rPr sz="1400" b="0" dirty="0" err="1">
                <a:solidFill>
                  <a:srgbClr val="334155"/>
                </a:solidFill>
                <a:latin typeface="Times New Roman" panose="02020603050405020304" pitchFamily="18" charset="0"/>
                <a:ea typeface="Arial"/>
                <a:cs typeface="Times New Roman" panose="02020603050405020304" pitchFamily="18" charset="0"/>
              </a:rPr>
              <a:t>Почему</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найденный</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элемент</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программа</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считает</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отсутствующим</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Предложите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два</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исправления</a:t>
            </a:r>
            <a:r>
              <a:rPr sz="1400" b="0" dirty="0">
                <a:solidFill>
                  <a:srgbClr val="334155"/>
                </a:solidFill>
                <a:latin typeface="Times New Roman" panose="02020603050405020304" pitchFamily="18" charset="0"/>
                <a:ea typeface="Arial"/>
                <a:cs typeface="Times New Roman" panose="02020603050405020304" pitchFamily="18" charset="0"/>
              </a:rPr>
              <a:t>.</a:t>
            </a:r>
          </a:p>
        </p:txBody>
      </p:sp>
    </p:spTree>
    <p:extLst>
      <p:ext uri="{BB962C8B-B14F-4D97-AF65-F5344CB8AC3E}">
        <p14:creationId xmlns:p14="http://schemas.microsoft.com/office/powerpoint/2010/main" val="720193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C55AD52C-378E-434E-9EF2-A07F014250EA}"/>
              </a:ext>
            </a:extLst>
          </p:cNvPr>
          <p:cNvSpPr>
            <a:spLocks noGrp="1"/>
          </p:cNvSpPr>
          <p:nvPr/>
        </p:nvSpPr>
        <p:spPr>
          <a:xfrm>
            <a:off x="342900" y="76200"/>
            <a:ext cx="11506200" cy="533400"/>
          </a:xfrm>
          <a:prstGeom prst="rect">
            <a:avLst/>
          </a:prstGeom>
          <a:noFill/>
          <a:ln w="0">
            <a:noFill/>
          </a:ln>
        </p:spPr>
        <p:txBody>
          <a:bodyPr lIns="57150" tIns="0" rIns="57150" bIns="0" anchor="t">
            <a:normAutofit/>
          </a:bodyPr>
          <a:lstStyle/>
          <a:p>
            <a:pPr algn="ctr">
              <a:lnSpc>
                <a:spcPct val="104000"/>
              </a:lnSpc>
              <a:buNone/>
              <a:defRPr sz="3000" b="0">
                <a:solidFill>
                  <a:srgbClr val="111827"/>
                </a:solidFill>
                <a:latin typeface="Arial"/>
                <a:ea typeface="Arial"/>
                <a:cs typeface="Arial"/>
              </a:defRPr>
            </a:pPr>
            <a:r>
              <a:rPr sz="3000" b="0">
                <a:solidFill>
                  <a:srgbClr val="111827"/>
                </a:solidFill>
                <a:latin typeface="Times New Roman" panose="02020603050405020304" pitchFamily="18" charset="0"/>
                <a:ea typeface="Arial"/>
                <a:cs typeface="Times New Roman" panose="02020603050405020304" pitchFamily="18" charset="0"/>
              </a:rPr>
              <a:t>Практикум: ошибки методов массивов</a:t>
            </a:r>
          </a:p>
        </p:txBody>
      </p:sp>
      <p:sp>
        <p:nvSpPr>
          <p:cNvPr id="2" name="slide-subtitle">
            <a:extLst>
              <a:ext uri="{FF2B5EF4-FFF2-40B4-BE49-F238E27FC236}">
                <a16:creationId xmlns:a16="http://schemas.microsoft.com/office/drawing/2014/main" id="{C5336860-7621-41EE-84CB-E2286AB7AF8B}"/>
              </a:ext>
            </a:extLst>
          </p:cNvPr>
          <p:cNvSpPr>
            <a:spLocks noGrp="1"/>
          </p:cNvSpPr>
          <p:nvPr/>
        </p:nvSpPr>
        <p:spPr>
          <a:xfrm>
            <a:off x="514350" y="609600"/>
            <a:ext cx="11163300" cy="381000"/>
          </a:xfrm>
          <a:prstGeom prst="rect">
            <a:avLst/>
          </a:prstGeom>
          <a:noFill/>
          <a:ln w="0">
            <a:noFill/>
          </a:ln>
        </p:spPr>
        <p:txBody>
          <a:bodyPr lIns="38100" tIns="0" rIns="38100" bIns="0" anchor="ctr">
            <a:normAutofit/>
          </a:bodyPr>
          <a:lstStyle/>
          <a:p>
            <a:pPr algn="ctr">
              <a:lnSpc>
                <a:spcPct val="104000"/>
              </a:lnSpc>
              <a:buNone/>
              <a:defRPr sz="1425" b="0">
                <a:solidFill>
                  <a:srgbClr val="334155"/>
                </a:solidFill>
                <a:latin typeface="Arial"/>
                <a:ea typeface="Arial"/>
                <a:cs typeface="Arial"/>
              </a:defRPr>
            </a:pPr>
            <a:r>
              <a:rPr sz="1425" b="0" dirty="0" err="1">
                <a:solidFill>
                  <a:srgbClr val="334155"/>
                </a:solidFill>
                <a:latin typeface="Times New Roman" panose="02020603050405020304" pitchFamily="18" charset="0"/>
                <a:ea typeface="Arial"/>
                <a:cs typeface="Times New Roman" panose="02020603050405020304" pitchFamily="18" charset="0"/>
              </a:rPr>
              <a:t>Найдите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причину</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неверного</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результата</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Сохраните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исходные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данные</a:t>
            </a:r>
            <a:r>
              <a:rPr sz="1425" b="0" dirty="0">
                <a:solidFill>
                  <a:srgbClr val="334155"/>
                </a:solidFill>
                <a:latin typeface="Times New Roman" panose="02020603050405020304" pitchFamily="18" charset="0"/>
                <a:ea typeface="Arial"/>
                <a:cs typeface="Times New Roman" panose="02020603050405020304" pitchFamily="18" charset="0"/>
              </a:rPr>
              <a:t> и </a:t>
            </a:r>
            <a:r>
              <a:rPr sz="1425" b="0" dirty="0" err="1">
                <a:solidFill>
                  <a:srgbClr val="334155"/>
                </a:solidFill>
                <a:latin typeface="Times New Roman" panose="02020603050405020304" pitchFamily="18" charset="0"/>
                <a:ea typeface="Arial"/>
                <a:cs typeface="Times New Roman" panose="02020603050405020304" pitchFamily="18" charset="0"/>
              </a:rPr>
              <a:t>исправьте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только</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проблемную</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часть</a:t>
            </a:r>
            <a:endParaRPr sz="1425" b="0" dirty="0">
              <a:solidFill>
                <a:srgbClr val="334155"/>
              </a:solidFill>
              <a:latin typeface="Times New Roman" panose="02020603050405020304" pitchFamily="18" charset="0"/>
              <a:ea typeface="Arial"/>
              <a:cs typeface="Times New Roman" panose="02020603050405020304" pitchFamily="18" charset="0"/>
            </a:endParaRPr>
          </a:p>
        </p:txBody>
      </p:sp>
      <p:sp>
        <p:nvSpPr>
          <p:cNvPr id="3" name="method-error-4-surface">
            <a:extLst>
              <a:ext uri="{FF2B5EF4-FFF2-40B4-BE49-F238E27FC236}">
                <a16:creationId xmlns:a16="http://schemas.microsoft.com/office/drawing/2014/main" id="{CA506B17-7291-4C7B-ABD7-7A8051721D25}"/>
              </a:ext>
            </a:extLst>
          </p:cNvPr>
          <p:cNvSpPr>
            <a:spLocks noGrp="1"/>
          </p:cNvSpPr>
          <p:nvPr/>
        </p:nvSpPr>
        <p:spPr>
          <a:xfrm>
            <a:off x="457200" y="1104900"/>
            <a:ext cx="11277600" cy="1504950"/>
          </a:xfrm>
          <a:prstGeom prst="roundRect">
            <a:avLst>
              <a:gd name="adj" fmla="val 7595"/>
            </a:avLst>
          </a:prstGeom>
          <a:solidFill>
            <a:srgbClr val="CBE3FA"/>
          </a:solidFill>
          <a:ln w="9525">
            <a:solidFill>
              <a:srgbClr val="9BB8D3"/>
            </a:solidFill>
            <a:prstDash val="solid"/>
          </a:ln>
        </p:spPr>
      </p:sp>
      <p:sp>
        <p:nvSpPr>
          <p:cNvPr id="4" name="method-error-4-title">
            <a:extLst>
              <a:ext uri="{FF2B5EF4-FFF2-40B4-BE49-F238E27FC236}">
                <a16:creationId xmlns:a16="http://schemas.microsoft.com/office/drawing/2014/main" id="{661B6DD9-E764-47E9-9362-40F53F7157CD}"/>
              </a:ext>
            </a:extLst>
          </p:cNvPr>
          <p:cNvSpPr>
            <a:spLocks noGrp="1"/>
          </p:cNvSpPr>
          <p:nvPr/>
        </p:nvSpPr>
        <p:spPr>
          <a:xfrm>
            <a:off x="628650" y="1200150"/>
            <a:ext cx="3190875" cy="381000"/>
          </a:xfrm>
          <a:prstGeom prst="rect">
            <a:avLst/>
          </a:prstGeom>
          <a:noFill/>
          <a:ln w="0">
            <a:noFill/>
          </a:ln>
        </p:spPr>
        <p:txBody>
          <a:bodyPr lIns="19050" tIns="19050" rIns="19050" bIns="19050" anchor="ctr">
            <a:normAutofit fontScale="89217" lnSpcReduction="20000"/>
          </a:bodyPr>
          <a:lstStyle/>
          <a:p>
            <a:pPr algn="l">
              <a:lnSpc>
                <a:spcPct val="104000"/>
              </a:lnSpc>
              <a:buNone/>
              <a:defRPr sz="1500" b="1">
                <a:solidFill>
                  <a:srgbClr val="1F3A72"/>
                </a:solidFill>
                <a:latin typeface="Arial"/>
                <a:ea typeface="Arial"/>
                <a:cs typeface="Arial"/>
              </a:defRPr>
            </a:pPr>
            <a:r>
              <a:rPr sz="1500" b="1" dirty="0" err="1">
                <a:solidFill>
                  <a:srgbClr val="1F3A72"/>
                </a:solidFill>
                <a:latin typeface="Times New Roman" panose="02020603050405020304" pitchFamily="18" charset="0"/>
                <a:ea typeface="Arial"/>
                <a:cs typeface="Times New Roman" panose="02020603050405020304" pitchFamily="18" charset="0"/>
              </a:rPr>
              <a:t>Задание</a:t>
            </a:r>
            <a:r>
              <a:rPr sz="1500" b="1" dirty="0">
                <a:solidFill>
                  <a:srgbClr val="1F3A72"/>
                </a:solidFill>
                <a:latin typeface="Times New Roman" panose="02020603050405020304" pitchFamily="18" charset="0"/>
                <a:ea typeface="Arial"/>
                <a:cs typeface="Times New Roman" panose="02020603050405020304" pitchFamily="18" charset="0"/>
              </a:rPr>
              <a:t> 4. </a:t>
            </a:r>
            <a:r>
              <a:rPr sz="1500" b="1" dirty="0" err="1">
                <a:solidFill>
                  <a:srgbClr val="1F3A72"/>
                </a:solidFill>
                <a:latin typeface="Times New Roman" panose="02020603050405020304" pitchFamily="18" charset="0"/>
                <a:ea typeface="Arial"/>
                <a:cs typeface="Times New Roman" panose="02020603050405020304" pitchFamily="18" charset="0"/>
              </a:rPr>
              <a:t>Результат</a:t>
            </a:r>
            <a:r>
              <a:rPr sz="1500" b="1" dirty="0">
                <a:solidFill>
                  <a:srgbClr val="1F3A72"/>
                </a:solidFill>
                <a:latin typeface="Times New Roman" panose="02020603050405020304" pitchFamily="18" charset="0"/>
                <a:ea typeface="Arial"/>
                <a:cs typeface="Times New Roman" panose="02020603050405020304" pitchFamily="18" charset="0"/>
              </a:rPr>
              <a:t> push() </a:t>
            </a:r>
            <a:r>
              <a:rPr sz="1500" b="1" dirty="0" err="1">
                <a:solidFill>
                  <a:srgbClr val="1F3A72"/>
                </a:solidFill>
                <a:latin typeface="Times New Roman" panose="02020603050405020304" pitchFamily="18" charset="0"/>
                <a:ea typeface="Arial"/>
                <a:cs typeface="Times New Roman" panose="02020603050405020304" pitchFamily="18" charset="0"/>
              </a:rPr>
              <a:t>вместо</a:t>
            </a:r>
            <a:r>
              <a:rPr sz="1500" b="1" dirty="0">
                <a:solidFill>
                  <a:srgbClr val="1F3A72"/>
                </a:solidFill>
                <a:latin typeface="Times New Roman" panose="02020603050405020304" pitchFamily="18" charset="0"/>
                <a:ea typeface="Arial"/>
                <a:cs typeface="Times New Roman" panose="02020603050405020304" pitchFamily="18" charset="0"/>
              </a:rPr>
              <a:t> </a:t>
            </a:r>
            <a:r>
              <a:rPr sz="1500" b="1" dirty="0" err="1">
                <a:solidFill>
                  <a:srgbClr val="1F3A72"/>
                </a:solidFill>
                <a:latin typeface="Times New Roman" panose="02020603050405020304" pitchFamily="18" charset="0"/>
                <a:ea typeface="Arial"/>
                <a:cs typeface="Times New Roman" panose="02020603050405020304" pitchFamily="18" charset="0"/>
              </a:rPr>
              <a:t>массива</a:t>
            </a:r>
            <a:endParaRPr sz="1500" b="1" dirty="0">
              <a:solidFill>
                <a:srgbClr val="1F3A72"/>
              </a:solidFill>
              <a:latin typeface="Times New Roman" panose="02020603050405020304" pitchFamily="18" charset="0"/>
              <a:ea typeface="Arial"/>
              <a:cs typeface="Times New Roman" panose="02020603050405020304" pitchFamily="18" charset="0"/>
            </a:endParaRPr>
          </a:p>
        </p:txBody>
      </p:sp>
      <p:sp>
        <p:nvSpPr>
          <p:cNvPr id="5" name="method-error-4-prompt">
            <a:extLst>
              <a:ext uri="{FF2B5EF4-FFF2-40B4-BE49-F238E27FC236}">
                <a16:creationId xmlns:a16="http://schemas.microsoft.com/office/drawing/2014/main" id="{4648D013-442D-4B56-B5CD-D935B9FFDBBF}"/>
              </a:ext>
            </a:extLst>
          </p:cNvPr>
          <p:cNvSpPr>
            <a:spLocks noGrp="1"/>
          </p:cNvSpPr>
          <p:nvPr/>
        </p:nvSpPr>
        <p:spPr>
          <a:xfrm>
            <a:off x="628650" y="1600200"/>
            <a:ext cx="3190875" cy="866775"/>
          </a:xfrm>
          <a:prstGeom prst="rect">
            <a:avLst/>
          </a:prstGeom>
          <a:noFill/>
          <a:ln w="0">
            <a:noFill/>
          </a:ln>
        </p:spPr>
        <p:txBody>
          <a:bodyPr lIns="38100" tIns="28575" rIns="38100" bIns="28575" anchor="t">
            <a:normAutofit/>
          </a:bodyPr>
          <a:lstStyle/>
          <a:p>
            <a:pPr algn="l">
              <a:lnSpc>
                <a:spcPct val="104000"/>
              </a:lnSpc>
              <a:buNone/>
              <a:defRPr sz="1313" b="0">
                <a:solidFill>
                  <a:srgbClr val="334155"/>
                </a:solidFill>
                <a:latin typeface="Arial"/>
                <a:ea typeface="Arial"/>
                <a:cs typeface="Arial"/>
              </a:defRPr>
            </a:pPr>
            <a:r>
              <a:rPr sz="1400" b="0" dirty="0" err="1">
                <a:solidFill>
                  <a:srgbClr val="334155"/>
                </a:solidFill>
                <a:latin typeface="Times New Roman" panose="02020603050405020304" pitchFamily="18" charset="0"/>
                <a:ea typeface="Arial"/>
                <a:cs typeface="Times New Roman" panose="02020603050405020304" pitchFamily="18" charset="0"/>
              </a:rPr>
              <a:t>Что</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теперь</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хранится</a:t>
            </a:r>
            <a:r>
              <a:rPr sz="1400" b="0" dirty="0">
                <a:solidFill>
                  <a:srgbClr val="334155"/>
                </a:solidFill>
                <a:latin typeface="Times New Roman" panose="02020603050405020304" pitchFamily="18" charset="0"/>
                <a:ea typeface="Arial"/>
                <a:cs typeface="Times New Roman" panose="02020603050405020304" pitchFamily="18" charset="0"/>
              </a:rPr>
              <a:t> в tasks? </a:t>
            </a:r>
            <a:r>
              <a:rPr sz="1400" b="0" dirty="0" err="1">
                <a:solidFill>
                  <a:srgbClr val="334155"/>
                </a:solidFill>
                <a:latin typeface="Times New Roman" panose="02020603050405020304" pitchFamily="18" charset="0"/>
                <a:ea typeface="Arial"/>
                <a:cs typeface="Times New Roman" panose="02020603050405020304" pitchFamily="18" charset="0"/>
              </a:rPr>
              <a:t>Как</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добавить</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элемент</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не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потеряв</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массив</a:t>
            </a:r>
            <a:r>
              <a:rPr sz="1400" b="0" dirty="0">
                <a:solidFill>
                  <a:srgbClr val="334155"/>
                </a:solidFill>
                <a:latin typeface="Times New Roman" panose="02020603050405020304" pitchFamily="18" charset="0"/>
                <a:ea typeface="Arial"/>
                <a:cs typeface="Times New Roman" panose="02020603050405020304" pitchFamily="18" charset="0"/>
              </a:rPr>
              <a:t>?</a:t>
            </a:r>
          </a:p>
        </p:txBody>
      </p:sp>
      <p:sp>
        <p:nvSpPr>
          <p:cNvPr id="6" name="method-error-4-code">
            <a:extLst>
              <a:ext uri="{FF2B5EF4-FFF2-40B4-BE49-F238E27FC236}">
                <a16:creationId xmlns:a16="http://schemas.microsoft.com/office/drawing/2014/main" id="{702102F9-3296-4818-9DF4-5FB01E056903}"/>
              </a:ext>
            </a:extLst>
          </p:cNvPr>
          <p:cNvSpPr>
            <a:spLocks noGrp="1"/>
          </p:cNvSpPr>
          <p:nvPr/>
        </p:nvSpPr>
        <p:spPr>
          <a:xfrm>
            <a:off x="4000500" y="1238250"/>
            <a:ext cx="7543800" cy="1238250"/>
          </a:xfrm>
          <a:prstGeom prst="roundRect">
            <a:avLst>
              <a:gd name="adj" fmla="val 5385"/>
            </a:avLst>
          </a:prstGeom>
          <a:solidFill>
            <a:srgbClr val="FFFFFF"/>
          </a:solidFill>
          <a:ln w="9525">
            <a:solidFill>
              <a:srgbClr val="BFD2E5"/>
            </a:solidFill>
            <a:prstDash val="solid"/>
          </a:ln>
        </p:spPr>
        <p:txBody>
          <a:bodyPr lIns="95250" tIns="76200" rIns="95250" bIns="76200" anchor="t">
            <a:normAutofit/>
          </a:bodyPr>
          <a:lstStyle/>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let tasks = ["</a:t>
            </a:r>
            <a:r>
              <a:rPr sz="1400" b="0" dirty="0" err="1">
                <a:solidFill>
                  <a:srgbClr val="111827"/>
                </a:solidFill>
                <a:latin typeface="Times New Roman" panose="02020603050405020304" pitchFamily="18" charset="0"/>
                <a:ea typeface="Arial"/>
                <a:cs typeface="Times New Roman" panose="02020603050405020304" pitchFamily="18" charset="0"/>
              </a:rPr>
              <a:t>Фото</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Отчёт</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tasks = </a:t>
            </a:r>
            <a:r>
              <a:rPr sz="1400" b="0" dirty="0" err="1">
                <a:solidFill>
                  <a:srgbClr val="111827"/>
                </a:solidFill>
                <a:latin typeface="Times New Roman" panose="02020603050405020304" pitchFamily="18" charset="0"/>
                <a:ea typeface="Arial"/>
                <a:cs typeface="Times New Roman" panose="02020603050405020304" pitchFamily="18" charset="0"/>
              </a:rPr>
              <a:t>tasks.push</a:t>
            </a:r>
            <a:r>
              <a:rPr sz="1400" b="0" dirty="0">
                <a:solidFill>
                  <a:srgbClr val="111827"/>
                </a:solidFill>
                <a:latin typeface="Times New Roman" panose="02020603050405020304" pitchFamily="18" charset="0"/>
                <a:ea typeface="Arial"/>
                <a:cs typeface="Times New Roman" panose="02020603050405020304" pitchFamily="18" charset="0"/>
              </a:rPr>
              <a:t>("</a:t>
            </a:r>
            <a:r>
              <a:rPr sz="1400" b="0" dirty="0" err="1">
                <a:solidFill>
                  <a:srgbClr val="111827"/>
                </a:solidFill>
                <a:latin typeface="Times New Roman" panose="02020603050405020304" pitchFamily="18" charset="0"/>
                <a:ea typeface="Arial"/>
                <a:cs typeface="Times New Roman" panose="02020603050405020304" pitchFamily="18" charset="0"/>
              </a:rPr>
              <a:t>Звонок</a:t>
            </a: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console.log(tasks[0]);</a:t>
            </a:r>
          </a:p>
        </p:txBody>
      </p:sp>
      <p:sp>
        <p:nvSpPr>
          <p:cNvPr id="7" name="method-error-5-surface">
            <a:extLst>
              <a:ext uri="{FF2B5EF4-FFF2-40B4-BE49-F238E27FC236}">
                <a16:creationId xmlns:a16="http://schemas.microsoft.com/office/drawing/2014/main" id="{EDC3355B-E8F1-4ABB-B623-A6B69A187D6A}"/>
              </a:ext>
            </a:extLst>
          </p:cNvPr>
          <p:cNvSpPr>
            <a:spLocks noGrp="1"/>
          </p:cNvSpPr>
          <p:nvPr/>
        </p:nvSpPr>
        <p:spPr>
          <a:xfrm>
            <a:off x="457200" y="2800350"/>
            <a:ext cx="11277600" cy="1504950"/>
          </a:xfrm>
          <a:prstGeom prst="roundRect">
            <a:avLst>
              <a:gd name="adj" fmla="val 7595"/>
            </a:avLst>
          </a:prstGeom>
          <a:solidFill>
            <a:srgbClr val="EAF4FD"/>
          </a:solidFill>
          <a:ln w="9525">
            <a:solidFill>
              <a:srgbClr val="9BB8D3"/>
            </a:solidFill>
            <a:prstDash val="solid"/>
          </a:ln>
        </p:spPr>
      </p:sp>
      <p:sp>
        <p:nvSpPr>
          <p:cNvPr id="8" name="method-error-5-title">
            <a:extLst>
              <a:ext uri="{FF2B5EF4-FFF2-40B4-BE49-F238E27FC236}">
                <a16:creationId xmlns:a16="http://schemas.microsoft.com/office/drawing/2014/main" id="{B9410306-7F0F-44A5-ACEE-5AE06F1046A9}"/>
              </a:ext>
            </a:extLst>
          </p:cNvPr>
          <p:cNvSpPr>
            <a:spLocks noGrp="1"/>
          </p:cNvSpPr>
          <p:nvPr/>
        </p:nvSpPr>
        <p:spPr>
          <a:xfrm>
            <a:off x="628650" y="2895600"/>
            <a:ext cx="3190875" cy="381000"/>
          </a:xfrm>
          <a:prstGeom prst="rect">
            <a:avLst/>
          </a:prstGeom>
          <a:noFill/>
          <a:ln w="0">
            <a:noFill/>
          </a:ln>
        </p:spPr>
        <p:txBody>
          <a:bodyPr lIns="19050" tIns="19050" rIns="19050" bIns="19050" anchor="ctr">
            <a:normAutofit/>
          </a:bodyPr>
          <a:lstStyle/>
          <a:p>
            <a:pPr algn="l">
              <a:lnSpc>
                <a:spcPct val="104000"/>
              </a:lnSpc>
              <a:buNone/>
              <a:defRPr sz="1500" b="1">
                <a:solidFill>
                  <a:srgbClr val="1F3A72"/>
                </a:solidFill>
                <a:latin typeface="Arial"/>
                <a:ea typeface="Arial"/>
                <a:cs typeface="Arial"/>
              </a:defRPr>
            </a:pPr>
            <a:r>
              <a:rPr sz="1500" b="1">
                <a:solidFill>
                  <a:srgbClr val="1F3A72"/>
                </a:solidFill>
                <a:latin typeface="Times New Roman" panose="02020603050405020304" pitchFamily="18" charset="0"/>
                <a:ea typeface="Arial"/>
                <a:cs typeface="Times New Roman" panose="02020603050405020304" pitchFamily="18" charset="0"/>
              </a:rPr>
              <a:t>Задание 5. Нет return в map()</a:t>
            </a:r>
          </a:p>
        </p:txBody>
      </p:sp>
      <p:sp>
        <p:nvSpPr>
          <p:cNvPr id="9" name="method-error-5-prompt">
            <a:extLst>
              <a:ext uri="{FF2B5EF4-FFF2-40B4-BE49-F238E27FC236}">
                <a16:creationId xmlns:a16="http://schemas.microsoft.com/office/drawing/2014/main" id="{249892D2-5A36-453D-8134-DDE64858DD4B}"/>
              </a:ext>
            </a:extLst>
          </p:cNvPr>
          <p:cNvSpPr>
            <a:spLocks noGrp="1"/>
          </p:cNvSpPr>
          <p:nvPr/>
        </p:nvSpPr>
        <p:spPr>
          <a:xfrm>
            <a:off x="628650" y="3295650"/>
            <a:ext cx="3190875" cy="866775"/>
          </a:xfrm>
          <a:prstGeom prst="rect">
            <a:avLst/>
          </a:prstGeom>
          <a:noFill/>
          <a:ln w="0">
            <a:noFill/>
          </a:ln>
        </p:spPr>
        <p:txBody>
          <a:bodyPr lIns="38100" tIns="28575" rIns="38100" bIns="28575" anchor="t">
            <a:normAutofit/>
          </a:bodyPr>
          <a:lstStyle/>
          <a:p>
            <a:pPr algn="l">
              <a:lnSpc>
                <a:spcPct val="104000"/>
              </a:lnSpc>
              <a:buNone/>
              <a:defRPr sz="1313" b="0">
                <a:solidFill>
                  <a:srgbClr val="334155"/>
                </a:solidFill>
                <a:latin typeface="Arial"/>
                <a:ea typeface="Arial"/>
                <a:cs typeface="Arial"/>
              </a:defRPr>
            </a:pPr>
            <a:r>
              <a:rPr sz="1400" b="0" dirty="0" err="1">
                <a:solidFill>
                  <a:srgbClr val="334155"/>
                </a:solidFill>
                <a:latin typeface="Times New Roman" panose="02020603050405020304" pitchFamily="18" charset="0"/>
                <a:ea typeface="Arial"/>
                <a:cs typeface="Times New Roman" panose="02020603050405020304" pitchFamily="18" charset="0"/>
              </a:rPr>
              <a:t>Почему</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новый</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массив</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заполнен</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значениями</a:t>
            </a:r>
            <a:r>
              <a:rPr sz="1400" b="0" dirty="0">
                <a:solidFill>
                  <a:srgbClr val="334155"/>
                </a:solidFill>
                <a:latin typeface="Times New Roman" panose="02020603050405020304" pitchFamily="18" charset="0"/>
                <a:ea typeface="Arial"/>
                <a:cs typeface="Times New Roman" panose="02020603050405020304" pitchFamily="18" charset="0"/>
              </a:rPr>
              <a:t> undefined? </a:t>
            </a:r>
            <a:r>
              <a:rPr sz="1400" b="0" dirty="0" err="1">
                <a:solidFill>
                  <a:srgbClr val="334155"/>
                </a:solidFill>
                <a:latin typeface="Times New Roman" panose="02020603050405020304" pitchFamily="18" charset="0"/>
                <a:ea typeface="Arial"/>
                <a:cs typeface="Times New Roman" panose="02020603050405020304" pitchFamily="18" charset="0"/>
              </a:rPr>
              <a:t>Исправьте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двумя</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способами</a:t>
            </a:r>
            <a:r>
              <a:rPr sz="1400" b="0" dirty="0">
                <a:solidFill>
                  <a:srgbClr val="334155"/>
                </a:solidFill>
                <a:latin typeface="Times New Roman" panose="02020603050405020304" pitchFamily="18" charset="0"/>
                <a:ea typeface="Arial"/>
                <a:cs typeface="Times New Roman" panose="02020603050405020304" pitchFamily="18" charset="0"/>
              </a:rPr>
              <a:t>.</a:t>
            </a:r>
          </a:p>
        </p:txBody>
      </p:sp>
      <p:sp>
        <p:nvSpPr>
          <p:cNvPr id="10" name="method-error-5-code">
            <a:extLst>
              <a:ext uri="{FF2B5EF4-FFF2-40B4-BE49-F238E27FC236}">
                <a16:creationId xmlns:a16="http://schemas.microsoft.com/office/drawing/2014/main" id="{B36FA8A6-8163-4D90-AD29-1F1CD7151B85}"/>
              </a:ext>
            </a:extLst>
          </p:cNvPr>
          <p:cNvSpPr>
            <a:spLocks noGrp="1"/>
          </p:cNvSpPr>
          <p:nvPr/>
        </p:nvSpPr>
        <p:spPr>
          <a:xfrm>
            <a:off x="4000500" y="2933700"/>
            <a:ext cx="7543800" cy="1238250"/>
          </a:xfrm>
          <a:prstGeom prst="roundRect">
            <a:avLst>
              <a:gd name="adj" fmla="val 5385"/>
            </a:avLst>
          </a:prstGeom>
          <a:solidFill>
            <a:srgbClr val="FFFFFF"/>
          </a:solidFill>
          <a:ln w="9525">
            <a:solidFill>
              <a:srgbClr val="BFD2E5"/>
            </a:solidFill>
            <a:prstDash val="solid"/>
          </a:ln>
        </p:spPr>
        <p:txBody>
          <a:bodyPr lIns="95250" tIns="76200" rIns="95250" bIns="76200" anchor="t">
            <a:noAutofit/>
          </a:bodyPr>
          <a:lstStyle/>
          <a:p>
            <a:pPr algn="l">
              <a:lnSpc>
                <a:spcPct val="104000"/>
              </a:lnSpc>
              <a:buNone/>
              <a:defRPr sz="1238" b="0">
                <a:solidFill>
                  <a:srgbClr val="111827"/>
                </a:solidFill>
                <a:latin typeface="Arial"/>
                <a:ea typeface="Arial"/>
                <a:cs typeface="Arial"/>
              </a:defRPr>
            </a:pPr>
            <a:r>
              <a:rPr sz="1400" b="0">
                <a:solidFill>
                  <a:srgbClr val="111827"/>
                </a:solidFill>
                <a:latin typeface="Times New Roman" panose="02020603050405020304" pitchFamily="18" charset="0"/>
                <a:ea typeface="Arial"/>
                <a:cs typeface="Times New Roman" panose="02020603050405020304" pitchFamily="18" charset="0"/>
              </a:rPr>
              <a:t>const prices = [100, 250, 80];</a:t>
            </a:r>
          </a:p>
          <a:p>
            <a:pPr algn="l">
              <a:lnSpc>
                <a:spcPct val="104000"/>
              </a:lnSpc>
              <a:buNone/>
              <a:defRPr sz="1238" b="0">
                <a:solidFill>
                  <a:srgbClr val="111827"/>
                </a:solidFill>
                <a:latin typeface="Arial"/>
                <a:ea typeface="Arial"/>
                <a:cs typeface="Arial"/>
              </a:defRPr>
            </a:pPr>
            <a:r>
              <a:rPr sz="1400" b="0">
                <a:solidFill>
                  <a:srgbClr val="111827"/>
                </a:solidFill>
                <a:latin typeface="Times New Roman" panose="02020603050405020304" pitchFamily="18" charset="0"/>
                <a:ea typeface="Arial"/>
                <a:cs typeface="Times New Roman" panose="02020603050405020304" pitchFamily="18" charset="0"/>
              </a:rPr>
              <a:t>const sale = prices.map(price =&gt; {</a:t>
            </a:r>
          </a:p>
          <a:p>
            <a:pPr algn="l">
              <a:lnSpc>
                <a:spcPct val="104000"/>
              </a:lnSpc>
              <a:buNone/>
              <a:defRPr sz="1238" b="0">
                <a:solidFill>
                  <a:srgbClr val="111827"/>
                </a:solidFill>
                <a:latin typeface="Arial"/>
                <a:ea typeface="Arial"/>
                <a:cs typeface="Arial"/>
              </a:defRPr>
            </a:pPr>
            <a:r>
              <a:rPr sz="1400" b="0">
                <a:solidFill>
                  <a:srgbClr val="111827"/>
                </a:solidFill>
                <a:latin typeface="Times New Roman" panose="02020603050405020304" pitchFamily="18" charset="0"/>
                <a:ea typeface="Arial"/>
                <a:cs typeface="Times New Roman" panose="02020603050405020304" pitchFamily="18" charset="0"/>
              </a:rPr>
              <a:t>  price * 0.9;</a:t>
            </a:r>
          </a:p>
          <a:p>
            <a:pPr algn="l">
              <a:lnSpc>
                <a:spcPct val="104000"/>
              </a:lnSpc>
              <a:buNone/>
              <a:defRPr sz="1238" b="0">
                <a:solidFill>
                  <a:srgbClr val="111827"/>
                </a:solidFill>
                <a:latin typeface="Arial"/>
                <a:ea typeface="Arial"/>
                <a:cs typeface="Arial"/>
              </a:defRPr>
            </a:pPr>
            <a:r>
              <a:rPr sz="1400" b="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38" b="0">
                <a:solidFill>
                  <a:srgbClr val="111827"/>
                </a:solidFill>
                <a:latin typeface="Arial"/>
                <a:ea typeface="Arial"/>
                <a:cs typeface="Arial"/>
              </a:defRPr>
            </a:pPr>
            <a:r>
              <a:rPr sz="1400" b="0">
                <a:solidFill>
                  <a:srgbClr val="111827"/>
                </a:solidFill>
                <a:latin typeface="Times New Roman" panose="02020603050405020304" pitchFamily="18" charset="0"/>
                <a:ea typeface="Arial"/>
                <a:cs typeface="Times New Roman" panose="02020603050405020304" pitchFamily="18" charset="0"/>
              </a:rPr>
              <a:t>console.log(sale);</a:t>
            </a:r>
          </a:p>
        </p:txBody>
      </p:sp>
      <p:sp>
        <p:nvSpPr>
          <p:cNvPr id="11" name="method-error-6-surface">
            <a:extLst>
              <a:ext uri="{FF2B5EF4-FFF2-40B4-BE49-F238E27FC236}">
                <a16:creationId xmlns:a16="http://schemas.microsoft.com/office/drawing/2014/main" id="{DD28CD3E-87FB-42F3-B501-F279E0F66E4C}"/>
              </a:ext>
            </a:extLst>
          </p:cNvPr>
          <p:cNvSpPr>
            <a:spLocks noGrp="1"/>
          </p:cNvSpPr>
          <p:nvPr/>
        </p:nvSpPr>
        <p:spPr>
          <a:xfrm>
            <a:off x="457200" y="4495800"/>
            <a:ext cx="11277600" cy="1504950"/>
          </a:xfrm>
          <a:prstGeom prst="roundRect">
            <a:avLst>
              <a:gd name="adj" fmla="val 7595"/>
            </a:avLst>
          </a:prstGeom>
          <a:solidFill>
            <a:srgbClr val="CBE3FA"/>
          </a:solidFill>
          <a:ln w="9525">
            <a:solidFill>
              <a:srgbClr val="9BB8D3"/>
            </a:solidFill>
            <a:prstDash val="solid"/>
          </a:ln>
        </p:spPr>
      </p:sp>
      <p:sp>
        <p:nvSpPr>
          <p:cNvPr id="12" name="method-error-6-title">
            <a:extLst>
              <a:ext uri="{FF2B5EF4-FFF2-40B4-BE49-F238E27FC236}">
                <a16:creationId xmlns:a16="http://schemas.microsoft.com/office/drawing/2014/main" id="{CC180AC8-5C18-466A-9265-CB0B194EF846}"/>
              </a:ext>
            </a:extLst>
          </p:cNvPr>
          <p:cNvSpPr>
            <a:spLocks noGrp="1"/>
          </p:cNvSpPr>
          <p:nvPr/>
        </p:nvSpPr>
        <p:spPr>
          <a:xfrm>
            <a:off x="628650" y="4591050"/>
            <a:ext cx="3190875" cy="381000"/>
          </a:xfrm>
          <a:prstGeom prst="rect">
            <a:avLst/>
          </a:prstGeom>
          <a:noFill/>
          <a:ln w="0">
            <a:noFill/>
          </a:ln>
        </p:spPr>
        <p:txBody>
          <a:bodyPr lIns="19050" tIns="19050" rIns="19050" bIns="19050" anchor="ctr">
            <a:normAutofit fontScale="89527"/>
          </a:bodyPr>
          <a:lstStyle/>
          <a:p>
            <a:pPr algn="l">
              <a:lnSpc>
                <a:spcPct val="104000"/>
              </a:lnSpc>
              <a:buNone/>
              <a:defRPr sz="1500" b="1">
                <a:solidFill>
                  <a:srgbClr val="1F3A72"/>
                </a:solidFill>
                <a:latin typeface="Arial"/>
                <a:ea typeface="Arial"/>
                <a:cs typeface="Arial"/>
              </a:defRPr>
            </a:pPr>
            <a:r>
              <a:rPr sz="1500" b="1">
                <a:solidFill>
                  <a:srgbClr val="1F3A72"/>
                </a:solidFill>
                <a:latin typeface="Times New Roman" panose="02020603050405020304" pitchFamily="18" charset="0"/>
                <a:ea typeface="Arial"/>
                <a:cs typeface="Times New Roman" panose="02020603050405020304" pitchFamily="18" charset="0"/>
              </a:rPr>
              <a:t>Задание 6. Удаление во время перебора</a:t>
            </a:r>
          </a:p>
        </p:txBody>
      </p:sp>
      <p:sp>
        <p:nvSpPr>
          <p:cNvPr id="13" name="method-error-6-prompt">
            <a:extLst>
              <a:ext uri="{FF2B5EF4-FFF2-40B4-BE49-F238E27FC236}">
                <a16:creationId xmlns:a16="http://schemas.microsoft.com/office/drawing/2014/main" id="{C9F3CAA0-8F6D-4ADD-9245-302836D10E85}"/>
              </a:ext>
            </a:extLst>
          </p:cNvPr>
          <p:cNvSpPr>
            <a:spLocks noGrp="1"/>
          </p:cNvSpPr>
          <p:nvPr/>
        </p:nvSpPr>
        <p:spPr>
          <a:xfrm>
            <a:off x="628650" y="4991100"/>
            <a:ext cx="3190875" cy="866775"/>
          </a:xfrm>
          <a:prstGeom prst="rect">
            <a:avLst/>
          </a:prstGeom>
          <a:noFill/>
          <a:ln w="0">
            <a:noFill/>
          </a:ln>
        </p:spPr>
        <p:txBody>
          <a:bodyPr lIns="38100" tIns="28575" rIns="38100" bIns="28575" anchor="t">
            <a:normAutofit/>
          </a:bodyPr>
          <a:lstStyle/>
          <a:p>
            <a:pPr algn="l">
              <a:lnSpc>
                <a:spcPct val="104000"/>
              </a:lnSpc>
              <a:buNone/>
              <a:defRPr sz="1313" b="0">
                <a:solidFill>
                  <a:srgbClr val="334155"/>
                </a:solidFill>
                <a:latin typeface="Arial"/>
                <a:ea typeface="Arial"/>
                <a:cs typeface="Arial"/>
              </a:defRPr>
            </a:pPr>
            <a:r>
              <a:rPr sz="1400" b="0" dirty="0" err="1">
                <a:solidFill>
                  <a:srgbClr val="334155"/>
                </a:solidFill>
                <a:latin typeface="Times New Roman" panose="02020603050405020304" pitchFamily="18" charset="0"/>
                <a:ea typeface="Arial"/>
                <a:cs typeface="Times New Roman" panose="02020603050405020304" pitchFamily="18" charset="0"/>
              </a:rPr>
              <a:t>Какие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чётные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числа</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останутся</a:t>
            </a:r>
            <a:r>
              <a:rPr sz="1400" b="0" dirty="0">
                <a:solidFill>
                  <a:srgbClr val="334155"/>
                </a:solidFill>
                <a:latin typeface="Times New Roman" panose="02020603050405020304" pitchFamily="18" charset="0"/>
                <a:ea typeface="Arial"/>
                <a:cs typeface="Times New Roman" panose="02020603050405020304" pitchFamily="18" charset="0"/>
              </a:rPr>
              <a:t> и </a:t>
            </a:r>
            <a:r>
              <a:rPr sz="1400" b="0" dirty="0" err="1">
                <a:solidFill>
                  <a:srgbClr val="334155"/>
                </a:solidFill>
                <a:latin typeface="Times New Roman" panose="02020603050405020304" pitchFamily="18" charset="0"/>
                <a:ea typeface="Arial"/>
                <a:cs typeface="Times New Roman" panose="02020603050405020304" pitchFamily="18" charset="0"/>
              </a:rPr>
              <a:t>почему</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Перепишите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решение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без</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пропуска</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элементов</a:t>
            </a:r>
            <a:r>
              <a:rPr sz="1400" b="0" dirty="0">
                <a:solidFill>
                  <a:srgbClr val="334155"/>
                </a:solidFill>
                <a:latin typeface="Times New Roman" panose="02020603050405020304" pitchFamily="18" charset="0"/>
                <a:ea typeface="Arial"/>
                <a:cs typeface="Times New Roman" panose="02020603050405020304" pitchFamily="18" charset="0"/>
              </a:rPr>
              <a:t>.</a:t>
            </a:r>
          </a:p>
        </p:txBody>
      </p:sp>
      <p:sp>
        <p:nvSpPr>
          <p:cNvPr id="14" name="method-error-6-code">
            <a:extLst>
              <a:ext uri="{FF2B5EF4-FFF2-40B4-BE49-F238E27FC236}">
                <a16:creationId xmlns:a16="http://schemas.microsoft.com/office/drawing/2014/main" id="{845FE8A1-7A67-4052-B7BD-6F142FE74BBC}"/>
              </a:ext>
            </a:extLst>
          </p:cNvPr>
          <p:cNvSpPr>
            <a:spLocks noGrp="1"/>
          </p:cNvSpPr>
          <p:nvPr/>
        </p:nvSpPr>
        <p:spPr>
          <a:xfrm>
            <a:off x="4000500" y="4629150"/>
            <a:ext cx="7543800" cy="1238250"/>
          </a:xfrm>
          <a:prstGeom prst="roundRect">
            <a:avLst>
              <a:gd name="adj" fmla="val 5385"/>
            </a:avLst>
          </a:prstGeom>
          <a:solidFill>
            <a:srgbClr val="FFFFFF"/>
          </a:solidFill>
          <a:ln w="9525">
            <a:solidFill>
              <a:srgbClr val="BFD2E5"/>
            </a:solidFill>
            <a:prstDash val="solid"/>
          </a:ln>
        </p:spPr>
        <p:txBody>
          <a:bodyPr lIns="95250" tIns="76200" rIns="95250" bIns="76200" anchor="t">
            <a:normAutofit lnSpcReduction="10000"/>
          </a:bodyPr>
          <a:lstStyle/>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let </a:t>
            </a:r>
            <a:r>
              <a:rPr sz="1400" b="0" dirty="0" err="1">
                <a:solidFill>
                  <a:srgbClr val="111827"/>
                </a:solidFill>
                <a:latin typeface="Times New Roman" panose="02020603050405020304" pitchFamily="18" charset="0"/>
                <a:ea typeface="Arial"/>
                <a:cs typeface="Times New Roman" panose="02020603050405020304" pitchFamily="18" charset="0"/>
              </a:rPr>
              <a:t>nums</a:t>
            </a:r>
            <a:r>
              <a:rPr sz="1400" b="0" dirty="0">
                <a:solidFill>
                  <a:srgbClr val="111827"/>
                </a:solidFill>
                <a:latin typeface="Times New Roman" panose="02020603050405020304" pitchFamily="18" charset="0"/>
                <a:ea typeface="Arial"/>
                <a:cs typeface="Times New Roman" panose="02020603050405020304" pitchFamily="18" charset="0"/>
              </a:rPr>
              <a:t> = [2, 4, 6, 7, 8];</a:t>
            </a:r>
          </a:p>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for (let </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 0; </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&lt; </a:t>
            </a:r>
            <a:r>
              <a:rPr sz="1400" b="0" dirty="0" err="1">
                <a:solidFill>
                  <a:srgbClr val="111827"/>
                </a:solidFill>
                <a:latin typeface="Times New Roman" panose="02020603050405020304" pitchFamily="18" charset="0"/>
                <a:ea typeface="Arial"/>
                <a:cs typeface="Times New Roman" panose="02020603050405020304" pitchFamily="18" charset="0"/>
              </a:rPr>
              <a:t>nums.length</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a:t>
            </a:r>
          </a:p>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  if (</a:t>
            </a:r>
            <a:r>
              <a:rPr sz="1400" b="0" dirty="0" err="1">
                <a:solidFill>
                  <a:srgbClr val="111827"/>
                </a:solidFill>
                <a:latin typeface="Times New Roman" panose="02020603050405020304" pitchFamily="18" charset="0"/>
                <a:ea typeface="Arial"/>
                <a:cs typeface="Times New Roman" panose="02020603050405020304" pitchFamily="18" charset="0"/>
              </a:rPr>
              <a:t>nums</a:t>
            </a:r>
            <a:r>
              <a:rPr sz="1400" b="0" dirty="0">
                <a:solidFill>
                  <a:srgbClr val="111827"/>
                </a:solidFill>
                <a:latin typeface="Times New Roman" panose="02020603050405020304" pitchFamily="18" charset="0"/>
                <a:ea typeface="Arial"/>
                <a:cs typeface="Times New Roman" panose="02020603050405020304" pitchFamily="18" charset="0"/>
              </a:rPr>
              <a:t>[</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 2 === 0) </a:t>
            </a:r>
            <a:r>
              <a:rPr sz="1400" b="0" dirty="0" err="1">
                <a:solidFill>
                  <a:srgbClr val="111827"/>
                </a:solidFill>
                <a:latin typeface="Times New Roman" panose="02020603050405020304" pitchFamily="18" charset="0"/>
                <a:ea typeface="Arial"/>
                <a:cs typeface="Times New Roman" panose="02020603050405020304" pitchFamily="18" charset="0"/>
              </a:rPr>
              <a:t>nums.splice</a:t>
            </a:r>
            <a:r>
              <a:rPr sz="1400" b="0" dirty="0">
                <a:solidFill>
                  <a:srgbClr val="111827"/>
                </a:solidFill>
                <a:latin typeface="Times New Roman" panose="02020603050405020304" pitchFamily="18" charset="0"/>
                <a:ea typeface="Arial"/>
                <a:cs typeface="Times New Roman" panose="02020603050405020304" pitchFamily="18" charset="0"/>
              </a:rPr>
              <a:t>(</a:t>
            </a:r>
            <a:r>
              <a:rPr sz="1400" b="0" dirty="0" err="1">
                <a:solidFill>
                  <a:srgbClr val="111827"/>
                </a:solidFill>
                <a:latin typeface="Times New Roman" panose="02020603050405020304" pitchFamily="18" charset="0"/>
                <a:ea typeface="Arial"/>
                <a:cs typeface="Times New Roman" panose="02020603050405020304" pitchFamily="18" charset="0"/>
              </a:rPr>
              <a:t>i</a:t>
            </a:r>
            <a:r>
              <a:rPr sz="1400" b="0" dirty="0">
                <a:solidFill>
                  <a:srgbClr val="111827"/>
                </a:solidFill>
                <a:latin typeface="Times New Roman" panose="02020603050405020304" pitchFamily="18" charset="0"/>
                <a:ea typeface="Arial"/>
                <a:cs typeface="Times New Roman" panose="02020603050405020304" pitchFamily="18" charset="0"/>
              </a:rPr>
              <a:t>, 1);</a:t>
            </a:r>
          </a:p>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a:t>
            </a:r>
          </a:p>
          <a:p>
            <a:pPr algn="l">
              <a:lnSpc>
                <a:spcPct val="104000"/>
              </a:lnSpc>
              <a:buNone/>
              <a:defRPr sz="1238" b="0">
                <a:solidFill>
                  <a:srgbClr val="111827"/>
                </a:solidFill>
                <a:latin typeface="Arial"/>
                <a:ea typeface="Arial"/>
                <a:cs typeface="Arial"/>
              </a:defRPr>
            </a:pPr>
            <a:r>
              <a:rPr sz="1400" b="0" dirty="0">
                <a:solidFill>
                  <a:srgbClr val="111827"/>
                </a:solidFill>
                <a:latin typeface="Times New Roman" panose="02020603050405020304" pitchFamily="18" charset="0"/>
                <a:ea typeface="Arial"/>
                <a:cs typeface="Times New Roman" panose="02020603050405020304" pitchFamily="18" charset="0"/>
              </a:rPr>
              <a:t>console.log(</a:t>
            </a:r>
            <a:r>
              <a:rPr sz="1400" b="0" dirty="0" err="1">
                <a:solidFill>
                  <a:srgbClr val="111827"/>
                </a:solidFill>
                <a:latin typeface="Times New Roman" panose="02020603050405020304" pitchFamily="18" charset="0"/>
                <a:ea typeface="Arial"/>
                <a:cs typeface="Times New Roman" panose="02020603050405020304" pitchFamily="18" charset="0"/>
              </a:rPr>
              <a:t>nums</a:t>
            </a:r>
            <a:r>
              <a:rPr sz="1400" b="0" dirty="0">
                <a:solidFill>
                  <a:srgbClr val="111827"/>
                </a:solidFill>
                <a:latin typeface="Times New Roman" panose="02020603050405020304" pitchFamily="18" charset="0"/>
                <a:ea typeface="Arial"/>
                <a:cs typeface="Times New Roman" panose="02020603050405020304" pitchFamily="18" charset="0"/>
              </a:rPr>
              <a:t>);</a:t>
            </a:r>
          </a:p>
        </p:txBody>
      </p:sp>
    </p:spTree>
    <p:extLst>
      <p:ext uri="{BB962C8B-B14F-4D97-AF65-F5344CB8AC3E}">
        <p14:creationId xmlns:p14="http://schemas.microsoft.com/office/powerpoint/2010/main" val="390086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BB40D53A-BA7C-4DD9-B629-F08D52F7EE2D}"/>
              </a:ext>
            </a:extLst>
          </p:cNvPr>
          <p:cNvSpPr>
            <a:spLocks noGrp="1"/>
          </p:cNvSpPr>
          <p:nvPr/>
        </p:nvSpPr>
        <p:spPr>
          <a:xfrm>
            <a:off x="342900" y="76200"/>
            <a:ext cx="11506200" cy="533400"/>
          </a:xfrm>
          <a:prstGeom prst="rect">
            <a:avLst/>
          </a:prstGeom>
          <a:noFill/>
          <a:ln w="0">
            <a:noFill/>
          </a:ln>
        </p:spPr>
        <p:txBody>
          <a:bodyPr lIns="57150" tIns="0" rIns="57150" bIns="0" anchor="t">
            <a:normAutofit/>
          </a:bodyPr>
          <a:lstStyle/>
          <a:p>
            <a:pPr algn="ctr">
              <a:lnSpc>
                <a:spcPct val="104000"/>
              </a:lnSpc>
              <a:buNone/>
              <a:defRPr sz="3000" b="0">
                <a:solidFill>
                  <a:srgbClr val="111827"/>
                </a:solidFill>
                <a:latin typeface="Arial"/>
                <a:ea typeface="Arial"/>
                <a:cs typeface="Arial"/>
              </a:defRPr>
            </a:pPr>
            <a:r>
              <a:rPr sz="3000" b="0">
                <a:solidFill>
                  <a:srgbClr val="111827"/>
                </a:solidFill>
                <a:latin typeface="Times New Roman" panose="02020603050405020304" pitchFamily="18" charset="0"/>
                <a:ea typeface="Arial"/>
                <a:cs typeface="Times New Roman" panose="02020603050405020304" pitchFamily="18" charset="0"/>
              </a:rPr>
              <a:t>Самостоятельное написание кода</a:t>
            </a:r>
          </a:p>
        </p:txBody>
      </p:sp>
      <p:sp>
        <p:nvSpPr>
          <p:cNvPr id="2" name="slide-subtitle">
            <a:extLst>
              <a:ext uri="{FF2B5EF4-FFF2-40B4-BE49-F238E27FC236}">
                <a16:creationId xmlns:a16="http://schemas.microsoft.com/office/drawing/2014/main" id="{5C00D6D1-E436-4518-A6BB-7FF84525A319}"/>
              </a:ext>
            </a:extLst>
          </p:cNvPr>
          <p:cNvSpPr>
            <a:spLocks noGrp="1"/>
          </p:cNvSpPr>
          <p:nvPr/>
        </p:nvSpPr>
        <p:spPr>
          <a:xfrm>
            <a:off x="514350" y="609600"/>
            <a:ext cx="11163300" cy="381000"/>
          </a:xfrm>
          <a:prstGeom prst="rect">
            <a:avLst/>
          </a:prstGeom>
          <a:noFill/>
          <a:ln w="0">
            <a:noFill/>
          </a:ln>
        </p:spPr>
        <p:txBody>
          <a:bodyPr lIns="38100" tIns="0" rIns="38100" bIns="0" anchor="ctr">
            <a:normAutofit/>
          </a:bodyPr>
          <a:lstStyle/>
          <a:p>
            <a:pPr algn="ctr">
              <a:lnSpc>
                <a:spcPct val="104000"/>
              </a:lnSpc>
              <a:buNone/>
              <a:defRPr sz="1425" b="0">
                <a:solidFill>
                  <a:srgbClr val="334155"/>
                </a:solidFill>
                <a:latin typeface="Arial"/>
                <a:ea typeface="Arial"/>
                <a:cs typeface="Arial"/>
              </a:defRPr>
            </a:pPr>
            <a:r>
              <a:rPr sz="1425" b="0" dirty="0" err="1">
                <a:solidFill>
                  <a:srgbClr val="334155"/>
                </a:solidFill>
                <a:latin typeface="Times New Roman" panose="02020603050405020304" pitchFamily="18" charset="0"/>
                <a:ea typeface="Arial"/>
                <a:cs typeface="Times New Roman" panose="02020603050405020304" pitchFamily="18" charset="0"/>
              </a:rPr>
              <a:t>Каждую</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задачу</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оформите</a:t>
            </a:r>
            <a:r>
              <a:rPr sz="1425" b="0" dirty="0">
                <a:solidFill>
                  <a:srgbClr val="334155"/>
                </a:solidFill>
                <a:latin typeface="Times New Roman" panose="02020603050405020304" pitchFamily="18" charset="0"/>
                <a:ea typeface="Arial"/>
                <a:cs typeface="Times New Roman" panose="02020603050405020304" pitchFamily="18" charset="0"/>
              </a:rPr>
              <a:t> в </a:t>
            </a:r>
            <a:r>
              <a:rPr sz="1425" b="0" dirty="0" err="1">
                <a:solidFill>
                  <a:srgbClr val="334155"/>
                </a:solidFill>
                <a:latin typeface="Times New Roman" panose="02020603050405020304" pitchFamily="18" charset="0"/>
                <a:ea typeface="Arial"/>
                <a:cs typeface="Times New Roman" panose="02020603050405020304" pitchFamily="18" charset="0"/>
              </a:rPr>
              <a:t>отдельном</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файле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Исходный</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массив</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изменяйте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только</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там</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где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это</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требуется</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условием</a:t>
            </a:r>
            <a:endParaRPr sz="1425" b="0" dirty="0">
              <a:solidFill>
                <a:srgbClr val="334155"/>
              </a:solidFill>
              <a:latin typeface="Times New Roman" panose="02020603050405020304" pitchFamily="18" charset="0"/>
              <a:ea typeface="Arial"/>
              <a:cs typeface="Times New Roman" panose="02020603050405020304" pitchFamily="18" charset="0"/>
            </a:endParaRPr>
          </a:p>
        </p:txBody>
      </p:sp>
      <p:sp>
        <p:nvSpPr>
          <p:cNvPr id="3" name="assignment-1-surface">
            <a:extLst>
              <a:ext uri="{FF2B5EF4-FFF2-40B4-BE49-F238E27FC236}">
                <a16:creationId xmlns:a16="http://schemas.microsoft.com/office/drawing/2014/main" id="{020A3BF4-A865-47EE-92BE-56046F9A5CD4}"/>
              </a:ext>
            </a:extLst>
          </p:cNvPr>
          <p:cNvSpPr>
            <a:spLocks noGrp="1"/>
          </p:cNvSpPr>
          <p:nvPr/>
        </p:nvSpPr>
        <p:spPr>
          <a:xfrm>
            <a:off x="400050" y="1123950"/>
            <a:ext cx="3619500" cy="4933950"/>
          </a:xfrm>
          <a:prstGeom prst="roundRect">
            <a:avLst>
              <a:gd name="adj" fmla="val 3684"/>
            </a:avLst>
          </a:prstGeom>
          <a:solidFill>
            <a:srgbClr val="EAF4FD"/>
          </a:solidFill>
          <a:ln w="9525">
            <a:solidFill>
              <a:srgbClr val="9BB8D3"/>
            </a:solidFill>
            <a:prstDash val="solid"/>
          </a:ln>
        </p:spPr>
      </p:sp>
      <p:sp>
        <p:nvSpPr>
          <p:cNvPr id="4" name="assignment-1-title">
            <a:extLst>
              <a:ext uri="{FF2B5EF4-FFF2-40B4-BE49-F238E27FC236}">
                <a16:creationId xmlns:a16="http://schemas.microsoft.com/office/drawing/2014/main" id="{53F438D3-A43A-48E5-8E53-ECED4FDF0858}"/>
              </a:ext>
            </a:extLst>
          </p:cNvPr>
          <p:cNvSpPr>
            <a:spLocks noGrp="1"/>
          </p:cNvSpPr>
          <p:nvPr/>
        </p:nvSpPr>
        <p:spPr>
          <a:xfrm>
            <a:off x="552450" y="1228725"/>
            <a:ext cx="3314700" cy="323850"/>
          </a:xfrm>
          <a:prstGeom prst="rect">
            <a:avLst/>
          </a:prstGeom>
          <a:noFill/>
          <a:ln w="0">
            <a:noFill/>
          </a:ln>
        </p:spPr>
        <p:txBody>
          <a:bodyPr lIns="19050" tIns="9525" rIns="19050" bIns="9525" anchor="t">
            <a:normAutofit/>
          </a:bodyPr>
          <a:lstStyle/>
          <a:p>
            <a:pPr algn="l">
              <a:lnSpc>
                <a:spcPct val="104000"/>
              </a:lnSpc>
              <a:buNone/>
              <a:defRPr sz="1650" b="1">
                <a:solidFill>
                  <a:srgbClr val="1F3A72"/>
                </a:solidFill>
                <a:latin typeface="Arial"/>
                <a:ea typeface="Arial"/>
                <a:cs typeface="Arial"/>
              </a:defRPr>
            </a:pPr>
            <a:r>
              <a:rPr sz="1650" b="1">
                <a:solidFill>
                  <a:srgbClr val="1F3A72"/>
                </a:solidFill>
                <a:latin typeface="Times New Roman" panose="02020603050405020304" pitchFamily="18" charset="0"/>
                <a:ea typeface="Arial"/>
                <a:cs typeface="Times New Roman" panose="02020603050405020304" pitchFamily="18" charset="0"/>
              </a:rPr>
              <a:t>1. Анализ температур</a:t>
            </a:r>
          </a:p>
        </p:txBody>
      </p:sp>
      <p:sp>
        <p:nvSpPr>
          <p:cNvPr id="5" name="assignment-1-body">
            <a:extLst>
              <a:ext uri="{FF2B5EF4-FFF2-40B4-BE49-F238E27FC236}">
                <a16:creationId xmlns:a16="http://schemas.microsoft.com/office/drawing/2014/main" id="{D81BFC7F-3C22-4A12-AF71-0780C45E9C40}"/>
              </a:ext>
            </a:extLst>
          </p:cNvPr>
          <p:cNvSpPr>
            <a:spLocks noGrp="1"/>
          </p:cNvSpPr>
          <p:nvPr/>
        </p:nvSpPr>
        <p:spPr>
          <a:xfrm>
            <a:off x="552450" y="1590675"/>
            <a:ext cx="3314700" cy="3743325"/>
          </a:xfrm>
          <a:prstGeom prst="rect">
            <a:avLst/>
          </a:prstGeom>
          <a:noFill/>
          <a:ln w="0">
            <a:noFill/>
          </a:ln>
        </p:spPr>
        <p:txBody>
          <a:bodyPr lIns="28575" tIns="19050" rIns="28575" bIns="19050" anchor="t">
            <a:normAutofit/>
          </a:bodyPr>
          <a:lstStyle/>
          <a:p>
            <a:pPr algn="l">
              <a:lnSpc>
                <a:spcPct val="104000"/>
              </a:lnSpc>
              <a:buNone/>
              <a:defRPr sz="1350" b="0">
                <a:solidFill>
                  <a:srgbClr val="111827"/>
                </a:solidFill>
                <a:latin typeface="Arial"/>
                <a:ea typeface="Arial"/>
                <a:cs typeface="Arial"/>
              </a:defRPr>
            </a:pPr>
            <a:r>
              <a:rPr sz="1400" b="0" dirty="0" err="1">
                <a:solidFill>
                  <a:srgbClr val="111827"/>
                </a:solidFill>
                <a:latin typeface="Times New Roman" panose="02020603050405020304" pitchFamily="18" charset="0"/>
                <a:ea typeface="Arial"/>
                <a:cs typeface="Times New Roman" panose="02020603050405020304" pitchFamily="18" charset="0"/>
              </a:rPr>
              <a:t>Дан</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массив</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температур</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за</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шесть</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дней</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Выведите</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минимальную</a:t>
            </a:r>
            <a:r>
              <a:rPr sz="1400" b="0" dirty="0">
                <a:solidFill>
                  <a:srgbClr val="111827"/>
                </a:solidFill>
                <a:latin typeface="Times New Roman" panose="02020603050405020304" pitchFamily="18" charset="0"/>
                <a:ea typeface="Arial"/>
                <a:cs typeface="Times New Roman" panose="02020603050405020304" pitchFamily="18" charset="0"/>
              </a:rPr>
              <a:t> и </a:t>
            </a:r>
            <a:r>
              <a:rPr sz="1400" b="0" dirty="0" err="1">
                <a:solidFill>
                  <a:srgbClr val="111827"/>
                </a:solidFill>
                <a:latin typeface="Times New Roman" panose="02020603050405020304" pitchFamily="18" charset="0"/>
                <a:ea typeface="Arial"/>
                <a:cs typeface="Times New Roman" panose="02020603050405020304" pitchFamily="18" charset="0"/>
              </a:rPr>
              <a:t>максимальную</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температуру</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среднее</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значение</a:t>
            </a:r>
            <a:r>
              <a:rPr sz="1400" b="0" dirty="0">
                <a:solidFill>
                  <a:srgbClr val="111827"/>
                </a:solidFill>
                <a:latin typeface="Times New Roman" panose="02020603050405020304" pitchFamily="18" charset="0"/>
                <a:ea typeface="Arial"/>
                <a:cs typeface="Times New Roman" panose="02020603050405020304" pitchFamily="18" charset="0"/>
              </a:rPr>
              <a:t> с </a:t>
            </a:r>
            <a:r>
              <a:rPr sz="1400" b="0" dirty="0" err="1">
                <a:solidFill>
                  <a:srgbClr val="111827"/>
                </a:solidFill>
                <a:latin typeface="Times New Roman" panose="02020603050405020304" pitchFamily="18" charset="0"/>
                <a:ea typeface="Arial"/>
                <a:cs typeface="Times New Roman" panose="02020603050405020304" pitchFamily="18" charset="0"/>
              </a:rPr>
              <a:t>точностью</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до</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одного</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знака</a:t>
            </a:r>
            <a:r>
              <a:rPr sz="1400" b="0" dirty="0">
                <a:solidFill>
                  <a:srgbClr val="111827"/>
                </a:solidFill>
                <a:latin typeface="Times New Roman" panose="02020603050405020304" pitchFamily="18" charset="0"/>
                <a:ea typeface="Arial"/>
                <a:cs typeface="Times New Roman" panose="02020603050405020304" pitchFamily="18" charset="0"/>
              </a:rPr>
              <a:t> и </a:t>
            </a:r>
            <a:r>
              <a:rPr sz="1400" b="0" dirty="0" err="1">
                <a:solidFill>
                  <a:srgbClr val="111827"/>
                </a:solidFill>
                <a:latin typeface="Times New Roman" panose="02020603050405020304" pitchFamily="18" charset="0"/>
                <a:ea typeface="Arial"/>
                <a:cs typeface="Times New Roman" panose="02020603050405020304" pitchFamily="18" charset="0"/>
              </a:rPr>
              <a:t>количество</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дней</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когда</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температура</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была</a:t>
            </a:r>
            <a:r>
              <a:rPr sz="1400" b="0" dirty="0">
                <a:solidFill>
                  <a:srgbClr val="111827"/>
                </a:solidFill>
                <a:latin typeface="Times New Roman" panose="02020603050405020304" pitchFamily="18" charset="0"/>
                <a:ea typeface="Arial"/>
                <a:cs typeface="Times New Roman" panose="02020603050405020304" pitchFamily="18" charset="0"/>
              </a:rPr>
              <a:t> </a:t>
            </a:r>
            <a:r>
              <a:rPr sz="1400" b="0" dirty="0" err="1">
                <a:solidFill>
                  <a:srgbClr val="111827"/>
                </a:solidFill>
                <a:latin typeface="Times New Roman" panose="02020603050405020304" pitchFamily="18" charset="0"/>
                <a:ea typeface="Arial"/>
                <a:cs typeface="Times New Roman" panose="02020603050405020304" pitchFamily="18" charset="0"/>
              </a:rPr>
              <a:t>выше</a:t>
            </a:r>
            <a:r>
              <a:rPr sz="1400" b="0" dirty="0">
                <a:solidFill>
                  <a:srgbClr val="111827"/>
                </a:solidFill>
                <a:latin typeface="Times New Roman" panose="02020603050405020304" pitchFamily="18" charset="0"/>
                <a:ea typeface="Arial"/>
                <a:cs typeface="Times New Roman" panose="02020603050405020304" pitchFamily="18" charset="0"/>
              </a:rPr>
              <a:t> 25 °C.</a:t>
            </a:r>
          </a:p>
        </p:txBody>
      </p:sp>
      <p:sp>
        <p:nvSpPr>
          <p:cNvPr id="6" name="assignment-1-example">
            <a:extLst>
              <a:ext uri="{FF2B5EF4-FFF2-40B4-BE49-F238E27FC236}">
                <a16:creationId xmlns:a16="http://schemas.microsoft.com/office/drawing/2014/main" id="{AA7D960B-18B9-44CC-AE21-C145C56BDFC1}"/>
              </a:ext>
            </a:extLst>
          </p:cNvPr>
          <p:cNvSpPr>
            <a:spLocks noGrp="1"/>
          </p:cNvSpPr>
          <p:nvPr/>
        </p:nvSpPr>
        <p:spPr>
          <a:xfrm>
            <a:off x="552450" y="5410200"/>
            <a:ext cx="3314700" cy="523875"/>
          </a:xfrm>
          <a:prstGeom prst="roundRect">
            <a:avLst>
              <a:gd name="adj" fmla="val 10909"/>
            </a:avLst>
          </a:prstGeom>
          <a:solidFill>
            <a:srgbClr val="FFFFFF"/>
          </a:solidFill>
          <a:ln w="9525">
            <a:solidFill>
              <a:srgbClr val="CFDCE8"/>
            </a:solidFill>
            <a:prstDash val="solid"/>
          </a:ln>
        </p:spPr>
        <p:txBody>
          <a:bodyPr lIns="66675" tIns="38100" rIns="66675" bIns="38100" anchor="ctr">
            <a:normAutofit/>
          </a:bodyPr>
          <a:lstStyle/>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const temps = [18, 23, 27, 31, 25, 29];</a:t>
            </a:r>
          </a:p>
        </p:txBody>
      </p:sp>
      <p:sp>
        <p:nvSpPr>
          <p:cNvPr id="7" name="assignment-2-surface">
            <a:extLst>
              <a:ext uri="{FF2B5EF4-FFF2-40B4-BE49-F238E27FC236}">
                <a16:creationId xmlns:a16="http://schemas.microsoft.com/office/drawing/2014/main" id="{605478DA-1F0F-4F31-B4FC-0947D5850899}"/>
              </a:ext>
            </a:extLst>
          </p:cNvPr>
          <p:cNvSpPr>
            <a:spLocks noGrp="1"/>
          </p:cNvSpPr>
          <p:nvPr/>
        </p:nvSpPr>
        <p:spPr>
          <a:xfrm>
            <a:off x="4286250" y="1123950"/>
            <a:ext cx="3619500" cy="4933950"/>
          </a:xfrm>
          <a:prstGeom prst="roundRect">
            <a:avLst>
              <a:gd name="adj" fmla="val 3684"/>
            </a:avLst>
          </a:prstGeom>
          <a:solidFill>
            <a:srgbClr val="EEE9FF"/>
          </a:solidFill>
          <a:ln w="9525">
            <a:solidFill>
              <a:srgbClr val="9BB8D3"/>
            </a:solidFill>
            <a:prstDash val="solid"/>
          </a:ln>
        </p:spPr>
      </p:sp>
      <p:sp>
        <p:nvSpPr>
          <p:cNvPr id="8" name="assignment-2-title">
            <a:extLst>
              <a:ext uri="{FF2B5EF4-FFF2-40B4-BE49-F238E27FC236}">
                <a16:creationId xmlns:a16="http://schemas.microsoft.com/office/drawing/2014/main" id="{D51E017D-6283-474E-977D-E93AF33C04C4}"/>
              </a:ext>
            </a:extLst>
          </p:cNvPr>
          <p:cNvSpPr>
            <a:spLocks noGrp="1"/>
          </p:cNvSpPr>
          <p:nvPr/>
        </p:nvSpPr>
        <p:spPr>
          <a:xfrm>
            <a:off x="4438650" y="1228725"/>
            <a:ext cx="3314700" cy="323850"/>
          </a:xfrm>
          <a:prstGeom prst="rect">
            <a:avLst/>
          </a:prstGeom>
          <a:noFill/>
          <a:ln w="0">
            <a:noFill/>
          </a:ln>
        </p:spPr>
        <p:txBody>
          <a:bodyPr lIns="19050" tIns="9525" rIns="19050" bIns="9525" anchor="t">
            <a:normAutofit/>
          </a:bodyPr>
          <a:lstStyle/>
          <a:p>
            <a:pPr algn="l">
              <a:lnSpc>
                <a:spcPct val="104000"/>
              </a:lnSpc>
              <a:buNone/>
              <a:defRPr sz="1650" b="1">
                <a:solidFill>
                  <a:srgbClr val="1F3A72"/>
                </a:solidFill>
                <a:latin typeface="Arial"/>
                <a:ea typeface="Arial"/>
                <a:cs typeface="Arial"/>
              </a:defRPr>
            </a:pPr>
            <a:r>
              <a:rPr sz="1650" b="1">
                <a:solidFill>
                  <a:srgbClr val="1F3A72"/>
                </a:solidFill>
                <a:latin typeface="Times New Roman" panose="02020603050405020304" pitchFamily="18" charset="0"/>
                <a:ea typeface="Arial"/>
                <a:cs typeface="Times New Roman" panose="02020603050405020304" pitchFamily="18" charset="0"/>
              </a:rPr>
              <a:t>2. Очередь уведомлений</a:t>
            </a:r>
          </a:p>
        </p:txBody>
      </p:sp>
      <p:sp>
        <p:nvSpPr>
          <p:cNvPr id="9" name="assignment-2-body">
            <a:extLst>
              <a:ext uri="{FF2B5EF4-FFF2-40B4-BE49-F238E27FC236}">
                <a16:creationId xmlns:a16="http://schemas.microsoft.com/office/drawing/2014/main" id="{DC7F1409-84CC-45B4-9807-924364162063}"/>
              </a:ext>
            </a:extLst>
          </p:cNvPr>
          <p:cNvSpPr>
            <a:spLocks noGrp="1"/>
          </p:cNvSpPr>
          <p:nvPr/>
        </p:nvSpPr>
        <p:spPr>
          <a:xfrm>
            <a:off x="4438650" y="1590675"/>
            <a:ext cx="3314700" cy="3743325"/>
          </a:xfrm>
          <a:prstGeom prst="rect">
            <a:avLst/>
          </a:prstGeom>
          <a:noFill/>
          <a:ln w="0">
            <a:noFill/>
          </a:ln>
        </p:spPr>
        <p:txBody>
          <a:bodyPr lIns="28575" tIns="19050" rIns="28575" bIns="19050" anchor="t">
            <a:normAutofit/>
          </a:bodyPr>
          <a:lstStyle/>
          <a:p>
            <a:pPr algn="l">
              <a:lnSpc>
                <a:spcPct val="104000"/>
              </a:lnSpc>
              <a:buNone/>
              <a:defRPr sz="1350" b="0">
                <a:solidFill>
                  <a:srgbClr val="111827"/>
                </a:solidFill>
                <a:latin typeface="Arial"/>
                <a:ea typeface="Arial"/>
                <a:cs typeface="Arial"/>
              </a:defRPr>
            </a:pPr>
            <a:r>
              <a:rPr sz="1400" b="0">
                <a:solidFill>
                  <a:srgbClr val="111827"/>
                </a:solidFill>
                <a:latin typeface="Times New Roman" panose="02020603050405020304" pitchFamily="18" charset="0"/>
                <a:ea typeface="Arial"/>
                <a:cs typeface="Times New Roman" panose="02020603050405020304" pitchFamily="18" charset="0"/>
              </a:rPr>
              <a:t>Создайте массив из трёх уведомлений. Добавьте в конец ещё два сообщения. Затем обработайте очередь: по одному извлекайте сообщения из начала массива и выводите их, пока очередь не станет пустой.</a:t>
            </a:r>
          </a:p>
        </p:txBody>
      </p:sp>
      <p:sp>
        <p:nvSpPr>
          <p:cNvPr id="10" name="assignment-2-example">
            <a:extLst>
              <a:ext uri="{FF2B5EF4-FFF2-40B4-BE49-F238E27FC236}">
                <a16:creationId xmlns:a16="http://schemas.microsoft.com/office/drawing/2014/main" id="{B0CB07A8-976B-43B7-BC34-C5B5A93B8E45}"/>
              </a:ext>
            </a:extLst>
          </p:cNvPr>
          <p:cNvSpPr>
            <a:spLocks noGrp="1"/>
          </p:cNvSpPr>
          <p:nvPr/>
        </p:nvSpPr>
        <p:spPr>
          <a:xfrm>
            <a:off x="4438650" y="5410200"/>
            <a:ext cx="3314700" cy="523875"/>
          </a:xfrm>
          <a:prstGeom prst="roundRect">
            <a:avLst>
              <a:gd name="adj" fmla="val 10909"/>
            </a:avLst>
          </a:prstGeom>
          <a:solidFill>
            <a:srgbClr val="FFFFFF"/>
          </a:solidFill>
          <a:ln w="9525">
            <a:solidFill>
              <a:srgbClr val="CFDCE8"/>
            </a:solidFill>
            <a:prstDash val="solid"/>
          </a:ln>
        </p:spPr>
        <p:txBody>
          <a:bodyPr lIns="66675" tIns="38100" rIns="66675" bIns="38100" anchor="ctr">
            <a:normAutofit lnSpcReduction="10000"/>
          </a:bodyPr>
          <a:lstStyle/>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let queue = ["</a:t>
            </a:r>
            <a:r>
              <a:rPr sz="1400" b="0" dirty="0" err="1">
                <a:solidFill>
                  <a:srgbClr val="334155"/>
                </a:solidFill>
                <a:latin typeface="Times New Roman" panose="02020603050405020304" pitchFamily="18" charset="0"/>
                <a:ea typeface="Arial"/>
                <a:cs typeface="Times New Roman" panose="02020603050405020304" pitchFamily="18" charset="0"/>
              </a:rPr>
              <a:t>Вход</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Сообщение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Обновление</a:t>
            </a:r>
            <a:r>
              <a:rPr sz="1400" b="0" dirty="0">
                <a:solidFill>
                  <a:srgbClr val="334155"/>
                </a:solidFill>
                <a:latin typeface="Times New Roman" panose="02020603050405020304" pitchFamily="18" charset="0"/>
                <a:ea typeface="Arial"/>
                <a:cs typeface="Times New Roman" panose="02020603050405020304" pitchFamily="18" charset="0"/>
              </a:rPr>
              <a:t>"];</a:t>
            </a:r>
          </a:p>
        </p:txBody>
      </p:sp>
      <p:sp>
        <p:nvSpPr>
          <p:cNvPr id="11" name="assignment-3-surface">
            <a:extLst>
              <a:ext uri="{FF2B5EF4-FFF2-40B4-BE49-F238E27FC236}">
                <a16:creationId xmlns:a16="http://schemas.microsoft.com/office/drawing/2014/main" id="{72316985-BB25-4034-9B25-FAA23CCDB28B}"/>
              </a:ext>
            </a:extLst>
          </p:cNvPr>
          <p:cNvSpPr>
            <a:spLocks noGrp="1"/>
          </p:cNvSpPr>
          <p:nvPr/>
        </p:nvSpPr>
        <p:spPr>
          <a:xfrm>
            <a:off x="8172450" y="1123950"/>
            <a:ext cx="3619500" cy="4933950"/>
          </a:xfrm>
          <a:prstGeom prst="roundRect">
            <a:avLst>
              <a:gd name="adj" fmla="val 3684"/>
            </a:avLst>
          </a:prstGeom>
          <a:solidFill>
            <a:srgbClr val="EAF4FD"/>
          </a:solidFill>
          <a:ln w="9525">
            <a:solidFill>
              <a:srgbClr val="9BB8D3"/>
            </a:solidFill>
            <a:prstDash val="solid"/>
          </a:ln>
        </p:spPr>
      </p:sp>
      <p:sp>
        <p:nvSpPr>
          <p:cNvPr id="12" name="assignment-3-title">
            <a:extLst>
              <a:ext uri="{FF2B5EF4-FFF2-40B4-BE49-F238E27FC236}">
                <a16:creationId xmlns:a16="http://schemas.microsoft.com/office/drawing/2014/main" id="{4999335C-4791-4C0F-BA66-D53A52CEB31E}"/>
              </a:ext>
            </a:extLst>
          </p:cNvPr>
          <p:cNvSpPr>
            <a:spLocks noGrp="1"/>
          </p:cNvSpPr>
          <p:nvPr/>
        </p:nvSpPr>
        <p:spPr>
          <a:xfrm>
            <a:off x="8324850" y="1228725"/>
            <a:ext cx="3314700" cy="323850"/>
          </a:xfrm>
          <a:prstGeom prst="rect">
            <a:avLst/>
          </a:prstGeom>
          <a:noFill/>
          <a:ln w="0">
            <a:noFill/>
          </a:ln>
        </p:spPr>
        <p:txBody>
          <a:bodyPr lIns="19050" tIns="9525" rIns="19050" bIns="9525" anchor="t">
            <a:normAutofit/>
          </a:bodyPr>
          <a:lstStyle/>
          <a:p>
            <a:pPr algn="l">
              <a:lnSpc>
                <a:spcPct val="104000"/>
              </a:lnSpc>
              <a:buNone/>
              <a:defRPr sz="1650" b="1">
                <a:solidFill>
                  <a:srgbClr val="1F3A72"/>
                </a:solidFill>
                <a:latin typeface="Arial"/>
                <a:ea typeface="Arial"/>
                <a:cs typeface="Arial"/>
              </a:defRPr>
            </a:pPr>
            <a:r>
              <a:rPr sz="1650" b="1">
                <a:solidFill>
                  <a:srgbClr val="1F3A72"/>
                </a:solidFill>
                <a:latin typeface="Times New Roman" panose="02020603050405020304" pitchFamily="18" charset="0"/>
                <a:ea typeface="Arial"/>
                <a:cs typeface="Times New Roman" panose="02020603050405020304" pitchFamily="18" charset="0"/>
              </a:rPr>
              <a:t>3. Поиск товара</a:t>
            </a:r>
          </a:p>
        </p:txBody>
      </p:sp>
      <p:sp>
        <p:nvSpPr>
          <p:cNvPr id="13" name="assignment-3-body">
            <a:extLst>
              <a:ext uri="{FF2B5EF4-FFF2-40B4-BE49-F238E27FC236}">
                <a16:creationId xmlns:a16="http://schemas.microsoft.com/office/drawing/2014/main" id="{8A7DFF67-5010-4792-98D1-29C6FE152B92}"/>
              </a:ext>
            </a:extLst>
          </p:cNvPr>
          <p:cNvSpPr>
            <a:spLocks noGrp="1"/>
          </p:cNvSpPr>
          <p:nvPr/>
        </p:nvSpPr>
        <p:spPr>
          <a:xfrm>
            <a:off x="8324850" y="1590675"/>
            <a:ext cx="3314700" cy="3743325"/>
          </a:xfrm>
          <a:prstGeom prst="rect">
            <a:avLst/>
          </a:prstGeom>
          <a:noFill/>
          <a:ln w="0">
            <a:noFill/>
          </a:ln>
        </p:spPr>
        <p:txBody>
          <a:bodyPr lIns="28575" tIns="19050" rIns="28575" bIns="19050" anchor="t">
            <a:normAutofit/>
          </a:bodyPr>
          <a:lstStyle/>
          <a:p>
            <a:pPr algn="l">
              <a:lnSpc>
                <a:spcPct val="104000"/>
              </a:lnSpc>
              <a:buNone/>
              <a:defRPr sz="1350" b="0">
                <a:solidFill>
                  <a:srgbClr val="111827"/>
                </a:solidFill>
                <a:latin typeface="Arial"/>
                <a:ea typeface="Arial"/>
                <a:cs typeface="Arial"/>
              </a:defRPr>
            </a:pPr>
            <a:r>
              <a:rPr sz="1400" b="0">
                <a:solidFill>
                  <a:srgbClr val="111827"/>
                </a:solidFill>
                <a:latin typeface="Times New Roman" panose="02020603050405020304" pitchFamily="18" charset="0"/>
                <a:ea typeface="Arial"/>
                <a:cs typeface="Times New Roman" panose="02020603050405020304" pitchFamily="18" charset="0"/>
              </a:rPr>
              <a:t>Дан массив названий товаров и переменная searchProduct. Если товар найден, выведите его индекс и номер позиции для пользователя. Если товара нет, добавьте его в конец и выведите обновлённый массив.</a:t>
            </a:r>
          </a:p>
        </p:txBody>
      </p:sp>
      <p:sp>
        <p:nvSpPr>
          <p:cNvPr id="14" name="assignment-3-example">
            <a:extLst>
              <a:ext uri="{FF2B5EF4-FFF2-40B4-BE49-F238E27FC236}">
                <a16:creationId xmlns:a16="http://schemas.microsoft.com/office/drawing/2014/main" id="{96135A1E-8A4F-450F-AED1-BAADBEF43DFD}"/>
              </a:ext>
            </a:extLst>
          </p:cNvPr>
          <p:cNvSpPr>
            <a:spLocks noGrp="1"/>
          </p:cNvSpPr>
          <p:nvPr/>
        </p:nvSpPr>
        <p:spPr>
          <a:xfrm>
            <a:off x="8324850" y="5410200"/>
            <a:ext cx="3314700" cy="523875"/>
          </a:xfrm>
          <a:prstGeom prst="roundRect">
            <a:avLst>
              <a:gd name="adj" fmla="val 10909"/>
            </a:avLst>
          </a:prstGeom>
          <a:solidFill>
            <a:srgbClr val="FFFFFF"/>
          </a:solidFill>
          <a:ln w="9525">
            <a:solidFill>
              <a:srgbClr val="CFDCE8"/>
            </a:solidFill>
            <a:prstDash val="solid"/>
          </a:ln>
        </p:spPr>
        <p:txBody>
          <a:bodyPr lIns="66675" tIns="38100" rIns="66675" bIns="38100" anchor="ctr">
            <a:normAutofit lnSpcReduction="10000"/>
          </a:bodyPr>
          <a:lstStyle/>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const products = ["</a:t>
            </a:r>
            <a:r>
              <a:rPr sz="1400" b="0" dirty="0" err="1">
                <a:solidFill>
                  <a:srgbClr val="334155"/>
                </a:solidFill>
                <a:latin typeface="Times New Roman" panose="02020603050405020304" pitchFamily="18" charset="0"/>
                <a:ea typeface="Arial"/>
                <a:cs typeface="Times New Roman" panose="02020603050405020304" pitchFamily="18" charset="0"/>
              </a:rPr>
              <a:t>Чай</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Кофе</a:t>
            </a:r>
            <a:r>
              <a:rPr sz="1400" b="0" dirty="0">
                <a:solidFill>
                  <a:srgbClr val="334155"/>
                </a:solidFill>
                <a:latin typeface="Times New Roman" panose="02020603050405020304" pitchFamily="18" charset="0"/>
                <a:ea typeface="Arial"/>
                <a:cs typeface="Times New Roman" panose="02020603050405020304" pitchFamily="18" charset="0"/>
              </a:rPr>
              <a:t>", "</a:t>
            </a:r>
            <a:r>
              <a:rPr sz="1400" b="0" dirty="0" err="1">
                <a:solidFill>
                  <a:srgbClr val="334155"/>
                </a:solidFill>
                <a:latin typeface="Times New Roman" panose="02020603050405020304" pitchFamily="18" charset="0"/>
                <a:ea typeface="Arial"/>
                <a:cs typeface="Times New Roman" panose="02020603050405020304" pitchFamily="18" charset="0"/>
              </a:rPr>
              <a:t>Сок</a:t>
            </a:r>
            <a:r>
              <a:rPr sz="1400" b="0" dirty="0">
                <a:solidFill>
                  <a:srgbClr val="334155"/>
                </a:solidFill>
                <a:latin typeface="Times New Roman" panose="02020603050405020304" pitchFamily="18" charset="0"/>
                <a:ea typeface="Arial"/>
                <a:cs typeface="Times New Roman" panose="02020603050405020304" pitchFamily="18" charset="0"/>
              </a:rPr>
              <a:t>"];</a:t>
            </a:r>
          </a:p>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const </a:t>
            </a:r>
            <a:r>
              <a:rPr sz="1400" b="0" dirty="0" err="1">
                <a:solidFill>
                  <a:srgbClr val="334155"/>
                </a:solidFill>
                <a:latin typeface="Times New Roman" panose="02020603050405020304" pitchFamily="18" charset="0"/>
                <a:ea typeface="Arial"/>
                <a:cs typeface="Times New Roman" panose="02020603050405020304" pitchFamily="18" charset="0"/>
              </a:rPr>
              <a:t>searchProduct</a:t>
            </a:r>
            <a:r>
              <a:rPr sz="1400" b="0" dirty="0">
                <a:solidFill>
                  <a:srgbClr val="334155"/>
                </a:solidFill>
                <a:latin typeface="Times New Roman" panose="02020603050405020304" pitchFamily="18" charset="0"/>
                <a:ea typeface="Arial"/>
                <a:cs typeface="Times New Roman" panose="02020603050405020304" pitchFamily="18" charset="0"/>
              </a:rPr>
              <a:t> = "</a:t>
            </a:r>
            <a:r>
              <a:rPr sz="1400" b="0" dirty="0" err="1">
                <a:solidFill>
                  <a:srgbClr val="334155"/>
                </a:solidFill>
                <a:latin typeface="Times New Roman" panose="02020603050405020304" pitchFamily="18" charset="0"/>
                <a:ea typeface="Arial"/>
                <a:cs typeface="Times New Roman" panose="02020603050405020304" pitchFamily="18" charset="0"/>
              </a:rPr>
              <a:t>Молоко</a:t>
            </a:r>
            <a:r>
              <a:rPr sz="1400" b="0" dirty="0">
                <a:solidFill>
                  <a:srgbClr val="334155"/>
                </a:solidFill>
                <a:latin typeface="Times New Roman" panose="02020603050405020304" pitchFamily="18" charset="0"/>
                <a:ea typeface="Arial"/>
                <a:cs typeface="Times New Roman" panose="02020603050405020304" pitchFamily="18" charset="0"/>
              </a:rPr>
              <a:t>";</a:t>
            </a:r>
          </a:p>
        </p:txBody>
      </p:sp>
    </p:spTree>
    <p:extLst>
      <p:ext uri="{BB962C8B-B14F-4D97-AF65-F5344CB8AC3E}">
        <p14:creationId xmlns:p14="http://schemas.microsoft.com/office/powerpoint/2010/main" val="321387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94D67537-EB02-4648-BE1D-787E6C522DEC}"/>
              </a:ext>
            </a:extLst>
          </p:cNvPr>
          <p:cNvSpPr>
            <a:spLocks noGrp="1"/>
          </p:cNvSpPr>
          <p:nvPr/>
        </p:nvSpPr>
        <p:spPr>
          <a:xfrm>
            <a:off x="342900" y="76200"/>
            <a:ext cx="11506200" cy="533400"/>
          </a:xfrm>
          <a:prstGeom prst="rect">
            <a:avLst/>
          </a:prstGeom>
          <a:noFill/>
          <a:ln w="0">
            <a:noFill/>
          </a:ln>
        </p:spPr>
        <p:txBody>
          <a:bodyPr lIns="57150" tIns="0" rIns="57150" bIns="0" anchor="t">
            <a:normAutofit/>
          </a:bodyPr>
          <a:lstStyle/>
          <a:p>
            <a:pPr algn="ctr">
              <a:lnSpc>
                <a:spcPct val="104000"/>
              </a:lnSpc>
              <a:buNone/>
              <a:defRPr sz="3000" b="0">
                <a:solidFill>
                  <a:srgbClr val="111827"/>
                </a:solidFill>
                <a:latin typeface="Arial"/>
                <a:ea typeface="Arial"/>
                <a:cs typeface="Arial"/>
              </a:defRPr>
            </a:pPr>
            <a:r>
              <a:rPr sz="3000" b="0">
                <a:solidFill>
                  <a:srgbClr val="111827"/>
                </a:solidFill>
                <a:latin typeface="Times New Roman" panose="02020603050405020304" pitchFamily="18" charset="0"/>
                <a:ea typeface="Arial"/>
                <a:cs typeface="Times New Roman" panose="02020603050405020304" pitchFamily="18" charset="0"/>
              </a:rPr>
              <a:t>Самостоятельное написание кода: обработка данных</a:t>
            </a:r>
          </a:p>
        </p:txBody>
      </p:sp>
      <p:sp>
        <p:nvSpPr>
          <p:cNvPr id="2" name="slide-subtitle">
            <a:extLst>
              <a:ext uri="{FF2B5EF4-FFF2-40B4-BE49-F238E27FC236}">
                <a16:creationId xmlns:a16="http://schemas.microsoft.com/office/drawing/2014/main" id="{E0972F33-DEC7-4D81-80D2-E554ED2C6DA8}"/>
              </a:ext>
            </a:extLst>
          </p:cNvPr>
          <p:cNvSpPr>
            <a:spLocks noGrp="1"/>
          </p:cNvSpPr>
          <p:nvPr/>
        </p:nvSpPr>
        <p:spPr>
          <a:xfrm>
            <a:off x="514350" y="609600"/>
            <a:ext cx="11163300" cy="381000"/>
          </a:xfrm>
          <a:prstGeom prst="rect">
            <a:avLst/>
          </a:prstGeom>
          <a:noFill/>
          <a:ln w="0">
            <a:noFill/>
          </a:ln>
        </p:spPr>
        <p:txBody>
          <a:bodyPr lIns="38100" tIns="0" rIns="38100" bIns="0" anchor="ctr">
            <a:normAutofit/>
          </a:bodyPr>
          <a:lstStyle/>
          <a:p>
            <a:pPr algn="ctr">
              <a:lnSpc>
                <a:spcPct val="104000"/>
              </a:lnSpc>
              <a:buNone/>
              <a:defRPr sz="1425" b="0">
                <a:solidFill>
                  <a:srgbClr val="334155"/>
                </a:solidFill>
                <a:latin typeface="Arial"/>
                <a:ea typeface="Arial"/>
                <a:cs typeface="Arial"/>
              </a:defRPr>
            </a:pPr>
            <a:r>
              <a:rPr sz="1425" b="0" dirty="0" err="1">
                <a:solidFill>
                  <a:srgbClr val="334155"/>
                </a:solidFill>
                <a:latin typeface="Times New Roman" panose="02020603050405020304" pitchFamily="18" charset="0"/>
                <a:ea typeface="Arial"/>
                <a:cs typeface="Times New Roman" panose="02020603050405020304" pitchFamily="18" charset="0"/>
              </a:rPr>
              <a:t>Используйте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методы</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массивов</a:t>
            </a:r>
            <a:r>
              <a:rPr sz="1425" b="0" dirty="0">
                <a:solidFill>
                  <a:srgbClr val="334155"/>
                </a:solidFill>
                <a:latin typeface="Times New Roman" panose="02020603050405020304" pitchFamily="18" charset="0"/>
                <a:ea typeface="Arial"/>
                <a:cs typeface="Times New Roman" panose="02020603050405020304" pitchFamily="18" charset="0"/>
              </a:rPr>
              <a:t> и </a:t>
            </a:r>
            <a:r>
              <a:rPr sz="1425" b="0" dirty="0" err="1">
                <a:solidFill>
                  <a:srgbClr val="334155"/>
                </a:solidFill>
                <a:latin typeface="Times New Roman" panose="02020603050405020304" pitchFamily="18" charset="0"/>
                <a:ea typeface="Arial"/>
                <a:cs typeface="Times New Roman" panose="02020603050405020304" pitchFamily="18" charset="0"/>
              </a:rPr>
              <a:t>не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выводите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промежуточные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результаты</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если</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этого</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не</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требует</a:t>
            </a:r>
            <a:r>
              <a:rPr sz="1425" b="0" dirty="0">
                <a:solidFill>
                  <a:srgbClr val="334155"/>
                </a:solidFill>
                <a:latin typeface="Times New Roman" panose="02020603050405020304" pitchFamily="18" charset="0"/>
                <a:ea typeface="Arial"/>
                <a:cs typeface="Times New Roman" panose="02020603050405020304" pitchFamily="18" charset="0"/>
              </a:rPr>
              <a:t> </a:t>
            </a:r>
            <a:r>
              <a:rPr sz="1425" b="0" dirty="0" err="1">
                <a:solidFill>
                  <a:srgbClr val="334155"/>
                </a:solidFill>
                <a:latin typeface="Times New Roman" panose="02020603050405020304" pitchFamily="18" charset="0"/>
                <a:ea typeface="Arial"/>
                <a:cs typeface="Times New Roman" panose="02020603050405020304" pitchFamily="18" charset="0"/>
              </a:rPr>
              <a:t>условие</a:t>
            </a:r>
            <a:endParaRPr sz="1425" b="0" dirty="0">
              <a:solidFill>
                <a:srgbClr val="334155"/>
              </a:solidFill>
              <a:latin typeface="Times New Roman" panose="02020603050405020304" pitchFamily="18" charset="0"/>
              <a:ea typeface="Arial"/>
              <a:cs typeface="Times New Roman" panose="02020603050405020304" pitchFamily="18" charset="0"/>
            </a:endParaRPr>
          </a:p>
        </p:txBody>
      </p:sp>
      <p:sp>
        <p:nvSpPr>
          <p:cNvPr id="3" name="data-task-4-surface">
            <a:extLst>
              <a:ext uri="{FF2B5EF4-FFF2-40B4-BE49-F238E27FC236}">
                <a16:creationId xmlns:a16="http://schemas.microsoft.com/office/drawing/2014/main" id="{FFFD8253-3145-4659-98CE-98457EC82F3E}"/>
              </a:ext>
            </a:extLst>
          </p:cNvPr>
          <p:cNvSpPr>
            <a:spLocks noGrp="1"/>
          </p:cNvSpPr>
          <p:nvPr/>
        </p:nvSpPr>
        <p:spPr>
          <a:xfrm>
            <a:off x="457200" y="1104900"/>
            <a:ext cx="11277600" cy="1504950"/>
          </a:xfrm>
          <a:prstGeom prst="roundRect">
            <a:avLst>
              <a:gd name="adj" fmla="val 7595"/>
            </a:avLst>
          </a:prstGeom>
          <a:solidFill>
            <a:srgbClr val="EAF4FD"/>
          </a:solidFill>
          <a:ln w="9525">
            <a:solidFill>
              <a:srgbClr val="9BB8D3"/>
            </a:solidFill>
            <a:prstDash val="solid"/>
          </a:ln>
        </p:spPr>
      </p:sp>
      <p:sp>
        <p:nvSpPr>
          <p:cNvPr id="4" name="data-task-4-title">
            <a:extLst>
              <a:ext uri="{FF2B5EF4-FFF2-40B4-BE49-F238E27FC236}">
                <a16:creationId xmlns:a16="http://schemas.microsoft.com/office/drawing/2014/main" id="{6690C23A-424F-4D95-A6F8-117269781544}"/>
              </a:ext>
            </a:extLst>
          </p:cNvPr>
          <p:cNvSpPr>
            <a:spLocks noGrp="1"/>
          </p:cNvSpPr>
          <p:nvPr/>
        </p:nvSpPr>
        <p:spPr>
          <a:xfrm>
            <a:off x="647700" y="1219200"/>
            <a:ext cx="3048000" cy="323850"/>
          </a:xfrm>
          <a:prstGeom prst="rect">
            <a:avLst/>
          </a:prstGeom>
          <a:noFill/>
          <a:ln w="0">
            <a:noFill/>
          </a:ln>
        </p:spPr>
        <p:txBody>
          <a:bodyPr lIns="19050" tIns="9525" rIns="19050" bIns="9525" anchor="t">
            <a:normAutofit/>
          </a:bodyPr>
          <a:lstStyle/>
          <a:p>
            <a:pPr algn="l">
              <a:lnSpc>
                <a:spcPct val="104000"/>
              </a:lnSpc>
              <a:buNone/>
              <a:defRPr sz="1575" b="1">
                <a:solidFill>
                  <a:srgbClr val="1F3A72"/>
                </a:solidFill>
                <a:latin typeface="Arial"/>
                <a:ea typeface="Arial"/>
                <a:cs typeface="Arial"/>
              </a:defRPr>
            </a:pPr>
            <a:r>
              <a:rPr sz="1575" b="1">
                <a:solidFill>
                  <a:srgbClr val="1F3A72"/>
                </a:solidFill>
                <a:latin typeface="Times New Roman" panose="02020603050405020304" pitchFamily="18" charset="0"/>
                <a:ea typeface="Arial"/>
                <a:cs typeface="Times New Roman" panose="02020603050405020304" pitchFamily="18" charset="0"/>
              </a:rPr>
              <a:t>4. Баллы студентов</a:t>
            </a:r>
          </a:p>
        </p:txBody>
      </p:sp>
      <p:sp>
        <p:nvSpPr>
          <p:cNvPr id="5" name="data-task-4-example">
            <a:extLst>
              <a:ext uri="{FF2B5EF4-FFF2-40B4-BE49-F238E27FC236}">
                <a16:creationId xmlns:a16="http://schemas.microsoft.com/office/drawing/2014/main" id="{320CF672-7ED1-4124-934B-310AE9B47E95}"/>
              </a:ext>
            </a:extLst>
          </p:cNvPr>
          <p:cNvSpPr>
            <a:spLocks noGrp="1"/>
          </p:cNvSpPr>
          <p:nvPr/>
        </p:nvSpPr>
        <p:spPr>
          <a:xfrm>
            <a:off x="647700" y="1590675"/>
            <a:ext cx="3048000" cy="790575"/>
          </a:xfrm>
          <a:prstGeom prst="roundRect">
            <a:avLst>
              <a:gd name="adj" fmla="val 7229"/>
            </a:avLst>
          </a:prstGeom>
          <a:solidFill>
            <a:srgbClr val="FFFFFF"/>
          </a:solidFill>
          <a:ln w="9525">
            <a:solidFill>
              <a:srgbClr val="CFDCE8"/>
            </a:solidFill>
            <a:prstDash val="solid"/>
          </a:ln>
        </p:spPr>
        <p:txBody>
          <a:bodyPr lIns="76200" tIns="66675" rIns="76200" bIns="66675" anchor="ctr">
            <a:normAutofit/>
          </a:bodyPr>
          <a:lstStyle/>
          <a:p>
            <a:pPr algn="l">
              <a:lnSpc>
                <a:spcPct val="104000"/>
              </a:lnSpc>
              <a:buNone/>
              <a:defRPr sz="1163" b="0">
                <a:solidFill>
                  <a:srgbClr val="334155"/>
                </a:solidFill>
                <a:latin typeface="Arial"/>
                <a:ea typeface="Arial"/>
                <a:cs typeface="Arial"/>
              </a:defRPr>
            </a:pPr>
            <a:r>
              <a:rPr sz="1400" b="0">
                <a:solidFill>
                  <a:srgbClr val="334155"/>
                </a:solidFill>
                <a:latin typeface="Times New Roman" panose="02020603050405020304" pitchFamily="18" charset="0"/>
                <a:ea typeface="Arial"/>
                <a:cs typeface="Times New Roman" panose="02020603050405020304" pitchFamily="18" charset="0"/>
              </a:rPr>
              <a:t>const scores = [48, 67, 95, 59, 88, 100];</a:t>
            </a:r>
          </a:p>
        </p:txBody>
      </p:sp>
      <p:sp>
        <p:nvSpPr>
          <p:cNvPr id="6" name="data-task-4-body">
            <a:extLst>
              <a:ext uri="{FF2B5EF4-FFF2-40B4-BE49-F238E27FC236}">
                <a16:creationId xmlns:a16="http://schemas.microsoft.com/office/drawing/2014/main" id="{6FAAE1D4-5C1F-4EDC-8EBE-5DD6AD252CB9}"/>
              </a:ext>
            </a:extLst>
          </p:cNvPr>
          <p:cNvSpPr>
            <a:spLocks noGrp="1"/>
          </p:cNvSpPr>
          <p:nvPr/>
        </p:nvSpPr>
        <p:spPr>
          <a:xfrm>
            <a:off x="4000500" y="1276350"/>
            <a:ext cx="7448550" cy="1162050"/>
          </a:xfrm>
          <a:prstGeom prst="rect">
            <a:avLst/>
          </a:prstGeom>
          <a:noFill/>
          <a:ln w="0">
            <a:noFill/>
          </a:ln>
        </p:spPr>
        <p:txBody>
          <a:bodyPr lIns="76200" tIns="57150" rIns="76200" bIns="57150" anchor="ctr">
            <a:normAutofit/>
          </a:bodyPr>
          <a:lstStyle/>
          <a:p>
            <a:pPr algn="l">
              <a:lnSpc>
                <a:spcPct val="104000"/>
              </a:lnSpc>
              <a:buNone/>
              <a:defRPr sz="1425" b="0">
                <a:solidFill>
                  <a:srgbClr val="111827"/>
                </a:solidFill>
                <a:latin typeface="Arial"/>
                <a:ea typeface="Arial"/>
                <a:cs typeface="Arial"/>
              </a:defRPr>
            </a:pPr>
            <a:r>
              <a:rPr sz="1425" b="0">
                <a:solidFill>
                  <a:srgbClr val="111827"/>
                </a:solidFill>
                <a:latin typeface="Times New Roman" panose="02020603050405020304" pitchFamily="18" charset="0"/>
                <a:ea typeface="Arial"/>
                <a:cs typeface="Times New Roman" panose="02020603050405020304" pitchFamily="18" charset="0"/>
              </a:rPr>
              <a:t>Оставьте баллы не ниже 60. К каждому оставшемуся значению прибавьте 5, но результат не должен превышать 100. Затем расположите баллы по убыванию.</a:t>
            </a:r>
          </a:p>
        </p:txBody>
      </p:sp>
      <p:sp>
        <p:nvSpPr>
          <p:cNvPr id="7" name="data-task-5-surface">
            <a:extLst>
              <a:ext uri="{FF2B5EF4-FFF2-40B4-BE49-F238E27FC236}">
                <a16:creationId xmlns:a16="http://schemas.microsoft.com/office/drawing/2014/main" id="{35761850-BBED-45C2-9CAA-D0CE380525FC}"/>
              </a:ext>
            </a:extLst>
          </p:cNvPr>
          <p:cNvSpPr>
            <a:spLocks noGrp="1"/>
          </p:cNvSpPr>
          <p:nvPr/>
        </p:nvSpPr>
        <p:spPr>
          <a:xfrm>
            <a:off x="457200" y="2800350"/>
            <a:ext cx="11277600" cy="1504950"/>
          </a:xfrm>
          <a:prstGeom prst="roundRect">
            <a:avLst>
              <a:gd name="adj" fmla="val 7595"/>
            </a:avLst>
          </a:prstGeom>
          <a:solidFill>
            <a:srgbClr val="EEE9FF"/>
          </a:solidFill>
          <a:ln w="9525">
            <a:solidFill>
              <a:srgbClr val="9BB8D3"/>
            </a:solidFill>
            <a:prstDash val="solid"/>
          </a:ln>
        </p:spPr>
      </p:sp>
      <p:sp>
        <p:nvSpPr>
          <p:cNvPr id="8" name="data-task-5-title">
            <a:extLst>
              <a:ext uri="{FF2B5EF4-FFF2-40B4-BE49-F238E27FC236}">
                <a16:creationId xmlns:a16="http://schemas.microsoft.com/office/drawing/2014/main" id="{EA09E280-0F1F-4AE6-A681-C4C15137D790}"/>
              </a:ext>
            </a:extLst>
          </p:cNvPr>
          <p:cNvSpPr>
            <a:spLocks noGrp="1"/>
          </p:cNvSpPr>
          <p:nvPr/>
        </p:nvSpPr>
        <p:spPr>
          <a:xfrm>
            <a:off x="647700" y="2914650"/>
            <a:ext cx="3048000" cy="323850"/>
          </a:xfrm>
          <a:prstGeom prst="rect">
            <a:avLst/>
          </a:prstGeom>
          <a:noFill/>
          <a:ln w="0">
            <a:noFill/>
          </a:ln>
        </p:spPr>
        <p:txBody>
          <a:bodyPr lIns="19050" tIns="9525" rIns="19050" bIns="9525" anchor="t">
            <a:normAutofit/>
          </a:bodyPr>
          <a:lstStyle/>
          <a:p>
            <a:pPr algn="l">
              <a:lnSpc>
                <a:spcPct val="104000"/>
              </a:lnSpc>
              <a:buNone/>
              <a:defRPr sz="1575" b="1">
                <a:solidFill>
                  <a:srgbClr val="1F3A72"/>
                </a:solidFill>
                <a:latin typeface="Arial"/>
                <a:ea typeface="Arial"/>
                <a:cs typeface="Arial"/>
              </a:defRPr>
            </a:pPr>
            <a:r>
              <a:rPr sz="1575" b="1">
                <a:solidFill>
                  <a:srgbClr val="1F3A72"/>
                </a:solidFill>
                <a:latin typeface="Times New Roman" panose="02020603050405020304" pitchFamily="18" charset="0"/>
                <a:ea typeface="Arial"/>
                <a:cs typeface="Times New Roman" panose="02020603050405020304" pitchFamily="18" charset="0"/>
              </a:rPr>
              <a:t>5. Журнал событий</a:t>
            </a:r>
          </a:p>
        </p:txBody>
      </p:sp>
      <p:sp>
        <p:nvSpPr>
          <p:cNvPr id="9" name="data-task-5-example">
            <a:extLst>
              <a:ext uri="{FF2B5EF4-FFF2-40B4-BE49-F238E27FC236}">
                <a16:creationId xmlns:a16="http://schemas.microsoft.com/office/drawing/2014/main" id="{E781C1B0-F064-45FB-AA62-14722E1FC4A3}"/>
              </a:ext>
            </a:extLst>
          </p:cNvPr>
          <p:cNvSpPr>
            <a:spLocks noGrp="1"/>
          </p:cNvSpPr>
          <p:nvPr/>
        </p:nvSpPr>
        <p:spPr>
          <a:xfrm>
            <a:off x="647699" y="3286125"/>
            <a:ext cx="3212031" cy="981075"/>
          </a:xfrm>
          <a:prstGeom prst="roundRect">
            <a:avLst>
              <a:gd name="adj" fmla="val 7229"/>
            </a:avLst>
          </a:prstGeom>
          <a:solidFill>
            <a:srgbClr val="FFFFFF"/>
          </a:solidFill>
          <a:ln w="9525">
            <a:solidFill>
              <a:srgbClr val="CFDCE8"/>
            </a:solidFill>
            <a:prstDash val="solid"/>
          </a:ln>
        </p:spPr>
        <p:txBody>
          <a:bodyPr lIns="76200" tIns="66675" rIns="76200" bIns="66675" anchor="ctr">
            <a:noAutofit/>
          </a:bodyPr>
          <a:lstStyle/>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const logs = ["INFO: start", </a:t>
            </a:r>
            <a:endParaRPr lang="en-US" sz="1400" b="0" dirty="0">
              <a:solidFill>
                <a:srgbClr val="334155"/>
              </a:solidFill>
              <a:latin typeface="Times New Roman" panose="02020603050405020304" pitchFamily="18" charset="0"/>
              <a:ea typeface="Arial"/>
              <a:cs typeface="Times New Roman" panose="02020603050405020304" pitchFamily="18" charset="0"/>
            </a:endParaRPr>
          </a:p>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"ERROR: net", </a:t>
            </a:r>
            <a:endParaRPr lang="en-US" sz="1400" b="0" dirty="0">
              <a:solidFill>
                <a:srgbClr val="334155"/>
              </a:solidFill>
              <a:latin typeface="Times New Roman" panose="02020603050405020304" pitchFamily="18" charset="0"/>
              <a:ea typeface="Arial"/>
              <a:cs typeface="Times New Roman" panose="02020603050405020304" pitchFamily="18" charset="0"/>
            </a:endParaRPr>
          </a:p>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"ERROR: auth", </a:t>
            </a:r>
            <a:endParaRPr lang="en-US" sz="1400" b="0" dirty="0">
              <a:solidFill>
                <a:srgbClr val="334155"/>
              </a:solidFill>
              <a:latin typeface="Times New Roman" panose="02020603050405020304" pitchFamily="18" charset="0"/>
              <a:ea typeface="Arial"/>
              <a:cs typeface="Times New Roman" panose="02020603050405020304" pitchFamily="18" charset="0"/>
            </a:endParaRPr>
          </a:p>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"ERROR: time", "ERROR: disk"];</a:t>
            </a:r>
          </a:p>
        </p:txBody>
      </p:sp>
      <p:sp>
        <p:nvSpPr>
          <p:cNvPr id="10" name="data-task-5-body">
            <a:extLst>
              <a:ext uri="{FF2B5EF4-FFF2-40B4-BE49-F238E27FC236}">
                <a16:creationId xmlns:a16="http://schemas.microsoft.com/office/drawing/2014/main" id="{B4AD129C-D792-406A-8EFA-D0C73716424B}"/>
              </a:ext>
            </a:extLst>
          </p:cNvPr>
          <p:cNvSpPr>
            <a:spLocks noGrp="1"/>
          </p:cNvSpPr>
          <p:nvPr/>
        </p:nvSpPr>
        <p:spPr>
          <a:xfrm>
            <a:off x="4000500" y="2971800"/>
            <a:ext cx="7448550" cy="1162050"/>
          </a:xfrm>
          <a:prstGeom prst="rect">
            <a:avLst/>
          </a:prstGeom>
          <a:noFill/>
          <a:ln w="0">
            <a:noFill/>
          </a:ln>
        </p:spPr>
        <p:txBody>
          <a:bodyPr lIns="76200" tIns="57150" rIns="76200" bIns="57150" anchor="ctr">
            <a:normAutofit/>
          </a:bodyPr>
          <a:lstStyle/>
          <a:p>
            <a:pPr algn="l">
              <a:lnSpc>
                <a:spcPct val="104000"/>
              </a:lnSpc>
              <a:buNone/>
              <a:defRPr sz="1425" b="0">
                <a:solidFill>
                  <a:srgbClr val="111827"/>
                </a:solidFill>
                <a:latin typeface="Arial"/>
                <a:ea typeface="Arial"/>
                <a:cs typeface="Arial"/>
              </a:defRPr>
            </a:pPr>
            <a:r>
              <a:rPr sz="1425" b="0">
                <a:solidFill>
                  <a:srgbClr val="111827"/>
                </a:solidFill>
                <a:latin typeface="Times New Roman" panose="02020603050405020304" pitchFamily="18" charset="0"/>
                <a:ea typeface="Arial"/>
                <a:cs typeface="Times New Roman" panose="02020603050405020304" pitchFamily="18" charset="0"/>
              </a:rPr>
              <a:t>Оставьте строки, содержащие ERROR, преобразуйте их в верхний регистр и получите только первые три записи. Решение запишите одной цепочкой методов.</a:t>
            </a:r>
          </a:p>
        </p:txBody>
      </p:sp>
      <p:sp>
        <p:nvSpPr>
          <p:cNvPr id="11" name="data-task-6-surface">
            <a:extLst>
              <a:ext uri="{FF2B5EF4-FFF2-40B4-BE49-F238E27FC236}">
                <a16:creationId xmlns:a16="http://schemas.microsoft.com/office/drawing/2014/main" id="{FA36502F-09AA-4684-8EC4-A77AAAAEA1BB}"/>
              </a:ext>
            </a:extLst>
          </p:cNvPr>
          <p:cNvSpPr>
            <a:spLocks noGrp="1"/>
          </p:cNvSpPr>
          <p:nvPr/>
        </p:nvSpPr>
        <p:spPr>
          <a:xfrm>
            <a:off x="457200" y="4495800"/>
            <a:ext cx="11277600" cy="1504950"/>
          </a:xfrm>
          <a:prstGeom prst="roundRect">
            <a:avLst>
              <a:gd name="adj" fmla="val 7595"/>
            </a:avLst>
          </a:prstGeom>
          <a:solidFill>
            <a:srgbClr val="EAF4FD"/>
          </a:solidFill>
          <a:ln w="9525">
            <a:solidFill>
              <a:srgbClr val="9BB8D3"/>
            </a:solidFill>
            <a:prstDash val="solid"/>
          </a:ln>
        </p:spPr>
      </p:sp>
      <p:sp>
        <p:nvSpPr>
          <p:cNvPr id="12" name="data-task-6-title">
            <a:extLst>
              <a:ext uri="{FF2B5EF4-FFF2-40B4-BE49-F238E27FC236}">
                <a16:creationId xmlns:a16="http://schemas.microsoft.com/office/drawing/2014/main" id="{84BF1D62-C208-4CCB-998A-4CFF6B591C7A}"/>
              </a:ext>
            </a:extLst>
          </p:cNvPr>
          <p:cNvSpPr>
            <a:spLocks noGrp="1"/>
          </p:cNvSpPr>
          <p:nvPr/>
        </p:nvSpPr>
        <p:spPr>
          <a:xfrm>
            <a:off x="647700" y="4610100"/>
            <a:ext cx="3048000" cy="323850"/>
          </a:xfrm>
          <a:prstGeom prst="rect">
            <a:avLst/>
          </a:prstGeom>
          <a:noFill/>
          <a:ln w="0">
            <a:noFill/>
          </a:ln>
        </p:spPr>
        <p:txBody>
          <a:bodyPr lIns="19050" tIns="9525" rIns="19050" bIns="9525" anchor="t">
            <a:normAutofit/>
          </a:bodyPr>
          <a:lstStyle/>
          <a:p>
            <a:pPr algn="l">
              <a:lnSpc>
                <a:spcPct val="104000"/>
              </a:lnSpc>
              <a:buNone/>
              <a:defRPr sz="1575" b="1">
                <a:solidFill>
                  <a:srgbClr val="1F3A72"/>
                </a:solidFill>
                <a:latin typeface="Arial"/>
                <a:ea typeface="Arial"/>
                <a:cs typeface="Arial"/>
              </a:defRPr>
            </a:pPr>
            <a:r>
              <a:rPr sz="1575" b="1">
                <a:solidFill>
                  <a:srgbClr val="1F3A72"/>
                </a:solidFill>
                <a:latin typeface="Times New Roman" panose="02020603050405020304" pitchFamily="18" charset="0"/>
                <a:ea typeface="Arial"/>
                <a:cs typeface="Times New Roman" panose="02020603050405020304" pitchFamily="18" charset="0"/>
              </a:rPr>
              <a:t>6. Категории без повторов</a:t>
            </a:r>
          </a:p>
        </p:txBody>
      </p:sp>
      <p:sp>
        <p:nvSpPr>
          <p:cNvPr id="13" name="data-task-6-example">
            <a:extLst>
              <a:ext uri="{FF2B5EF4-FFF2-40B4-BE49-F238E27FC236}">
                <a16:creationId xmlns:a16="http://schemas.microsoft.com/office/drawing/2014/main" id="{62C4908A-360F-4A3A-A2E4-E6B22072E665}"/>
              </a:ext>
            </a:extLst>
          </p:cNvPr>
          <p:cNvSpPr>
            <a:spLocks noGrp="1"/>
          </p:cNvSpPr>
          <p:nvPr/>
        </p:nvSpPr>
        <p:spPr>
          <a:xfrm>
            <a:off x="647700" y="4981575"/>
            <a:ext cx="3048000" cy="790575"/>
          </a:xfrm>
          <a:prstGeom prst="roundRect">
            <a:avLst>
              <a:gd name="adj" fmla="val 7229"/>
            </a:avLst>
          </a:prstGeom>
          <a:solidFill>
            <a:srgbClr val="FFFFFF"/>
          </a:solidFill>
          <a:ln w="9525">
            <a:solidFill>
              <a:srgbClr val="CFDCE8"/>
            </a:solidFill>
            <a:prstDash val="solid"/>
          </a:ln>
        </p:spPr>
        <p:txBody>
          <a:bodyPr lIns="76200" tIns="66675" rIns="76200" bIns="66675" anchor="ctr">
            <a:normAutofit/>
          </a:bodyPr>
          <a:lstStyle/>
          <a:p>
            <a:pPr algn="l">
              <a:lnSpc>
                <a:spcPct val="104000"/>
              </a:lnSpc>
              <a:buNone/>
              <a:defRPr sz="1163" b="0">
                <a:solidFill>
                  <a:srgbClr val="334155"/>
                </a:solidFill>
                <a:latin typeface="Arial"/>
                <a:ea typeface="Arial"/>
                <a:cs typeface="Arial"/>
              </a:defRPr>
            </a:pPr>
            <a:r>
              <a:rPr sz="1400" b="0" dirty="0">
                <a:solidFill>
                  <a:srgbClr val="334155"/>
                </a:solidFill>
                <a:latin typeface="Times New Roman" panose="02020603050405020304" pitchFamily="18" charset="0"/>
                <a:ea typeface="Arial"/>
                <a:cs typeface="Times New Roman" panose="02020603050405020304" pitchFamily="18" charset="0"/>
              </a:rPr>
              <a:t>const tags = ["UI", "API", "UI", "DATA", "API", "TEST"];</a:t>
            </a:r>
          </a:p>
        </p:txBody>
      </p:sp>
      <p:sp>
        <p:nvSpPr>
          <p:cNvPr id="14" name="data-task-6-body">
            <a:extLst>
              <a:ext uri="{FF2B5EF4-FFF2-40B4-BE49-F238E27FC236}">
                <a16:creationId xmlns:a16="http://schemas.microsoft.com/office/drawing/2014/main" id="{82D9FAE3-0CB9-4BA6-8F54-4D40ADDE825E}"/>
              </a:ext>
            </a:extLst>
          </p:cNvPr>
          <p:cNvSpPr>
            <a:spLocks noGrp="1"/>
          </p:cNvSpPr>
          <p:nvPr/>
        </p:nvSpPr>
        <p:spPr>
          <a:xfrm>
            <a:off x="4000500" y="4667250"/>
            <a:ext cx="7448550" cy="1162050"/>
          </a:xfrm>
          <a:prstGeom prst="rect">
            <a:avLst/>
          </a:prstGeom>
          <a:noFill/>
          <a:ln w="0">
            <a:noFill/>
          </a:ln>
        </p:spPr>
        <p:txBody>
          <a:bodyPr lIns="76200" tIns="57150" rIns="76200" bIns="57150" anchor="ctr">
            <a:normAutofit/>
          </a:bodyPr>
          <a:lstStyle/>
          <a:p>
            <a:pPr algn="l">
              <a:lnSpc>
                <a:spcPct val="104000"/>
              </a:lnSpc>
              <a:buNone/>
              <a:defRPr sz="1425" b="0">
                <a:solidFill>
                  <a:srgbClr val="111827"/>
                </a:solidFill>
                <a:latin typeface="Arial"/>
                <a:ea typeface="Arial"/>
                <a:cs typeface="Arial"/>
              </a:defRPr>
            </a:pPr>
            <a:r>
              <a:rPr sz="1425" b="0">
                <a:solidFill>
                  <a:srgbClr val="111827"/>
                </a:solidFill>
                <a:latin typeface="Times New Roman" panose="02020603050405020304" pitchFamily="18" charset="0"/>
                <a:ea typeface="Arial"/>
                <a:cs typeface="Times New Roman" panose="02020603050405020304" pitchFamily="18" charset="0"/>
              </a:rPr>
              <a:t>Создайте новый массив, в котором каждая категория встречается один раз. Используйте for...of и includes(). Порядок первого появления категорий должен сохраниться.</a:t>
            </a:r>
          </a:p>
        </p:txBody>
      </p:sp>
    </p:spTree>
    <p:extLst>
      <p:ext uri="{BB962C8B-B14F-4D97-AF65-F5344CB8AC3E}">
        <p14:creationId xmlns:p14="http://schemas.microsoft.com/office/powerpoint/2010/main" val="153177626"/>
      </p:ext>
    </p:extLst>
  </p:cSld>
  <p:clrMapOvr>
    <a:masterClrMapping/>
  </p:clrMapOvr>
</p:sld>
</file>

<file path=ppt/theme/theme1.xml><?xml version="1.0" encoding="utf-8"?>
<a:theme xmlns:a="http://schemas.openxmlformats.org/drawingml/2006/main" name="1_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368</TotalTime>
  <Words>11252</Words>
  <Application>Microsoft Office PowerPoint</Application>
  <PresentationFormat>Широкоэкранный</PresentationFormat>
  <Paragraphs>1054</Paragraphs>
  <Slides>15</Slides>
  <Notes>15</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15</vt:i4>
      </vt:variant>
    </vt:vector>
  </HeadingPairs>
  <TitlesOfParts>
    <vt:vector size="23" baseType="lpstr">
      <vt:lpstr>-apple-system</vt:lpstr>
      <vt:lpstr>Aptos</vt:lpstr>
      <vt:lpstr>Arial</vt:lpstr>
      <vt:lpstr>Calibri</vt:lpstr>
      <vt:lpstr>KyivType Sans Heavy</vt:lpstr>
      <vt:lpstr>Symbol</vt:lpstr>
      <vt:lpstr>Times New Roman</vt:lpstr>
      <vt:lpstr>1_Тема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LightKey.Store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Наиля Мавлюдова</dc:creator>
  <cp:lastModifiedBy>Преподаватель</cp:lastModifiedBy>
  <cp:revision>26</cp:revision>
  <dcterms:created xsi:type="dcterms:W3CDTF">2026-09-23T06:28:39Z</dcterms:created>
  <dcterms:modified xsi:type="dcterms:W3CDTF">2026-09-25T12:24:52Z</dcterms:modified>
</cp:coreProperties>
</file>