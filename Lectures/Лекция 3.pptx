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61"/>
  </p:notesMasterIdLst>
  <p:sldIdLst>
    <p:sldId id="256" r:id="rId3"/>
    <p:sldId id="257" r:id="rId4"/>
    <p:sldId id="334" r:id="rId5"/>
    <p:sldId id="335" r:id="rId6"/>
    <p:sldId id="336"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6" r:id="rId36"/>
    <p:sldId id="367" r:id="rId37"/>
    <p:sldId id="368" r:id="rId38"/>
    <p:sldId id="369" r:id="rId39"/>
    <p:sldId id="370" r:id="rId40"/>
    <p:sldId id="371" r:id="rId41"/>
    <p:sldId id="372" r:id="rId42"/>
    <p:sldId id="374" r:id="rId43"/>
    <p:sldId id="375" r:id="rId44"/>
    <p:sldId id="376" r:id="rId45"/>
    <p:sldId id="377" r:id="rId46"/>
    <p:sldId id="378" r:id="rId47"/>
    <p:sldId id="379" r:id="rId48"/>
    <p:sldId id="380" r:id="rId49"/>
    <p:sldId id="381" r:id="rId50"/>
    <p:sldId id="382" r:id="rId51"/>
    <p:sldId id="383" r:id="rId52"/>
    <p:sldId id="384" r:id="rId53"/>
    <p:sldId id="385" r:id="rId54"/>
    <p:sldId id="386" r:id="rId55"/>
    <p:sldId id="387" r:id="rId56"/>
    <p:sldId id="388" r:id="rId57"/>
    <p:sldId id="389" r:id="rId58"/>
    <p:sldId id="390" r:id="rId59"/>
    <p:sldId id="391" r:id="rId6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630" autoAdjust="0"/>
  </p:normalViewPr>
  <p:slideViewPr>
    <p:cSldViewPr snapToGrid="0">
      <p:cViewPr varScale="1">
        <p:scale>
          <a:sx n="73" d="100"/>
          <a:sy n="73" d="100"/>
        </p:scale>
        <p:origin x="1998" y="78"/>
      </p:cViewPr>
      <p:guideLst/>
    </p:cSldViewPr>
  </p:slideViewPr>
  <p:notesTextViewPr>
    <p:cViewPr>
      <p:scale>
        <a:sx n="1" d="1"/>
        <a:sy n="1" d="1"/>
      </p:scale>
      <p:origin x="0" y="-1422"/>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EDE34-BD39-4A17-993B-776962D4FFDB}" type="datetimeFigureOut">
              <a:rPr lang="ru-RU" smtClean="0"/>
              <a:t>24.09.26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82D72E-85D0-4C69-B09C-BF5689C20FC7}" type="slidenum">
              <a:rPr lang="ru-RU" smtClean="0"/>
              <a:t>‹#›</a:t>
            </a:fld>
            <a:endParaRPr lang="ru-RU"/>
          </a:p>
        </p:txBody>
      </p:sp>
    </p:spTree>
    <p:extLst>
      <p:ext uri="{BB962C8B-B14F-4D97-AF65-F5344CB8AC3E}">
        <p14:creationId xmlns:p14="http://schemas.microsoft.com/office/powerpoint/2010/main" val="1850122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EB6EA5-BBE7-43BF-8BFD-25EDB7B77679}"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4537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dirty="0">
                <a:effectLst/>
                <a:latin typeface="Times New Roman" panose="02020603050405020304" pitchFamily="18" charset="0"/>
                <a:ea typeface="Aptos" panose="020B0004020202020204" pitchFamily="34" charset="0"/>
              </a:rPr>
              <a:t>JavaScript относится к современным высокоуровневым языкам программирования.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 помощью JavaScript можно решать самые разнообразные задачи.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этом языке можно хранить и изменять данные, выполнять математические вычисления, проверять различные условия, организовывать повторение действий, создавать собственные функции, работать с наборами данных, реагировать на действия пользователя, обмениваться информацией с сервером и создавать полноценные интерактивные приложения.</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79229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Без знания языка невозможно объявлять переменные, хранить данные приложения, выполнять вычисления, создавать обработчики событий, проверять введённые пользователем значения, работать с функциями, массивами и объектами, выполнять сетевые запросы и понимать возникающие ошибки.</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1811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Прежде всего JavaScript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высокоуровневым языком программирования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Это означает, что разработчик использует удобные конструкции языка и не занимается непосредственным управлением памятью компьютера или процессором. Такие задачи выполняет сама среда выполнения.</a:t>
            </a:r>
          </a:p>
          <a:p>
            <a:r>
              <a:rPr lang="ru-RU" sz="1800" dirty="0">
                <a:effectLst/>
                <a:latin typeface="Times New Roman" panose="02020603050405020304" pitchFamily="18" charset="0"/>
                <a:ea typeface="Aptos" panose="020B0004020202020204" pitchFamily="34" charset="0"/>
              </a:rPr>
              <a:t>Вторая важная особенность заключается в том, что JavaScript — </a:t>
            </a:r>
            <a:r>
              <a:rPr lang="ru-RU" sz="1800" b="1" dirty="0">
                <a:effectLst/>
                <a:latin typeface="Times New Roman" panose="02020603050405020304" pitchFamily="18" charset="0"/>
                <a:ea typeface="Aptos" panose="020B0004020202020204" pitchFamily="34" charset="0"/>
              </a:rPr>
              <a:t>динамически типизированный язык</a:t>
            </a:r>
            <a:r>
              <a:rPr lang="ru-RU" sz="1800" dirty="0">
                <a:effectLst/>
                <a:latin typeface="Times New Roman" panose="02020603050405020304" pitchFamily="18" charset="0"/>
                <a:ea typeface="Aptos" panose="020B0004020202020204" pitchFamily="34" charset="0"/>
              </a:rPr>
              <a:t>. Это означает, что тип данных определяется во время выполнения программы и связан не с переменной, а с тем значением, которое в ней хранится в данный момент.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Следующая характеристика — JavaScript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интерпретируемым языком</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Перед выполнением программы её код анализируется специальной программной средой, которая последовательно выполняет инструкции.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того, JavaScript относится к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мультипарадигменным</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языкам</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означает, что он поддерживает сразу несколько подходов к программированию.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Среди них процедурное программирование, объектно-ориентированное программирование, функциональный подход и событийно-ориентированная модель.</a:t>
            </a:r>
            <a:b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b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Кто мне может сказать в чем смысл каждого подхода?</a:t>
            </a:r>
          </a:p>
          <a:p>
            <a:pPr indent="450215" algn="just">
              <a:lnSpc>
                <a:spcPct val="150000"/>
              </a:lnSpc>
            </a:pPr>
            <a:r>
              <a:rPr lang="ru-RU" sz="2800" b="1" u="none" strike="noStrike" dirty="0">
                <a:effectLst/>
                <a:latin typeface="Google Sans"/>
              </a:rPr>
              <a:t>Процедурное программирование</a:t>
            </a:r>
            <a:r>
              <a:rPr lang="ru-RU" sz="2800" dirty="0"/>
              <a:t> — это парадигма программирования, основанная на разбиении программы на последовательность шагов, подпрограмм, процедур или функций для выполнения определенных задач. </a:t>
            </a:r>
          </a:p>
          <a:p>
            <a:pPr indent="450215" algn="just">
              <a:lnSpc>
                <a:spcPct val="150000"/>
              </a:lnSpc>
            </a:pPr>
            <a:r>
              <a:rPr lang="ru-RU" sz="2800" b="1" u="none" strike="noStrike" dirty="0">
                <a:effectLst/>
                <a:latin typeface="Google Sans"/>
              </a:rPr>
              <a:t>Объектно-ориентированное программирование (ООП):</a:t>
            </a:r>
            <a:r>
              <a:rPr lang="ru-RU" sz="2800" dirty="0"/>
              <a:t> Программу представляют в виде набора объектов. У каждого объекта есть свои свойства (данные) и методы (поведение). Основа подхода — три принципа: наследование, полиморфизм и инкапсуляция.</a:t>
            </a:r>
          </a:p>
          <a:p>
            <a:r>
              <a:rPr lang="ru-RU" sz="2800" b="1" dirty="0"/>
              <a:t>	Функциональный подход:</a:t>
            </a:r>
            <a:r>
              <a:rPr lang="ru-RU" sz="2800" dirty="0"/>
              <a:t> программа строится преимущественно из </a:t>
            </a:r>
            <a:r>
              <a:rPr lang="ru-RU" sz="2800" b="1" dirty="0"/>
              <a:t>функций</a:t>
            </a:r>
            <a:r>
              <a:rPr lang="ru-RU" sz="2800" dirty="0"/>
              <a:t>, которые получают данные и возвращают результат.</a:t>
            </a:r>
          </a:p>
          <a:p>
            <a:r>
              <a:rPr lang="ru-RU" sz="2800" dirty="0"/>
              <a:t>В функциональном подходе особенно важны:</a:t>
            </a:r>
          </a:p>
          <a:p>
            <a:pPr>
              <a:buFont typeface="Arial" panose="020B0604020202020204" pitchFamily="34" charset="0"/>
              <a:buChar char="•"/>
            </a:pPr>
            <a:r>
              <a:rPr lang="ru-RU" sz="2800" dirty="0"/>
              <a:t>функции; </a:t>
            </a:r>
          </a:p>
          <a:p>
            <a:pPr>
              <a:buFont typeface="Arial" panose="020B0604020202020204" pitchFamily="34" charset="0"/>
              <a:buChar char="•"/>
            </a:pPr>
            <a:r>
              <a:rPr lang="ru-RU" sz="2800" dirty="0"/>
              <a:t>передача функций как параметров; </a:t>
            </a:r>
          </a:p>
          <a:p>
            <a:pPr>
              <a:buFont typeface="Arial" panose="020B0604020202020204" pitchFamily="34" charset="0"/>
              <a:buChar char="•"/>
            </a:pPr>
            <a:r>
              <a:rPr lang="ru-RU" sz="2800" dirty="0"/>
              <a:t>функции высшего порядка; </a:t>
            </a:r>
          </a:p>
          <a:p>
            <a:pPr>
              <a:buFont typeface="Arial" panose="020B0604020202020204" pitchFamily="34" charset="0"/>
              <a:buChar char="•"/>
            </a:pPr>
            <a:r>
              <a:rPr lang="ru-RU" sz="2800" dirty="0"/>
              <a:t>стрелочные функции; </a:t>
            </a:r>
          </a:p>
          <a:p>
            <a:pPr>
              <a:buFont typeface="Arial" panose="020B0604020202020204" pitchFamily="34" charset="0"/>
              <a:buChar char="•"/>
            </a:pPr>
            <a:r>
              <a:rPr lang="ru-RU" sz="2800" dirty="0"/>
              <a:t>методы массивов </a:t>
            </a:r>
            <a:r>
              <a:rPr lang="ru-RU" sz="2800" dirty="0" err="1"/>
              <a:t>map</a:t>
            </a:r>
            <a:r>
              <a:rPr lang="ru-RU" sz="2800" dirty="0"/>
              <a:t>(), </a:t>
            </a:r>
            <a:r>
              <a:rPr lang="ru-RU" sz="2800" dirty="0" err="1"/>
              <a:t>filter</a:t>
            </a:r>
            <a:r>
              <a:rPr lang="ru-RU" sz="2800" dirty="0"/>
              <a:t>(), </a:t>
            </a:r>
            <a:r>
              <a:rPr lang="ru-RU" sz="2800" dirty="0" err="1"/>
              <a:t>reduce</a:t>
            </a:r>
            <a:r>
              <a:rPr lang="ru-RU" sz="2800" dirty="0"/>
              <a:t>(); </a:t>
            </a:r>
          </a:p>
          <a:p>
            <a:pPr>
              <a:buFont typeface="Arial" panose="020B0604020202020204" pitchFamily="34" charset="0"/>
              <a:buChar char="•"/>
            </a:pPr>
            <a:r>
              <a:rPr lang="ru-RU" sz="2800" dirty="0"/>
              <a:t>минимизация изменения исходных данных.</a:t>
            </a:r>
          </a:p>
          <a:p>
            <a:r>
              <a:rPr lang="ru-RU" sz="2800" b="1" dirty="0"/>
              <a:t>Событийно-ориентированный подход:</a:t>
            </a:r>
            <a:r>
              <a:rPr lang="ru-RU" sz="2800" dirty="0"/>
              <a:t> программа реагирует на </a:t>
            </a:r>
            <a:r>
              <a:rPr lang="ru-RU" sz="2800" b="1" dirty="0"/>
              <a:t>события</a:t>
            </a:r>
            <a:r>
              <a:rPr lang="ru-RU" sz="2800" dirty="0"/>
              <a:t>, которые происходят во время работы приложения.</a:t>
            </a:r>
          </a:p>
          <a:p>
            <a:pPr indent="450215" algn="just">
              <a:lnSpc>
                <a:spcPct val="150000"/>
              </a:lnSpc>
            </a:pP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ru-RU" b="1" dirty="0"/>
              <a:t>В рамках разработки мобильных приложений с </a:t>
            </a:r>
            <a:r>
              <a:rPr lang="ru-RU" b="1" dirty="0" err="1"/>
              <a:t>React</a:t>
            </a:r>
            <a:r>
              <a:rPr lang="ru-RU" b="1" dirty="0"/>
              <a:t> </a:t>
            </a:r>
            <a:r>
              <a:rPr lang="ru-RU" b="1" dirty="0" err="1"/>
              <a:t>Native</a:t>
            </a:r>
            <a:r>
              <a:rPr lang="ru-RU" b="1" dirty="0"/>
              <a:t> мы будем использовать их совместно, но основными для нас будут три: функциональный, событийно-ориентированный и декларативный подходы.</a:t>
            </a:r>
            <a:endParaRPr lang="ru-RU" dirty="0"/>
          </a:p>
          <a:p>
            <a:r>
              <a:rPr lang="ru-RU" b="1" dirty="0"/>
              <a:t>Функциональный подход</a:t>
            </a:r>
            <a:r>
              <a:rPr lang="ru-RU" dirty="0"/>
              <a:t> будем использовать для написания логики приложения: создавать функции, обрабатывать данные, использовать стрелочные функции и методы массивов.</a:t>
            </a:r>
          </a:p>
          <a:p>
            <a:r>
              <a:rPr lang="ru-RU" b="1" dirty="0"/>
              <a:t>Событийно-ориентированный подход</a:t>
            </a:r>
            <a:r>
              <a:rPr lang="ru-RU" dirty="0"/>
              <a:t> будет отвечать за взаимодействие пользователя с приложением: нажатия кнопок, ввод текста, выбор элементов и другие действия пользователя.</a:t>
            </a:r>
          </a:p>
          <a:p>
            <a:r>
              <a:rPr lang="ru-RU" b="1" dirty="0"/>
              <a:t>Декларативный подход</a:t>
            </a:r>
            <a:r>
              <a:rPr lang="ru-RU" dirty="0"/>
              <a:t> будем использовать при создании интерфейса: мы будем описывать, </a:t>
            </a:r>
            <a:r>
              <a:rPr lang="ru-RU" b="1" dirty="0"/>
              <a:t>что должно отображаться на экране</a:t>
            </a:r>
            <a:r>
              <a:rPr lang="ru-RU" dirty="0"/>
              <a:t>, а </a:t>
            </a:r>
            <a:r>
              <a:rPr lang="ru-RU" dirty="0" err="1"/>
              <a:t>React</a:t>
            </a:r>
            <a:r>
              <a:rPr lang="ru-RU" dirty="0"/>
              <a:t> </a:t>
            </a:r>
            <a:r>
              <a:rPr lang="ru-RU" dirty="0" err="1"/>
              <a:t>Native</a:t>
            </a:r>
            <a:r>
              <a:rPr lang="ru-RU" dirty="0"/>
              <a:t> будет управлять обновлением интерфейса.</a:t>
            </a:r>
            <a:r>
              <a:rPr lang="en-US" dirty="0"/>
              <a:t> </a:t>
            </a:r>
            <a:r>
              <a:rPr lang="ru-RU" dirty="0"/>
              <a:t>Декларативный подход также используется в базах данных при написании запросов </a:t>
            </a:r>
            <a:r>
              <a:rPr lang="en-US"/>
              <a:t>SQL</a:t>
            </a:r>
            <a:endParaRPr lang="ru-RU" dirty="0"/>
          </a:p>
          <a:p>
            <a:r>
              <a:rPr lang="ru-RU" b="1" dirty="0"/>
              <a:t>Процедурный подход</a:t>
            </a:r>
            <a:r>
              <a:rPr lang="ru-RU" dirty="0"/>
              <a:t> также будет встречаться внутри функций, когда нам потребуется реализовать последовательность действий или алгоритм.</a:t>
            </a:r>
          </a:p>
          <a:p>
            <a:r>
              <a:rPr lang="ru-RU" b="1" dirty="0"/>
              <a:t>Объектно-ориентированный подход</a:t>
            </a:r>
            <a:r>
              <a:rPr lang="ru-RU" dirty="0"/>
              <a:t> отдельно изучать как основной подход для </a:t>
            </a:r>
            <a:r>
              <a:rPr lang="ru-RU" dirty="0" err="1"/>
              <a:t>React</a:t>
            </a:r>
            <a:r>
              <a:rPr lang="ru-RU" dirty="0"/>
              <a:t> </a:t>
            </a:r>
            <a:r>
              <a:rPr lang="ru-RU" dirty="0" err="1"/>
              <a:t>Native</a:t>
            </a:r>
            <a:r>
              <a:rPr lang="ru-RU" dirty="0"/>
              <a:t> мы не будем, но объекты JavaScript будем активно использовать для хранения и обработки данных.</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1246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Любое изучение языка программирования начинается с самой простой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данном слайде представлена одна инструкция: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console.log("Привет, JavaScript!");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Первая часть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специальный объект, который предоставляет различные средства для вывода информации.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точки записано слово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log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метод объекта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предназначенный для вывода данных в консоль.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круглых скобках располагается строковое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его программа выводит на экран.</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Через подобные инструкции выполняется вывод результатов вычислений, отладочная печать программы и отображение различной служебной информации во время разработки.</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79191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рассмотрим программу, которая уже содержит не только вывод текста, но и работу с данными.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программе сначала создаётся константа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которой хранится строковое значение. Затем создаётся переменная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lessonNumber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которой присваивается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После этого обе переменные выводятся в консоль с помощью метода console.log().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в отличие от предыдущего примера здесь выводится не только текст, но и значения переменных.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первой инструкции консоль выводит слово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«Студент:»</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затем значение переменной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второй инструкции выводится текст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«Номер занятия:»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значение переменной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lessonNumber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 мы знаем, компьютер хранит сами данные отдельно от их имён.</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идентификатор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это не текст, который увидит пользователь. Это имя, по которому программа обращается к значению.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Когда выполняется команда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программа сначала находит значение, связанное с переменной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затем выводит именно это значение.</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8031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Любая программа на JavaScript состоит из нескольких основных элементов.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Одним из таких элементов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инструкция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Инструкция представляет собой отдельную завершённую команду, которую должна выполнить программа.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18;</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создаём константу и сохраняем в неё значение.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важный элемент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выражение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Выражение отличается тем, что оно вычисляется и всегда возвращает некоторое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Сложение двух чисел.</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Другой элемент языка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литерал</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Литералом называется значение, непосредственно записанное в исходном коде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может быть числовой литерал, строковый литерал или логический литерал.</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Следующее—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идентификатор</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Идентификатор представляет собой имя программного элемента.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в инструкции</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"Ирина";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идентификатором является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 этому имени программа впоследствии будет обращаться к сохранённому значению.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можно сказать, что инструкция задаёт действие, выражение вычисляет значение, литерал представляет само значение, а идентификатор является именем, по которому программа обращается к данным.</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2708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Каждый язык программирования имеет собственные правила записи программ.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Совокупность этих правил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синтаксисом языка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синтаксис определяет, каким образом должны записываться инструкции, где используются скобки, каким образом оформляются строки, объявляются переменные и разделяются отдельные команды программы.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Важно понимать, что синтаксические ошибки отличаются от логических.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синтаксической ошибке программа вообще не запускается.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логической ошибке программа запускается, но выполняет действия неправильно.</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592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данном слайде представлена небольшая программа, которая выполняет простое вычисление стоимости товара с учётом скидки.</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2458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Любая программа состоит из отдельных команд, которые компьютер выполняет последовательно. Такие команды называются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инструкциями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Каждая инструкция представляет собой одно законченное действие, которое должна выполнить программа. После завершения одной инструкции начинается выполнение следующей.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приведено несколько примеров инструкций:</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city</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"Москва";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Эта инструкция создаёт константу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city</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записывает в неё строковое значение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«Москва»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Следующая инструкция: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let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temperature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20;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создаёт переменную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temperature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сохраняет в неё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Далее выполняется инструкция по изменению значения переменной:</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temperature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23;</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Последняя инструкция выводит текущее значение переменной в консоль. Поскольку перед этим значение было изменено, на экране появится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23</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не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каждая строка программы выполняет самостоятельное действие.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Одни инструкции создают новые данные.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Другие изменяют уже существующие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Третьи выводят информацию пользователю или выполняют какие-либо вычисления.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завершения инструкции традиционно используется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точка с запятой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Точка с запятой показывает, где заканчивается одна инструкция и начинается следующая.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этом JavaScript обладает особенностью, которая способна автоматически определить конец инструкции.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полностью полагаться на механизм ASI не рекомендуется.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некоторых ситуациях автоматическая вставка может определить границу инструкции не так, как предполагал разработчик, что приведёт к ошибкам.</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193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инструкций, важнейшим элементом любого языка программирования являются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выражения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инструкция определяет действие программы, то выражение отвечает за вычисление некоторого значения. Иными словами, результатом выполнения любого выражения всегда становится определённое значение.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Самый простой пример — арифметическое выражение сложения чисел</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пример — строковое выражение: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объединяет две строки в одну, и результатом станет строка одна общая строка.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также приведено логическое выражение: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выполняется сравнение значения переменной с числом.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такого выражения будет не число и не строка, а логическое значение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true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или</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один пример выражения с переменными: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Само по себе выражение ещё ничего не делает с полученным результатом.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программа вычислит значение, но затем сразу его забудет.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выражения обычно используются внутри инструкций.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total = price * quantity;</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данном случае сначала вычисляется выражение.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полученный результат сохраняется в константе.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можно сказать, что программа работает в два этапа.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вычисляются выражения.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инструкции используют результаты этих вычислений для выполнения необходимых действий: сохраняют данные, выводят их на экран или выполняют дальнейшую обработку.</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4605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написании любой программы разработчик постоянно создаёт новые переменные, константы, функции и другие программные элементы. Чтобы обращаться к ним, каждому из них необходимо дать собственное имя. Такое имя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идентификатором</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Именно идентификаторы позволяют программе отличать одну переменную от другой и обращаться к нужным данным.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Идентификаторы используются как имена самых разных элементов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имя может иметь переменная, константа, функция, параметр функции, объект или класс.</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Основные правила записи идентификаторов.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Идентификатор может содержать латинские буквы, цифры, символ подчёркивания и символ доллара.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существует несколько ограничений.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Самое важное правило заключается в том, что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идентификатор не может начинаться с цифры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Причина проста: интерпретатор может воспринять начало записи как число, а не как имя переменной.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Также в идентификаторах нельзя использовать пробелы т.к. будет воспринято как два отдельных слова и приведёт к синтаксической ошибке.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Нельзя использовать и некоторые специальные символы.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дефис, потому что символ дефиса в JavaScript используется как оператор вычитания.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интерпретатор воспримет такую запись как выражение, а не как имя переменной.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выборе имени желательно придерживаться ещё одного важного правила.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Название должно отражать назначение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если мы даем имя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totalPrice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Мы понимаем, что в переменной хранится итоговая стоимость.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указывает на имя пользователя.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хороший идентификатор должен одновременно соответствовать синтаксическим правилам языка и быть понятным человеку, который читает программу.</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290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Помимо идентификаторов, в языке программирования существуют специальные слова, которые уже имеют заранее определённое назначение. Такие слова называются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ключевыми словами языка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Они являются частью синтаксиса JavaScript и используются для построения различных конструкций программы.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приведены наиболее распространённые ключевые слова: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Каждое из этих слов выполняет строго определённую функцию.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let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используется для объявления переменных.</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для объявления констант.</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применяется при проверке условий.</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for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while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используются для организации циклов.</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function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позволяет создавать функции.</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return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возвращает результат работы функции.</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class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применяется при создании классов.</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import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export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используются для работы с модулями.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все эти слова уже имеют специальное значение, использовать их как имена собственных переменных нельзя.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запись</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return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является ошибочной.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слово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return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уже зарезервировано языком программирования и имеет собственное назначение.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Интерпретатор не сможет понять, где разработчик хочет использовать оператор возврата значения, а где — имя переменной.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подобный код завершится синтаксической ошибкой ещё до начала выполнения программы.</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3684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одной важной особенностью JavaScript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чувствительность к регистру символов</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Это означает, что заглавные и строчные буквы считаются различными символами. Поэтому два имени, отличающиеся только регистром, воспринимаются языком как совершенно разные идентификаторы.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приведены четыре варианта записи для константы:</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USERNAME</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то что визуально эти записи очень похожи, для JavaScript это четыре разных идентификатора.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создаётся константа:</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выполняется инструкция: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переменная действительно существует, программа успешно выведет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следующая инструкция записана иначе: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первая буква стала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заглавной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человека такая разница может показаться незначительной.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Но интерпретатор JavaScript считает, что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это совершенно разные имена.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переменная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нигде ранее не была объявлена, программа завершится ошибкой.</a:t>
            </a:r>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86617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Наиболее распространённым стилем именования в JavaScript является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camelCase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Главное правило этого стиля очень простое.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Первое слово всегда начинается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со строчной буквы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Каждое следующее слово начинается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 заглавной буквы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этом между словами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 ставятся пробелы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не используются специальные символы.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на слайде представлены корректные варианты во всех трёх случаях первое слово начинается с маленькой буквы, а каждое следующее — с заглавной.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Подобный стиль делает длинные имена значительно более читаемыми.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также показан пример неудачного именования: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 точки зрения языка этот код абсолютно корректен.</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по имени невозможно понять, что именно хранится в переменной.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Совсем иначе выглядит запись:</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totalPrice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2500;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Даже не читая остальную программу, можно сразу догадаться, что в переменной хранится итоговая стоимость.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при выборе имён всегда рекомендуется использовать осмысленные слова, отражающие назначение данных.</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995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рассмотрим—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литералы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Литералом называется значение, которое непосредственно записано в программном коде. В отличие от переменной, литерал не имеет собственного имени. Это просто готовое значение, которое используется программой.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приведены несколько видов литералов.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вид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числовые литералы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Все эти записи являются обычными числовыми значениями.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вид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строковые литералы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Строковые литералы используются для хранения текстовой информации.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Логические литералы и существует специальный литерал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в JavaScript строки можно записывать в двойных, в одинарных и </a:t>
            </a:r>
            <a:r>
              <a:rPr lang="ru-RU" sz="1800" b="0" kern="100" dirty="0">
                <a:effectLst/>
                <a:latin typeface="Times New Roman" panose="02020603050405020304" pitchFamily="18" charset="0"/>
                <a:ea typeface="Aptos" panose="020B0004020202020204" pitchFamily="34" charset="0"/>
                <a:cs typeface="Times New Roman" panose="02020603050405020304" pitchFamily="18" charset="0"/>
              </a:rPr>
              <a:t>обратных кавычках.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Строки, записанные в обратных кавычках, называются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шаблонными строками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Они обладают дополнительными возможностями, которых нет у обычных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Самая важная из них — возможность вставлять внутрь строки значения переменных и результаты выражений.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console.log(`Здравствуйте,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программы на экран будет выведено: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Здравствуйте, 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на конструкцию: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Она означает, что вместо этой записи будет подставлено текущее значение переменной.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одно важное правило касается кавычек.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Начальная и конечная кавычки обязательно должны совпадать.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строка начинается двойной кавычкой, она должна закончиться двойной.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Несовпадение кавычек приведёт к синтаксической ошибке, и программа не сможет выполниться.</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1623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элемент синтаксиса языка — различные виды скобок. В JavaScript каждая разновидность скобок имеет собственное назначение. На данном слайде рассматриваются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фигурные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квадратные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скобки.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Фигурные скобки используются для формирования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блока кода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Все инструкции, расположенные между открывающей и закрывающей фигурной скобкой, образуют единый блок.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Блоки кода используются практически во всех конструкциях языка.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внутри функций, также применяются в условных операторах, циклах и многих других конструкциях JavaScript.</a:t>
            </a:r>
          </a:p>
          <a:p>
            <a:pPr indent="450215" algn="just">
              <a:lnSpc>
                <a:spcPct val="150000"/>
              </a:lnSpc>
            </a:pP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Квадратные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скобки используются главным образом при работе с </a:t>
            </a:r>
            <a:r>
              <a:rPr lang="ru-RU" sz="1800" b="0" kern="100" dirty="0">
                <a:effectLst/>
                <a:latin typeface="Times New Roman" panose="02020603050405020304" pitchFamily="18" charset="0"/>
                <a:ea typeface="Aptos" panose="020B0004020202020204" pitchFamily="34" charset="0"/>
                <a:cs typeface="Times New Roman" panose="02020603050405020304" pitchFamily="18" charset="0"/>
              </a:rPr>
              <a:t>массивами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numbers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[10, 20, 30];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квадратные скобки обозначают, что создаётся массив, содержащий три элемента.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того, квадратные скобки используются для получения отдельного элемента массива.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фигурные скобки объединяют инструкции в блоки кода, а квадратные используются для работы с массивами и доступа к их элементам.</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4330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время разработки программ очень важно делать код понятным не только компьютеру, но и человеку. Именно для этого используются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комментарии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Комментарии представляют собой текстовые пояснения, которые помогают объяснить назначение отдельных участков программы.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JavaScript существует два основных вида комментариев.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однострочный комментарий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начинается двумя символами косой черты: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Всё, что находится после символов двойного слэша до конца строки, считается комментарием и не выполняется.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Однострочные комментарии удобно использовать для кратких пояснений.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Второй вид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многострочный комментарий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начинается символами: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 заканчивается символами: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комментарий может занимать любое количество строк и обычно применяется для более подробных пояснений.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Комментарии особенно полезны в больших проектах, где над одним кодом работают несколько разработчиков. Они помогают быстрее понять назначение сложных алгоритмов, объясняют причины принятия тех или иных решений и облегчают сопровождение программы.</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2248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предыдущих слайдах мы рассмотрели основные правила записи программ на языке JavaScript. Теперь посмотрим, какие ошибки чаще всего допускают начинающие разработчики. Все примеры, представленные на слайде, содержат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синтаксические ошибки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то есть нарушения правил языка. При наличии таких ошибок программа не сможет корректно выполниться.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message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"Привет;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данной строке отсутствует закрывающая кавычка.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Строковый литерал должен начинаться и заканчиваться одинаковыми кавычками. Пока программа не встретит закрывающую кавычку, она считает, что строка продолжается. Поэтому такой код приведёт к синтаксической ошибке.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console.log("Привет";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отсутствует закрывающая круглая скобка.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Метод console.log() принимает аргументы внутри круглых скобок. Если закрывающая скобка пропущена, интерпретатор не сможет определить, где заканчивается вызов функции.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Следующая ошибка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total-price = 100;</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кажется, что здесь просто используется дефис.</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символ - в JavaScript является оператором вычитания.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интерпретатор воспринимает запись не как имя переменной, а как выражение, состоящее из двух идентификаторов.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составных имён переменных вместо дефиса используется стиль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camelCase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totalPrice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100;</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function = "test";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Ошибка заключается в использовании ключевого слова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function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качестве имени переменной.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Ключевые слова уже имеют специальное значение в языке и не могут использоваться как идентификаторы.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один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проблема связана с регистром символов.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Переменная была объявлена как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при выводе используется имя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JavaScript это два разных идентификатора.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переменная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 была объявлена, возникнет ошибка.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Последний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оператора присваивания отсутствует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Каждое присваивание должно содержать выражение, результат которого будет записан в переменную.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данном случае интерпретатор не знает, какое значение необходимо сохранить.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Все рассмотренные ошибки относятся именно к синтаксическим.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означает, что программа вообще не сможет начать выполнение.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при написании кода необходимо внимательно следить за правильностью записи каждой инструкции.</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1888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подробнее рассмотрим понятие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переменной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Переменная представляет собой именованную ссылку на значение, которое используется программой и при необходимости может быть заменено другим значением. Другими словами, переменная позволяет хранить данные, изменяющиеся во время выполнения программы.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создания переменной в JavaScript используется ключевое слово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let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let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этой инструкции создаётся переменная с именем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в данном случае никакое значение ей ещё не присвоено.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Переменная существует, однако пока является пустой.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выполнить следующий код:</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let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то в консоль будет выведено значение</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означает, что переменная успешно создана, но значение в неё пока ещё не записано.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существует важное различие между двумя понятиями.</a:t>
            </a:r>
          </a:p>
          <a:p>
            <a:pPr indent="450215" algn="just">
              <a:lnSpc>
                <a:spcPct val="150000"/>
              </a:lnSpc>
            </a:pP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Объявление переменной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это создание новой переменной с определённым именем.</a:t>
            </a:r>
          </a:p>
          <a:p>
            <a:pPr indent="450215" algn="just">
              <a:lnSpc>
                <a:spcPct val="150000"/>
              </a:lnSpc>
            </a:pP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Присвоение значения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это запись данных в уже существующую переменную.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Эти действия могут выполняться одновременно или отдельно друг от друга.</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3735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объявления переменной ей обычно сразу присваивают некоторое начальное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процесс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инициализацией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Инициализация представляет собой присваивание переменной первого значения непосредственно в момент её создания.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let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данном случае переменная создаётся и сразу получает строковое значение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«Анна»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возможен и другой вариант.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создаётся переменная: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let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позднее ей присваивается значение:</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процесс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присваиванием</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значение записывается в уже существующую переменную.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Главная особенность переменных заключается в том, что их значение можно изменять.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мы инициализировали переменную с начальным значением, а потом присвоили ей новое значение.</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87000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JavaScript является языком с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динамической типизацией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означает, что тип связан не с самой переменной, а с тем значением, которое хранится в ней в текущий момент времени.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 на слайде.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первой инструкции переменная содержит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100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в ту же самую переменную записывается строка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«сто»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 точки зрения JavaScript такой код полностью корректен.</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Переменная не имеет заранее закреплённого типа.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Каждый раз, когда в неё записывается новое значение, тип автоматически определяется по этому значению.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язык называется динамически типизированным.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следует помнить, что подобная гибкость требует аккуратности.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let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100;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"Ошибка";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код также является допустимым.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по имени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становится сложно понять, какое значение ожидается на разных этапах выполнения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начале переменная содержит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строку.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логическое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Подобный стиль программирования значительно ухудшает читаемость программы и усложняет её сопровождение.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несмотря на возможность менять тип значения, хорошей практикой считается использовать одну переменную для хранения данных одного типа.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делает программу более понятной, уменьшает вероятность ошибок и облегчает дальнейшую разработку.</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82338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68350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Помимо переменных, в языке JavaScript существуют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константы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переменная предназначена для хранения данных, которые могут изменяться во время выполнения программы, то константа используется в тех случаях, когда значение должно оставаться неизменным. Именно поэтому при разработке рекомендуется использовать константы всегда, когда изменение значения не предполагается.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объявления константы используется ключевое слово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Константы удобно использовать для хранения таких значений, как название приложения, число дней в неделе, математические константы или другие данные, которые не должны изменяться в процессе работы программы.</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latin typeface="Times New Roman" panose="02020603050405020304" pitchFamily="18" charset="0"/>
                <a:cs typeface="Times New Roman" panose="02020603050405020304" pitchFamily="18" charset="0"/>
              </a:rPr>
              <a:t>При объявлении через </a:t>
            </a:r>
            <a:r>
              <a:rPr lang="ru-RU" sz="1200" dirty="0" err="1">
                <a:latin typeface="Times New Roman" panose="02020603050405020304" pitchFamily="18" charset="0"/>
                <a:cs typeface="Times New Roman" panose="02020603050405020304" pitchFamily="18" charset="0"/>
              </a:rPr>
              <a:t>const</a:t>
            </a:r>
            <a:r>
              <a:rPr lang="ru-RU" sz="1200" dirty="0">
                <a:latin typeface="Times New Roman" panose="02020603050405020304" pitchFamily="18" charset="0"/>
                <a:cs typeface="Times New Roman" panose="02020603050405020304" pitchFamily="18" charset="0"/>
              </a:rPr>
              <a:t> значение необходимо указать сразу. </a:t>
            </a:r>
            <a:r>
              <a:rPr lang="ru-RU" dirty="0">
                <a:latin typeface="Times New Roman" panose="02020603050405020304" pitchFamily="18" charset="0"/>
                <a:cs typeface="Times New Roman" panose="02020603050405020304" pitchFamily="18" charset="0"/>
              </a:rPr>
              <a:t>Как и </a:t>
            </a:r>
            <a:r>
              <a:rPr lang="ru-RU" dirty="0" err="1">
                <a:latin typeface="Times New Roman" panose="02020603050405020304" pitchFamily="18" charset="0"/>
                <a:cs typeface="Times New Roman" panose="02020603050405020304" pitchFamily="18" charset="0"/>
              </a:rPr>
              <a:t>let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const</a:t>
            </a:r>
            <a:r>
              <a:rPr lang="ru-RU" dirty="0">
                <a:latin typeface="Times New Roman" panose="02020603050405020304" pitchFamily="18" charset="0"/>
                <a:cs typeface="Times New Roman" panose="02020603050405020304" pitchFamily="18" charset="0"/>
              </a:rPr>
              <a:t> имеет блочную область видимости.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Использование </a:t>
            </a:r>
            <a:r>
              <a:rPr kumimoji="0" lang="ru-RU" altLang="ru-RU"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защищает от случайного повторного присваивания;</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делает намерение разработчика очевидным;</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упрощает чтение программы;</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снижает количество возможных ошибок;</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помогает понимать, какие данные действительно изменяются;</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делает поток данных более предсказуемым.</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Когда разработчик видит </a:t>
            </a:r>
            <a:r>
              <a:rPr kumimoji="0" lang="ru-RU" altLang="ru-RU"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он понимает, что ниже по коду идентификатор не должен получить новое значение.</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a:latin typeface="Times New Roman" panose="02020603050405020304" pitchFamily="18"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0967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232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какие именно значения могут храниться в переменных</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Каждое значение в JavaScript имеет определённый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тип данных</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Тип данных определяет, какие значения допустимы, какие операции можно над ними выполнять и каким образом язык будет обрабатывать эти значения при выполнении программы.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тип данных определяет, что программа понимает под конкретным значением.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данном слайде перечислены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семь примитивных типов данных</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существующих в JavaScript.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a:t>
            </a:r>
          </a:p>
          <a:p>
            <a:pPr marL="342900" lvl="0" indent="-342900" algn="just">
              <a:lnSpc>
                <a:spcPct val="150000"/>
              </a:lnSpc>
              <a:buSzPts val="1000"/>
              <a:buFont typeface="Symbol" panose="05050102010706020507" pitchFamily="18" charset="2"/>
              <a:buChar char=""/>
              <a:tabLst>
                <a:tab pos="457200" algn="l"/>
              </a:tabLst>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bigint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symbol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Все эти типы называются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примитивными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потому что их значения не являются объектами. Они представляют собой самые простые виды данных, из которых затем строятся более сложные структуры.</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359304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Первым рассмотрим тип данных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Тип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предназначен для хранения всех числовых значений, которые используются в программе. В JavaScript в этот тип входят как целые числа, так и дробные. Отдельного типа для целых чисел здесь не существует.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приведены различные примеры числовых значений: целое число, отрицательное, дробное.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различие между целыми, отрицательными и дробными числами, все они относятся к одному типу данных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дробная часть записывается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через точку</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не через запятую.</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1126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основные арифметические операции, которые можно выполнять над числами.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показаны две числовые переменные: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Далее выполняются различные арифметические действия.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Сложение, вычитание, умножение, деление,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остаток от деления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r>
              <a:rPr lang="ru-RU" sz="1800" dirty="0">
                <a:latin typeface="Times New Roman" panose="02020603050405020304" pitchFamily="18" charset="0"/>
                <a:cs typeface="Times New Roman" panose="02020603050405020304" pitchFamily="18" charset="0"/>
              </a:rPr>
              <a:t>Оператор </a:t>
            </a:r>
            <a:r>
              <a:rPr lang="ru-RU" sz="1800" b="1"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 используется для возведения числа в степень.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обычных арифметических операторов JavaScript предоставляет объект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Math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содержащий большое количество математических методов.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Три наиболее распространённых метода.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Метод</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Math.round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округляет число до ближайшего целого.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Math.round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(3.7)</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вернёт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4</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Метод</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Math.floor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всегда округляет вниз.</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3.7</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станет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3</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Метод</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Math.ceil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наоборот всегда округляет вверх.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3.7</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превратится в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4</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Все эти методы широко используются при работе с денежными расчётами, процентами, координатами и другими числовыми величинами.</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1530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то что JavaScript позволяет выполнять большое количество математических операций, иногда результат вычисления может оказаться некорректным.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таких ситуаций существует специальное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Название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расшифровывается как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Not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a 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что переводится как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 число»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"текст" * 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Компьютер пытается умножить строку на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Очевидно, выполнить такую операцию невозможно.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вместо обычного числового результата программа получает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вывода в консоль мы увидим именно эту надпись.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Интересная особенность JavaScript заключается в том, что, несмотря на своё название,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относится к типу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выполнить: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number</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историческая особенность языка.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важно запомнить:</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 это специальное числовое значение, обозначающее невозможность получить корректный числовой результат.</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проверки рекомендуется использовать специальный метод:</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Number.isNaN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value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позволяет надёжно определить, является ли полученное значение именно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894799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примитивный тип данных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или строковый тип.</a:t>
            </a:r>
          </a:p>
          <a:p>
            <a:r>
              <a:rPr lang="ru-RU" sz="1800" dirty="0">
                <a:effectLst/>
                <a:latin typeface="Times New Roman" panose="02020603050405020304" pitchFamily="18" charset="0"/>
                <a:ea typeface="Aptos" panose="020B0004020202020204" pitchFamily="34" charset="0"/>
              </a:rPr>
              <a:t>Тип </a:t>
            </a:r>
            <a:r>
              <a:rPr lang="ru-RU" sz="1800" b="1" dirty="0" err="1">
                <a:effectLst/>
                <a:latin typeface="Times New Roman" panose="02020603050405020304" pitchFamily="18" charset="0"/>
                <a:ea typeface="Aptos" panose="020B0004020202020204" pitchFamily="34" charset="0"/>
              </a:rPr>
              <a:t>string</a:t>
            </a:r>
            <a:r>
              <a:rPr lang="ru-RU" sz="1800" dirty="0">
                <a:effectLst/>
                <a:latin typeface="Times New Roman" panose="02020603050405020304" pitchFamily="18" charset="0"/>
                <a:ea typeface="Aptos" panose="020B0004020202020204" pitchFamily="34" charset="0"/>
              </a:rPr>
              <a:t> предназначен для хранения текстовой информации.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 мы уже знаем строки можно записывать в двойных, одинарных и обратных кавычках.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Вспомним, для чего используются обратные кавычки?</a:t>
            </a:r>
          </a:p>
          <a:p>
            <a:r>
              <a:rPr lang="ru-RU" sz="1800" dirty="0">
                <a:effectLst/>
                <a:latin typeface="Times New Roman" panose="02020603050405020304" pitchFamily="18" charset="0"/>
                <a:ea typeface="Aptos" panose="020B0004020202020204" pitchFamily="34" charset="0"/>
              </a:rPr>
              <a:t>Обратные кавычки используются для создания </a:t>
            </a:r>
            <a:r>
              <a:rPr lang="ru-RU" sz="1800" b="1" dirty="0">
                <a:effectLst/>
                <a:latin typeface="Times New Roman" panose="02020603050405020304" pitchFamily="18" charset="0"/>
                <a:ea typeface="Aptos" panose="020B0004020202020204" pitchFamily="34" charset="0"/>
              </a:rPr>
              <a:t>шаблонных строк</a:t>
            </a:r>
            <a:r>
              <a:rPr lang="ru-RU" sz="1800" dirty="0">
                <a:effectLst/>
                <a:latin typeface="Times New Roman" panose="02020603050405020304" pitchFamily="18" charset="0"/>
                <a:ea typeface="Aptos" panose="020B0004020202020204" pitchFamily="34" charset="0"/>
              </a:rPr>
              <a:t>.</a:t>
            </a:r>
          </a:p>
          <a:p>
            <a:r>
              <a:rPr lang="ru-RU" sz="1800" dirty="0">
                <a:effectLst/>
                <a:latin typeface="Times New Roman" panose="02020603050405020304" pitchFamily="18" charset="0"/>
                <a:ea typeface="Aptos" panose="020B0004020202020204" pitchFamily="34" charset="0"/>
              </a:rPr>
              <a:t>	В чем их преимущество? </a:t>
            </a:r>
          </a:p>
          <a:p>
            <a:r>
              <a:rPr lang="ru-RU" sz="1800" dirty="0">
                <a:effectLst/>
                <a:latin typeface="Times New Roman" panose="02020603050405020304" pitchFamily="18" charset="0"/>
                <a:ea typeface="Aptos" panose="020B0004020202020204" pitchFamily="34" charset="0"/>
              </a:rPr>
              <a:t>Их главное преимущество состоит в том, что внутрь строки можно вставлять значения переменных и результаты вычислений.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Иногда возникает необходимость записать внутри строки специальные символы, например двойную кавычку. Для этого используется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символ экранирования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обратная косая черта: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Обратная косая черта сообщает интерпретатору, что следующую кавычку нужно воспринимать как обычный символ текста, а не как окончание строки.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одна полезная последовательность — символ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обозначает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переход на новую строку</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message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"Первая строка\</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nВторая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строка";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вывода в консоль текст будет расположен на двух строках.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\n существуют и другие специальные последовательности.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\t — табуляция;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вывод обратной косой черты;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двойная кавычка;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одинарная кавычка.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Подобные символы позволяют более гибко формировать текстовую информацию и широко используются при выводе сообщений пользователю.</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503000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создания строки с ней можно выполнять различные операции.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Одной из наиболее полезных возможностей является получение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длины строки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этого используется свойство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length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Оно возвращает количество символов, содержащихся в строке. </a:t>
            </a:r>
          </a:p>
          <a:p>
            <a:pPr indent="450215" algn="just">
              <a:lnSpc>
                <a:spcPct val="150000"/>
              </a:lnSpc>
            </a:pP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программы в консоль будет выведено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поскольку слово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JavaScript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состоит из десяти символов.</a:t>
            </a:r>
          </a:p>
          <a:p>
            <a:pPr indent="450215" algn="just">
              <a:lnSpc>
                <a:spcPct val="150000"/>
              </a:lnSpc>
            </a:pP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одна важная возможность — получение отдельных символов строки.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Каждый символ имеет свой порядковый номер, который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индексом</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 мы знаем индексация начинается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 нуля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word = "JavaScript";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console.log(word[0]);</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экран будет выведена буква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J</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обратиться к элементу: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word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станет буква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Что нам выдаст третий пример кода? Последний символ</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количество символов определяется свойством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length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индекс последнего символа всегда на единицу меньше длины строки.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используется запись:</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console.log(word[</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word.length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- 1]);</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нашем примере результатом будет буква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доступа к отдельным символам строки можно объединять.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объединения используется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firstName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Анна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lastName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Иванова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fullName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firstName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 "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lastName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результате получится строка: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Анна Иванова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Такая операция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конкатенацией строк</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время конкатенации создаётся новая строка, содержащая символы обеих исходных строк.</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71536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Хотя объединять строки с помощью оператора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вполне возможно, при работе с большим количеством текста такой способ становится неудобным.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используются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шаблонные строки.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"Анна";</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age = 20; </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message =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Пользователь</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возраст</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${age}`;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строка записана в обратных кавычках.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Внутри строки используется конструкция шаблонной строки: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Они позволяют вставлять внутрь текста значения переменных или результаты вычислений.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конструкции шаблонной строки ${...} можно размещать не только переменные, но и любые выражения.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price = 1500;</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quantity = 3;</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Общая стоимость</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${price * quantity}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руб</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программа вычисляет выражение:</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quantity</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Полученный результат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4500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автоматически подставляет внутрь строки.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результате выводится сообщение: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шаблонные строки позволяют одновременно формировать текст и выполнять необходимые вычисления, делая код значительно более удобным для чтения.</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12168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450215" algn="just" defTabSz="914400" rtl="0" eaLnBrk="1" fontAlgn="auto" latinLnBrk="0" hangingPunct="1">
              <a:lnSpc>
                <a:spcPct val="150000"/>
              </a:lnSpc>
              <a:spcBef>
                <a:spcPts val="0"/>
              </a:spcBef>
              <a:spcAft>
                <a:spcPts val="0"/>
              </a:spcAft>
              <a:buClrTx/>
              <a:buSzTx/>
              <a:buFontTx/>
              <a:buNone/>
              <a:tabLst/>
              <a:defRPr/>
            </a:pP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многострочной шаблонной строки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Обратные кавычки позволяют сохранять переносы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внутри строки можно записывать текст сразу в несколько строк без использования специального символа \n. Это делает длинные текстовые сообщения значительно более читаемыми.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Далее на слайде представлены несколько наиболее полезных методов работы со строками.</a:t>
            </a:r>
          </a:p>
          <a:p>
            <a:pPr indent="450215" algn="just">
              <a:lnSpc>
                <a:spcPct val="150000"/>
              </a:lnSpc>
            </a:pP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содержит ли строка определённый фрагмент текста.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этого используется метод:</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includes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Где результатом будет логическое значение:</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100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Следующим примитивным типом данных является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или логический тип.</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отличие от чисел и строк, логический тип может принимать только два возможных значения: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Эти значения используются для хранения результата проверки некоторого условия. Иными словами, логический тип отвечает на вопрос: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истинно утверждение или ложно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66755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Следующим примитивным типом данных, это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специальное значение, которое показывает, что переменная существует, но никакого полезного значения в ней пока нет.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первой строке мы объявили переменную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при объявлении ей не присваивается никакое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выполняется вывод переменной в консоль.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работы программы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означает, что переменная была успешно создана, однако разработчик ещё не записал в неё никакого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Важно понимать, что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 является ошибкой.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полноценное значение языка JavaScript.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Программа может хранить его, сравнивать, передавать в функции и выполнять с ним различные операции.</a:t>
            </a:r>
          </a:p>
          <a:p>
            <a:pPr indent="450215" algn="just">
              <a:lnSpc>
                <a:spcPct val="150000"/>
              </a:lnSpc>
            </a:pP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Распространённые ситуации, когда появляется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Во-первых, это объявление переменной без инициализации.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такой пример мы только что рассмотрели.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Во-вторых,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может появиться, если функция не возвращает никакого результата.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этом случае JavaScript автоматически возвращает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Третья ситуация — обращение к отсутствующему свойству объекта.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программа пытается получить свойство, которого у объекта нет, результатом также будет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Аналогично происходит при обращении к элементу массива, которого не существует.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если массив содержит пять элементов, а программа пытается получить десятый элемент, она получит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одна ситуация возникает при работе с функциями.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функция ожидает несколько аргументов, а один из них не был передан, соответствующий параметр внутри функции также получит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означает не отсутствие переменной, а отсутствие значения внутри уже существующей переменной или другого элемента программы.</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7027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рассмотрим ещё одно специальное значение языка JavaScript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оно очень похоже на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однако между ними существует принципиальное различие.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означает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намеренное отсутствие значения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Другими словами, разработчик сознательно записывает в переменную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чтобы показать, что сейчас никакого объекта или данных нет.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selectedUser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Переменная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selectedUser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существует.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в данный момент никакой пользователь не выбран.</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не означает ошибку.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Наоборот, программа явно показывает своё текущее состояние.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удобно использовать во многих практических ситуациях.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если пользователь ещё ничего не выбрал в приложении.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поиск не дал результата.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данные были специально очищены.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некоторое значение временно отсутствует.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Или если разработчик хочет явно показать состояние «ничего нет».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Главное отличие между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состоит в причине появления этих значений.</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обычно появляется автоматически.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JavaScript сообщает, что значение ещё не было определено.</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наоборот, задаётся самим разработчиком.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сознательно записывает это значение в программу.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можно сказать, что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означает «значение ещё неизвестно», 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«значения намеренно нет».</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80101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работе с данными программисту нередко необходимо определить, к какому типу относится некоторое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этого в JavaScript существует специальный оператор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возвращает строку, содержащую название типа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Использовать его можно двумя способами.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вариант: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Второй вариант: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Обе формы записи полностью эквивалентны.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20;</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Анна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isActive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age);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isActive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программы в консоли появятся результаты:</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number</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string</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То есть оператор возвращает не сам тип данных, а строку с его названием.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Особое внимание следует обратить на одно историческое исключение языка JavaScript.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выполнить инструкцию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object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это выглядит странно.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Ведь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 является объектом.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самом деле это историческая особенность JavaScript, которая сохранилась ещё с первых версий языка.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 причинам совместимости разработчики языка не стали изменять такое поведение.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этот факт необходимо просто запомнить.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требуется проверить, содержит ли переменная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использовать оператор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 рекомендуется.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Правильный способ проверки выглядит следующим образом:</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value = null;</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console.log(value === null);</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будет логическое значение</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для проверки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рекомендуется использовать оператор строгого сравнения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оператор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применять для определения остальных типов данных.</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8436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Практически любая программа должна уметь сравнивать различные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проверять правильность введённого пароля, возраст пользователя, результаты вычислений или состояние приложения.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этого в JavaScript используются операторы сравнения.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Наиболее рекомендуемым оператором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строгое равенство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которое записывается тремя знаками равенства: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Этот оператор одновременно проверяет две вещи.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Во-первых, совпадают ли сами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Во-вторых, совпадают ли их типы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первый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Оба операнда являются числами.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Их значения совпадают.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результат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Типы данных одинаковые — оба значения являются числами.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сами значения различаются.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результат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рассмотрим ещё один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оба значения выглядят одинаково.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первое значение является числом, а второе — строкой.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сравнивает не только значения, но и типы данных, результатом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также показано сравнение строк.</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console.log("JavaScript" === "JavaScript");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строки полностью совпадают.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 вот пример</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console.log("JavaScript" ===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javascript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даст результат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то что слова отличаются только первой буквой, строки сравниваются с учётом регистра символов.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обеспечивает наиболее надёжное и предсказуемое сравнение значений и именно его рекомендуется использовать при разработке современных JavaScript-приложений.</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7092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оператора строгого равенства, в JavaScript существуют и другие операторы сравнения. На данном слайде рассматриваются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строгое неравенство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нестрогое равенство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Эти операторы работают по-разному, поэтому важно понимать различия между ними.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рассмотрим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строгого неравенства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записывается следующим образом: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Этот оператор возвращает логическое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различаются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либо сами значения, либо их типы данных</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первый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сравниваются два числа.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Их значения различаются, поэтому результат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кажется, что значения одинаковые.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первое значение имеет тип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второе — тип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оператор !== учитывает не только значение, но и тип данных, результатом снова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рассмотрим последний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совпадают и значение, и тип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оператор строгого неравенства вернёт: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То есть оператор !== можно считать полной противоположностью оператора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 возвращает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то !== в аналогичной ситуации вернёт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наоборот.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второй части слайда рассматривается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нестрогого равенства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записывается двумя знаками равенства: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Главная особенность этого оператора заключается в том, что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при необходимости JavaScript автоматически приводит значения к одному типу</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затем выполняет сравнение. Именно поэтому такой оператор называют нестрогим.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Первое значение является числом.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Второе значение — строкой.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Перед сравнением JavaScript автоматически преобразует строку "10" в число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преобразования сравниваются уже два числа: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10 ==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результатом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эта особенность отличает оператор == от оператора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 === никогда не выполняет автоматическое преобразование типов.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типы различаются, результат сразу будет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 ==, наоборот, сначала пытается привести значения к одному типу, а затем сравнивает их.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такое поведение может показаться удобным.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автоматические преобразования не всегда очевидны разработчику и иногда приводят к неожиданным результатам.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в современной разработке использование оператора == считается нежелательным.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главное различие между рассмотренными операторами заключается в следующем.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Операторы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сравнивают одновременно значение и тип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сначала может автоматически преобразовать типы, а затем выполняет сравнение значений.</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68862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Главная особенность оператора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заключается в том, что перед сравнением он может автоматически преобразовывать типы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Иногда это кажется удобным, поскольку позволяет сравнивать значения разных типов. Однако именно такое поведение нередко становится причиной трудно обнаруживаемых ошибок.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userInput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"0";</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log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userInput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кажется, что сравниваются совершенно разные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переменной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userInput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хранится строка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втором операнде находится логическое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Можно ожидать, что результатом будет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однако программа выводит: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Почему так происходит?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Перед сравнением JavaScript выполняет несколько внутренних преобразований типов.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результате строка "0" преобразуется к числу, затем логическое значение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также преобразуется к числу 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фактически сравниваются два числа: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0 == 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результат оказывается истинным.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Подобное поведение далеко не всегда очевидно разработчику.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через некоторое время открыть такую программу, будет очень сложно сразу понять, почему строка неожиданно оказалась равной логическому значению.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подобные сравнения усложняют чтение программы, её сопровождение и поиск ошибок.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 этой причине в современных проектах существует простое правило.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проверки равенства следует использовать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проверки неравенства —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Эти операторы никогда не выполняют скрытого преобразования типов и сравнивают одновременно и значение, и тип данных.</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06247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Одной из особенностей JavaScript является возможность преобразовывать значения одного типа в другой.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Такое преобразование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преобразованием типов</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Под преобразованием типов понимается получение значения одного типа данных на основе значения другого типа.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JavaScript существуют два основных способа преобразования:</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явное;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неявное. </a:t>
            </a:r>
          </a:p>
          <a:p>
            <a:pPr indent="450215" algn="just">
              <a:lnSpc>
                <a:spcPct val="150000"/>
              </a:lnSpc>
            </a:pP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Явное преобразование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выполняет сам разработчик.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явно показывает в программе, что значение необходимо преобразовать к другому типу.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value = "100";</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number = Number(value);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этом примере строка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"100"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преобразуется в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Любой разработчик сразу видит намерение автора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такой код легко читать и сопровождать.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Второй вариант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неявное преобразование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этом случае преобразование выполняет уже сам JavaScript.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"10" * 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Хотя первый операнд является строкой, оператор умножения работает только с числами.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JavaScript автоматически преобразует строку "10" в число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выполняется обычное умножение.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 будет: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такое поведение выглядит удобным.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большое количество автоматических преобразований способно сделать программу менее понятной.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Разработчик не всегда сразу замечает, что язык самостоятельно изменил тип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при необходимости изменения типа рекомендуется выполнять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явное преобразование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код легче читать, сопровождать и отлаживать.</a:t>
            </a:r>
          </a:p>
          <a:p>
            <a:endParaRPr lang="ru-RU" b="1" dirty="0"/>
          </a:p>
          <a:p>
            <a:r>
              <a:rPr lang="ru-RU" b="1" dirty="0"/>
              <a:t>Зачем требуется преобразование типов</a:t>
            </a:r>
          </a:p>
          <a:p>
            <a:r>
              <a:rPr lang="ru-RU" dirty="0"/>
              <a:t>Преобразование необходимо, когда:</a:t>
            </a:r>
          </a:p>
          <a:p>
            <a:pPr>
              <a:buFont typeface="Arial" panose="020B0604020202020204" pitchFamily="34" charset="0"/>
              <a:buChar char="•"/>
            </a:pPr>
            <a:r>
              <a:rPr lang="ru-RU" dirty="0"/>
              <a:t>пользовательский ввод получен в виде строки;</a:t>
            </a:r>
          </a:p>
          <a:p>
            <a:pPr>
              <a:buFont typeface="Arial" panose="020B0604020202020204" pitchFamily="34" charset="0"/>
              <a:buChar char="•"/>
            </a:pPr>
            <a:r>
              <a:rPr lang="ru-RU" dirty="0"/>
              <a:t>данные пришли из внешнего источника;</a:t>
            </a:r>
          </a:p>
          <a:p>
            <a:pPr>
              <a:buFont typeface="Arial" panose="020B0604020202020204" pitchFamily="34" charset="0"/>
              <a:buChar char="•"/>
            </a:pPr>
            <a:r>
              <a:rPr lang="ru-RU" dirty="0"/>
              <a:t>требуется выполнить арифметическую операцию;</a:t>
            </a:r>
          </a:p>
          <a:p>
            <a:pPr>
              <a:buFont typeface="Arial" panose="020B0604020202020204" pitchFamily="34" charset="0"/>
              <a:buChar char="•"/>
            </a:pPr>
            <a:r>
              <a:rPr lang="ru-RU" dirty="0"/>
              <a:t>значение необходимо включить в текст;</a:t>
            </a:r>
          </a:p>
          <a:p>
            <a:pPr>
              <a:buFont typeface="Arial" panose="020B0604020202020204" pitchFamily="34" charset="0"/>
              <a:buChar char="•"/>
            </a:pPr>
            <a:r>
              <a:rPr lang="ru-RU" dirty="0"/>
              <a:t>требуется получить логическое представление;</a:t>
            </a:r>
          </a:p>
          <a:p>
            <a:pPr>
              <a:buFont typeface="Arial" panose="020B0604020202020204" pitchFamily="34" charset="0"/>
              <a:buChar char="•"/>
            </a:pPr>
            <a:r>
              <a:rPr lang="ru-RU" dirty="0"/>
              <a:t>сравниваются данные разных типов;</a:t>
            </a:r>
          </a:p>
          <a:p>
            <a:pPr>
              <a:buFont typeface="Arial" panose="020B0604020202020204" pitchFamily="34" charset="0"/>
              <a:buChar char="•"/>
            </a:pPr>
            <a:r>
              <a:rPr lang="ru-RU" dirty="0"/>
              <a:t>программа должна проверить корректность ввода.</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08030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Наиболее распространённым способом преобразования данных в число является использование функции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textValue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"25";</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numberValue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Number(</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textValue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функции получится настоящее числовое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вывести его тип:</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log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numberValue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number</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означает, что строка успешно преобразовалась в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Следует помнить несколько особенностей функции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строка содержит только число, преобразование выполняется успешно.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Number("25")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даёт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25</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строка пустая или состоит только из пробелов, результатом станет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Совсем иначе ведут себя строки, содержащие посторонние символы.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Number("25px")</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или</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Number("JavaScript")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обоих случаях результатом будет специальное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означает, что корректное число получить невозможно.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Функция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также умеет преобразовывать логические значения.</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Number(true)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вернёт число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1</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Number(false)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вернёт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Функция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используется тогда, когда необходимо убедиться, что всё значение полностью представляет собой корректное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она очень часто применяется при обработке пользовательского ввода, когда данные первоначально поступают в виде строк.</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67324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Кроме функции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JavaScript существует ещё один способ преобразования значения в число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унарный оператор плюс</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Несмотря на необычное название, принцип его работы достаточно прост. Если поставить знак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перед значением, JavaScript попытается преобразовать его к числовому типу.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value = +"42";</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console.log(value);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value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переменной будет храниться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42</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оператор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покажет тип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 своему результату унарный плюс во многих случаях работает так же, как функция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выполнить: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console.log(+"3.5");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получим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3.5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Унарный плюс умеет преобразовывать и логические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 выражение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выведет: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Даже пустая строка может быть преобразована: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также станет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компактность записи, большинство разработчиков предпочитают использовать функцию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Причина заключается в читаемости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Когда разработчик видит: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value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сразу становится понятно, что выполняется преобразование типа.</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7838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одним способом преобразования строки в число является функция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Её особенность заключается в том, что она считывает только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целую часть числа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начиная с начала строки.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value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("25",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функции получится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на второй аргумент функции.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обозначает десятичную систему счисления.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Сегодня этот параметр принято указывать явно, чтобы программа однозначно понимала, каким образом необходимо интерпретировать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Одной из полезных особенностей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является возможность читать число даже тогда, когда после него находится текст.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("25px",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Функция начинает читать строку слева направо.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Пока встречаются цифры, они входят в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 только появляется первый неподходящий символ, чтение прекращается.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из строки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"25px"</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извлекается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25</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же строка начинается не с цифры, преобразование выполнить невозможно.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("px25",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вернёт: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NaN</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одна особенность функции связана с дробными числами.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("15.9", 10);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даст 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Важно понимать, что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 округляет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Она просто прекращает чтение на десятичной точке.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дробная часть полностью отбрасывается.</a:t>
            </a:r>
          </a:p>
          <a:p>
            <a:r>
              <a:rPr lang="ru-RU" sz="1800" dirty="0">
                <a:effectLst/>
                <a:latin typeface="Times New Roman" panose="02020603050405020304" pitchFamily="18" charset="0"/>
                <a:ea typeface="Aptos" panose="020B0004020202020204" pitchFamily="34" charset="0"/>
              </a:rPr>
              <a:t>Функция </a:t>
            </a:r>
            <a:r>
              <a:rPr lang="ru-RU" sz="1800" b="1" dirty="0" err="1">
                <a:effectLst/>
                <a:latin typeface="Times New Roman" panose="02020603050405020304" pitchFamily="18" charset="0"/>
                <a:ea typeface="Aptos" panose="020B0004020202020204" pitchFamily="34" charset="0"/>
              </a:rPr>
              <a:t>parseInt</a:t>
            </a:r>
            <a:r>
              <a:rPr lang="ru-RU" sz="1800" b="1" dirty="0">
                <a:effectLst/>
                <a:latin typeface="Times New Roman" panose="02020603050405020304" pitchFamily="18" charset="0"/>
                <a:ea typeface="Aptos" panose="020B0004020202020204" pitchFamily="34" charset="0"/>
              </a:rPr>
              <a:t>()</a:t>
            </a:r>
            <a:r>
              <a:rPr lang="ru-RU" sz="1800" dirty="0">
                <a:effectLst/>
                <a:latin typeface="Times New Roman" panose="02020603050405020304" pitchFamily="18" charset="0"/>
                <a:ea typeface="Aptos" panose="020B0004020202020204" pitchFamily="34" charset="0"/>
              </a:rPr>
              <a:t> удобна тогда, когда необходимо получить целое число из строки, особенно если после числа могут располагаться дополнительные символы.</a:t>
            </a:r>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89388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необходимо получить не целое, а дробное число, используется функция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parseFloat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Она работает по тому же принципу, что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parseInt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однако позволяет считывать дробную часть числа.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parseFloat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("15.75"));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15.75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после числа расположен текст: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parseFloat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("15.75px"));</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 останется тем же: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15.75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Функция прочитает число до первого неподходящего символа.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Далее на слайде рассматривается обратная задача — преобразование различных значений в строку.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этого используется функция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number = 25;</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text = String(number);</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преобразования переменная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text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будет содержать строку.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определить её тип:</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log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typeof</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text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получим:</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string</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многих объектов и числовых значений существует ещё один способ преобразования — использование метода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toString</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42;</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text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toString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 будет таким же — число превратится в строку.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необходимо помнить об ограничении.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toString</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нельзя вызвать у значений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undefined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Попытка сделать это приведёт к ошибке выполнения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при работе с неизвестными значениями функция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считается более универсальной.</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79640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JavaScript умеет самостоятельно преобразовывать значения в строки без явного вызова функции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Такое преобразование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неявным преобразованием в строку</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Наиболее распространённый пример связан с оператором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следующий код:</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"Возраст: " + 20;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result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первый взгляд может показаться, что здесь объединяются строка и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это и происходит.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JavaScript автоматически преобразует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строку, после чего выполняет объединение двух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станет: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Возраст: 20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Подобная операция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конкатенацией строк</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в современном JavaScript чаще используются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шаблонные строки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age = 20;</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message =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Возраст</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${age}`;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message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Внутри конструкции ${...} значение автоматически преобразуется в текст.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 будет точно таким же: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Возраст: 20</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72063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познакомимся с преобразованием значений в логический тип данных. Для этого в JavaScript используется функция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Она преобразует любое значение либо в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либо в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многих программах требуется определить, следует ли выполнять некоторое действие. Например, введены ли данные пользователем, успешно ли выполнена авторизация, найден ли нужный объект или существует ли файл. Во всех подобных ситуациях используются логические значения.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несколько примеров.</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Результатом будет: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Любое ненулевое число считается истинным значением.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вернёт: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Число ноль рассматривается как ложное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Строки также могут быть преобразованы в логический тип.</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("JavaScript")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даст результат: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true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строка содержит символы, она считается истинной.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Совсем иначе ведёт себя пустая строка:</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false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Пустая строка не содержит никаких символов, поэтому рассматривается как ложное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функция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позволяет быстро определить, является ли некоторое значение истинным или ложным с точки зрения языка JavaScript.</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62459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 ведут себя арифметические операторы, если одним из операндов является строка.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JavaScript автоматически пытается преобразовать строку в число при использовании некоторых арифметических операторов. Это происходит только тогда, когда строка содержит корректное числовое значение.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первый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то что первое значение записано как строка, JavaScript автоматически преобразует строку "10" в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преобразования выполняется обычное вычитание: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10 − 2 = 8.</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результатом будет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8</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Аналогично работает оператор умножения: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Строка "10" снова автоматически превращается в число, после чего выполняется умножение.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Точно так же работает оператор деления: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преобразования строки выполняется обычное деление.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5</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Из этого можно сделать важный вывод.</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Операторы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вычитания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умножения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деления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при необходимости автоматически пытаются преобразовать строку в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плюс</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работает иначе.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следующий 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console.log("10" + 2);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Многие ожидают увидеть результат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12</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однако программа выводит: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102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Почему так происходит?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Дело в том, что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имеет две различные функции.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Первая — сложение чисел.</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Вторая — объединение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хотя бы один из операндов является строкой, JavaScript рассматривает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как операцию конкатенации, то есть объединения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сначала автоматически преобразуется в строку "2".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выполняется объединение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"10" + "2"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 получается строка: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"102"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требует особого внимания при работе с пользовательским вводом.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если пользователь вводит число с клавиатуры, оно сначала поступает в программу в виде строки. Если сразу выполнить сложение без преобразования типа, вместо арифметической операции произойдёт объединение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перед выполнением вычислений введённые данные рекомендуется явно преобразовывать в тип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 помощью функции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можно сформулировать простое правило.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Операторы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автоматически пытаются преобразовать строки в числа.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при наличии строки выполняет конкатенацию, а не арифметическое сложение.</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70601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запуске JavaScript в среде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Node.js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для организации ввода используется встроенный модуль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readline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Этот модуль позволяет читать данные, которые пользователь вводит в терминале построчно.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модуль необходимо подключить:</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readline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require("</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node:readline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Функция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require</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подключает встроенный модуль Node.js.</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readline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входит в состав Node.js, устанавливать его отдельно через менеджер пакетов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npm</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 требуется.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подключения необходимо создать интерфейс ввода:</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rl</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readline.createInterface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input: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process.stdin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output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process.stdout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используется 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createInterface</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который создаёт объект для взаимодействия с терминалом.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Параметр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input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process.stdin</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указывает, что данные будут поступать со стандартного потока ввода.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 запись</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output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process.stdout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указывает поток, через который будут выводиться приглашения пользователю.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Полученный объект сохраняется в переменной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через неё в дальнейшем будут выполняться операции ввода.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подготовка программы к работе с пользовательским вводом состоит из двух этапов.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подключается модуль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readline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создаётся интерфейс взаимодействия с терминалом, через который программа сможет получать данные от пользователя.</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779962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подробнее элементы, которые использовались при создании интерфейса ввода.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программе встречаются две конструкции:</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process.stdin</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process.stdout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Они являются стандартными потоками ввода и вывода операционной системы. </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process.stdin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означает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standard</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input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то есть стандартный поток ввода.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Через него Node.js получает информацию, которую пользователь вводит с клавиатуры в терминале.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Каждый раз, когда пользователь вводит текст и нажимает клавишу Enter, данные поступают именно через этот поток.</a:t>
            </a:r>
          </a:p>
          <a:p>
            <a:pPr indent="450215" algn="just">
              <a:lnSpc>
                <a:spcPct val="150000"/>
              </a:lnSpc>
            </a:pP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process.stdout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означает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standard</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output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то есть стандартный поток вывода.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Через него программа отображает информацию пользователю.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Когда выполняется команда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или выводится приглашение для ввода, данные отправляются именно в поток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stdout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получения одного значения используется метод:</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rl.question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Его общий синтаксис выглядит следующим образом:</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rl.question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("Текст приглашения",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answer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=&gt;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Метод принимает два аргумента.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аргумент — строка, которая отображается пользователю в терминале.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Введите имя: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Второй аргумент представляет собой функцию, которая автоматически выполнится после того, как пользователь введёт данные и нажмёт клавишу Enter.</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Внутри этой функции становится доступна переменная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answer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содержащая введённое пользователем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question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одновременно выводит приглашение пользователю и ожидает ввод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завершения ввода программа автоматически продолжает выполнение внутри переданной функции.</a:t>
            </a:r>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81798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рассмотрим пример программы, которая получает данные от пользователя.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подключения модуля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readline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создания интерфейса ввода можно использовать 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question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для получения информации с клавиатуры. На данном слайде программа запрашивает имя пользователя, а затем выводит приветствие.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начале программы выполняется подключение модуля:</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readline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require("</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node:readline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создаётся интерфейс ввода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rl</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readline.createInterface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input: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process.stdin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output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process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stdout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вызывается метод:</a:t>
            </a:r>
          </a:p>
          <a:p>
            <a:pPr indent="450215" algn="just">
              <a:lnSpc>
                <a:spcPct val="150000"/>
              </a:lnSpc>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rl.question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Введите имя</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=&gt; {</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терминале появляется приглашение: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Введите имя: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Допустим, пользователь вводит: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нажатия клавиши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Enter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введённое значение автоматически передаётся в параметр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Далее выполняется инструкция: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console.log(`Здравствуйте,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 называется конструкция для вывода значения из переменной?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здесь используются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шаблонные строки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Конструкция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userName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заменяется текущим значением переменной.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программа выводит: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Здравствуйте, Анна!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завершения работы вызывается инструкция: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rl.close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Этот вызов завершает работу интерфейса ввода.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его не выполнить, программа продолжит ожидать новые данные от пользователя и не завершится автоматически.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Следует обратить внимание ещё на одну важную особенность.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Значение, полученное через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rl.question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всегда имеет тип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независимо от того, что ввёл пользователь.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Даже если пользователь введёт число, программа всё равно сначала получит строку.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перед выполнением арифметических вычислений такие значения необходимо преобразовывать в числовой тип.</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12776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одну из самых распространённых ошибок.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Предположим, программа запрашивает возраст пользователя: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rl.question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("Введите возраст: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=&gt;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Пользователь вводит: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выполняется инструкция: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ageNextYear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Многие ожидают получить 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программа выводит: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201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Почему возникает такая ошибка?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Причина заключается в том, что значение, полученное через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rl.question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имеет строковый тип. Переменная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содержит не число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20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строку "20".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Когда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встречает строку, он выполняет не сложение, 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конкатенацию</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то есть объединение строк.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происходит объединение строки "20" и числа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которое предварительно также преобразуется в строку.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результате получается строка: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201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Чтобы выполнить именно арифметическое сложение, введённое значение необходимо сначала преобразовать в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этого используется функция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Правильный вариант программы выглядит следующим образом:</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age = Number(</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ageInput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ageNextYear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age + 1;</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происходит совсем другая последовательность действий.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строка преобразуется в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выполняется обычное сложение.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этого программа выводит сообщение: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Через год вам будет 21</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92855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многих программах необходимо получить не одно значение, а сразу несколько.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два числа для выполнения вычислений или имя и возраст пользователя.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данном слайде показан способ последовательного получения двух значений.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программа выводит приглашение: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Введите первое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того как пользователь введёт значение и нажмёт Enter, внутри первой функции вызывается ещё один 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question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Теперь программа запрашивает второе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Введите второе число: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Полученные строки сохраняются в переменных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firstInput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secondInput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Далее обе строки преобразуются в числа:</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firstNumber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Number(</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firstInput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secondNumber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Number(</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secondInput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преобразования выполняется обычное арифметическое сложение:</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sum</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firstNumber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secondNumber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Полученный результат выводится пользователю: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console.log(`Сумма: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sum</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завершения программы снова вызывается:</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rl.close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Следует обратить внимание на структуру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Второй вызов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question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расположен внутри первого.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связано с тем, что второе приглашение должно появиться только после того, как пользователь введёт первое значение.</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615913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данном слайде рассмотрен более практический пример использования пользовательского ввода.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Программа запрашивает стоимость товара и его количество, после чего вычисляет общую стоимость покупки.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пользователь вводит цену товара.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программа предлагает указать количество.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Оба введённых значения поступают в программу как строки.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Поэтому перед вычислением они преобразуются в числовой тип с помощью функции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Number()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price = Number(</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priceInput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quantity = Number(</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quantityInput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преобразования выполняется вычисление общей стоимости:</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totalPrice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quantity</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Здесь используется оператор умножения.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Полученный результат выводится пользователю: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console.log(`Итоговая стоимость: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totalPrice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руб.`);</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если пользователь введёт цену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1500</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рублей и количество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3</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программа вычислит: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1500 × 3 = 4500</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 выведет сообщение: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Итоговая стоимость: 4500 руб.</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завершения работы интерфейс ввода закрывается вызовом:</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rl.close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Программа получает данные от пользователя, преобразует строки в числа, выполняет арифметические вычисления и выводит результат в консоль.</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31261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того как программа написана, далеко не всегда она начинает работать правильно с первого запуска. Даже опытные разработчики регулярно сталкиваются с ошибками. Именно поэтому важной частью разработки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отладка программы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Отладкой называют процесс поиска, анализа и исправления ошибок в программе.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время отладки разработчик пытается понять, как именно выполняется программа и на каком этапе возникает ошибка.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Обычно необходимо выяснить несколько вопросов.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Какие инструкции уже были выполнены.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Какие значения получили переменные.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Какой тип имеют данные в конкретный момент времени.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каком этапе вычисления начали давать неверный 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Какое выражение вернуло неожиданное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Была ли выполнена нужная часть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Почему вообще возникла ошибка.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Одним из самых простых и распространённых способов отладки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отладочная печать</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Под отладочной печатью понимают временный вывод информации о состоянии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рассмотрим небольшой фрагмент кода:</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price = 1500;</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quantity = 3;</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console.log(price);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console.log(</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quantity</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выполнения программы в консоль будут выведены значения обеих переменных.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разработчик ожидал другие значения, значит ошибка возникла ещё до этого участка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с помощью вывода в консоль можно постепенно проследить весь путь выполнения программы и определить место, где данные становятся неправильными.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Следует помнить, что подобные сообщения предназначены только для разработчика.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завершения отладки такие инструкции обычно удаляются или оставляются только наиболее полезные диагностические сообщения.</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75688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Объект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предоставляет не только метод console.log(), но и несколько других методов, предназначенных для различных ситуаций.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из них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console.warn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Этот метод используется для вывода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предупреждений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Предупреждение отличается от ошибки тем, что программа может продолжить свою работу.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пользователь ввёл необычное, но допустимое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Или приложение использует устаревший способ обработки данных.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Или значение приближается к некоторому ограничению.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всех этих случаях выполнение программы продолжается, однако разработчик получает сообщение о том, что на данный участок кода следует обратить внимание.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console.warn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("Значение близко к допустимому пределу");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большинстве сред разработки такое сообщение выделяется жёлтым цветом, чтобы его было легче заметить среди обычных сообщений.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метод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console.error</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используется для вывода сообщений об ошибках.</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console.error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("Ошибка: введено нечисловое значение");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Важно понимать одну особенность.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console.error</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 создаёт ошибку автоматически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лишь выводит сообщение, оформленное как сообщение об ошибке.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разработчик решает, в каких ситуациях необходимо использовать этот метод.</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можно проверить корректность введённых данных и, если пользователь ввёл текст вместо числа, вывести соответствующее сообщение.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Использование разных методов объекта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помогает быстрее ориентироваться в большом количестве диагностической информации и легче находить причины возникновения ошибок.</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374761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один полезный метод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console.info("Загрузка данных завершена");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используется для информационных сообщений.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многих средах разработки такие сообщения имеют собственное оформление и помогают отделить обычную информационную печать от предупреждений и ошибок.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также показан 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console.table</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используется тогда, когда необходимо вывести набор однотипных данных в виде таблицы.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имеется массив студентов:</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students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name: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Анна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score: 85 },</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name: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Иван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score: 72 },</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name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"Мария",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score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91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вывести этот массив с помощью</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console.table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students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консоль отобразит данные в виде аккуратной таблицы со столбцами и строками.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способ особенно удобен при работе с массивами объектов, поскольку информация становится значительно нагляднее.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одна возможность объекта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группировка сообщений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Она позволяет объединять связанные сообщения в отдельные логические блоки.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можно сгруппировать все вычисления стоимости заказа, а затем свернуть или развернуть эту группу в консоли.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работе с большими программами группировка делает вывод значительно более удобным для чтения.</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66908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Последний слайд лекции посвящён ещё двум полезным возможностям объекта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Первая возможность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вложенные группы сообщений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Иногда во время работы программы приходится выводить большое количество информации.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сведения о пользователе, затем настройки приложения, затем параметры подключения к серверу.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Чтобы не смешивать все сообщения в одну длинную последовательность, можно использовать вложенные группы.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Внутри одной группы можно создавать другую.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результате в консоли появляется древовидная структура сообщений.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можно создать группу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«Пользователь»</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внутри неё отдельную группу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«Настройки»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способ оформления значительно облегчает анализ сложных программ.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Вторая возможность — 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console.assert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Этот метод предназначен для проверки некоторого предположения.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Ему передаётся логическое выражение и сообщение.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const 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16;</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console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assert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&gt;= 18,</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"Возраст должен быть не меньше 18"</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условие истинно, никакого сообщения в консоли не появится.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же условие окажется ложным, будет выведено указанное сообщение.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метод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console.assert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позволяет быстро проверить выполнение важных условий в программе и сразу обратить внимание разработчика на нарушения ожидаемой логики.</a:t>
            </a:r>
          </a:p>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4533E-B1B1-4D53-884D-0697CB01798E}"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348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CA75AB-88BE-081A-6E16-B69C81C843BE}"/>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E5B86E3-2442-B659-A587-5EADF917C3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95A1C40C-4E0D-779C-7DCF-00D0CF671ACC}"/>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5" name="Нижний колонтитул 4">
            <a:extLst>
              <a:ext uri="{FF2B5EF4-FFF2-40B4-BE49-F238E27FC236}">
                <a16:creationId xmlns:a16="http://schemas.microsoft.com/office/drawing/2014/main" id="{04937F42-12D6-AAC3-C2F9-BF1CD75B8A2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AC42B4A-8207-F029-2C66-9D3029962918}"/>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3422916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8033BD-378C-C5E2-988C-BD08859BA4E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1941CD62-35B5-4CFA-1B22-639CE9F2A46F}"/>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D2E7249-4C34-3384-263A-8B0712D652E4}"/>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5" name="Нижний колонтитул 4">
            <a:extLst>
              <a:ext uri="{FF2B5EF4-FFF2-40B4-BE49-F238E27FC236}">
                <a16:creationId xmlns:a16="http://schemas.microsoft.com/office/drawing/2014/main" id="{FBA57B48-9E73-E987-4749-94E40721B6F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EFF21DA-15FD-8C7C-CFCF-6D6AC837A121}"/>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2566482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CAA226-EB86-89FC-6C70-E812D6E94EB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815850C-887B-1856-ABC3-E25E17C8A4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21B08F16-0694-9EEC-4450-611C388B3CF3}"/>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5" name="Нижний колонтитул 4">
            <a:extLst>
              <a:ext uri="{FF2B5EF4-FFF2-40B4-BE49-F238E27FC236}">
                <a16:creationId xmlns:a16="http://schemas.microsoft.com/office/drawing/2014/main" id="{57184BB8-1043-A47E-CDB3-2900FE0F036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D497BA8-904F-CBEF-6AD9-DAEDED061D0C}"/>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3666318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06411B-3548-0348-077B-AA530E7A662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0AA008F-2CFE-33E3-1CED-295CED4A10DC}"/>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5CE975C-B210-8F15-0069-CCB6D91DCABE}"/>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79FF6802-B94E-1500-E833-B485E60346E7}"/>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6" name="Нижний колонтитул 5">
            <a:extLst>
              <a:ext uri="{FF2B5EF4-FFF2-40B4-BE49-F238E27FC236}">
                <a16:creationId xmlns:a16="http://schemas.microsoft.com/office/drawing/2014/main" id="{6BA1181C-CBD8-7D85-796F-A59B7A581DA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FAD5FC8-678A-7B4E-A629-D43F56567F8C}"/>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10136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CCD6DE-31EC-670C-75C7-B3441F76815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ACBAAC60-AC90-E757-9653-E6F08F36C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605E68B4-404A-4B79-2235-7E1E784A2165}"/>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C90E8A44-A48C-0973-D65C-EDC4380A9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9ED0CA27-35AD-872C-D203-8CF805DBDDC6}"/>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D751608-4EEA-0283-F2C9-C526A9812C6B}"/>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8" name="Нижний колонтитул 7">
            <a:extLst>
              <a:ext uri="{FF2B5EF4-FFF2-40B4-BE49-F238E27FC236}">
                <a16:creationId xmlns:a16="http://schemas.microsoft.com/office/drawing/2014/main" id="{BB17AEE3-DEB1-992A-7810-94B79F22700B}"/>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616829CE-BEF2-1B08-511A-73540FF5F60B}"/>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233230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4883DF-223C-FD83-B84E-6E3ED7B930A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FE71C2F-824B-F10D-2187-CE2580E18D7C}"/>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4" name="Нижний колонтитул 3">
            <a:extLst>
              <a:ext uri="{FF2B5EF4-FFF2-40B4-BE49-F238E27FC236}">
                <a16:creationId xmlns:a16="http://schemas.microsoft.com/office/drawing/2014/main" id="{8306FA97-82DD-B006-A2F9-77B36188346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EA74A65-152E-3972-FA9F-0B3CED16E477}"/>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1582066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4A18540-8BE3-9770-65D5-5E712F494BE4}"/>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3" name="Нижний колонтитул 2">
            <a:extLst>
              <a:ext uri="{FF2B5EF4-FFF2-40B4-BE49-F238E27FC236}">
                <a16:creationId xmlns:a16="http://schemas.microsoft.com/office/drawing/2014/main" id="{0C18EDEF-11D6-5D75-8F48-D69318CAB472}"/>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49A3D059-699A-C431-3D62-EFE7CC036644}"/>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3138192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791BE2-1998-069A-45BF-F8C5533466B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BD482B46-D1D4-4D53-4DF6-FB8FC4B50B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0084222B-3897-2268-D8D2-C76B2AA148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2E7554C-CA8D-2541-CE88-9A6D4118BE18}"/>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6" name="Нижний колонтитул 5">
            <a:extLst>
              <a:ext uri="{FF2B5EF4-FFF2-40B4-BE49-F238E27FC236}">
                <a16:creationId xmlns:a16="http://schemas.microsoft.com/office/drawing/2014/main" id="{7CF9DA05-658D-08B5-0A6A-6016A7D0B68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471D98D-5622-437C-A36E-9C9700E0AF64}"/>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1046900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B68B20-49CA-AD8B-F0EF-4414B92452B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662CD3D4-6A35-6D71-F309-3D13B71F62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DC7E5FC-176A-F3C3-12CC-77563AE0C7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2496CEF-6E34-814B-ECE6-D3BCA7EFF6B9}"/>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6" name="Нижний колонтитул 5">
            <a:extLst>
              <a:ext uri="{FF2B5EF4-FFF2-40B4-BE49-F238E27FC236}">
                <a16:creationId xmlns:a16="http://schemas.microsoft.com/office/drawing/2014/main" id="{BBC2EB4D-0681-EEFD-A6DD-348D814D436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B5AB403-DA5D-924F-0433-E1A1878A9D0A}"/>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997670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DFF517-8071-A5CA-6FB0-55DC8013D2A5}"/>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51DD0E5E-15BB-44D3-400B-2B2AA343DE8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445ADAF-E611-B6FC-0015-1D7B55870A8A}"/>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5" name="Нижний колонтитул 4">
            <a:extLst>
              <a:ext uri="{FF2B5EF4-FFF2-40B4-BE49-F238E27FC236}">
                <a16:creationId xmlns:a16="http://schemas.microsoft.com/office/drawing/2014/main" id="{7A20A3A6-B1BF-EC82-40D1-673616A603B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2989716-2157-21BB-57C4-5AD1548ABCBC}"/>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2302143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E9C903EC-5630-9501-08B6-39C574AAD1A2}"/>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D493214-1BD7-B6AF-FDC5-1C813C37C69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BEC8F21-98B3-DD3F-367B-30BE5A1E219C}"/>
              </a:ext>
            </a:extLst>
          </p:cNvPr>
          <p:cNvSpPr>
            <a:spLocks noGrp="1"/>
          </p:cNvSpPr>
          <p:nvPr>
            <p:ph type="dt" sz="half" idx="10"/>
          </p:nvPr>
        </p:nvSpPr>
        <p:spPr/>
        <p:txBody>
          <a:bodyPr/>
          <a:lstStyle/>
          <a:p>
            <a:fld id="{AEE693F5-880A-4740-9F64-B06D62758661}" type="datetimeFigureOut">
              <a:rPr lang="ru-RU" smtClean="0"/>
              <a:t>24.09.26</a:t>
            </a:fld>
            <a:endParaRPr lang="ru-RU"/>
          </a:p>
        </p:txBody>
      </p:sp>
      <p:sp>
        <p:nvSpPr>
          <p:cNvPr id="5" name="Нижний колонтитул 4">
            <a:extLst>
              <a:ext uri="{FF2B5EF4-FFF2-40B4-BE49-F238E27FC236}">
                <a16:creationId xmlns:a16="http://schemas.microsoft.com/office/drawing/2014/main" id="{FF73347D-72BD-7AA5-C6AF-0C008820A2E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68FF06F-7FC7-28FC-719B-4FCC609E14D9}"/>
              </a:ext>
            </a:extLst>
          </p:cNvPr>
          <p:cNvSpPr>
            <a:spLocks noGrp="1"/>
          </p:cNvSpPr>
          <p:nvPr>
            <p:ph type="sldNum" sz="quarter" idx="12"/>
          </p:nvPr>
        </p:nvSpPr>
        <p:spPr/>
        <p:txBody>
          <a:bodyPr/>
          <a:lstStyle/>
          <a:p>
            <a:fld id="{DBE5663F-7B56-4E46-9236-0090C6620BDC}" type="slidenum">
              <a:rPr lang="ru-RU" smtClean="0"/>
              <a:t>‹#›</a:t>
            </a:fld>
            <a:endParaRPr lang="ru-RU"/>
          </a:p>
        </p:txBody>
      </p:sp>
    </p:spTree>
    <p:extLst>
      <p:ext uri="{BB962C8B-B14F-4D97-AF65-F5344CB8AC3E}">
        <p14:creationId xmlns:p14="http://schemas.microsoft.com/office/powerpoint/2010/main" val="4283347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matchingName="Титульный слайд" type="title" userDrawn="1">
  <p:cSld name="Титульный слайд">
    <p:spTree>
      <p:nvGrpSpPr>
        <p:cNvPr id="1" name=""/>
        <p:cNvGrpSpPr/>
        <p:nvPr/>
      </p:nvGrpSpPr>
      <p:grpSpPr bwMode="auto">
        <a:xfrm>
          <a:off x="0" y="0"/>
          <a:ext cx="0" cy="0"/>
          <a:chOff x="0" y="0"/>
          <a:chExt cx="0" cy="0"/>
        </a:xfrm>
      </p:grpSpPr>
      <p:sp>
        <p:nvSpPr>
          <p:cNvPr id="16" name="Google Shape;16;p2"/>
          <p:cNvSpPr txBox="1">
            <a:spLocks noGrp="1"/>
          </p:cNvSpPr>
          <p:nvPr>
            <p:ph type="ctrTitle"/>
          </p:nvPr>
        </p:nvSpPr>
        <p:spPr bwMode="auto">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 name="Google Shape;17;p2"/>
          <p:cNvSpPr txBox="1">
            <a:spLocks noGrp="1"/>
          </p:cNvSpPr>
          <p:nvPr>
            <p:ph type="subTitle" idx="1"/>
          </p:nvPr>
        </p:nvSpPr>
        <p:spPr bwMode="auto">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a:defRPr/>
            </a:pPr>
            <a:endParaRPr/>
          </a:p>
        </p:txBody>
      </p:sp>
      <p:sp>
        <p:nvSpPr>
          <p:cNvPr id="18" name="Google Shape;18;p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 name="Google Shape;19;p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 name="Google Shape;20;p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93711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matchingName="Заголовок и объект" type="obj" userDrawn="1">
  <p:cSld name="Заголовок и объект">
    <p:spTree>
      <p:nvGrpSpPr>
        <p:cNvPr id="1" name=""/>
        <p:cNvGrpSpPr/>
        <p:nvPr/>
      </p:nvGrpSpPr>
      <p:grpSpPr bwMode="auto">
        <a:xfrm>
          <a:off x="0" y="0"/>
          <a:ext cx="0" cy="0"/>
          <a:chOff x="0" y="0"/>
          <a:chExt cx="0" cy="0"/>
        </a:xfrm>
      </p:grpSpPr>
      <p:sp>
        <p:nvSpPr>
          <p:cNvPr id="22" name="Google Shape;22;p3"/>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3" name="Google Shape;23;p3"/>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24" name="Google Shape;24;p3"/>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 name="Google Shape;25;p3"/>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6" name="Google Shape;26;p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901419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matchingName="Заголовок раздела" type="secHead" userDrawn="1">
  <p:cSld name="Заголовок раздела">
    <p:spTree>
      <p:nvGrpSpPr>
        <p:cNvPr id="1" name=""/>
        <p:cNvGrpSpPr/>
        <p:nvPr/>
      </p:nvGrpSpPr>
      <p:grpSpPr bwMode="auto">
        <a:xfrm>
          <a:off x="0" y="0"/>
          <a:ext cx="0" cy="0"/>
          <a:chOff x="0" y="0"/>
          <a:chExt cx="0" cy="0"/>
        </a:xfrm>
      </p:grpSpPr>
      <p:sp>
        <p:nvSpPr>
          <p:cNvPr id="28" name="Google Shape;28;p4"/>
          <p:cNvSpPr txBox="1">
            <a:spLocks noGrp="1"/>
          </p:cNvSpPr>
          <p:nvPr>
            <p:ph type="title"/>
          </p:nvPr>
        </p:nvSpPr>
        <p:spPr bwMode="auto">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9" name="Google Shape;29;p4"/>
          <p:cNvSpPr txBox="1">
            <a:spLocks noGrp="1"/>
          </p:cNvSpPr>
          <p:nvPr>
            <p:ph type="body" idx="1"/>
          </p:nvPr>
        </p:nvSpPr>
        <p:spPr bwMode="auto">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a:defRPr/>
            </a:pPr>
            <a:endParaRPr/>
          </a:p>
        </p:txBody>
      </p:sp>
      <p:sp>
        <p:nvSpPr>
          <p:cNvPr id="30" name="Google Shape;30;p4"/>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1" name="Google Shape;31;p4"/>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2" name="Google Shape;32;p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522466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matchingName="Два объекта" type="twoObj" userDrawn="1">
  <p:cSld name="Два объекта">
    <p:spTree>
      <p:nvGrpSpPr>
        <p:cNvPr id="1" name=""/>
        <p:cNvGrpSpPr/>
        <p:nvPr/>
      </p:nvGrpSpPr>
      <p:grpSpPr bwMode="auto">
        <a:xfrm>
          <a:off x="0" y="0"/>
          <a:ext cx="0" cy="0"/>
          <a:chOff x="0" y="0"/>
          <a:chExt cx="0" cy="0"/>
        </a:xfrm>
      </p:grpSpPr>
      <p:sp>
        <p:nvSpPr>
          <p:cNvPr id="34" name="Google Shape;34;p5"/>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5" name="Google Shape;35;p5"/>
          <p:cNvSpPr txBox="1">
            <a:spLocks noGrp="1"/>
          </p:cNvSpPr>
          <p:nvPr>
            <p:ph type="body" idx="1"/>
          </p:nvPr>
        </p:nvSpPr>
        <p:spPr bwMode="auto">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6" name="Google Shape;36;p5"/>
          <p:cNvSpPr txBox="1">
            <a:spLocks noGrp="1"/>
          </p:cNvSpPr>
          <p:nvPr>
            <p:ph type="body" idx="2"/>
          </p:nvPr>
        </p:nvSpPr>
        <p:spPr bwMode="auto">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7" name="Google Shape;37;p5"/>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8" name="Google Shape;38;p5"/>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 name="Google Shape;39;p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855887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matchingName="Сравнение" type="twoTxTwoObj" userDrawn="1">
  <p:cSld name="Сравнение">
    <p:spTree>
      <p:nvGrpSpPr>
        <p:cNvPr id="1" name=""/>
        <p:cNvGrpSpPr/>
        <p:nvPr/>
      </p:nvGrpSpPr>
      <p:grpSpPr bwMode="auto">
        <a:xfrm>
          <a:off x="0" y="0"/>
          <a:ext cx="0" cy="0"/>
          <a:chOff x="0" y="0"/>
          <a:chExt cx="0" cy="0"/>
        </a:xfrm>
      </p:grpSpPr>
      <p:sp>
        <p:nvSpPr>
          <p:cNvPr id="41" name="Google Shape;41;p6"/>
          <p:cNvSpPr txBox="1">
            <a:spLocks noGrp="1"/>
          </p:cNvSpPr>
          <p:nvPr>
            <p:ph type="title"/>
          </p:nvPr>
        </p:nvSpPr>
        <p:spPr bwMode="auto">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2" name="Google Shape;42;p6"/>
          <p:cNvSpPr txBox="1">
            <a:spLocks noGrp="1"/>
          </p:cNvSpPr>
          <p:nvPr>
            <p:ph type="body" idx="1"/>
          </p:nvPr>
        </p:nvSpPr>
        <p:spPr bwMode="auto">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3" name="Google Shape;43;p6"/>
          <p:cNvSpPr txBox="1">
            <a:spLocks noGrp="1"/>
          </p:cNvSpPr>
          <p:nvPr>
            <p:ph type="body" idx="2"/>
          </p:nvPr>
        </p:nvSpPr>
        <p:spPr bwMode="auto">
          <a:xfrm>
            <a:off x="839788" y="2505074"/>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4" name="Google Shape;44;p6"/>
          <p:cNvSpPr txBox="1">
            <a:spLocks noGrp="1"/>
          </p:cNvSpPr>
          <p:nvPr>
            <p:ph type="body" idx="3"/>
          </p:nvPr>
        </p:nvSpPr>
        <p:spPr bwMode="auto">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5" name="Google Shape;45;p6"/>
          <p:cNvSpPr txBox="1">
            <a:spLocks noGrp="1"/>
          </p:cNvSpPr>
          <p:nvPr>
            <p:ph type="body" idx="4"/>
          </p:nvPr>
        </p:nvSpPr>
        <p:spPr bwMode="auto">
          <a:xfrm>
            <a:off x="6172200" y="2505074"/>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6" name="Google Shape;46;p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7" name="Google Shape;47;p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8" name="Google Shape;48;p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866499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Только заголовок" type="titleOnly" userDrawn="1">
  <p:cSld name="Только заголовок">
    <p:spTree>
      <p:nvGrpSpPr>
        <p:cNvPr id="1" name=""/>
        <p:cNvGrpSpPr/>
        <p:nvPr/>
      </p:nvGrpSpPr>
      <p:grpSpPr bwMode="auto">
        <a:xfrm>
          <a:off x="0" y="0"/>
          <a:ext cx="0" cy="0"/>
          <a:chOff x="0" y="0"/>
          <a:chExt cx="0" cy="0"/>
        </a:xfrm>
      </p:grpSpPr>
      <p:sp>
        <p:nvSpPr>
          <p:cNvPr id="50" name="Google Shape;50;p7"/>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1" name="Google Shape;51;p7"/>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2" name="Google Shape;52;p7"/>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3" name="Google Shape;53;p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42195822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Пустой слайд" type="blank" userDrawn="1">
  <p:cSld name="Пустой слайд">
    <p:spTree>
      <p:nvGrpSpPr>
        <p:cNvPr id="1" name=""/>
        <p:cNvGrpSpPr/>
        <p:nvPr/>
      </p:nvGrpSpPr>
      <p:grpSpPr bwMode="auto">
        <a:xfrm>
          <a:off x="0" y="0"/>
          <a:ext cx="0" cy="0"/>
          <a:chOff x="0" y="0"/>
          <a:chExt cx="0" cy="0"/>
        </a:xfrm>
      </p:grpSpPr>
      <p:sp>
        <p:nvSpPr>
          <p:cNvPr id="55" name="Google Shape;55;p8"/>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6" name="Google Shape;56;p8"/>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7" name="Google Shape;57;p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490799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Объект с подписью" type="objTx" userDrawn="1">
  <p:cSld name="Объект с подписью">
    <p:spTree>
      <p:nvGrpSpPr>
        <p:cNvPr id="1" name=""/>
        <p:cNvGrpSpPr/>
        <p:nvPr/>
      </p:nvGrpSpPr>
      <p:grpSpPr bwMode="auto">
        <a:xfrm>
          <a:off x="0" y="0"/>
          <a:ext cx="0" cy="0"/>
          <a:chOff x="0" y="0"/>
          <a:chExt cx="0" cy="0"/>
        </a:xfrm>
      </p:grpSpPr>
      <p:sp>
        <p:nvSpPr>
          <p:cNvPr id="59" name="Google Shape;59;p9"/>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0" name="Google Shape;60;p9"/>
          <p:cNvSpPr txBox="1">
            <a:spLocks noGrp="1"/>
          </p:cNvSpPr>
          <p:nvPr>
            <p:ph type="body" idx="1"/>
          </p:nvPr>
        </p:nvSpPr>
        <p:spPr bwMode="auto">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799"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a:defRPr/>
            </a:pPr>
            <a:endParaRPr/>
          </a:p>
        </p:txBody>
      </p:sp>
      <p:sp>
        <p:nvSpPr>
          <p:cNvPr id="61" name="Google Shape;61;p9"/>
          <p:cNvSpPr txBox="1">
            <a:spLocks noGrp="1"/>
          </p:cNvSpPr>
          <p:nvPr>
            <p:ph type="body" idx="2"/>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2" name="Google Shape;62;p9"/>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3" name="Google Shape;63;p9"/>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4" name="Google Shape;64;p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9892131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Рисунок с подписью" type="picTx" userDrawn="1">
  <p:cSld name="Рисунок с подписью">
    <p:spTree>
      <p:nvGrpSpPr>
        <p:cNvPr id="1" name=""/>
        <p:cNvGrpSpPr/>
        <p:nvPr/>
      </p:nvGrpSpPr>
      <p:grpSpPr bwMode="auto">
        <a:xfrm>
          <a:off x="0" y="0"/>
          <a:ext cx="0" cy="0"/>
          <a:chOff x="0" y="0"/>
          <a:chExt cx="0" cy="0"/>
        </a:xfrm>
      </p:grpSpPr>
      <p:sp>
        <p:nvSpPr>
          <p:cNvPr id="66" name="Google Shape;66;p10"/>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7" name="Google Shape;67;p10"/>
          <p:cNvSpPr>
            <a:spLocks noGrp="1"/>
          </p:cNvSpPr>
          <p:nvPr>
            <p:ph type="pic" idx="2"/>
          </p:nvPr>
        </p:nvSpPr>
        <p:spPr bwMode="auto">
          <a:xfrm>
            <a:off x="5183188" y="987425"/>
            <a:ext cx="6172200" cy="4873625"/>
          </a:xfrm>
          <a:prstGeom prst="rect">
            <a:avLst/>
          </a:prstGeom>
          <a:noFill/>
          <a:ln>
            <a:noFill/>
          </a:ln>
        </p:spPr>
      </p:sp>
      <p:sp>
        <p:nvSpPr>
          <p:cNvPr id="68" name="Google Shape;68;p10"/>
          <p:cNvSpPr txBox="1">
            <a:spLocks noGrp="1"/>
          </p:cNvSpPr>
          <p:nvPr>
            <p:ph type="body" idx="1"/>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9" name="Google Shape;69;p10"/>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0" name="Google Shape;70;p10"/>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1" name="Google Shape;71;p1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8887672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Заголовок и вертикальный текст" type="vertTx" userDrawn="1">
  <p:cSld name="Заголовок и вертикальный текст">
    <p:spTree>
      <p:nvGrpSpPr>
        <p:cNvPr id="1" name=""/>
        <p:cNvGrpSpPr/>
        <p:nvPr/>
      </p:nvGrpSpPr>
      <p:grpSpPr bwMode="auto">
        <a:xfrm>
          <a:off x="0" y="0"/>
          <a:ext cx="0" cy="0"/>
          <a:chOff x="0" y="0"/>
          <a:chExt cx="0" cy="0"/>
        </a:xfrm>
      </p:grpSpPr>
      <p:sp>
        <p:nvSpPr>
          <p:cNvPr id="73" name="Google Shape;73;p1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4" name="Google Shape;74;p11"/>
          <p:cNvSpPr txBox="1">
            <a:spLocks noGrp="1"/>
          </p:cNvSpPr>
          <p:nvPr>
            <p:ph type="body" idx="1"/>
          </p:nvPr>
        </p:nvSpPr>
        <p:spPr bwMode="auto">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75" name="Google Shape;75;p1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6" name="Google Shape;76;p1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7" name="Google Shape;77;p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352039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Вертикальный заголовок и текст" type="vertTitleAndTx" userDrawn="1">
  <p:cSld name="Вертикальный заголовок и текст">
    <p:spTree>
      <p:nvGrpSpPr>
        <p:cNvPr id="1" name=""/>
        <p:cNvGrpSpPr/>
        <p:nvPr/>
      </p:nvGrpSpPr>
      <p:grpSpPr bwMode="auto">
        <a:xfrm>
          <a:off x="0" y="0"/>
          <a:ext cx="0" cy="0"/>
          <a:chOff x="0" y="0"/>
          <a:chExt cx="0" cy="0"/>
        </a:xfrm>
      </p:grpSpPr>
      <p:sp>
        <p:nvSpPr>
          <p:cNvPr id="79" name="Google Shape;79;p12"/>
          <p:cNvSpPr txBox="1">
            <a:spLocks noGrp="1"/>
          </p:cNvSpPr>
          <p:nvPr>
            <p:ph type="title"/>
          </p:nvPr>
        </p:nvSpPr>
        <p:spPr bwMode="auto">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0" name="Google Shape;80;p12"/>
          <p:cNvSpPr txBox="1">
            <a:spLocks noGrp="1"/>
          </p:cNvSpPr>
          <p:nvPr>
            <p:ph type="body" idx="1"/>
          </p:nvPr>
        </p:nvSpPr>
        <p:spPr bwMode="auto">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81" name="Google Shape;81;p1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2" name="Google Shape;82;p1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3" name="Google Shape;83;p1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981365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8C4A9A-443A-D0FB-7C76-4FDFFA348E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911D5DD-317B-DA46-780C-156F837BC1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FD1C635-409F-BA1B-E92A-D6875B8EB8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E693F5-880A-4740-9F64-B06D62758661}" type="datetimeFigureOut">
              <a:rPr lang="ru-RU" smtClean="0"/>
              <a:t>24.09.26</a:t>
            </a:fld>
            <a:endParaRPr lang="ru-RU"/>
          </a:p>
        </p:txBody>
      </p:sp>
      <p:sp>
        <p:nvSpPr>
          <p:cNvPr id="5" name="Нижний колонтитул 4">
            <a:extLst>
              <a:ext uri="{FF2B5EF4-FFF2-40B4-BE49-F238E27FC236}">
                <a16:creationId xmlns:a16="http://schemas.microsoft.com/office/drawing/2014/main" id="{0348E6BE-97E6-9A3E-4F09-75E3F63F5B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83613F2A-2BED-6E41-F15B-B8AC34CD95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E5663F-7B56-4E46-9236-0090C6620BDC}" type="slidenum">
              <a:rPr lang="ru-RU" smtClean="0"/>
              <a:t>‹#›</a:t>
            </a:fld>
            <a:endParaRPr lang="ru-RU"/>
          </a:p>
        </p:txBody>
      </p:sp>
    </p:spTree>
    <p:extLst>
      <p:ext uri="{BB962C8B-B14F-4D97-AF65-F5344CB8AC3E}">
        <p14:creationId xmlns:p14="http://schemas.microsoft.com/office/powerpoint/2010/main" val="860591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10" name="Google Shape;10;p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1" name="Google Shape;11;p1"/>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sp>
        <p:nvSpPr>
          <p:cNvPr id="12" name="Google Shape;12;p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3" name="Google Shape;13;p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4" name="Google Shape;14;p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214200206"/>
      </p:ext>
    </p:extLst>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a:blip r:embed="rId3">
            <a:alphaModFix/>
          </a:blip>
          <a:stretch/>
        </a:blipFill>
        <a:effectLst/>
      </p:bgPr>
    </p:bg>
    <p:spTree>
      <p:nvGrpSpPr>
        <p:cNvPr id="1" name=""/>
        <p:cNvGrpSpPr/>
        <p:nvPr/>
      </p:nvGrpSpPr>
      <p:grpSpPr bwMode="auto">
        <a:xfrm>
          <a:off x="0" y="0"/>
          <a:ext cx="0" cy="0"/>
          <a:chOff x="0" y="0"/>
          <a:chExt cx="0" cy="0"/>
        </a:xfrm>
      </p:grpSpPr>
      <p:sp>
        <p:nvSpPr>
          <p:cNvPr id="88" name="Google Shape;88;p13"/>
          <p:cNvSpPr txBox="1"/>
          <p:nvPr/>
        </p:nvSpPr>
        <p:spPr bwMode="auto">
          <a:xfrm>
            <a:off x="3526132" y="2156345"/>
            <a:ext cx="8342406" cy="92328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b="1" i="0" u="none" strike="noStrike" kern="0" cap="none" spc="0" normalizeH="0" baseline="0" noProof="0" dirty="0">
                <a:ln>
                  <a:noFill/>
                </a:ln>
                <a:solidFill>
                  <a:srgbClr val="283CF5"/>
                </a:solidFill>
                <a:effectLst/>
                <a:uLnTx/>
                <a:uFillTx/>
                <a:latin typeface="Arial"/>
                <a:cs typeface="Arial"/>
              </a:rPr>
              <a:t>Основы языка JavaScript. Синтаксис программы. Переменные </a:t>
            </a:r>
            <a:r>
              <a:rPr kumimoji="0" lang="ru-RU" b="1" i="0" u="none" strike="noStrike" kern="0" cap="none" spc="0" normalizeH="0" baseline="0" noProof="0" dirty="0" err="1">
                <a:ln>
                  <a:noFill/>
                </a:ln>
                <a:solidFill>
                  <a:srgbClr val="283CF5"/>
                </a:solidFill>
                <a:effectLst/>
                <a:uLnTx/>
                <a:uFillTx/>
                <a:latin typeface="Arial"/>
                <a:cs typeface="Arial"/>
              </a:rPr>
              <a:t>let</a:t>
            </a:r>
            <a:r>
              <a:rPr kumimoji="0" lang="ru-RU" b="1" i="0" u="none" strike="noStrike" kern="0" cap="none" spc="0" normalizeH="0" baseline="0" noProof="0" dirty="0">
                <a:ln>
                  <a:noFill/>
                </a:ln>
                <a:solidFill>
                  <a:srgbClr val="283CF5"/>
                </a:solidFill>
                <a:effectLst/>
                <a:uLnTx/>
                <a:uFillTx/>
                <a:latin typeface="Arial"/>
                <a:cs typeface="Arial"/>
              </a:rPr>
              <a:t> и </a:t>
            </a:r>
            <a:r>
              <a:rPr kumimoji="0" lang="ru-RU" b="1" i="0" u="none" strike="noStrike" kern="0" cap="none" spc="0" normalizeH="0" baseline="0" noProof="0" dirty="0" err="1">
                <a:ln>
                  <a:noFill/>
                </a:ln>
                <a:solidFill>
                  <a:srgbClr val="283CF5"/>
                </a:solidFill>
                <a:effectLst/>
                <a:uLnTx/>
                <a:uFillTx/>
                <a:latin typeface="Arial"/>
                <a:cs typeface="Arial"/>
              </a:rPr>
              <a:t>const</a:t>
            </a:r>
            <a:r>
              <a:rPr kumimoji="0" lang="ru-RU" b="1" i="0" u="none" strike="noStrike" kern="0" cap="none" spc="0" normalizeH="0" baseline="0" noProof="0" dirty="0">
                <a:ln>
                  <a:noFill/>
                </a:ln>
                <a:solidFill>
                  <a:srgbClr val="283CF5"/>
                </a:solidFill>
                <a:effectLst/>
                <a:uLnTx/>
                <a:uFillTx/>
                <a:latin typeface="Arial"/>
                <a:cs typeface="Arial"/>
              </a:rPr>
              <a:t>. Примитивные типы данных. Операции, выражения, преобразование типов. Ввод, вывод и отладочная печать данных.</a:t>
            </a:r>
          </a:p>
        </p:txBody>
      </p:sp>
      <p:sp>
        <p:nvSpPr>
          <p:cNvPr id="92" name="Google Shape;92;p13"/>
          <p:cNvSpPr txBox="1"/>
          <p:nvPr/>
        </p:nvSpPr>
        <p:spPr bwMode="auto">
          <a:xfrm>
            <a:off x="3722075" y="5189207"/>
            <a:ext cx="7885206"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400" b="0" i="0" u="none" strike="noStrike" kern="0" cap="none" spc="0" normalizeH="0" baseline="0" noProof="0" dirty="0">
                <a:ln>
                  <a:noFill/>
                </a:ln>
                <a:solidFill>
                  <a:srgbClr val="FFFFFF"/>
                </a:solidFill>
                <a:effectLst/>
                <a:uLnTx/>
                <a:uFillTx/>
                <a:latin typeface="Arial"/>
                <a:cs typeface="Arial"/>
              </a:rPr>
              <a:t>Преподаватель: Евдошенко Неля </a:t>
            </a:r>
            <a:r>
              <a:rPr kumimoji="0" lang="ru-RU" sz="2400" b="0" i="0" u="none" strike="noStrike" kern="0" cap="none" spc="0" normalizeH="0" baseline="0" noProof="0" dirty="0" err="1">
                <a:ln>
                  <a:noFill/>
                </a:ln>
                <a:solidFill>
                  <a:srgbClr val="FFFFFF"/>
                </a:solidFill>
                <a:effectLst/>
                <a:uLnTx/>
                <a:uFillTx/>
                <a:latin typeface="Arial"/>
                <a:cs typeface="Arial"/>
              </a:rPr>
              <a:t>Ильнуровна</a:t>
            </a:r>
            <a:endParaRPr kumimoji="0" sz="1050" b="0" i="0" u="none" strike="noStrike" kern="0" cap="none" spc="0" normalizeH="0" baseline="0" noProof="0" dirty="0">
              <a:ln>
                <a:noFill/>
              </a:ln>
              <a:solidFill>
                <a:srgbClr val="000000"/>
              </a:solidFill>
              <a:effectLst/>
              <a:uLnTx/>
              <a:uFillTx/>
              <a:latin typeface="Arial"/>
              <a:cs typeface="Arial"/>
            </a:endParaRPr>
          </a:p>
        </p:txBody>
      </p:sp>
      <p:sp>
        <p:nvSpPr>
          <p:cNvPr id="93" name="Google Shape;93;p13"/>
          <p:cNvSpPr txBox="1"/>
          <p:nvPr/>
        </p:nvSpPr>
        <p:spPr bwMode="auto">
          <a:xfrm>
            <a:off x="3722075" y="3290820"/>
            <a:ext cx="8146463" cy="107717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ea typeface="+mn-ea"/>
                <a:cs typeface="Arial"/>
              </a:rPr>
              <a:t>Дисциплина: Разработка </a:t>
            </a: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cs typeface="Arial"/>
              </a:rPr>
              <a:t>мобильных</a:t>
            </a: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ea typeface="+mn-ea"/>
                <a:cs typeface="Arial"/>
              </a:rPr>
              <a:t> приложений</a:t>
            </a:r>
            <a:endParaRPr kumimoji="0" sz="1200" b="0" i="0" u="none" strike="noStrike" kern="0" cap="none" spc="0" normalizeH="0" baseline="0" noProof="0" dirty="0">
              <a:ln>
                <a:noFill/>
              </a:ln>
              <a:solidFill>
                <a:srgbClr val="000000"/>
              </a:solidFill>
              <a:effectLst/>
              <a:uLnTx/>
              <a:uFillTx/>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32013" y="-17096"/>
            <a:ext cx="10515600" cy="1325563"/>
          </a:xfrm>
        </p:spPr>
        <p:txBody>
          <a:bodyPr/>
          <a:lstStyle/>
          <a:p>
            <a:pPr algn="ctr"/>
            <a:r>
              <a:rPr lang="ru-RU" dirty="0">
                <a:latin typeface="Times New Roman" panose="02020603050405020304" pitchFamily="18" charset="0"/>
                <a:cs typeface="Times New Roman" panose="02020603050405020304" pitchFamily="18" charset="0"/>
              </a:rPr>
              <a:t>Что такое </a:t>
            </a:r>
            <a:r>
              <a:rPr lang="en-US" dirty="0">
                <a:latin typeface="Times New Roman" panose="02020603050405020304" pitchFamily="18" charset="0"/>
                <a:cs typeface="Times New Roman" panose="02020603050405020304" pitchFamily="18" charset="0"/>
              </a:rPr>
              <a:t>JavaScript</a:t>
            </a:r>
            <a:endParaRPr lang="ru-RU"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072B7B64-978B-A570-432E-1DA385B427AE}"/>
              </a:ext>
            </a:extLst>
          </p:cNvPr>
          <p:cNvSpPr txBox="1"/>
          <p:nvPr/>
        </p:nvSpPr>
        <p:spPr>
          <a:xfrm>
            <a:off x="544386" y="1159305"/>
            <a:ext cx="9845610" cy="5016758"/>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JavaScript</a:t>
            </a:r>
            <a:r>
              <a:rPr lang="ru-RU" sz="2000" dirty="0">
                <a:latin typeface="Times New Roman" panose="02020603050405020304" pitchFamily="18" charset="0"/>
                <a:cs typeface="Times New Roman" panose="02020603050405020304" pitchFamily="18" charset="0"/>
              </a:rPr>
              <a:t> — высокоуровневый язык программирования с динамической типизацией, предназначенный для описания логики и поведения программ.</a:t>
            </a:r>
          </a:p>
          <a:p>
            <a:endParaRPr lang="ru-RU" sz="2000"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С помощью JavaScript можно:</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хранить и обрабатывать данные;</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выполнять вычисления;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проверять условия;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организовывать повторение действий;</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создавать функции;</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работать с коллекциями данных;</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реагировать на действия пользователя;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взаимодействовать с внешними источниками данных;</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создавать интерактивные приложения.</a:t>
            </a:r>
          </a:p>
          <a:p>
            <a:endParaRPr lang="ru-RU" sz="2000"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JavaScript используется в веб-разработке, серверных приложениях, настольных программах и мобильной разработке.</a:t>
            </a:r>
          </a:p>
        </p:txBody>
      </p:sp>
    </p:spTree>
    <p:extLst>
      <p:ext uri="{BB962C8B-B14F-4D97-AF65-F5344CB8AC3E}">
        <p14:creationId xmlns:p14="http://schemas.microsoft.com/office/powerpoint/2010/main" val="479130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11917" y="186008"/>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Почему JavaScript важен для мобильной разработки</a:t>
            </a:r>
          </a:p>
        </p:txBody>
      </p:sp>
      <p:sp>
        <p:nvSpPr>
          <p:cNvPr id="4" name="TextBox 3">
            <a:extLst>
              <a:ext uri="{FF2B5EF4-FFF2-40B4-BE49-F238E27FC236}">
                <a16:creationId xmlns:a16="http://schemas.microsoft.com/office/drawing/2014/main" id="{B35B7389-0D45-6040-077F-B315195BF041}"/>
              </a:ext>
            </a:extLst>
          </p:cNvPr>
          <p:cNvSpPr txBox="1"/>
          <p:nvPr/>
        </p:nvSpPr>
        <p:spPr>
          <a:xfrm>
            <a:off x="361708" y="1389080"/>
            <a:ext cx="11364718" cy="5016758"/>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В дальнейшем JavaScript будет использоваться при изучении </a:t>
            </a:r>
            <a:r>
              <a:rPr lang="ru-RU" sz="2000" dirty="0" err="1">
                <a:latin typeface="Times New Roman" panose="02020603050405020304" pitchFamily="18" charset="0"/>
                <a:cs typeface="Times New Roman" panose="02020603050405020304" pitchFamily="18" charset="0"/>
              </a:rPr>
              <a:t>React</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Native</a:t>
            </a:r>
            <a:r>
              <a:rPr lang="ru-RU" sz="2000" dirty="0">
                <a:latin typeface="Times New Roman" panose="02020603050405020304" pitchFamily="18" charset="0"/>
                <a:cs typeface="Times New Roman" panose="02020603050405020304" pitchFamily="18" charset="0"/>
              </a:rPr>
              <a:t>.</a:t>
            </a:r>
          </a:p>
          <a:p>
            <a:endParaRPr lang="ru-RU" sz="2000" dirty="0">
              <a:latin typeface="Times New Roman" panose="02020603050405020304" pitchFamily="18" charset="0"/>
              <a:cs typeface="Times New Roman" panose="02020603050405020304" pitchFamily="18" charset="0"/>
            </a:endParaRPr>
          </a:p>
          <a:p>
            <a:r>
              <a:rPr lang="ru-RU" sz="2000" b="1" dirty="0" err="1">
                <a:latin typeface="Times New Roman" panose="02020603050405020304" pitchFamily="18" charset="0"/>
                <a:cs typeface="Times New Roman" panose="02020603050405020304" pitchFamily="18" charset="0"/>
              </a:rPr>
              <a:t>React</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Native</a:t>
            </a:r>
            <a:r>
              <a:rPr lang="ru-RU" sz="2000" dirty="0">
                <a:latin typeface="Times New Roman" panose="02020603050405020304" pitchFamily="18" charset="0"/>
                <a:cs typeface="Times New Roman" panose="02020603050405020304" pitchFamily="18" charset="0"/>
              </a:rPr>
              <a:t> — технология разработки мобильных приложений, в которой логика программы записывается на JavaScript.</a:t>
            </a:r>
          </a:p>
          <a:p>
            <a:r>
              <a:rPr lang="ru-RU" sz="2000" b="1" dirty="0" err="1">
                <a:latin typeface="Times New Roman" panose="02020603050405020304" pitchFamily="18" charset="0"/>
                <a:cs typeface="Times New Roman" panose="02020603050405020304" pitchFamily="18" charset="0"/>
              </a:rPr>
              <a:t>React</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Native</a:t>
            </a:r>
            <a:r>
              <a:rPr lang="ru-RU" sz="2000" b="1"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предоставляет компоненты и инструменты для создания интерфейса мобильного приложения, однако сам по себе он не заменяет язык программирования.</a:t>
            </a:r>
          </a:p>
          <a:p>
            <a:endParaRPr lang="ru-RU" sz="2000"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Без знания JavaScript невозможно:</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объявлять данные приложения;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выполнять вычисления;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создавать обработчики событий;</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проверять введённые значения;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работать с функциями;</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обрабатывать массивы и объекты;</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выполнять запросы;</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понимать и исправлять ошибки.</a:t>
            </a:r>
          </a:p>
        </p:txBody>
      </p:sp>
    </p:spTree>
    <p:extLst>
      <p:ext uri="{BB962C8B-B14F-4D97-AF65-F5344CB8AC3E}">
        <p14:creationId xmlns:p14="http://schemas.microsoft.com/office/powerpoint/2010/main" val="90353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32013" y="-17096"/>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Общая характеристика языка</a:t>
            </a:r>
          </a:p>
        </p:txBody>
      </p:sp>
      <p:sp>
        <p:nvSpPr>
          <p:cNvPr id="7" name="TextBox 6">
            <a:extLst>
              <a:ext uri="{FF2B5EF4-FFF2-40B4-BE49-F238E27FC236}">
                <a16:creationId xmlns:a16="http://schemas.microsoft.com/office/drawing/2014/main" id="{38E13CE5-7875-422A-F8AA-AF24B0CFF8F7}"/>
              </a:ext>
            </a:extLst>
          </p:cNvPr>
          <p:cNvSpPr txBox="1"/>
          <p:nvPr/>
        </p:nvSpPr>
        <p:spPr>
          <a:xfrm>
            <a:off x="361707" y="1120675"/>
            <a:ext cx="11468583" cy="4678204"/>
          </a:xfrm>
          <a:prstGeom prst="rect">
            <a:avLst/>
          </a:prstGeom>
          <a:noFill/>
        </p:spPr>
        <p:txBody>
          <a:bodyPr wrap="square">
            <a:spAutoFit/>
          </a:bodyPr>
          <a:lstStyle/>
          <a:p>
            <a:pPr algn="ctr"/>
            <a:r>
              <a:rPr lang="ru-RU" sz="2000" dirty="0">
                <a:latin typeface="Times New Roman" panose="02020603050405020304" pitchFamily="18" charset="0"/>
                <a:cs typeface="Times New Roman" panose="02020603050405020304" pitchFamily="18" charset="0"/>
              </a:rPr>
              <a:t>JavaScript является:</a:t>
            </a:r>
          </a:p>
          <a:p>
            <a:r>
              <a:rPr lang="ru-RU" sz="2000" b="1" dirty="0">
                <a:latin typeface="Times New Roman" panose="02020603050405020304" pitchFamily="18" charset="0"/>
                <a:cs typeface="Times New Roman" panose="02020603050405020304" pitchFamily="18" charset="0"/>
              </a:rPr>
              <a:t>Высокоуровневым языком</a:t>
            </a:r>
          </a:p>
          <a:p>
            <a:r>
              <a:rPr lang="ru-RU" sz="2000" dirty="0">
                <a:latin typeface="Times New Roman" panose="02020603050405020304" pitchFamily="18" charset="0"/>
                <a:cs typeface="Times New Roman" panose="02020603050405020304" pitchFamily="18" charset="0"/>
              </a:rPr>
              <a:t>Разработчик работает с понятными программными конструкциями, не управляя напрямую процессором и памятью устройства.</a:t>
            </a:r>
          </a:p>
          <a:p>
            <a:r>
              <a:rPr lang="ru-RU" sz="2000" b="1" dirty="0">
                <a:latin typeface="Times New Roman" panose="02020603050405020304" pitchFamily="18" charset="0"/>
                <a:cs typeface="Times New Roman" panose="02020603050405020304" pitchFamily="18" charset="0"/>
              </a:rPr>
              <a:t>Динамически типизированным языком</a:t>
            </a:r>
          </a:p>
          <a:p>
            <a:r>
              <a:rPr lang="ru-RU" sz="2000" dirty="0">
                <a:latin typeface="Times New Roman" panose="02020603050405020304" pitchFamily="18" charset="0"/>
                <a:cs typeface="Times New Roman" panose="02020603050405020304" pitchFamily="18" charset="0"/>
              </a:rPr>
              <a:t>Тип значения определяется во время выполнения программы.</a:t>
            </a:r>
          </a:p>
          <a:p>
            <a:r>
              <a:rPr lang="ru-RU" sz="2000" b="1" dirty="0">
                <a:latin typeface="Times New Roman" panose="02020603050405020304" pitchFamily="18" charset="0"/>
                <a:cs typeface="Times New Roman" panose="02020603050405020304" pitchFamily="18" charset="0"/>
              </a:rPr>
              <a:t>Интерпретируемым языком</a:t>
            </a:r>
          </a:p>
          <a:p>
            <a:r>
              <a:rPr lang="ru-RU" sz="2000" dirty="0">
                <a:latin typeface="Times New Roman" panose="02020603050405020304" pitchFamily="18" charset="0"/>
                <a:cs typeface="Times New Roman" panose="02020603050405020304" pitchFamily="18" charset="0"/>
              </a:rPr>
              <a:t>Исходный код анализируется и выполняется специальной программной средой.</a:t>
            </a:r>
          </a:p>
          <a:p>
            <a:r>
              <a:rPr lang="ru-RU" sz="2000" b="1" dirty="0" err="1">
                <a:latin typeface="Times New Roman" panose="02020603050405020304" pitchFamily="18" charset="0"/>
                <a:cs typeface="Times New Roman" panose="02020603050405020304" pitchFamily="18" charset="0"/>
              </a:rPr>
              <a:t>Мультипарадигменным</a:t>
            </a:r>
            <a:r>
              <a:rPr lang="ru-RU" sz="2000" b="1" dirty="0">
                <a:latin typeface="Times New Roman" panose="02020603050405020304" pitchFamily="18" charset="0"/>
                <a:cs typeface="Times New Roman" panose="02020603050405020304" pitchFamily="18" charset="0"/>
              </a:rPr>
              <a:t> языком</a:t>
            </a:r>
          </a:p>
          <a:p>
            <a:r>
              <a:rPr lang="ru-RU" sz="2000" dirty="0">
                <a:latin typeface="Times New Roman" panose="02020603050405020304" pitchFamily="18" charset="0"/>
                <a:cs typeface="Times New Roman" panose="02020603050405020304" pitchFamily="18" charset="0"/>
              </a:rPr>
              <a:t>JavaScript поддерживает несколько подходов (парадигм) к программированию:</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процедурный;</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объектно-ориентированный;</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функциональный;</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событийно-ориентированный.</a:t>
            </a:r>
          </a:p>
          <a:p>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2223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11916" y="78697"/>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Первая программа</a:t>
            </a:r>
          </a:p>
        </p:txBody>
      </p:sp>
      <p:sp>
        <p:nvSpPr>
          <p:cNvPr id="4" name="TextBox 3">
            <a:extLst>
              <a:ext uri="{FF2B5EF4-FFF2-40B4-BE49-F238E27FC236}">
                <a16:creationId xmlns:a16="http://schemas.microsoft.com/office/drawing/2014/main" id="{E9F49D13-E9D9-F6DE-E26C-DE5085DABB67}"/>
              </a:ext>
            </a:extLst>
          </p:cNvPr>
          <p:cNvSpPr txBox="1"/>
          <p:nvPr/>
        </p:nvSpPr>
        <p:spPr>
          <a:xfrm>
            <a:off x="4152482" y="1129159"/>
            <a:ext cx="609432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console.log("</a:t>
            </a:r>
            <a:r>
              <a:rPr lang="ru-RU" sz="2000" dirty="0">
                <a:latin typeface="Times New Roman" panose="02020603050405020304" pitchFamily="18" charset="0"/>
                <a:cs typeface="Times New Roman" panose="02020603050405020304" pitchFamily="18" charset="0"/>
              </a:rPr>
              <a:t>Привет, </a:t>
            </a:r>
            <a:r>
              <a:rPr lang="en-US" sz="2000" dirty="0">
                <a:latin typeface="Times New Roman" panose="02020603050405020304" pitchFamily="18" charset="0"/>
                <a:cs typeface="Times New Roman" panose="02020603050405020304" pitchFamily="18" charset="0"/>
              </a:rPr>
              <a:t>JavaScript!");</a:t>
            </a:r>
            <a:endParaRPr lang="ru-RU" sz="20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2859F4FB-2F15-93A3-7F39-03E1489DA962}"/>
              </a:ext>
            </a:extLst>
          </p:cNvPr>
          <p:cNvSpPr>
            <a:spLocks noChangeArrowheads="1"/>
          </p:cNvSpPr>
          <p:nvPr/>
        </p:nvSpPr>
        <p:spPr bwMode="auto">
          <a:xfrm>
            <a:off x="361708" y="1517597"/>
            <a:ext cx="53461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Эта инструкция выводит сообщение в консоль.</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Привет, JavaScript! </a:t>
            </a:r>
          </a:p>
        </p:txBody>
      </p:sp>
      <p:sp>
        <p:nvSpPr>
          <p:cNvPr id="8" name="Rectangle 2">
            <a:extLst>
              <a:ext uri="{FF2B5EF4-FFF2-40B4-BE49-F238E27FC236}">
                <a16:creationId xmlns:a16="http://schemas.microsoft.com/office/drawing/2014/main" id="{6E414758-79FE-38DB-2D49-17D02CE0B8DD}"/>
              </a:ext>
            </a:extLst>
          </p:cNvPr>
          <p:cNvSpPr>
            <a:spLocks noChangeArrowheads="1"/>
          </p:cNvSpPr>
          <p:nvPr/>
        </p:nvSpPr>
        <p:spPr bwMode="auto">
          <a:xfrm>
            <a:off x="1950285" y="2750894"/>
            <a:ext cx="751513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данной строке: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console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объект, предоставляющий средства работы с консолью;</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log</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метод вывода данных;</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"Привет, JavaScript!" — строковое значение;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круглые скобки содержат аргумент метода;</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точка с запятой завершает инструкцию.</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220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2696AF86-A078-C46C-E94B-A4588CE81BA9}"/>
              </a:ext>
            </a:extLst>
          </p:cNvPr>
          <p:cNvSpPr>
            <a:spLocks noChangeArrowheads="1"/>
          </p:cNvSpPr>
          <p:nvPr/>
        </p:nvSpPr>
        <p:spPr bwMode="auto">
          <a:xfrm>
            <a:off x="2625938" y="886913"/>
            <a:ext cx="658733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Более содержательный пример</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"Анна";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4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lessonNumber</a:t>
            </a: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console.log("Студент:", </a:t>
            </a:r>
            <a:r>
              <a:rPr kumimoji="0" lang="ru-RU" altLang="ru-RU" sz="24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console.log("Номер занятия:", </a:t>
            </a:r>
            <a:r>
              <a:rPr kumimoji="0" lang="ru-RU" altLang="ru-RU" sz="24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lessonNumber</a:t>
            </a:r>
            <a:r>
              <a:rPr kumimoji="0" lang="ru-RU" altLang="ru-RU"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Студент: Анна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Номер занятия: 1 </a:t>
            </a:r>
          </a:p>
        </p:txBody>
      </p:sp>
    </p:spTree>
    <p:extLst>
      <p:ext uri="{BB962C8B-B14F-4D97-AF65-F5344CB8AC3E}">
        <p14:creationId xmlns:p14="http://schemas.microsoft.com/office/powerpoint/2010/main" val="4266388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037080" y="-17096"/>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Базовые элементы </a:t>
            </a:r>
            <a:r>
              <a:rPr lang="en-US" sz="3600" dirty="0">
                <a:latin typeface="Times New Roman" panose="02020603050405020304" pitchFamily="18" charset="0"/>
                <a:cs typeface="Times New Roman" panose="02020603050405020304" pitchFamily="18" charset="0"/>
              </a:rPr>
              <a:t>JavaScript-</a:t>
            </a:r>
            <a:r>
              <a:rPr lang="ru-RU" sz="3600" dirty="0">
                <a:latin typeface="Times New Roman" panose="02020603050405020304" pitchFamily="18" charset="0"/>
                <a:cs typeface="Times New Roman" panose="02020603050405020304" pitchFamily="18" charset="0"/>
              </a:rPr>
              <a:t>программы</a:t>
            </a:r>
          </a:p>
        </p:txBody>
      </p:sp>
      <p:sp>
        <p:nvSpPr>
          <p:cNvPr id="4" name="TextBox 3">
            <a:extLst>
              <a:ext uri="{FF2B5EF4-FFF2-40B4-BE49-F238E27FC236}">
                <a16:creationId xmlns:a16="http://schemas.microsoft.com/office/drawing/2014/main" id="{2EE6D604-A2F9-D176-D454-7307ADF172C8}"/>
              </a:ext>
            </a:extLst>
          </p:cNvPr>
          <p:cNvSpPr txBox="1"/>
          <p:nvPr/>
        </p:nvSpPr>
        <p:spPr>
          <a:xfrm>
            <a:off x="639319" y="1105062"/>
            <a:ext cx="5027951" cy="3170099"/>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Программа на JavaScript может содержать:</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инструкции;</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выражения;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переменные;</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константы;</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литералы;</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операторы;</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функции;</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блоки кода;</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комментарии.</a:t>
            </a:r>
          </a:p>
        </p:txBody>
      </p:sp>
      <p:sp>
        <p:nvSpPr>
          <p:cNvPr id="5" name="Rectangle 1">
            <a:extLst>
              <a:ext uri="{FF2B5EF4-FFF2-40B4-BE49-F238E27FC236}">
                <a16:creationId xmlns:a16="http://schemas.microsoft.com/office/drawing/2014/main" id="{B4502768-FBEC-BB3E-8A29-847A111CDCF3}"/>
              </a:ext>
            </a:extLst>
          </p:cNvPr>
          <p:cNvSpPr>
            <a:spLocks noChangeArrowheads="1"/>
          </p:cNvSpPr>
          <p:nvPr/>
        </p:nvSpPr>
        <p:spPr bwMode="auto">
          <a:xfrm>
            <a:off x="4186389" y="1565649"/>
            <a:ext cx="800561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Инструкция</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завершённая команда, которую должна выполнить программа.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age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18; </a:t>
            </a:r>
          </a:p>
        </p:txBody>
      </p:sp>
      <p:sp>
        <p:nvSpPr>
          <p:cNvPr id="6" name="Rectangle 2">
            <a:extLst>
              <a:ext uri="{FF2B5EF4-FFF2-40B4-BE49-F238E27FC236}">
                <a16:creationId xmlns:a16="http://schemas.microsoft.com/office/drawing/2014/main" id="{17EA724B-72F4-8153-F713-06AF029C7516}"/>
              </a:ext>
            </a:extLst>
          </p:cNvPr>
          <p:cNvSpPr>
            <a:spLocks noChangeArrowheads="1"/>
          </p:cNvSpPr>
          <p:nvPr/>
        </p:nvSpPr>
        <p:spPr bwMode="auto">
          <a:xfrm>
            <a:off x="4186389" y="2467388"/>
            <a:ext cx="781511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Выражение</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фрагмент кода, результатом которого является значение.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+ 5 </a:t>
            </a:r>
          </a:p>
        </p:txBody>
      </p:sp>
      <p:sp>
        <p:nvSpPr>
          <p:cNvPr id="7" name="Rectangle 3">
            <a:extLst>
              <a:ext uri="{FF2B5EF4-FFF2-40B4-BE49-F238E27FC236}">
                <a16:creationId xmlns:a16="http://schemas.microsoft.com/office/drawing/2014/main" id="{FB5AD1CF-5001-F923-0FFB-614329DF3ED4}"/>
              </a:ext>
            </a:extLst>
          </p:cNvPr>
          <p:cNvSpPr>
            <a:spLocks noChangeArrowheads="1"/>
          </p:cNvSpPr>
          <p:nvPr/>
        </p:nvSpPr>
        <p:spPr bwMode="auto">
          <a:xfrm>
            <a:off x="4186389" y="3425098"/>
            <a:ext cx="773673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2000" b="1" dirty="0">
                <a:latin typeface="Times New Roman" panose="02020603050405020304" pitchFamily="18" charset="0"/>
                <a:cs typeface="Times New Roman" panose="02020603050405020304" pitchFamily="18" charset="0"/>
              </a:rPr>
              <a:t>Л</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итерал</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значение, непосредственно записанное в исходном коде.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"Москва"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Здесь представлены числовой, строковый и логический литералы.</a:t>
            </a:r>
          </a:p>
        </p:txBody>
      </p:sp>
      <p:sp>
        <p:nvSpPr>
          <p:cNvPr id="8" name="Rectangle 4">
            <a:extLst>
              <a:ext uri="{FF2B5EF4-FFF2-40B4-BE49-F238E27FC236}">
                <a16:creationId xmlns:a16="http://schemas.microsoft.com/office/drawing/2014/main" id="{3BAADF3B-22C1-4421-C79B-A8AD8C431CED}"/>
              </a:ext>
            </a:extLst>
          </p:cNvPr>
          <p:cNvSpPr>
            <a:spLocks noChangeArrowheads="1"/>
          </p:cNvSpPr>
          <p:nvPr/>
        </p:nvSpPr>
        <p:spPr bwMode="auto">
          <a:xfrm>
            <a:off x="4186389" y="5056314"/>
            <a:ext cx="557934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Идентификатор</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имя программного элемента.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"Ирина";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Идентификатором является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76C35324-64DB-4A9E-E93C-8CCE3ED61F50}"/>
              </a:ext>
            </a:extLst>
          </p:cNvPr>
          <p:cNvSpPr txBox="1"/>
          <p:nvPr/>
        </p:nvSpPr>
        <p:spPr>
          <a:xfrm>
            <a:off x="125734" y="6183613"/>
            <a:ext cx="11561414" cy="646331"/>
          </a:xfrm>
          <a:prstGeom prst="rect">
            <a:avLst/>
          </a:prstGeom>
          <a:noFill/>
        </p:spPr>
        <p:txBody>
          <a:bodyPr wrap="square">
            <a:spAutoFit/>
          </a:bodyPr>
          <a:lstStyle/>
          <a:p>
            <a:r>
              <a:rPr lang="ru-RU" kern="100" dirty="0">
                <a:latin typeface="Times New Roman" panose="02020603050405020304" pitchFamily="18" charset="0"/>
                <a:ea typeface="Aptos" panose="020B0004020202020204" pitchFamily="34" charset="0"/>
                <a:cs typeface="Times New Roman" panose="02020603050405020304" pitchFamily="18" charset="0"/>
              </a:rPr>
              <a:t>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нструкция задаёт действие, выражение вычисляет значение, литерал представляет само значение, а идентификатор является именем, по которому программа обращается к данным</a:t>
            </a:r>
            <a:endParaRPr lang="ru-RU" dirty="0"/>
          </a:p>
        </p:txBody>
      </p:sp>
    </p:spTree>
    <p:extLst>
      <p:ext uri="{BB962C8B-B14F-4D97-AF65-F5344CB8AC3E}">
        <p14:creationId xmlns:p14="http://schemas.microsoft.com/office/powerpoint/2010/main" val="35417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232497" y="60486"/>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Синтаксис </a:t>
            </a:r>
            <a:r>
              <a:rPr lang="en-US" sz="3600" dirty="0">
                <a:latin typeface="Times New Roman" panose="02020603050405020304" pitchFamily="18" charset="0"/>
                <a:cs typeface="Times New Roman" panose="02020603050405020304" pitchFamily="18" charset="0"/>
              </a:rPr>
              <a:t>JavaScript-</a:t>
            </a:r>
            <a:r>
              <a:rPr lang="ru-RU" sz="3600" dirty="0">
                <a:latin typeface="Times New Roman" panose="02020603050405020304" pitchFamily="18" charset="0"/>
                <a:cs typeface="Times New Roman" panose="02020603050405020304" pitchFamily="18" charset="0"/>
              </a:rPr>
              <a:t>программы</a:t>
            </a:r>
          </a:p>
        </p:txBody>
      </p:sp>
      <p:sp>
        <p:nvSpPr>
          <p:cNvPr id="4" name="TextBox 3">
            <a:extLst>
              <a:ext uri="{FF2B5EF4-FFF2-40B4-BE49-F238E27FC236}">
                <a16:creationId xmlns:a16="http://schemas.microsoft.com/office/drawing/2014/main" id="{8D7EC282-7168-AC29-F632-C207D4D19009}"/>
              </a:ext>
            </a:extLst>
          </p:cNvPr>
          <p:cNvSpPr txBox="1"/>
          <p:nvPr/>
        </p:nvSpPr>
        <p:spPr>
          <a:xfrm>
            <a:off x="699393" y="1092484"/>
            <a:ext cx="11130897" cy="4622869"/>
          </a:xfrm>
          <a:prstGeom prst="rect">
            <a:avLst/>
          </a:prstGeom>
          <a:noFill/>
        </p:spPr>
        <p:txBody>
          <a:bodyPr wrap="square">
            <a:spAutoFit/>
          </a:bodyPr>
          <a:lstStyle/>
          <a:p>
            <a:pPr>
              <a:lnSpc>
                <a:spcPct val="150000"/>
              </a:lnSpc>
            </a:pPr>
            <a:r>
              <a:rPr lang="ru-RU" b="1" dirty="0">
                <a:latin typeface="Times New Roman" panose="02020603050405020304" pitchFamily="18" charset="0"/>
                <a:cs typeface="Times New Roman" panose="02020603050405020304" pitchFamily="18" charset="0"/>
              </a:rPr>
              <a:t>Синтаксис языка программирования</a:t>
            </a:r>
            <a:r>
              <a:rPr lang="ru-RU" dirty="0">
                <a:latin typeface="Times New Roman" panose="02020603050405020304" pitchFamily="18" charset="0"/>
                <a:cs typeface="Times New Roman" panose="02020603050405020304" pitchFamily="18" charset="0"/>
              </a:rPr>
              <a:t> — совокупность правил, определяющих допустимую структуру исходного кода.</a:t>
            </a:r>
          </a:p>
          <a:p>
            <a:pPr>
              <a:lnSpc>
                <a:spcPct val="150000"/>
              </a:lnSpc>
            </a:pPr>
            <a:r>
              <a:rPr lang="ru-RU" dirty="0">
                <a:latin typeface="Times New Roman" panose="02020603050405020304" pitchFamily="18" charset="0"/>
                <a:cs typeface="Times New Roman" panose="02020603050405020304" pitchFamily="18" charset="0"/>
              </a:rPr>
              <a:t>Синтаксис устанавливает:</a:t>
            </a:r>
          </a:p>
          <a:p>
            <a:pPr>
              <a:lnSpc>
                <a:spcPct val="150000"/>
              </a:lnSpc>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 какие ключевые слова существуют;</a:t>
            </a:r>
          </a:p>
          <a:p>
            <a:pPr>
              <a:lnSpc>
                <a:spcPct val="150000"/>
              </a:lnSpc>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 как объявляются переменные;</a:t>
            </a:r>
          </a:p>
          <a:p>
            <a:pPr>
              <a:lnSpc>
                <a:spcPct val="150000"/>
              </a:lnSpc>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 как записываются выражения;</a:t>
            </a:r>
          </a:p>
          <a:p>
            <a:pPr>
              <a:lnSpc>
                <a:spcPct val="150000"/>
              </a:lnSpc>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 где используются скобки;</a:t>
            </a:r>
          </a:p>
          <a:p>
            <a:pPr>
              <a:lnSpc>
                <a:spcPct val="150000"/>
              </a:lnSpc>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 как оформляются строки;</a:t>
            </a:r>
          </a:p>
          <a:p>
            <a:pPr>
              <a:lnSpc>
                <a:spcPct val="150000"/>
              </a:lnSpc>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 как разделяются инструкции;</a:t>
            </a:r>
          </a:p>
          <a:p>
            <a:pPr>
              <a:lnSpc>
                <a:spcPct val="150000"/>
              </a:lnSpc>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 как формируются блоки кода.</a:t>
            </a:r>
          </a:p>
          <a:p>
            <a:pPr>
              <a:lnSpc>
                <a:spcPct val="150000"/>
              </a:lnSpc>
            </a:pPr>
            <a:r>
              <a:rPr lang="ru-RU" dirty="0">
                <a:latin typeface="Times New Roman" panose="02020603050405020304" pitchFamily="18" charset="0"/>
                <a:cs typeface="Times New Roman" panose="02020603050405020304" pitchFamily="18" charset="0"/>
              </a:rPr>
              <a:t>Если код нарушает синтаксические правила, программа не может быть корректно проанализирована.</a:t>
            </a:r>
          </a:p>
        </p:txBody>
      </p:sp>
    </p:spTree>
    <p:extLst>
      <p:ext uri="{BB962C8B-B14F-4D97-AF65-F5344CB8AC3E}">
        <p14:creationId xmlns:p14="http://schemas.microsoft.com/office/powerpoint/2010/main" val="2129150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222449" y="78697"/>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Пример корректной программы</a:t>
            </a:r>
          </a:p>
        </p:txBody>
      </p:sp>
      <p:sp>
        <p:nvSpPr>
          <p:cNvPr id="6" name="TextBox 5">
            <a:extLst>
              <a:ext uri="{FF2B5EF4-FFF2-40B4-BE49-F238E27FC236}">
                <a16:creationId xmlns:a16="http://schemas.microsoft.com/office/drawing/2014/main" id="{6FFC8A01-5CC4-52A2-BB65-3C165AD783DE}"/>
              </a:ext>
            </a:extLst>
          </p:cNvPr>
          <p:cNvSpPr txBox="1"/>
          <p:nvPr/>
        </p:nvSpPr>
        <p:spPr>
          <a:xfrm>
            <a:off x="931820" y="1201337"/>
            <a:ext cx="6094324"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const </a:t>
            </a:r>
            <a:r>
              <a:rPr lang="en-US" sz="2000" dirty="0" err="1">
                <a:latin typeface="Times New Roman" panose="02020603050405020304" pitchFamily="18" charset="0"/>
                <a:cs typeface="Times New Roman" panose="02020603050405020304" pitchFamily="18" charset="0"/>
              </a:rPr>
              <a:t>productName</a:t>
            </a:r>
            <a:r>
              <a:rPr lang="en-US" sz="2000" dirty="0">
                <a:latin typeface="Times New Roman" panose="02020603050405020304" pitchFamily="18" charset="0"/>
                <a:cs typeface="Times New Roman" panose="02020603050405020304" pitchFamily="18" charset="0"/>
              </a:rPr>
              <a:t> = "</a:t>
            </a:r>
            <a:r>
              <a:rPr lang="ru-RU" sz="2000" dirty="0">
                <a:latin typeface="Times New Roman" panose="02020603050405020304" pitchFamily="18" charset="0"/>
                <a:cs typeface="Times New Roman" panose="02020603050405020304" pitchFamily="18" charset="0"/>
              </a:rPr>
              <a:t>Ноутбук"; </a:t>
            </a:r>
          </a:p>
          <a:p>
            <a:endParaRPr lang="ru-RU"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const price = 75000; </a:t>
            </a:r>
            <a:endParaRPr lang="ru-RU"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const discount = 10; </a:t>
            </a:r>
            <a:endParaRPr lang="ru-RU" sz="2000" dirty="0">
              <a:latin typeface="Times New Roman" panose="02020603050405020304" pitchFamily="18" charset="0"/>
              <a:cs typeface="Times New Roman" panose="02020603050405020304" pitchFamily="18" charset="0"/>
            </a:endParaRPr>
          </a:p>
          <a:p>
            <a:endParaRPr lang="ru-RU"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const </a:t>
            </a:r>
            <a:r>
              <a:rPr lang="en-US" sz="2000" dirty="0" err="1">
                <a:latin typeface="Times New Roman" panose="02020603050405020304" pitchFamily="18" charset="0"/>
                <a:cs typeface="Times New Roman" panose="02020603050405020304" pitchFamily="18" charset="0"/>
              </a:rPr>
              <a:t>finalPrice</a:t>
            </a:r>
            <a:r>
              <a:rPr lang="en-US" sz="2000" dirty="0">
                <a:latin typeface="Times New Roman" panose="02020603050405020304" pitchFamily="18" charset="0"/>
                <a:cs typeface="Times New Roman" panose="02020603050405020304" pitchFamily="18" charset="0"/>
              </a:rPr>
              <a:t> = price - price * discount / 100;</a:t>
            </a:r>
            <a:endParaRPr lang="ru-RU" sz="2000" dirty="0">
              <a:latin typeface="Times New Roman" panose="02020603050405020304" pitchFamily="18" charset="0"/>
              <a:cs typeface="Times New Roman" panose="02020603050405020304" pitchFamily="18" charset="0"/>
            </a:endParaRPr>
          </a:p>
          <a:p>
            <a:endParaRPr lang="ru-RU"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console.log(</a:t>
            </a:r>
            <a:r>
              <a:rPr lang="en-US" sz="2000" dirty="0" err="1">
                <a:latin typeface="Times New Roman" panose="02020603050405020304" pitchFamily="18" charset="0"/>
                <a:cs typeface="Times New Roman" panose="02020603050405020304" pitchFamily="18" charset="0"/>
              </a:rPr>
              <a:t>productName</a:t>
            </a:r>
            <a:r>
              <a:rPr lang="en-US" sz="2000" dirty="0">
                <a:latin typeface="Times New Roman" panose="02020603050405020304" pitchFamily="18" charset="0"/>
                <a:cs typeface="Times New Roman" panose="02020603050405020304" pitchFamily="18" charset="0"/>
              </a:rPr>
              <a:t>); console.log(</a:t>
            </a:r>
            <a:r>
              <a:rPr lang="en-US" sz="2000" dirty="0" err="1">
                <a:latin typeface="Times New Roman" panose="02020603050405020304" pitchFamily="18" charset="0"/>
                <a:cs typeface="Times New Roman" panose="02020603050405020304" pitchFamily="18" charset="0"/>
              </a:rPr>
              <a:t>finalPrice</a:t>
            </a:r>
            <a:r>
              <a:rPr lang="en-US" sz="2000" dirty="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7CE11AC-5758-73E5-E339-9015B7087BDC}"/>
              </a:ext>
            </a:extLst>
          </p:cNvPr>
          <p:cNvSpPr txBox="1"/>
          <p:nvPr/>
        </p:nvSpPr>
        <p:spPr>
          <a:xfrm>
            <a:off x="1037080" y="3811893"/>
            <a:ext cx="6094324" cy="1323439"/>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В программе:</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объявляются три исходных значения;</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вычисляется итоговая цена;</a:t>
            </a:r>
          </a:p>
          <a:p>
            <a:pPr>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данные выводятся в консоль.</a:t>
            </a:r>
          </a:p>
        </p:txBody>
      </p:sp>
    </p:spTree>
    <p:extLst>
      <p:ext uri="{BB962C8B-B14F-4D97-AF65-F5344CB8AC3E}">
        <p14:creationId xmlns:p14="http://schemas.microsoft.com/office/powerpoint/2010/main" val="3607986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72207" y="78697"/>
            <a:ext cx="10515600" cy="1325563"/>
          </a:xfrm>
        </p:spPr>
        <p:txBody>
          <a:bodyPr/>
          <a:lstStyle/>
          <a:p>
            <a:pPr algn="ctr"/>
            <a:r>
              <a:rPr lang="ru-RU" dirty="0">
                <a:latin typeface="Times New Roman" panose="02020603050405020304" pitchFamily="18" charset="0"/>
                <a:cs typeface="Times New Roman" panose="02020603050405020304" pitchFamily="18" charset="0"/>
              </a:rPr>
              <a:t>Инструкции</a:t>
            </a:r>
          </a:p>
        </p:txBody>
      </p:sp>
      <p:sp>
        <p:nvSpPr>
          <p:cNvPr id="6" name="TextBox 5">
            <a:extLst>
              <a:ext uri="{FF2B5EF4-FFF2-40B4-BE49-F238E27FC236}">
                <a16:creationId xmlns:a16="http://schemas.microsoft.com/office/drawing/2014/main" id="{1C8E2E9F-C35B-5627-20BA-284011C19ABF}"/>
              </a:ext>
            </a:extLst>
          </p:cNvPr>
          <p:cNvSpPr txBox="1"/>
          <p:nvPr/>
        </p:nvSpPr>
        <p:spPr>
          <a:xfrm>
            <a:off x="361708" y="1616581"/>
            <a:ext cx="6120244" cy="39703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Инструкция задаёт отдельное действие программы.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Примеры инструкций:</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city</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"Москва";</a:t>
            </a:r>
          </a:p>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temperature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20;</a:t>
            </a:r>
          </a:p>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temperature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23;</a:t>
            </a:r>
          </a:p>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temperature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Каждая строка выполняет отдельное действие: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создаёт значение;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изменяет значение;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выводит значение.</a:t>
            </a:r>
          </a:p>
        </p:txBody>
      </p:sp>
      <p:sp>
        <p:nvSpPr>
          <p:cNvPr id="8" name="TextBox 7">
            <a:extLst>
              <a:ext uri="{FF2B5EF4-FFF2-40B4-BE49-F238E27FC236}">
                <a16:creationId xmlns:a16="http://schemas.microsoft.com/office/drawing/2014/main" id="{E3897F28-4BC2-7FEA-C6B0-563D824A5ED5}"/>
              </a:ext>
            </a:extLst>
          </p:cNvPr>
          <p:cNvSpPr txBox="1"/>
          <p:nvPr/>
        </p:nvSpPr>
        <p:spPr>
          <a:xfrm>
            <a:off x="5842288" y="1616581"/>
            <a:ext cx="6094268" cy="369331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Точка с запятой используется для завершения инструкции.</a:t>
            </a:r>
          </a:p>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age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18; </a:t>
            </a:r>
          </a:p>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age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JavaScript во многих случаях способен автоматически определить конец инструкции. Этот механизм называется </a:t>
            </a:r>
            <a:r>
              <a:rPr kumimoji="0" lang="ru-RU" altLang="ru-RU"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Automatic</a:t>
            </a:r>
            <a:r>
              <a:rPr kumimoji="0" lang="ru-RU" altLang="ru-RU"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Semicolon</a:t>
            </a:r>
            <a:r>
              <a:rPr kumimoji="0" lang="ru-RU" altLang="ru-RU"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Insertion</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или ASI.</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Однако на начальном этапе рекомендуется ставить точку с запятой явно:</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name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"Анна";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age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Это делает границы инструкций очевидными и снижает вероятность неоднозначного поведения.</a:t>
            </a:r>
          </a:p>
        </p:txBody>
      </p:sp>
    </p:spTree>
    <p:extLst>
      <p:ext uri="{BB962C8B-B14F-4D97-AF65-F5344CB8AC3E}">
        <p14:creationId xmlns:p14="http://schemas.microsoft.com/office/powerpoint/2010/main" val="328253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61E4DA43-E8C7-3B04-007A-0B7AA7212408}"/>
              </a:ext>
            </a:extLst>
          </p:cNvPr>
          <p:cNvSpPr>
            <a:spLocks noChangeArrowheads="1"/>
          </p:cNvSpPr>
          <p:nvPr/>
        </p:nvSpPr>
        <p:spPr bwMode="auto">
          <a:xfrm>
            <a:off x="180870" y="884333"/>
            <a:ext cx="551522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Выражения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Выражение вычисляется и возвращает значение.</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Арифметическое выражение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+ 5</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Строковое выражение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"Добро" + " пожаловать"</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Логическое выражение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age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&gt;= 18</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Выражение с переменными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quantity</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4" name="Rectangle 2">
            <a:extLst>
              <a:ext uri="{FF2B5EF4-FFF2-40B4-BE49-F238E27FC236}">
                <a16:creationId xmlns:a16="http://schemas.microsoft.com/office/drawing/2014/main" id="{CEF2E1B8-86E2-0477-FD95-9C3009C4724D}"/>
              </a:ext>
            </a:extLst>
          </p:cNvPr>
          <p:cNvSpPr>
            <a:spLocks noChangeArrowheads="1"/>
          </p:cNvSpPr>
          <p:nvPr/>
        </p:nvSpPr>
        <p:spPr bwMode="auto">
          <a:xfrm>
            <a:off x="5895908" y="884333"/>
            <a:ext cx="629609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Выражение внутри инструкции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quantity</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Здесь: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quantity</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выражение;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quantity</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инструкция.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Сначала вычисляется выражение, затем его результат сохраняется в константе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61849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Rectangle 3">
            <a:extLst>
              <a:ext uri="{FF2B5EF4-FFF2-40B4-BE49-F238E27FC236}">
                <a16:creationId xmlns:a16="http://schemas.microsoft.com/office/drawing/2014/main" id="{279D2AF4-BFA2-D07F-89B5-B5535230BD37}"/>
              </a:ext>
            </a:extLst>
          </p:cNvPr>
          <p:cNvSpPr>
            <a:spLocks noChangeArrowheads="1"/>
          </p:cNvSpPr>
          <p:nvPr/>
        </p:nvSpPr>
        <p:spPr bwMode="auto">
          <a:xfrm>
            <a:off x="235258" y="804571"/>
            <a:ext cx="683287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Идентификаторы используются как имена:</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переменных;</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констант;</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функций;</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параметров;</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объектов;</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классов.</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Примеры: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isAuthorized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calculateDiscount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2" name="Rectangle 1">
            <a:extLst>
              <a:ext uri="{FF2B5EF4-FFF2-40B4-BE49-F238E27FC236}">
                <a16:creationId xmlns:a16="http://schemas.microsoft.com/office/drawing/2014/main" id="{7602E853-9E75-E005-4E0E-15740810AD22}"/>
              </a:ext>
            </a:extLst>
          </p:cNvPr>
          <p:cNvSpPr>
            <a:spLocks noChangeArrowheads="1"/>
          </p:cNvSpPr>
          <p:nvPr/>
        </p:nvSpPr>
        <p:spPr bwMode="auto">
          <a:xfrm>
            <a:off x="5784165" y="1150969"/>
            <a:ext cx="660913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Правила записи идентификаторов</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Идентификатор может содержать: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латинские буквы;</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цифры;</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символ подчёркивания _;</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символ доллара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Идентификатор не может начинаться с цифры.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Корректные примеры: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user2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Некорректные примеры: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2user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BCAE05C0-6D99-1907-5F3B-A5D20E370BDD}"/>
              </a:ext>
            </a:extLst>
          </p:cNvPr>
          <p:cNvSpPr txBox="1"/>
          <p:nvPr/>
        </p:nvSpPr>
        <p:spPr>
          <a:xfrm>
            <a:off x="2929094" y="95148"/>
            <a:ext cx="6159638" cy="646331"/>
          </a:xfrm>
          <a:prstGeom prst="rect">
            <a:avLst/>
          </a:prstGeom>
          <a:noFill/>
        </p:spPr>
        <p:txBody>
          <a:bodyPr wrap="square">
            <a:spAutoFit/>
          </a:bodyPr>
          <a:lstStyle/>
          <a:p>
            <a:pPr algn="ctr"/>
            <a:r>
              <a:rPr kumimoji="0" lang="ru-RU" altLang="ru-RU"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Идентификаторы</a:t>
            </a:r>
            <a:endParaRPr lang="ru-RU" sz="3600" dirty="0"/>
          </a:p>
        </p:txBody>
      </p:sp>
    </p:spTree>
    <p:extLst>
      <p:ext uri="{BB962C8B-B14F-4D97-AF65-F5344CB8AC3E}">
        <p14:creationId xmlns:p14="http://schemas.microsoft.com/office/powerpoint/2010/main" val="306216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037080" y="0"/>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Ключевые слова</a:t>
            </a:r>
          </a:p>
        </p:txBody>
      </p:sp>
      <p:sp>
        <p:nvSpPr>
          <p:cNvPr id="2" name="Rectangle 1">
            <a:extLst>
              <a:ext uri="{FF2B5EF4-FFF2-40B4-BE49-F238E27FC236}">
                <a16:creationId xmlns:a16="http://schemas.microsoft.com/office/drawing/2014/main" id="{CAC1D80E-A029-050C-CEC2-1C870241BBDA}"/>
              </a:ext>
            </a:extLst>
          </p:cNvPr>
          <p:cNvSpPr>
            <a:spLocks noChangeArrowheads="1"/>
          </p:cNvSpPr>
          <p:nvPr/>
        </p:nvSpPr>
        <p:spPr bwMode="auto">
          <a:xfrm>
            <a:off x="361708" y="1004625"/>
            <a:ext cx="9857432"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Ключевые слова имеют специальное значение в языке и не могут использоваться как обычные имена.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Примеры ключевых слов:</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if</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else</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for</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while</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function</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return</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class</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import</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export</a:t>
            </a:r>
            <a:endPar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Некорректный пример:</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return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return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является ключевым словом.</a:t>
            </a:r>
          </a:p>
        </p:txBody>
      </p:sp>
    </p:spTree>
    <p:extLst>
      <p:ext uri="{BB962C8B-B14F-4D97-AF65-F5344CB8AC3E}">
        <p14:creationId xmlns:p14="http://schemas.microsoft.com/office/powerpoint/2010/main" val="2682919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232497" y="40389"/>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Чувствительность к регистру</a:t>
            </a:r>
          </a:p>
        </p:txBody>
      </p:sp>
      <p:sp>
        <p:nvSpPr>
          <p:cNvPr id="2" name="Rectangle 1">
            <a:extLst>
              <a:ext uri="{FF2B5EF4-FFF2-40B4-BE49-F238E27FC236}">
                <a16:creationId xmlns:a16="http://schemas.microsoft.com/office/drawing/2014/main" id="{A546D05A-61C6-87CA-22D5-0A7DDE1A77F9}"/>
              </a:ext>
            </a:extLst>
          </p:cNvPr>
          <p:cNvSpPr>
            <a:spLocks noChangeArrowheads="1"/>
          </p:cNvSpPr>
          <p:nvPr/>
        </p:nvSpPr>
        <p:spPr bwMode="auto">
          <a:xfrm>
            <a:off x="931820" y="1365952"/>
            <a:ext cx="828149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JavaScript чувствителен к регистру символов.</a:t>
            </a: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Следующие идентификаторы различаются:</a:t>
            </a:r>
          </a:p>
          <a:p>
            <a:pPr marL="0" marR="0" lvl="0" indent="0"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USERNAME</a:t>
            </a:r>
          </a:p>
          <a:p>
            <a:pPr marL="0" marR="0" lvl="0" indent="0"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Пример:</a:t>
            </a: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"Анна"; </a:t>
            </a: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Вторая инструкция приведёт к ошибке, поскольку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не объявлен.</a:t>
            </a:r>
          </a:p>
        </p:txBody>
      </p:sp>
    </p:spTree>
    <p:extLst>
      <p:ext uri="{BB962C8B-B14F-4D97-AF65-F5344CB8AC3E}">
        <p14:creationId xmlns:p14="http://schemas.microsoft.com/office/powerpoint/2010/main" val="3245905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11916" y="0"/>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Стиль именования </a:t>
            </a:r>
            <a:r>
              <a:rPr lang="en-US" sz="3600" dirty="0">
                <a:latin typeface="Times New Roman" panose="02020603050405020304" pitchFamily="18" charset="0"/>
                <a:cs typeface="Times New Roman" panose="02020603050405020304" pitchFamily="18" charset="0"/>
              </a:rPr>
              <a:t>camelCase</a:t>
            </a:r>
            <a:endParaRPr lang="ru-RU" sz="3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8479466-04DA-3AB4-44FC-E89B9F62034E}"/>
              </a:ext>
            </a:extLst>
          </p:cNvPr>
          <p:cNvSpPr>
            <a:spLocks noChangeArrowheads="1"/>
          </p:cNvSpPr>
          <p:nvPr/>
        </p:nvSpPr>
        <p:spPr bwMode="auto">
          <a:xfrm>
            <a:off x="564484" y="979050"/>
            <a:ext cx="755424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Для переменных и функций обычно используется стиль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camelCase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"Мария";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2500;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isAvailable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camelCase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первое слово начинается со строчной буквы;</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каждое следующее слово начинается с заглавной буквы;</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пробелы не используются.</a:t>
            </a:r>
          </a:p>
          <a:p>
            <a:pPr marL="0" marR="0" lvl="0" indent="0" algn="l" defTabSz="914400" rtl="0" eaLnBrk="0" fontAlgn="base" latinLnBrk="0" hangingPunct="0">
              <a:lnSpc>
                <a:spcPct val="100000"/>
              </a:lnSpc>
              <a:spcBef>
                <a:spcPct val="0"/>
              </a:spcBef>
              <a:spcAft>
                <a:spcPct val="0"/>
              </a:spcAft>
              <a:buClrTx/>
              <a:buSzTx/>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Плохой вариант: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2500;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Более понятный вариант: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totalPrice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2500; </a:t>
            </a:r>
          </a:p>
        </p:txBody>
      </p:sp>
    </p:spTree>
    <p:extLst>
      <p:ext uri="{BB962C8B-B14F-4D97-AF65-F5344CB8AC3E}">
        <p14:creationId xmlns:p14="http://schemas.microsoft.com/office/powerpoint/2010/main" val="15782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74356" y="997257"/>
            <a:ext cx="3546401" cy="690807"/>
          </a:xfrm>
        </p:spPr>
        <p:txBody>
          <a:bodyPr>
            <a:normAutofit/>
          </a:bodyPr>
          <a:lstStyle/>
          <a:p>
            <a:pPr algn="ctr"/>
            <a:r>
              <a:rPr lang="ru-RU" sz="3200" dirty="0">
                <a:latin typeface="Times New Roman" panose="02020603050405020304" pitchFamily="18" charset="0"/>
                <a:cs typeface="Times New Roman" panose="02020603050405020304" pitchFamily="18" charset="0"/>
              </a:rPr>
              <a:t>Литералы</a:t>
            </a:r>
          </a:p>
        </p:txBody>
      </p:sp>
      <p:sp>
        <p:nvSpPr>
          <p:cNvPr id="2" name="Rectangle 1">
            <a:extLst>
              <a:ext uri="{FF2B5EF4-FFF2-40B4-BE49-F238E27FC236}">
                <a16:creationId xmlns:a16="http://schemas.microsoft.com/office/drawing/2014/main" id="{F68788A3-BF63-FBED-CF06-BE034CD5A3B1}"/>
              </a:ext>
            </a:extLst>
          </p:cNvPr>
          <p:cNvSpPr>
            <a:spLocks noChangeArrowheads="1"/>
          </p:cNvSpPr>
          <p:nvPr/>
        </p:nvSpPr>
        <p:spPr bwMode="auto">
          <a:xfrm>
            <a:off x="174356" y="1843950"/>
            <a:ext cx="483977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Литерал - это значение, записанное непосредственно в коде.</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Числовой литерал</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42 3.14 -10</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Строковый литерал</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"JavaScript" 'Мобильная разработка'</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Логический литерал</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Специальный литерал</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4" name="Rectangle 2">
            <a:extLst>
              <a:ext uri="{FF2B5EF4-FFF2-40B4-BE49-F238E27FC236}">
                <a16:creationId xmlns:a16="http://schemas.microsoft.com/office/drawing/2014/main" id="{6E7A8EC7-CC8E-EA8E-67FD-507CF15B484A}"/>
              </a:ext>
            </a:extLst>
          </p:cNvPr>
          <p:cNvSpPr>
            <a:spLocks noChangeArrowheads="1"/>
          </p:cNvSpPr>
          <p:nvPr/>
        </p:nvSpPr>
        <p:spPr bwMode="auto">
          <a:xfrm>
            <a:off x="4652201" y="567055"/>
            <a:ext cx="7365443"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JavaScript строки можно записывать в:</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двойных кавычках;</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одинарных кавычках;</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обратных кавычках. </a:t>
            </a:r>
          </a:p>
          <a:p>
            <a:pPr marL="0" marR="0" lvl="0" indent="0" algn="l" defTabSz="914400" rtl="0" eaLnBrk="0" fontAlgn="base" latinLnBrk="0" hangingPunct="0">
              <a:lnSpc>
                <a:spcPct val="100000"/>
              </a:lnSpc>
              <a:spcBef>
                <a:spcPct val="0"/>
              </a:spcBef>
              <a:spcAft>
                <a:spcPct val="0"/>
              </a:spcAft>
              <a:buClrTx/>
              <a:buSzTx/>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first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"JavaScript";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second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'JavaScript’;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third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`JavaScript`;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Двойные и одинарные кавычки создают обычные строки.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Обратные кавычки создают шаблонные строки, которые позволяют вставлять выражения. Начальная и конечная кавычки должны совпадать.</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"Анна";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console.log(`Здравствуйте,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Здравствуйте, Анна! </a:t>
            </a:r>
          </a:p>
        </p:txBody>
      </p:sp>
      <p:sp>
        <p:nvSpPr>
          <p:cNvPr id="5" name="Заголовок 16">
            <a:extLst>
              <a:ext uri="{FF2B5EF4-FFF2-40B4-BE49-F238E27FC236}">
                <a16:creationId xmlns:a16="http://schemas.microsoft.com/office/drawing/2014/main" id="{FF3B254F-A1B9-8021-D043-76F7012B2EDE}"/>
              </a:ext>
            </a:extLst>
          </p:cNvPr>
          <p:cNvSpPr txBox="1">
            <a:spLocks/>
          </p:cNvSpPr>
          <p:nvPr/>
        </p:nvSpPr>
        <p:spPr>
          <a:xfrm>
            <a:off x="6647169" y="101610"/>
            <a:ext cx="3546401" cy="69080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3600" dirty="0">
                <a:latin typeface="Times New Roman" panose="02020603050405020304" pitchFamily="18" charset="0"/>
                <a:cs typeface="Times New Roman" panose="02020603050405020304" pitchFamily="18" charset="0"/>
              </a:rPr>
              <a:t>Кавычки в строках</a:t>
            </a:r>
          </a:p>
        </p:txBody>
      </p:sp>
    </p:spTree>
    <p:extLst>
      <p:ext uri="{BB962C8B-B14F-4D97-AF65-F5344CB8AC3E}">
        <p14:creationId xmlns:p14="http://schemas.microsoft.com/office/powerpoint/2010/main" val="111693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044EEB92-3499-4DF8-2D97-9CC6C9E8B482}"/>
              </a:ext>
            </a:extLst>
          </p:cNvPr>
          <p:cNvSpPr>
            <a:spLocks noChangeArrowheads="1"/>
          </p:cNvSpPr>
          <p:nvPr/>
        </p:nvSpPr>
        <p:spPr bwMode="auto">
          <a:xfrm>
            <a:off x="2190541" y="196510"/>
            <a:ext cx="642089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Фигурные скобки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Фигурные скобки формируют блок кода.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ru-RU" altLang="ru-RU" sz="2000" dirty="0">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message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"Начало блока";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message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Блоки используются в функциях, условиях и циклах.</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function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showMessage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console.log("Сообщение");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4" name="Rectangle 2">
            <a:extLst>
              <a:ext uri="{FF2B5EF4-FFF2-40B4-BE49-F238E27FC236}">
                <a16:creationId xmlns:a16="http://schemas.microsoft.com/office/drawing/2014/main" id="{541ED04F-906B-23D4-28F0-D1E748A3D74A}"/>
              </a:ext>
            </a:extLst>
          </p:cNvPr>
          <p:cNvSpPr>
            <a:spLocks noChangeArrowheads="1"/>
          </p:cNvSpPr>
          <p:nvPr/>
        </p:nvSpPr>
        <p:spPr bwMode="auto">
          <a:xfrm>
            <a:off x="1118716" y="3995853"/>
            <a:ext cx="952952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Квадратные скобки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Квадратные скобки используются при работе с массивами и доступе к элементам.</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numbers</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 20, 30];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numbers</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На экран будет выведено:</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a:t>
            </a:r>
          </a:p>
        </p:txBody>
      </p:sp>
    </p:spTree>
    <p:extLst>
      <p:ext uri="{BB962C8B-B14F-4D97-AF65-F5344CB8AC3E}">
        <p14:creationId xmlns:p14="http://schemas.microsoft.com/office/powerpoint/2010/main" val="87035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C9F95CBF-D603-A30F-7DF6-92B91FA7A894}"/>
              </a:ext>
            </a:extLst>
          </p:cNvPr>
          <p:cNvSpPr>
            <a:spLocks noChangeArrowheads="1"/>
          </p:cNvSpPr>
          <p:nvPr/>
        </p:nvSpPr>
        <p:spPr bwMode="auto">
          <a:xfrm>
            <a:off x="361708" y="747380"/>
            <a:ext cx="909960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Комментарии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Комментарии предназначены для пояснения кода и не выполняются программой.</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Однострочный комментарий</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Цена товара без скидки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1500;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Многострочный комментарий</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Расчёт итоговой стоимости с учётом процентной скидки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finalPrice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discount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1AE4675D-F84B-3132-F371-9BA8C5EA7CEF}"/>
              </a:ext>
            </a:extLst>
          </p:cNvPr>
          <p:cNvSpPr>
            <a:spLocks noChangeArrowheads="1"/>
          </p:cNvSpPr>
          <p:nvPr/>
        </p:nvSpPr>
        <p:spPr bwMode="auto">
          <a:xfrm>
            <a:off x="361708" y="2337305"/>
            <a:ext cx="18473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386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32013" y="0"/>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Найдите синтаксические ошибки</a:t>
            </a:r>
          </a:p>
        </p:txBody>
      </p:sp>
      <p:sp>
        <p:nvSpPr>
          <p:cNvPr id="4" name="TextBox 3">
            <a:extLst>
              <a:ext uri="{FF2B5EF4-FFF2-40B4-BE49-F238E27FC236}">
                <a16:creationId xmlns:a16="http://schemas.microsoft.com/office/drawing/2014/main" id="{8EE9AAB1-87B0-E5CB-A59E-AA119C872A56}"/>
              </a:ext>
            </a:extLst>
          </p:cNvPr>
          <p:cNvSpPr txBox="1"/>
          <p:nvPr/>
        </p:nvSpPr>
        <p:spPr>
          <a:xfrm>
            <a:off x="1684133" y="1489971"/>
            <a:ext cx="609432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const message = "</a:t>
            </a:r>
            <a:r>
              <a:rPr lang="ru-RU" sz="2000" dirty="0">
                <a:latin typeface="Times New Roman" panose="02020603050405020304" pitchFamily="18" charset="0"/>
                <a:cs typeface="Times New Roman" panose="02020603050405020304" pitchFamily="18" charset="0"/>
              </a:rPr>
              <a:t>Привет;</a:t>
            </a:r>
          </a:p>
        </p:txBody>
      </p:sp>
      <p:sp>
        <p:nvSpPr>
          <p:cNvPr id="6" name="TextBox 5">
            <a:extLst>
              <a:ext uri="{FF2B5EF4-FFF2-40B4-BE49-F238E27FC236}">
                <a16:creationId xmlns:a16="http://schemas.microsoft.com/office/drawing/2014/main" id="{B44024E7-FC34-C274-0D91-2CE87DC4BEFC}"/>
              </a:ext>
            </a:extLst>
          </p:cNvPr>
          <p:cNvSpPr txBox="1"/>
          <p:nvPr/>
        </p:nvSpPr>
        <p:spPr>
          <a:xfrm>
            <a:off x="1684133" y="1879583"/>
            <a:ext cx="609432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console.log("</a:t>
            </a:r>
            <a:r>
              <a:rPr lang="ru-RU" sz="2000" dirty="0">
                <a:latin typeface="Times New Roman" panose="02020603050405020304" pitchFamily="18" charset="0"/>
                <a:cs typeface="Times New Roman" panose="02020603050405020304" pitchFamily="18" charset="0"/>
              </a:rPr>
              <a:t>Привет";</a:t>
            </a:r>
          </a:p>
        </p:txBody>
      </p:sp>
      <p:sp>
        <p:nvSpPr>
          <p:cNvPr id="8" name="TextBox 7">
            <a:extLst>
              <a:ext uri="{FF2B5EF4-FFF2-40B4-BE49-F238E27FC236}">
                <a16:creationId xmlns:a16="http://schemas.microsoft.com/office/drawing/2014/main" id="{C8383830-398E-9959-EC07-B50479AB8C66}"/>
              </a:ext>
            </a:extLst>
          </p:cNvPr>
          <p:cNvSpPr txBox="1"/>
          <p:nvPr/>
        </p:nvSpPr>
        <p:spPr>
          <a:xfrm>
            <a:off x="1684133" y="2342495"/>
            <a:ext cx="609432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const total-price = 100;</a:t>
            </a:r>
            <a:endParaRPr lang="ru-RU"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BB93318-0ED2-F6A6-9817-5AA05E304EF6}"/>
              </a:ext>
            </a:extLst>
          </p:cNvPr>
          <p:cNvSpPr txBox="1"/>
          <p:nvPr/>
        </p:nvSpPr>
        <p:spPr>
          <a:xfrm>
            <a:off x="1684133" y="2815534"/>
            <a:ext cx="609432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const function = "test";</a:t>
            </a:r>
            <a:endParaRPr lang="ru-RU" sz="2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45D225A-092D-28AF-8555-46C0B2D6DB02}"/>
              </a:ext>
            </a:extLst>
          </p:cNvPr>
          <p:cNvSpPr txBox="1"/>
          <p:nvPr/>
        </p:nvSpPr>
        <p:spPr>
          <a:xfrm>
            <a:off x="1684133" y="3288573"/>
            <a:ext cx="6094324"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const </a:t>
            </a:r>
            <a:r>
              <a:rPr lang="en-US" sz="2000" dirty="0" err="1">
                <a:latin typeface="Times New Roman" panose="02020603050405020304" pitchFamily="18" charset="0"/>
                <a:cs typeface="Times New Roman" panose="02020603050405020304" pitchFamily="18" charset="0"/>
              </a:rPr>
              <a:t>userName</a:t>
            </a:r>
            <a:r>
              <a:rPr lang="en-US" sz="2000" dirty="0">
                <a:latin typeface="Times New Roman" panose="02020603050405020304" pitchFamily="18" charset="0"/>
                <a:cs typeface="Times New Roman" panose="02020603050405020304" pitchFamily="18" charset="0"/>
              </a:rPr>
              <a:t> = "</a:t>
            </a:r>
            <a:r>
              <a:rPr lang="ru-RU" sz="2000" dirty="0">
                <a:latin typeface="Times New Roman" panose="02020603050405020304" pitchFamily="18" charset="0"/>
                <a:cs typeface="Times New Roman" panose="02020603050405020304" pitchFamily="18" charset="0"/>
              </a:rPr>
              <a:t>Анна"; </a:t>
            </a:r>
          </a:p>
          <a:p>
            <a:r>
              <a:rPr lang="en-US" sz="2000" dirty="0">
                <a:latin typeface="Times New Roman" panose="02020603050405020304" pitchFamily="18" charset="0"/>
                <a:cs typeface="Times New Roman" panose="02020603050405020304" pitchFamily="18" charset="0"/>
              </a:rPr>
              <a:t>console.log(username);</a:t>
            </a:r>
            <a:endParaRPr lang="ru-RU" sz="20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186C57E0-B5B6-3527-8BDD-DD5B8C415E55}"/>
              </a:ext>
            </a:extLst>
          </p:cNvPr>
          <p:cNvSpPr txBox="1"/>
          <p:nvPr/>
        </p:nvSpPr>
        <p:spPr>
          <a:xfrm>
            <a:off x="1684133" y="3990592"/>
            <a:ext cx="609432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const price = ;</a:t>
            </a:r>
            <a:endParaRPr lang="ru-RU" sz="2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4D00D120-7E7F-938F-C793-31CEEAACE1B4}"/>
              </a:ext>
            </a:extLst>
          </p:cNvPr>
          <p:cNvSpPr txBox="1"/>
          <p:nvPr/>
        </p:nvSpPr>
        <p:spPr>
          <a:xfrm>
            <a:off x="4916156" y="1500111"/>
            <a:ext cx="6094324"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Незакрытая строка</a:t>
            </a:r>
          </a:p>
        </p:txBody>
      </p:sp>
      <p:sp>
        <p:nvSpPr>
          <p:cNvPr id="23" name="TextBox 22">
            <a:extLst>
              <a:ext uri="{FF2B5EF4-FFF2-40B4-BE49-F238E27FC236}">
                <a16:creationId xmlns:a16="http://schemas.microsoft.com/office/drawing/2014/main" id="{483C7BFD-EE06-45C8-A8B1-9D1BC91A2A3D}"/>
              </a:ext>
            </a:extLst>
          </p:cNvPr>
          <p:cNvSpPr txBox="1"/>
          <p:nvPr/>
        </p:nvSpPr>
        <p:spPr>
          <a:xfrm>
            <a:off x="4916156" y="1889723"/>
            <a:ext cx="6094324"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Пропущенная закрывающая скобка</a:t>
            </a:r>
          </a:p>
        </p:txBody>
      </p:sp>
      <p:sp>
        <p:nvSpPr>
          <p:cNvPr id="25" name="TextBox 24">
            <a:extLst>
              <a:ext uri="{FF2B5EF4-FFF2-40B4-BE49-F238E27FC236}">
                <a16:creationId xmlns:a16="http://schemas.microsoft.com/office/drawing/2014/main" id="{EC85DA59-CA95-5190-6FBB-B00C087CC6D1}"/>
              </a:ext>
            </a:extLst>
          </p:cNvPr>
          <p:cNvSpPr txBox="1"/>
          <p:nvPr/>
        </p:nvSpPr>
        <p:spPr>
          <a:xfrm>
            <a:off x="4916156" y="2299973"/>
            <a:ext cx="6094324"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Неверное имя переменной</a:t>
            </a:r>
          </a:p>
        </p:txBody>
      </p:sp>
      <p:sp>
        <p:nvSpPr>
          <p:cNvPr id="27" name="TextBox 26">
            <a:extLst>
              <a:ext uri="{FF2B5EF4-FFF2-40B4-BE49-F238E27FC236}">
                <a16:creationId xmlns:a16="http://schemas.microsoft.com/office/drawing/2014/main" id="{A7048C30-43F7-D505-9472-6AE2382A0F3D}"/>
              </a:ext>
            </a:extLst>
          </p:cNvPr>
          <p:cNvSpPr txBox="1"/>
          <p:nvPr/>
        </p:nvSpPr>
        <p:spPr>
          <a:xfrm>
            <a:off x="4916156" y="2752745"/>
            <a:ext cx="6094324"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Использование ключевого слова</a:t>
            </a:r>
          </a:p>
        </p:txBody>
      </p:sp>
      <p:sp>
        <p:nvSpPr>
          <p:cNvPr id="29" name="TextBox 28">
            <a:extLst>
              <a:ext uri="{FF2B5EF4-FFF2-40B4-BE49-F238E27FC236}">
                <a16:creationId xmlns:a16="http://schemas.microsoft.com/office/drawing/2014/main" id="{7AC83132-B809-AC66-32FE-159D9E42D9D6}"/>
              </a:ext>
            </a:extLst>
          </p:cNvPr>
          <p:cNvSpPr txBox="1"/>
          <p:nvPr/>
        </p:nvSpPr>
        <p:spPr>
          <a:xfrm>
            <a:off x="4916156" y="3411683"/>
            <a:ext cx="6094324"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Различный регистр</a:t>
            </a:r>
          </a:p>
        </p:txBody>
      </p:sp>
      <p:sp>
        <p:nvSpPr>
          <p:cNvPr id="31" name="TextBox 30">
            <a:extLst>
              <a:ext uri="{FF2B5EF4-FFF2-40B4-BE49-F238E27FC236}">
                <a16:creationId xmlns:a16="http://schemas.microsoft.com/office/drawing/2014/main" id="{C98C8B41-5C35-C590-82E2-33A8FDC7F0A7}"/>
              </a:ext>
            </a:extLst>
          </p:cNvPr>
          <p:cNvSpPr txBox="1"/>
          <p:nvPr/>
        </p:nvSpPr>
        <p:spPr>
          <a:xfrm>
            <a:off x="4968910" y="3960624"/>
            <a:ext cx="6094324"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Отсутствие значения</a:t>
            </a:r>
          </a:p>
        </p:txBody>
      </p:sp>
    </p:spTree>
    <p:extLst>
      <p:ext uri="{BB962C8B-B14F-4D97-AF65-F5344CB8AC3E}">
        <p14:creationId xmlns:p14="http://schemas.microsoft.com/office/powerpoint/2010/main" val="139854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6" grpId="0"/>
      <p:bldP spid="19" grpId="0"/>
      <p:bldP spid="21" grpId="0"/>
      <p:bldP spid="23" grpId="0"/>
      <p:bldP spid="25" grpId="0"/>
      <p:bldP spid="27" grpId="0"/>
      <p:bldP spid="29" grpId="0"/>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42061" y="-17096"/>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Переменная в </a:t>
            </a:r>
            <a:r>
              <a:rPr lang="en-US" sz="3600" dirty="0">
                <a:latin typeface="Times New Roman" panose="02020603050405020304" pitchFamily="18" charset="0"/>
                <a:cs typeface="Times New Roman" panose="02020603050405020304" pitchFamily="18" charset="0"/>
              </a:rPr>
              <a:t>JavaScript</a:t>
            </a:r>
            <a:endParaRPr lang="ru-RU"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AC7EF08-2F68-75D9-B3A4-431F34291050}"/>
              </a:ext>
            </a:extLst>
          </p:cNvPr>
          <p:cNvSpPr txBox="1"/>
          <p:nvPr/>
        </p:nvSpPr>
        <p:spPr>
          <a:xfrm>
            <a:off x="534338" y="1010418"/>
            <a:ext cx="11403103" cy="707886"/>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Переменная</a:t>
            </a:r>
            <a:r>
              <a:rPr lang="ru-RU" sz="2000" dirty="0">
                <a:latin typeface="Times New Roman" panose="02020603050405020304" pitchFamily="18" charset="0"/>
                <a:cs typeface="Times New Roman" panose="02020603050405020304" pitchFamily="18" charset="0"/>
              </a:rPr>
              <a:t> — именованная ссылка на значение, которое используется программой и при необходимости может быть заменено другим значением.</a:t>
            </a:r>
          </a:p>
        </p:txBody>
      </p:sp>
      <p:sp>
        <p:nvSpPr>
          <p:cNvPr id="5" name="Rectangle 1">
            <a:extLst>
              <a:ext uri="{FF2B5EF4-FFF2-40B4-BE49-F238E27FC236}">
                <a16:creationId xmlns:a16="http://schemas.microsoft.com/office/drawing/2014/main" id="{1CBAE9AA-F69D-B533-7919-AA331E0D4C36}"/>
              </a:ext>
            </a:extLst>
          </p:cNvPr>
          <p:cNvSpPr>
            <a:spLocks noChangeArrowheads="1"/>
          </p:cNvSpPr>
          <p:nvPr/>
        </p:nvSpPr>
        <p:spPr bwMode="auto">
          <a:xfrm>
            <a:off x="534338" y="1718304"/>
            <a:ext cx="7987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rgbClr val="313130"/>
                </a:solidFill>
                <a:effectLst/>
                <a:latin typeface="Times New Roman" panose="02020603050405020304" pitchFamily="18" charset="0"/>
                <a:cs typeface="Times New Roman" panose="02020603050405020304" pitchFamily="18" charset="0"/>
              </a:rPr>
              <a:t>Для создания переменной в JavaScript используйте ключевое слово </a:t>
            </a:r>
            <a:r>
              <a:rPr kumimoji="0" lang="ru-RU" altLang="ru-RU" sz="2000" b="1" i="0" u="none" strike="noStrike" cap="none" normalizeH="0" baseline="0" dirty="0" err="1">
                <a:ln>
                  <a:noFill/>
                </a:ln>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rgbClr val="313130"/>
                </a:solidFill>
                <a:effectLst/>
                <a:latin typeface="Times New Roman" panose="02020603050405020304" pitchFamily="18" charset="0"/>
                <a:cs typeface="Times New Roman" panose="02020603050405020304" pitchFamily="18" charset="0"/>
              </a:rPr>
              <a: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6" name="Rectangle 2">
            <a:extLst>
              <a:ext uri="{FF2B5EF4-FFF2-40B4-BE49-F238E27FC236}">
                <a16:creationId xmlns:a16="http://schemas.microsoft.com/office/drawing/2014/main" id="{86D0854F-9FA7-122E-3929-CC9E905D3720}"/>
              </a:ext>
            </a:extLst>
          </p:cNvPr>
          <p:cNvSpPr>
            <a:spLocks noChangeArrowheads="1"/>
          </p:cNvSpPr>
          <p:nvPr/>
        </p:nvSpPr>
        <p:spPr bwMode="auto">
          <a:xfrm>
            <a:off x="534338" y="2017955"/>
            <a:ext cx="1129595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Объявление переменной</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создание идентификатора, который можно использовать в программе.</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Переменная создана, но явное значение ей пока не присвоено.</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Если вывести её в консоль:</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lang="en-US" altLang="ru-RU" sz="2000" dirty="0">
                <a:latin typeface="Times New Roman" panose="02020603050405020304" pitchFamily="18" charset="0"/>
                <a:cs typeface="Times New Roman" panose="02020603050405020304" pitchFamily="18" charset="0"/>
              </a:rPr>
              <a:t>u</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ndefined</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Значение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undefined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означает, что переменная существует, но полезное значение в неё ещё не записано.</a:t>
            </a:r>
          </a:p>
        </p:txBody>
      </p:sp>
    </p:spTree>
    <p:extLst>
      <p:ext uri="{BB962C8B-B14F-4D97-AF65-F5344CB8AC3E}">
        <p14:creationId xmlns:p14="http://schemas.microsoft.com/office/powerpoint/2010/main" val="1614513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F6610AFC-19DA-3700-07AE-FA47A824EEB2}"/>
              </a:ext>
            </a:extLst>
          </p:cNvPr>
          <p:cNvSpPr>
            <a:spLocks noChangeArrowheads="1"/>
          </p:cNvSpPr>
          <p:nvPr/>
        </p:nvSpPr>
        <p:spPr bwMode="auto">
          <a:xfrm>
            <a:off x="1511399" y="233647"/>
            <a:ext cx="1040156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Инициализация</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присваивание переменной начального значения в момент её объявления.</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"Анна"; </a:t>
            </a:r>
          </a:p>
        </p:txBody>
      </p:sp>
      <p:sp>
        <p:nvSpPr>
          <p:cNvPr id="4" name="Rectangle 2">
            <a:extLst>
              <a:ext uri="{FF2B5EF4-FFF2-40B4-BE49-F238E27FC236}">
                <a16:creationId xmlns:a16="http://schemas.microsoft.com/office/drawing/2014/main" id="{C6936B37-D418-F3DF-327E-68638DFBCB80}"/>
              </a:ext>
            </a:extLst>
          </p:cNvPr>
          <p:cNvSpPr>
            <a:spLocks noChangeArrowheads="1"/>
          </p:cNvSpPr>
          <p:nvPr/>
        </p:nvSpPr>
        <p:spPr bwMode="auto">
          <a:xfrm>
            <a:off x="1511399" y="1345439"/>
            <a:ext cx="789729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Присваивание</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запись значения в ранее объявленную переменную.</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"Анна"; </a:t>
            </a:r>
          </a:p>
        </p:txBody>
      </p:sp>
      <p:sp>
        <p:nvSpPr>
          <p:cNvPr id="5" name="Rectangle 3">
            <a:extLst>
              <a:ext uri="{FF2B5EF4-FFF2-40B4-BE49-F238E27FC236}">
                <a16:creationId xmlns:a16="http://schemas.microsoft.com/office/drawing/2014/main" id="{3B4D50D4-18AF-3830-B632-852A74B09531}"/>
              </a:ext>
            </a:extLst>
          </p:cNvPr>
          <p:cNvSpPr>
            <a:spLocks noChangeArrowheads="1"/>
          </p:cNvSpPr>
          <p:nvPr/>
        </p:nvSpPr>
        <p:spPr bwMode="auto">
          <a:xfrm>
            <a:off x="481185" y="2685047"/>
            <a:ext cx="767081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Переменная, объявленная через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может получить новое значение.</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lessonNumber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lessonNumber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lessonNumber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lessonNumber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30514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67F1E17B-060C-EB2D-30D1-4F85DA528917}"/>
              </a:ext>
            </a:extLst>
          </p:cNvPr>
          <p:cNvSpPr>
            <a:spLocks noChangeArrowheads="1"/>
          </p:cNvSpPr>
          <p:nvPr/>
        </p:nvSpPr>
        <p:spPr bwMode="auto">
          <a:xfrm>
            <a:off x="446808" y="318063"/>
            <a:ext cx="1055141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Динамическая типизация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JavaScript является языком с динамической типизацией.</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Это означает, что тип связан не с переменной, а с текущим значением, которое в ней хранится.</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"сто";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Такой код допустим.</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Сначала переменная хранит число, затем строку.</a:t>
            </a:r>
          </a:p>
        </p:txBody>
      </p:sp>
      <p:sp>
        <p:nvSpPr>
          <p:cNvPr id="5" name="TextBox 4">
            <a:extLst>
              <a:ext uri="{FF2B5EF4-FFF2-40B4-BE49-F238E27FC236}">
                <a16:creationId xmlns:a16="http://schemas.microsoft.com/office/drawing/2014/main" id="{9891FBE0-B11E-4A0C-5A13-3A044C6E9135}"/>
              </a:ext>
            </a:extLst>
          </p:cNvPr>
          <p:cNvSpPr txBox="1"/>
          <p:nvPr/>
        </p:nvSpPr>
        <p:spPr>
          <a:xfrm>
            <a:off x="446807" y="3826715"/>
            <a:ext cx="11606647"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Хотя JavaScript разрешает присваивать одной переменной значения разных типов, такое использование может ухудшать понятность кода.</a:t>
            </a:r>
          </a:p>
        </p:txBody>
      </p:sp>
      <p:sp>
        <p:nvSpPr>
          <p:cNvPr id="6" name="Rectangle 2">
            <a:extLst>
              <a:ext uri="{FF2B5EF4-FFF2-40B4-BE49-F238E27FC236}">
                <a16:creationId xmlns:a16="http://schemas.microsoft.com/office/drawing/2014/main" id="{75D81387-530F-F680-CA53-D67D650EF773}"/>
              </a:ext>
            </a:extLst>
          </p:cNvPr>
          <p:cNvSpPr>
            <a:spLocks noChangeArrowheads="1"/>
          </p:cNvSpPr>
          <p:nvPr/>
        </p:nvSpPr>
        <p:spPr bwMode="auto">
          <a:xfrm>
            <a:off x="443491" y="4566824"/>
            <a:ext cx="1130501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Нежелательный пример:</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result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result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"Ошибка";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result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 имени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result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невозможно понять, какой тип значения ожидается на конкретном этапе выполнения.</a:t>
            </a:r>
          </a:p>
        </p:txBody>
      </p:sp>
    </p:spTree>
    <p:extLst>
      <p:ext uri="{BB962C8B-B14F-4D97-AF65-F5344CB8AC3E}">
        <p14:creationId xmlns:p14="http://schemas.microsoft.com/office/powerpoint/2010/main" val="1247998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21622" y="-17096"/>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Область видимости блока</a:t>
            </a:r>
          </a:p>
        </p:txBody>
      </p:sp>
      <p:sp>
        <p:nvSpPr>
          <p:cNvPr id="2" name="Rectangle 1">
            <a:extLst>
              <a:ext uri="{FF2B5EF4-FFF2-40B4-BE49-F238E27FC236}">
                <a16:creationId xmlns:a16="http://schemas.microsoft.com/office/drawing/2014/main" id="{44D6480A-A59C-91CA-822C-A7E592642BCE}"/>
              </a:ext>
            </a:extLst>
          </p:cNvPr>
          <p:cNvSpPr>
            <a:spLocks noChangeArrowheads="1"/>
          </p:cNvSpPr>
          <p:nvPr/>
        </p:nvSpPr>
        <p:spPr bwMode="auto">
          <a:xfrm>
            <a:off x="554778" y="955701"/>
            <a:ext cx="107401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Переменная, объявленная через let, имеет блочную область видимости.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Блок</a:t>
            </a: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участок кода внутри фигурных скобок.</a:t>
            </a:r>
          </a:p>
        </p:txBody>
      </p:sp>
      <p:sp>
        <p:nvSpPr>
          <p:cNvPr id="7" name="TextBox 6">
            <a:extLst>
              <a:ext uri="{FF2B5EF4-FFF2-40B4-BE49-F238E27FC236}">
                <a16:creationId xmlns:a16="http://schemas.microsoft.com/office/drawing/2014/main" id="{07EA97B6-81E2-CBF4-0127-8946BF935091}"/>
              </a:ext>
            </a:extLst>
          </p:cNvPr>
          <p:cNvSpPr txBox="1"/>
          <p:nvPr/>
        </p:nvSpPr>
        <p:spPr>
          <a:xfrm>
            <a:off x="554778" y="1714276"/>
            <a:ext cx="6094268" cy="1200329"/>
          </a:xfrm>
          <a:prstGeom prst="rect">
            <a:avLst/>
          </a:prstGeom>
          <a:noFill/>
        </p:spPr>
        <p:txBody>
          <a:bodyPr wrap="square">
            <a:spAutoFit/>
          </a:bodyPr>
          <a:lstStyle/>
          <a:p>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message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Внутри блока"</a:t>
            </a:r>
            <a:r>
              <a:rPr lang="ru-RU" b="0" dirty="0">
                <a:solidFill>
                  <a:srgbClr val="000000"/>
                </a:solidFill>
                <a:effectLst/>
                <a:latin typeface="Consolas" panose="020B0609020204030204" pitchFamily="49" charset="0"/>
              </a:rPr>
              <a:t>;</a:t>
            </a:r>
          </a:p>
          <a:p>
            <a:r>
              <a:rPr lang="ru-RU"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message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8" name="Rectangle 2">
            <a:extLst>
              <a:ext uri="{FF2B5EF4-FFF2-40B4-BE49-F238E27FC236}">
                <a16:creationId xmlns:a16="http://schemas.microsoft.com/office/drawing/2014/main" id="{0431AD00-286B-B1EB-3BDC-9A6B541333C4}"/>
              </a:ext>
            </a:extLst>
          </p:cNvPr>
          <p:cNvSpPr>
            <a:spLocks noChangeArrowheads="1"/>
          </p:cNvSpPr>
          <p:nvPr/>
        </p:nvSpPr>
        <p:spPr bwMode="auto">
          <a:xfrm>
            <a:off x="554779" y="3009062"/>
            <a:ext cx="554122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Внутри блока переменная доступна.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За пределами блока:</a:t>
            </a:r>
          </a:p>
          <a:p>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let</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message</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a:t>
            </a:r>
            <a:r>
              <a:rPr lang="ru-RU" sz="2000" b="0" dirty="0">
                <a:solidFill>
                  <a:srgbClr val="A31515"/>
                </a:solidFill>
                <a:effectLst/>
                <a:latin typeface="Consolas" panose="020B0609020204030204" pitchFamily="49" charset="0"/>
              </a:rPr>
              <a:t>Внутри блока"</a:t>
            </a:r>
            <a:r>
              <a:rPr lang="ru-RU" sz="2000" b="0" dirty="0">
                <a:solidFill>
                  <a:srgbClr val="000000"/>
                </a:solidFill>
                <a:effectLst/>
                <a:latin typeface="Consolas" panose="020B0609020204030204" pitchFamily="49" charset="0"/>
              </a:rPr>
              <a:t>; </a:t>
            </a:r>
          </a:p>
          <a:p>
            <a:r>
              <a:rPr lang="ru-RU" sz="2000" b="0" dirty="0">
                <a:solidFill>
                  <a:srgbClr val="000000"/>
                </a:solidFill>
                <a:effectLst/>
                <a:latin typeface="Consolas" panose="020B0609020204030204" pitchFamily="49" charset="0"/>
              </a:rPr>
              <a:t>} </a:t>
            </a:r>
          </a:p>
          <a:p>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message</a:t>
            </a:r>
            <a:r>
              <a:rPr lang="en-US" sz="2000" b="0" dirty="0">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возникнет ошибка, поскольку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message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существует только внутри блока.</a:t>
            </a:r>
          </a:p>
        </p:txBody>
      </p:sp>
      <p:sp>
        <p:nvSpPr>
          <p:cNvPr id="10" name="TextBox 9">
            <a:extLst>
              <a:ext uri="{FF2B5EF4-FFF2-40B4-BE49-F238E27FC236}">
                <a16:creationId xmlns:a16="http://schemas.microsoft.com/office/drawing/2014/main" id="{4281E19A-EF6E-BC94-C917-7EF37648FF9E}"/>
              </a:ext>
            </a:extLst>
          </p:cNvPr>
          <p:cNvSpPr txBox="1"/>
          <p:nvPr/>
        </p:nvSpPr>
        <p:spPr>
          <a:xfrm>
            <a:off x="6268316" y="1911932"/>
            <a:ext cx="5764357"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Зачем нужна блочная область видимости</a:t>
            </a:r>
          </a:p>
        </p:txBody>
      </p:sp>
      <p:sp>
        <p:nvSpPr>
          <p:cNvPr id="16" name="TextBox 15">
            <a:extLst>
              <a:ext uri="{FF2B5EF4-FFF2-40B4-BE49-F238E27FC236}">
                <a16:creationId xmlns:a16="http://schemas.microsoft.com/office/drawing/2014/main" id="{D08E5880-93DF-3C22-0BCC-73CBDDE13011}"/>
              </a:ext>
            </a:extLst>
          </p:cNvPr>
          <p:cNvSpPr txBox="1"/>
          <p:nvPr/>
        </p:nvSpPr>
        <p:spPr>
          <a:xfrm>
            <a:off x="5938405" y="2318963"/>
            <a:ext cx="6094268" cy="369332"/>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Она позволяет ограничить доступность временных данных.</a:t>
            </a:r>
          </a:p>
        </p:txBody>
      </p:sp>
      <p:sp>
        <p:nvSpPr>
          <p:cNvPr id="19" name="TextBox 18">
            <a:extLst>
              <a:ext uri="{FF2B5EF4-FFF2-40B4-BE49-F238E27FC236}">
                <a16:creationId xmlns:a16="http://schemas.microsoft.com/office/drawing/2014/main" id="{896602CA-4D19-AC75-C035-048C5DC9F761}"/>
              </a:ext>
            </a:extLst>
          </p:cNvPr>
          <p:cNvSpPr txBox="1"/>
          <p:nvPr/>
        </p:nvSpPr>
        <p:spPr>
          <a:xfrm>
            <a:off x="6833755" y="2673825"/>
            <a:ext cx="5198918"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total</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1000</a:t>
            </a:r>
            <a:r>
              <a:rPr lang="en-US" b="0" dirty="0">
                <a:solidFill>
                  <a:srgbClr val="000000"/>
                </a:solidFill>
                <a:effectLst/>
                <a:latin typeface="Consolas" panose="020B0609020204030204" pitchFamily="49" charset="0"/>
              </a:rPr>
              <a:t>; </a:t>
            </a:r>
          </a:p>
          <a:p>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total</a:t>
            </a:r>
            <a:r>
              <a:rPr lang="en-US" b="0" dirty="0">
                <a:solidFill>
                  <a:srgbClr val="000000"/>
                </a:solidFill>
                <a:effectLst/>
                <a:latin typeface="Consolas" panose="020B0609020204030204" pitchFamily="49" charset="0"/>
              </a:rPr>
              <a:t> &gt; </a:t>
            </a:r>
            <a:r>
              <a:rPr lang="en-US" b="0" dirty="0">
                <a:solidFill>
                  <a:srgbClr val="098658"/>
                </a:solidFill>
                <a:effectLst/>
                <a:latin typeface="Consolas" panose="020B0609020204030204" pitchFamily="49" charset="0"/>
              </a:rPr>
              <a:t>500</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message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Крупная сумма"</a:t>
            </a:r>
            <a:r>
              <a:rPr lang="ru-RU" b="0" dirty="0">
                <a:solidFill>
                  <a:srgbClr val="000000"/>
                </a:solidFill>
                <a:effectLst/>
                <a:latin typeface="Consolas" panose="020B0609020204030204" pitchFamily="49" charset="0"/>
              </a:rPr>
              <a:t>; </a:t>
            </a:r>
          </a:p>
          <a:p>
            <a:r>
              <a:rPr lang="ru-RU"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message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22" name="TextBox 21">
            <a:extLst>
              <a:ext uri="{FF2B5EF4-FFF2-40B4-BE49-F238E27FC236}">
                <a16:creationId xmlns:a16="http://schemas.microsoft.com/office/drawing/2014/main" id="{BC2646D1-BEBE-9E9B-C441-0DC0816AAC50}"/>
              </a:ext>
            </a:extLst>
          </p:cNvPr>
          <p:cNvSpPr txBox="1"/>
          <p:nvPr/>
        </p:nvSpPr>
        <p:spPr>
          <a:xfrm>
            <a:off x="6096000" y="4169706"/>
            <a:ext cx="5936673"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Переменная </a:t>
            </a:r>
            <a:r>
              <a:rPr lang="ru-RU" sz="2000" dirty="0" err="1">
                <a:latin typeface="Times New Roman" panose="02020603050405020304" pitchFamily="18" charset="0"/>
                <a:cs typeface="Times New Roman" panose="02020603050405020304" pitchFamily="18" charset="0"/>
              </a:rPr>
              <a:t>message</a:t>
            </a:r>
            <a:r>
              <a:rPr lang="ru-RU" sz="2000" dirty="0">
                <a:latin typeface="Times New Roman" panose="02020603050405020304" pitchFamily="18" charset="0"/>
                <a:cs typeface="Times New Roman" panose="02020603050405020304" pitchFamily="18" charset="0"/>
              </a:rPr>
              <a:t> нужна только внутри условного блока и не должна использоваться в других частях программы.</a:t>
            </a:r>
          </a:p>
        </p:txBody>
      </p:sp>
    </p:spTree>
    <p:extLst>
      <p:ext uri="{BB962C8B-B14F-4D97-AF65-F5344CB8AC3E}">
        <p14:creationId xmlns:p14="http://schemas.microsoft.com/office/powerpoint/2010/main" val="3614934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796816" y="6505806"/>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52795" y="78697"/>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Константы в JavaScript. Объявление с помощью </a:t>
            </a:r>
            <a:r>
              <a:rPr lang="ru-RU" sz="3600" dirty="0" err="1">
                <a:latin typeface="Times New Roman" panose="02020603050405020304" pitchFamily="18" charset="0"/>
                <a:cs typeface="Times New Roman" panose="02020603050405020304" pitchFamily="18" charset="0"/>
              </a:rPr>
              <a:t>const</a:t>
            </a:r>
            <a:endParaRPr lang="ru-RU"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0D15007-A5DC-11E5-9D6F-298670057964}"/>
              </a:ext>
            </a:extLst>
          </p:cNvPr>
          <p:cNvSpPr txBox="1"/>
          <p:nvPr/>
        </p:nvSpPr>
        <p:spPr>
          <a:xfrm>
            <a:off x="361707" y="1404260"/>
            <a:ext cx="11192983"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Ключевое слово </a:t>
            </a:r>
            <a:r>
              <a:rPr lang="ru-RU" sz="2000" dirty="0" err="1">
                <a:latin typeface="Times New Roman" panose="02020603050405020304" pitchFamily="18" charset="0"/>
                <a:cs typeface="Times New Roman" panose="02020603050405020304" pitchFamily="18" charset="0"/>
              </a:rPr>
              <a:t>const</a:t>
            </a:r>
            <a:r>
              <a:rPr lang="ru-RU" sz="2000" dirty="0">
                <a:latin typeface="Times New Roman" panose="02020603050405020304" pitchFamily="18" charset="0"/>
                <a:cs typeface="Times New Roman" panose="02020603050405020304" pitchFamily="18" charset="0"/>
              </a:rPr>
              <a:t> используется для объявления переменной, которой после инициализации нельзя присвоить другое значение.</a:t>
            </a:r>
          </a:p>
        </p:txBody>
      </p:sp>
      <p:sp>
        <p:nvSpPr>
          <p:cNvPr id="8" name="Rectangle 4">
            <a:extLst>
              <a:ext uri="{FF2B5EF4-FFF2-40B4-BE49-F238E27FC236}">
                <a16:creationId xmlns:a16="http://schemas.microsoft.com/office/drawing/2014/main" id="{008DC12E-E4B1-A0D5-1F67-321C6083AA6B}"/>
              </a:ext>
            </a:extLst>
          </p:cNvPr>
          <p:cNvSpPr>
            <a:spLocks noChangeArrowheads="1"/>
          </p:cNvSpPr>
          <p:nvPr/>
        </p:nvSpPr>
        <p:spPr bwMode="auto">
          <a:xfrm>
            <a:off x="361707" y="2155637"/>
            <a:ext cx="621573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Пример:</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"Основы JavaScript";</a:t>
            </a:r>
            <a:endPar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Константа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courseName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получает строковое значение.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дальнейшем выполнить новое присваивание нельзя.</a:t>
            </a:r>
          </a:p>
        </p:txBody>
      </p:sp>
      <p:sp>
        <p:nvSpPr>
          <p:cNvPr id="11" name="TextBox 10">
            <a:extLst>
              <a:ext uri="{FF2B5EF4-FFF2-40B4-BE49-F238E27FC236}">
                <a16:creationId xmlns:a16="http://schemas.microsoft.com/office/drawing/2014/main" id="{76092301-E3A0-0943-30F1-3263F941A68E}"/>
              </a:ext>
            </a:extLst>
          </p:cNvPr>
          <p:cNvSpPr txBox="1"/>
          <p:nvPr/>
        </p:nvSpPr>
        <p:spPr>
          <a:xfrm>
            <a:off x="316327" y="3866710"/>
            <a:ext cx="6094268"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При объявлении через </a:t>
            </a:r>
            <a:r>
              <a:rPr lang="ru-RU" sz="2000" dirty="0" err="1">
                <a:latin typeface="Times New Roman" panose="02020603050405020304" pitchFamily="18" charset="0"/>
                <a:cs typeface="Times New Roman" panose="02020603050405020304" pitchFamily="18" charset="0"/>
              </a:rPr>
              <a:t>const</a:t>
            </a:r>
            <a:r>
              <a:rPr lang="ru-RU" sz="2000" dirty="0">
                <a:latin typeface="Times New Roman" panose="02020603050405020304" pitchFamily="18" charset="0"/>
                <a:cs typeface="Times New Roman" panose="02020603050405020304" pitchFamily="18" charset="0"/>
              </a:rPr>
              <a:t> значение необходимо указать сразу.</a:t>
            </a:r>
          </a:p>
        </p:txBody>
      </p:sp>
      <p:sp>
        <p:nvSpPr>
          <p:cNvPr id="20" name="Rectangle 7">
            <a:extLst>
              <a:ext uri="{FF2B5EF4-FFF2-40B4-BE49-F238E27FC236}">
                <a16:creationId xmlns:a16="http://schemas.microsoft.com/office/drawing/2014/main" id="{64A29B7F-94B7-A9F3-2EBD-726B8DE92EB3}"/>
              </a:ext>
            </a:extLst>
          </p:cNvPr>
          <p:cNvSpPr>
            <a:spLocks noChangeArrowheads="1"/>
          </p:cNvSpPr>
          <p:nvPr/>
        </p:nvSpPr>
        <p:spPr bwMode="auto">
          <a:xfrm>
            <a:off x="6410595" y="2062207"/>
            <a:ext cx="5568268" cy="3785652"/>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Использование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защищает от случайного повторного присваивания;</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делает намерение разработчика очевидным;</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упрощает чтение программы;</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снижает количество возможных ошибок;</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помогает понимать, какие данные действительно изменяются;</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делает поток данных более предсказуемым.</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Когда разработчик видит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он понимает, что ниже по коду идентификатор не должен получить новое значение.</a:t>
            </a:r>
          </a:p>
        </p:txBody>
      </p:sp>
      <p:sp>
        <p:nvSpPr>
          <p:cNvPr id="23" name="TextBox 22">
            <a:extLst>
              <a:ext uri="{FF2B5EF4-FFF2-40B4-BE49-F238E27FC236}">
                <a16:creationId xmlns:a16="http://schemas.microsoft.com/office/drawing/2014/main" id="{C4E96BD2-BC66-7571-BA3F-9C1F2E64C7C9}"/>
              </a:ext>
            </a:extLst>
          </p:cNvPr>
          <p:cNvSpPr txBox="1"/>
          <p:nvPr/>
        </p:nvSpPr>
        <p:spPr>
          <a:xfrm>
            <a:off x="316327" y="4718902"/>
            <a:ext cx="5779673" cy="383033"/>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Как и </a:t>
            </a:r>
            <a:r>
              <a:rPr lang="ru-RU" dirty="0" err="1">
                <a:latin typeface="Times New Roman" panose="02020603050405020304" pitchFamily="18" charset="0"/>
                <a:cs typeface="Times New Roman" panose="02020603050405020304" pitchFamily="18" charset="0"/>
              </a:rPr>
              <a:t>let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const</a:t>
            </a:r>
            <a:r>
              <a:rPr lang="ru-RU" dirty="0">
                <a:latin typeface="Times New Roman" panose="02020603050405020304" pitchFamily="18" charset="0"/>
                <a:cs typeface="Times New Roman" panose="02020603050405020304" pitchFamily="18" charset="0"/>
              </a:rPr>
              <a:t> имеет блочную область видимости.</a:t>
            </a:r>
          </a:p>
        </p:txBody>
      </p:sp>
    </p:spTree>
    <p:extLst>
      <p:ext uri="{BB962C8B-B14F-4D97-AF65-F5344CB8AC3E}">
        <p14:creationId xmlns:p14="http://schemas.microsoft.com/office/powerpoint/2010/main" val="2293930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EB7A7C27-8B02-82F2-524F-0793F2B8A88E}"/>
              </a:ext>
            </a:extLst>
          </p:cNvPr>
          <p:cNvSpPr txBox="1"/>
          <p:nvPr/>
        </p:nvSpPr>
        <p:spPr>
          <a:xfrm>
            <a:off x="3048866" y="385412"/>
            <a:ext cx="6094268" cy="461665"/>
          </a:xfrm>
          <a:prstGeom prst="rect">
            <a:avLst/>
          </a:prstGeom>
          <a:noFill/>
        </p:spPr>
        <p:txBody>
          <a:bodyPr wrap="square">
            <a:spAutoFit/>
          </a:bodyPr>
          <a:lstStyle/>
          <a:p>
            <a:pPr algn="ctr"/>
            <a:r>
              <a:rPr lang="ru-RU" sz="2400" b="1" dirty="0">
                <a:latin typeface="Times New Roman" panose="02020603050405020304" pitchFamily="18" charset="0"/>
                <a:cs typeface="Times New Roman" panose="02020603050405020304" pitchFamily="18" charset="0"/>
              </a:rPr>
              <a:t>Пример правильного выбора</a:t>
            </a:r>
          </a:p>
        </p:txBody>
      </p:sp>
      <p:sp>
        <p:nvSpPr>
          <p:cNvPr id="7" name="TextBox 6">
            <a:extLst>
              <a:ext uri="{FF2B5EF4-FFF2-40B4-BE49-F238E27FC236}">
                <a16:creationId xmlns:a16="http://schemas.microsoft.com/office/drawing/2014/main" id="{C4273100-B0CB-C450-8D4E-DB8406244B67}"/>
              </a:ext>
            </a:extLst>
          </p:cNvPr>
          <p:cNvSpPr txBox="1"/>
          <p:nvPr/>
        </p:nvSpPr>
        <p:spPr>
          <a:xfrm>
            <a:off x="1176770" y="1111195"/>
            <a:ext cx="6094268" cy="313932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Анна"</a:t>
            </a:r>
            <a:r>
              <a:rPr lang="ru-RU"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maximumScore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currentScore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err="1">
                <a:solidFill>
                  <a:srgbClr val="001080"/>
                </a:solidFill>
                <a:effectLst/>
                <a:latin typeface="Consolas" panose="020B0609020204030204" pitchFamily="49" charset="0"/>
              </a:rPr>
              <a:t>currentScore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a:t>
            </a:r>
          </a:p>
          <a:p>
            <a:r>
              <a:rPr lang="en-US" b="0" dirty="0" err="1">
                <a:solidFill>
                  <a:srgbClr val="001080"/>
                </a:solidFill>
                <a:effectLst/>
                <a:latin typeface="Consolas" panose="020B0609020204030204" pitchFamily="49" charset="0"/>
              </a:rPr>
              <a:t>currentScore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currentScore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maximumScore</a:t>
            </a:r>
            <a:r>
              <a:rPr lang="en-US"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73782C93-C778-8413-7492-0FE63F041160}"/>
              </a:ext>
            </a:extLst>
          </p:cNvPr>
          <p:cNvSpPr txBox="1"/>
          <p:nvPr/>
        </p:nvSpPr>
        <p:spPr>
          <a:xfrm>
            <a:off x="6487392" y="2680855"/>
            <a:ext cx="4527838"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имя студента не меняется;</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максимальный балл не меняется;</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текущий балл изменяется.</a:t>
            </a:r>
          </a:p>
        </p:txBody>
      </p:sp>
    </p:spTree>
    <p:extLst>
      <p:ext uri="{BB962C8B-B14F-4D97-AF65-F5344CB8AC3E}">
        <p14:creationId xmlns:p14="http://schemas.microsoft.com/office/powerpoint/2010/main" val="251594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83968" y="78697"/>
            <a:ext cx="10515600" cy="950003"/>
          </a:xfrm>
        </p:spPr>
        <p:txBody>
          <a:bodyPr>
            <a:normAutofit/>
          </a:bodyPr>
          <a:lstStyle/>
          <a:p>
            <a:pPr algn="ctr"/>
            <a:r>
              <a:rPr lang="ru-RU" sz="3600" dirty="0">
                <a:latin typeface="Times New Roman" panose="02020603050405020304" pitchFamily="18" charset="0"/>
                <a:cs typeface="Times New Roman" panose="02020603050405020304" pitchFamily="18" charset="0"/>
              </a:rPr>
              <a:t>Примитивные типы данных: </a:t>
            </a:r>
            <a:r>
              <a:rPr lang="en-US" sz="3600" dirty="0">
                <a:latin typeface="Times New Roman" panose="02020603050405020304" pitchFamily="18" charset="0"/>
                <a:cs typeface="Times New Roman" panose="02020603050405020304" pitchFamily="18" charset="0"/>
              </a:rPr>
              <a:t>number, string, </a:t>
            </a:r>
            <a:r>
              <a:rPr lang="en-US" sz="3600" dirty="0" err="1">
                <a:latin typeface="Times New Roman" panose="02020603050405020304" pitchFamily="18" charset="0"/>
                <a:cs typeface="Times New Roman" panose="02020603050405020304" pitchFamily="18" charset="0"/>
              </a:rPr>
              <a:t>boolean</a:t>
            </a:r>
            <a:endParaRPr lang="ru-RU" sz="3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9370D1A-7683-7B58-FBD8-BC7C980E52FE}"/>
              </a:ext>
            </a:extLst>
          </p:cNvPr>
          <p:cNvSpPr txBox="1"/>
          <p:nvPr/>
        </p:nvSpPr>
        <p:spPr>
          <a:xfrm>
            <a:off x="584488" y="1047440"/>
            <a:ext cx="7187911" cy="2345322"/>
          </a:xfrm>
          <a:prstGeom prst="rect">
            <a:avLst/>
          </a:prstGeom>
          <a:noFill/>
        </p:spPr>
        <p:txBody>
          <a:bodyPr wrap="square">
            <a:spAutoFit/>
          </a:bodyPr>
          <a:lstStyle/>
          <a:p>
            <a:pPr>
              <a:lnSpc>
                <a:spcPct val="150000"/>
              </a:lnSpc>
            </a:pPr>
            <a:r>
              <a:rPr lang="ru-RU" sz="2000" b="1" dirty="0">
                <a:latin typeface="Times New Roman" panose="02020603050405020304" pitchFamily="18" charset="0"/>
                <a:cs typeface="Times New Roman" panose="02020603050405020304" pitchFamily="18" charset="0"/>
              </a:rPr>
              <a:t>Тип данных</a:t>
            </a:r>
            <a:r>
              <a:rPr lang="ru-RU" sz="2000" dirty="0">
                <a:latin typeface="Times New Roman" panose="02020603050405020304" pitchFamily="18" charset="0"/>
                <a:cs typeface="Times New Roman" panose="02020603050405020304" pitchFamily="18" charset="0"/>
              </a:rPr>
              <a:t> определяет:</a:t>
            </a:r>
          </a:p>
          <a:p>
            <a:pPr>
              <a:lnSpc>
                <a:spcPct val="150000"/>
              </a:lnSpc>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какие значения могут использоваться в программе;</a:t>
            </a:r>
          </a:p>
          <a:p>
            <a:pPr>
              <a:lnSpc>
                <a:spcPct val="150000"/>
              </a:lnSpc>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какие операции можно выполнять над значением;</a:t>
            </a:r>
          </a:p>
          <a:p>
            <a:pPr>
              <a:lnSpc>
                <a:spcPct val="150000"/>
              </a:lnSpc>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каким образом значение обрабатывается языком;</a:t>
            </a:r>
          </a:p>
          <a:p>
            <a:pPr>
              <a:lnSpc>
                <a:spcPct val="150000"/>
              </a:lnSpc>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как программа должна интерпретировать результат выражения.</a:t>
            </a:r>
          </a:p>
        </p:txBody>
      </p:sp>
      <p:sp>
        <p:nvSpPr>
          <p:cNvPr id="8" name="TextBox 7">
            <a:extLst>
              <a:ext uri="{FF2B5EF4-FFF2-40B4-BE49-F238E27FC236}">
                <a16:creationId xmlns:a16="http://schemas.microsoft.com/office/drawing/2014/main" id="{29BE1B48-5CCE-8D78-AD91-5A2D96CD35A6}"/>
              </a:ext>
            </a:extLst>
          </p:cNvPr>
          <p:cNvSpPr txBox="1"/>
          <p:nvPr/>
        </p:nvSpPr>
        <p:spPr>
          <a:xfrm>
            <a:off x="931819" y="3465239"/>
            <a:ext cx="10217625"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Примитивные типы</a:t>
            </a:r>
            <a:r>
              <a:rPr lang="ru-RU" sz="2000" dirty="0">
                <a:latin typeface="Times New Roman" panose="02020603050405020304" pitchFamily="18" charset="0"/>
                <a:cs typeface="Times New Roman" panose="02020603050405020304" pitchFamily="18" charset="0"/>
              </a:rPr>
              <a:t> — базовые типы данных, значения которых не являются объектами.</a:t>
            </a:r>
          </a:p>
        </p:txBody>
      </p:sp>
      <p:sp>
        <p:nvSpPr>
          <p:cNvPr id="11" name="Rectangle 1">
            <a:extLst>
              <a:ext uri="{FF2B5EF4-FFF2-40B4-BE49-F238E27FC236}">
                <a16:creationId xmlns:a16="http://schemas.microsoft.com/office/drawing/2014/main" id="{B0B7272F-E9FF-6C7E-E4BC-AF36CEE493C2}"/>
              </a:ext>
            </a:extLst>
          </p:cNvPr>
          <p:cNvSpPr>
            <a:spLocks noChangeArrowheads="1"/>
          </p:cNvSpPr>
          <p:nvPr/>
        </p:nvSpPr>
        <p:spPr bwMode="auto">
          <a:xfrm>
            <a:off x="1027613" y="3915754"/>
            <a:ext cx="572182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JavaScript существует семь примитивных типов:</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string</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boolean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undefined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bigint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symbol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1557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20D14321-6776-FE2C-620F-6BEC84F92EBF}"/>
              </a:ext>
            </a:extLst>
          </p:cNvPr>
          <p:cNvSpPr>
            <a:spLocks noChangeArrowheads="1"/>
          </p:cNvSpPr>
          <p:nvPr/>
        </p:nvSpPr>
        <p:spPr bwMode="auto">
          <a:xfrm>
            <a:off x="1174172" y="348840"/>
            <a:ext cx="1034934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Тип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предназначен для хранения числовых значений.</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Он используется для представления:</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целых чисел;</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дробных чисел;</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положительных значений;</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отрицательных значений;</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результатов вычислений;</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специальных числовых значений.</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Примеры: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age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20;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temperature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price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1499.99;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coefficient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0.75;</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Все четыре значения имеют тип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1E69465E-717D-B853-410B-943AD0CCE81B}"/>
              </a:ext>
            </a:extLst>
          </p:cNvPr>
          <p:cNvSpPr txBox="1"/>
          <p:nvPr/>
        </p:nvSpPr>
        <p:spPr>
          <a:xfrm>
            <a:off x="1174172" y="4769981"/>
            <a:ext cx="10001691"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В JavaScript целые и дробные числа относятся к одному типу </a:t>
            </a:r>
            <a:r>
              <a:rPr lang="ru-RU" sz="2000" dirty="0" err="1">
                <a:latin typeface="Times New Roman" panose="02020603050405020304" pitchFamily="18" charset="0"/>
                <a:cs typeface="Times New Roman" panose="02020603050405020304" pitchFamily="18" charset="0"/>
              </a:rPr>
              <a:t>number</a:t>
            </a:r>
            <a:r>
              <a:rPr lang="ru-RU" sz="2000" dirty="0">
                <a:latin typeface="Times New Roman" panose="02020603050405020304" pitchFamily="18" charset="0"/>
                <a:cs typeface="Times New Roman" panose="02020603050405020304" pitchFamily="18" charset="0"/>
              </a:rPr>
              <a:t>. Отдельных типов для целых и вещественных чисел на базовом уровне нет. </a:t>
            </a:r>
          </a:p>
        </p:txBody>
      </p:sp>
      <p:sp>
        <p:nvSpPr>
          <p:cNvPr id="8" name="TextBox 7">
            <a:extLst>
              <a:ext uri="{FF2B5EF4-FFF2-40B4-BE49-F238E27FC236}">
                <a16:creationId xmlns:a16="http://schemas.microsoft.com/office/drawing/2014/main" id="{5B9A2586-76F2-427B-8EFD-CF201C6EC544}"/>
              </a:ext>
            </a:extLst>
          </p:cNvPr>
          <p:cNvSpPr txBox="1"/>
          <p:nvPr/>
        </p:nvSpPr>
        <p:spPr>
          <a:xfrm>
            <a:off x="1174172" y="5416312"/>
            <a:ext cx="609426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Для записи дробных чисел используется точка.</a:t>
            </a:r>
          </a:p>
        </p:txBody>
      </p:sp>
    </p:spTree>
    <p:extLst>
      <p:ext uri="{BB962C8B-B14F-4D97-AF65-F5344CB8AC3E}">
        <p14:creationId xmlns:p14="http://schemas.microsoft.com/office/powerpoint/2010/main" val="726309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11231" y="103485"/>
            <a:ext cx="10515600" cy="687057"/>
          </a:xfrm>
        </p:spPr>
        <p:txBody>
          <a:bodyPr>
            <a:normAutofit/>
          </a:bodyPr>
          <a:lstStyle/>
          <a:p>
            <a:pPr algn="ctr"/>
            <a:r>
              <a:rPr lang="ru-RU" sz="3600" dirty="0">
                <a:latin typeface="Times New Roman" panose="02020603050405020304" pitchFamily="18" charset="0"/>
                <a:cs typeface="Times New Roman" panose="02020603050405020304" pitchFamily="18" charset="0"/>
              </a:rPr>
              <a:t>Арифметические операции с числами</a:t>
            </a:r>
          </a:p>
        </p:txBody>
      </p:sp>
      <p:sp>
        <p:nvSpPr>
          <p:cNvPr id="4" name="TextBox 3">
            <a:extLst>
              <a:ext uri="{FF2B5EF4-FFF2-40B4-BE49-F238E27FC236}">
                <a16:creationId xmlns:a16="http://schemas.microsoft.com/office/drawing/2014/main" id="{C5D10299-AB81-2593-5127-14CB116106CF}"/>
              </a:ext>
            </a:extLst>
          </p:cNvPr>
          <p:cNvSpPr txBox="1"/>
          <p:nvPr/>
        </p:nvSpPr>
        <p:spPr>
          <a:xfrm>
            <a:off x="699394" y="1156038"/>
            <a:ext cx="6094268" cy="2031325"/>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9FA32E45-0041-97E1-A592-43C46EBC06ED}"/>
              </a:ext>
            </a:extLst>
          </p:cNvPr>
          <p:cNvSpPr txBox="1"/>
          <p:nvPr/>
        </p:nvSpPr>
        <p:spPr>
          <a:xfrm>
            <a:off x="699393" y="3278756"/>
            <a:ext cx="7935451"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Оператор </a:t>
            </a:r>
            <a:r>
              <a:rPr lang="ru-RU" sz="2000" b="1"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используется для возведения числа в степень.</a:t>
            </a:r>
          </a:p>
        </p:txBody>
      </p:sp>
      <p:sp>
        <p:nvSpPr>
          <p:cNvPr id="9" name="TextBox 8">
            <a:extLst>
              <a:ext uri="{FF2B5EF4-FFF2-40B4-BE49-F238E27FC236}">
                <a16:creationId xmlns:a16="http://schemas.microsoft.com/office/drawing/2014/main" id="{94A23C8F-9581-340E-B6B7-A14785C06B4D}"/>
              </a:ext>
            </a:extLst>
          </p:cNvPr>
          <p:cNvSpPr txBox="1"/>
          <p:nvPr/>
        </p:nvSpPr>
        <p:spPr>
          <a:xfrm>
            <a:off x="836027" y="3770259"/>
            <a:ext cx="6094268" cy="120032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base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exponent</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result</a:t>
            </a:r>
            <a:r>
              <a:rPr lang="en-US" b="0" dirty="0">
                <a:solidFill>
                  <a:srgbClr val="000000"/>
                </a:solidFill>
                <a:effectLst/>
                <a:latin typeface="Consolas" panose="020B0609020204030204" pitchFamily="49" charset="0"/>
              </a:rPr>
              <a:t> = </a:t>
            </a:r>
            <a:r>
              <a:rPr lang="en-US" b="0" dirty="0">
                <a:solidFill>
                  <a:srgbClr val="0070C1"/>
                </a:solidFill>
                <a:effectLst/>
                <a:latin typeface="Consolas" panose="020B0609020204030204" pitchFamily="49" charset="0"/>
              </a:rPr>
              <a:t>base</a:t>
            </a:r>
            <a:r>
              <a:rPr lang="en-US" b="0" dirty="0">
                <a:solidFill>
                  <a:srgbClr val="000000"/>
                </a:solidFill>
                <a:effectLst/>
                <a:latin typeface="Consolas" panose="020B0609020204030204" pitchFamily="49" charset="0"/>
              </a:rPr>
              <a:t> ** </a:t>
            </a:r>
            <a:r>
              <a:rPr lang="en-US" b="0" dirty="0">
                <a:solidFill>
                  <a:srgbClr val="0070C1"/>
                </a:solidFill>
                <a:effectLst/>
                <a:latin typeface="Consolas" panose="020B0609020204030204" pitchFamily="49" charset="0"/>
              </a:rPr>
              <a:t>exponent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result</a:t>
            </a:r>
            <a:r>
              <a:rPr lang="en-US" b="0" dirty="0">
                <a:solidFill>
                  <a:srgbClr val="000000"/>
                </a:solidFill>
                <a:effectLst/>
                <a:latin typeface="Consolas" panose="020B0609020204030204" pitchFamily="49" charset="0"/>
              </a:rPr>
              <a:t>);</a:t>
            </a:r>
          </a:p>
        </p:txBody>
      </p:sp>
      <p:sp>
        <p:nvSpPr>
          <p:cNvPr id="16" name="TextBox 15">
            <a:extLst>
              <a:ext uri="{FF2B5EF4-FFF2-40B4-BE49-F238E27FC236}">
                <a16:creationId xmlns:a16="http://schemas.microsoft.com/office/drawing/2014/main" id="{3034BA64-7626-CF9E-34B2-3E50B631A719}"/>
              </a:ext>
            </a:extLst>
          </p:cNvPr>
          <p:cNvSpPr txBox="1"/>
          <p:nvPr/>
        </p:nvSpPr>
        <p:spPr>
          <a:xfrm>
            <a:off x="1619984" y="4970588"/>
            <a:ext cx="8822880"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Для округления можно использовать методы объекта </a:t>
            </a:r>
            <a:r>
              <a:rPr lang="ru-RU" sz="2000" b="1" dirty="0" err="1">
                <a:latin typeface="Times New Roman" panose="02020603050405020304" pitchFamily="18" charset="0"/>
                <a:cs typeface="Times New Roman" panose="02020603050405020304" pitchFamily="18" charset="0"/>
              </a:rPr>
              <a:t>Math</a:t>
            </a:r>
            <a:r>
              <a:rPr lang="ru-RU" sz="2000" dirty="0">
                <a:latin typeface="Times New Roman" panose="02020603050405020304" pitchFamily="18" charset="0"/>
                <a:cs typeface="Times New Roman" panose="02020603050405020304" pitchFamily="18" charset="0"/>
              </a:rPr>
              <a:t>.</a:t>
            </a:r>
          </a:p>
        </p:txBody>
      </p:sp>
      <p:sp>
        <p:nvSpPr>
          <p:cNvPr id="21" name="TextBox 20">
            <a:extLst>
              <a:ext uri="{FF2B5EF4-FFF2-40B4-BE49-F238E27FC236}">
                <a16:creationId xmlns:a16="http://schemas.microsoft.com/office/drawing/2014/main" id="{2F997947-1608-081C-9A94-79704D09188F}"/>
              </a:ext>
            </a:extLst>
          </p:cNvPr>
          <p:cNvSpPr txBox="1"/>
          <p:nvPr/>
        </p:nvSpPr>
        <p:spPr>
          <a:xfrm>
            <a:off x="1749136" y="5370698"/>
            <a:ext cx="8209816" cy="120032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value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3.7</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Math</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round</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value</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a:t>
            </a:r>
            <a:r>
              <a:rPr lang="ru-RU" b="0" dirty="0">
                <a:solidFill>
                  <a:srgbClr val="008000"/>
                </a:solidFill>
                <a:effectLst/>
                <a:latin typeface="Consolas" panose="020B0609020204030204" pitchFamily="49" charset="0"/>
              </a:rPr>
              <a:t>округляет до ближайшего целого</a:t>
            </a:r>
            <a:endParaRPr lang="ru-RU"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Math</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floor</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value</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a:t>
            </a:r>
            <a:r>
              <a:rPr lang="ru-RU" b="0" dirty="0">
                <a:solidFill>
                  <a:srgbClr val="008000"/>
                </a:solidFill>
                <a:effectLst/>
                <a:latin typeface="Consolas" panose="020B0609020204030204" pitchFamily="49" charset="0"/>
              </a:rPr>
              <a:t>округляет вниз</a:t>
            </a:r>
            <a:endParaRPr lang="ru-RU"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Math</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ceil</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value</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a:t>
            </a:r>
            <a:r>
              <a:rPr lang="ru-RU" b="0" dirty="0">
                <a:solidFill>
                  <a:srgbClr val="008000"/>
                </a:solidFill>
                <a:effectLst/>
                <a:latin typeface="Consolas" panose="020B0609020204030204" pitchFamily="49" charset="0"/>
              </a:rPr>
              <a:t>округляет вверх</a:t>
            </a:r>
            <a:endParaRPr lang="ru-RU"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03761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037080" y="227146"/>
            <a:ext cx="10515600" cy="645493"/>
          </a:xfrm>
        </p:spPr>
        <p:txBody>
          <a:bodyPr>
            <a:normAutofit/>
          </a:bodyPr>
          <a:lstStyle/>
          <a:p>
            <a:pPr algn="ctr"/>
            <a:r>
              <a:rPr lang="ru-RU" sz="3600" dirty="0">
                <a:latin typeface="Times New Roman" panose="02020603050405020304" pitchFamily="18" charset="0"/>
                <a:cs typeface="Times New Roman" panose="02020603050405020304" pitchFamily="18" charset="0"/>
              </a:rPr>
              <a:t>Специальное значение </a:t>
            </a:r>
            <a:r>
              <a:rPr lang="en-US" sz="3600" dirty="0" err="1">
                <a:latin typeface="Times New Roman" panose="02020603050405020304" pitchFamily="18" charset="0"/>
                <a:cs typeface="Times New Roman" panose="02020603050405020304" pitchFamily="18" charset="0"/>
              </a:rPr>
              <a:t>NaN</a:t>
            </a:r>
            <a:endParaRPr lang="ru-RU" sz="36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11CB05A2-7D33-4F42-85CF-FE098C12CE9E}"/>
              </a:ext>
            </a:extLst>
          </p:cNvPr>
          <p:cNvSpPr>
            <a:spLocks noChangeArrowheads="1"/>
          </p:cNvSpPr>
          <p:nvPr/>
        </p:nvSpPr>
        <p:spPr bwMode="auto">
          <a:xfrm>
            <a:off x="641402" y="1100786"/>
            <a:ext cx="1000684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NaN означает </a:t>
            </a: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Not a Number</a:t>
            </a: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«не число».</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Оно возникает, когда программа пытается выполнить некорректную числовую операцию.</a:t>
            </a:r>
          </a:p>
        </p:txBody>
      </p:sp>
      <p:sp>
        <p:nvSpPr>
          <p:cNvPr id="6" name="TextBox 5">
            <a:extLst>
              <a:ext uri="{FF2B5EF4-FFF2-40B4-BE49-F238E27FC236}">
                <a16:creationId xmlns:a16="http://schemas.microsoft.com/office/drawing/2014/main" id="{BDCD18B7-A68C-9FE5-7C64-522A5B95E6C0}"/>
              </a:ext>
            </a:extLst>
          </p:cNvPr>
          <p:cNvSpPr txBox="1"/>
          <p:nvPr/>
        </p:nvSpPr>
        <p:spPr>
          <a:xfrm>
            <a:off x="836027" y="1942053"/>
            <a:ext cx="6094268"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result</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текст"</a:t>
            </a:r>
            <a:r>
              <a:rPr lang="ru-RU" b="0" dirty="0">
                <a:solidFill>
                  <a:srgbClr val="000000"/>
                </a:solidFill>
                <a:effectLst/>
                <a:latin typeface="Consolas" panose="020B0609020204030204" pitchFamily="49" charset="0"/>
              </a:rPr>
              <a:t> * </a:t>
            </a:r>
            <a:r>
              <a:rPr lang="ru-RU" b="0" dirty="0">
                <a:solidFill>
                  <a:srgbClr val="098658"/>
                </a:solidFill>
                <a:effectLst/>
                <a:latin typeface="Consolas" panose="020B0609020204030204" pitchFamily="49" charset="0"/>
              </a:rPr>
              <a:t>5</a:t>
            </a:r>
            <a:r>
              <a:rPr lang="ru-RU"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result</a:t>
            </a:r>
            <a:r>
              <a:rPr lang="en-US" b="0" dirty="0">
                <a:solidFill>
                  <a:srgbClr val="000000"/>
                </a:solidFill>
                <a:effectLst/>
                <a:latin typeface="Consolas" panose="020B0609020204030204" pitchFamily="49" charset="0"/>
              </a:rPr>
              <a:t>);</a:t>
            </a:r>
          </a:p>
        </p:txBody>
      </p:sp>
      <p:sp>
        <p:nvSpPr>
          <p:cNvPr id="7" name="Rectangle 3">
            <a:extLst>
              <a:ext uri="{FF2B5EF4-FFF2-40B4-BE49-F238E27FC236}">
                <a16:creationId xmlns:a16="http://schemas.microsoft.com/office/drawing/2014/main" id="{38860838-5575-AC1C-2C7C-5BB06D8F975B}"/>
              </a:ext>
            </a:extLst>
          </p:cNvPr>
          <p:cNvSpPr>
            <a:spLocks noChangeArrowheads="1"/>
          </p:cNvSpPr>
          <p:nvPr/>
        </p:nvSpPr>
        <p:spPr bwMode="auto">
          <a:xfrm>
            <a:off x="836027" y="2637755"/>
            <a:ext cx="593380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NaN</a:t>
            </a:r>
            <a:endParaRPr kumimoji="0" lang="en-US"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Несмотря на название, тип значения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typeof</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Это историческая особенность JavaScript.</a:t>
            </a:r>
          </a:p>
        </p:txBody>
      </p:sp>
      <p:sp>
        <p:nvSpPr>
          <p:cNvPr id="8" name="Rectangle 4">
            <a:extLst>
              <a:ext uri="{FF2B5EF4-FFF2-40B4-BE49-F238E27FC236}">
                <a16:creationId xmlns:a16="http://schemas.microsoft.com/office/drawing/2014/main" id="{CC989CDC-88C4-70D6-D26A-8F3A5C0722DB}"/>
              </a:ext>
            </a:extLst>
          </p:cNvPr>
          <p:cNvSpPr>
            <a:spLocks noChangeArrowheads="1"/>
          </p:cNvSpPr>
          <p:nvPr/>
        </p:nvSpPr>
        <p:spPr bwMode="auto">
          <a:xfrm>
            <a:off x="3473123" y="5549448"/>
            <a:ext cx="49382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Для проверки рекомендуется использовать:</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Number.isNaN(); </a:t>
            </a:r>
          </a:p>
        </p:txBody>
      </p:sp>
    </p:spTree>
    <p:extLst>
      <p:ext uri="{BB962C8B-B14F-4D97-AF65-F5344CB8AC3E}">
        <p14:creationId xmlns:p14="http://schemas.microsoft.com/office/powerpoint/2010/main" val="1502510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32013" y="93134"/>
            <a:ext cx="10515600" cy="559010"/>
          </a:xfrm>
        </p:spPr>
        <p:txBody>
          <a:bodyPr>
            <a:normAutofit fontScale="90000"/>
          </a:bodyPr>
          <a:lstStyle/>
          <a:p>
            <a:pPr algn="ctr"/>
            <a:r>
              <a:rPr lang="ru-RU" sz="3600" dirty="0">
                <a:latin typeface="Times New Roman" panose="02020603050405020304" pitchFamily="18" charset="0"/>
                <a:cs typeface="Times New Roman" panose="02020603050405020304" pitchFamily="18" charset="0"/>
              </a:rPr>
              <a:t>Тип </a:t>
            </a:r>
            <a:r>
              <a:rPr lang="en-US" sz="3600" b="1" dirty="0">
                <a:latin typeface="Times New Roman" panose="02020603050405020304" pitchFamily="18" charset="0"/>
                <a:cs typeface="Times New Roman" panose="02020603050405020304" pitchFamily="18" charset="0"/>
              </a:rPr>
              <a:t>string</a:t>
            </a:r>
            <a:endParaRPr lang="ru-RU"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08CC0BD-CA2E-8773-A09F-38972CCF8122}"/>
              </a:ext>
            </a:extLst>
          </p:cNvPr>
          <p:cNvSpPr txBox="1"/>
          <p:nvPr/>
        </p:nvSpPr>
        <p:spPr>
          <a:xfrm>
            <a:off x="836027" y="885262"/>
            <a:ext cx="938862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Тип </a:t>
            </a:r>
            <a:r>
              <a:rPr lang="ru-RU" sz="2000" dirty="0" err="1">
                <a:latin typeface="Times New Roman" panose="02020603050405020304" pitchFamily="18" charset="0"/>
                <a:cs typeface="Times New Roman" panose="02020603050405020304" pitchFamily="18" charset="0"/>
              </a:rPr>
              <a:t>string</a:t>
            </a:r>
            <a:r>
              <a:rPr lang="ru-RU" sz="2000" dirty="0">
                <a:latin typeface="Times New Roman" panose="02020603050405020304" pitchFamily="18" charset="0"/>
                <a:cs typeface="Times New Roman" panose="02020603050405020304" pitchFamily="18" charset="0"/>
              </a:rPr>
              <a:t> предназначен для хранения текстовых данных.</a:t>
            </a:r>
          </a:p>
        </p:txBody>
      </p:sp>
      <p:sp>
        <p:nvSpPr>
          <p:cNvPr id="6" name="Rectangle 2">
            <a:extLst>
              <a:ext uri="{FF2B5EF4-FFF2-40B4-BE49-F238E27FC236}">
                <a16:creationId xmlns:a16="http://schemas.microsoft.com/office/drawing/2014/main" id="{B9CB15EA-50F2-FC31-295C-E3D86A078BFA}"/>
              </a:ext>
            </a:extLst>
          </p:cNvPr>
          <p:cNvSpPr>
            <a:spLocks noChangeArrowheads="1"/>
          </p:cNvSpPr>
          <p:nvPr/>
        </p:nvSpPr>
        <p:spPr bwMode="auto">
          <a:xfrm>
            <a:off x="836027" y="1272456"/>
            <a:ext cx="575433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JavaScript строки можно записывать с помощью:</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двойных кавычек;</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одинарных кавычек;</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обратных кавычек.</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first</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second</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third</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a:t>
            </a:r>
            <a:endParaRPr kumimoji="0" lang="en-US" altLang="ru-RU"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Все три значения являются строками.</a:t>
            </a:r>
          </a:p>
        </p:txBody>
      </p:sp>
      <p:sp>
        <p:nvSpPr>
          <p:cNvPr id="4" name="TextBox 3">
            <a:extLst>
              <a:ext uri="{FF2B5EF4-FFF2-40B4-BE49-F238E27FC236}">
                <a16:creationId xmlns:a16="http://schemas.microsoft.com/office/drawing/2014/main" id="{59DF8B0D-371A-7DA4-A45F-9DBAA254FD24}"/>
              </a:ext>
            </a:extLst>
          </p:cNvPr>
          <p:cNvSpPr txBox="1"/>
          <p:nvPr/>
        </p:nvSpPr>
        <p:spPr>
          <a:xfrm>
            <a:off x="836027" y="3777140"/>
            <a:ext cx="6094268"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Специальный символ \ используется для экранирования.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message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"Он сказал: \"Привет\"";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Он сказал: "Привет" </a:t>
            </a:r>
          </a:p>
        </p:txBody>
      </p:sp>
      <p:sp>
        <p:nvSpPr>
          <p:cNvPr id="10" name="TextBox 9">
            <a:extLst>
              <a:ext uri="{FF2B5EF4-FFF2-40B4-BE49-F238E27FC236}">
                <a16:creationId xmlns:a16="http://schemas.microsoft.com/office/drawing/2014/main" id="{D2C3D4EF-CB95-A524-204B-8E07B938AC8F}"/>
              </a:ext>
            </a:extLst>
          </p:cNvPr>
          <p:cNvSpPr txBox="1"/>
          <p:nvPr/>
        </p:nvSpPr>
        <p:spPr>
          <a:xfrm>
            <a:off x="3883161" y="4569881"/>
            <a:ext cx="5623956"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message</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"Первая строка\</a:t>
            </a: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nВторая</a:t>
            </a: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строка";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 обозначает переход на новую строку.</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Другие примеры: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 — табуляция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обратная косая черта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двойная кавычка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одинарная кавычка </a:t>
            </a:r>
          </a:p>
        </p:txBody>
      </p:sp>
    </p:spTree>
    <p:extLst>
      <p:ext uri="{BB962C8B-B14F-4D97-AF65-F5344CB8AC3E}">
        <p14:creationId xmlns:p14="http://schemas.microsoft.com/office/powerpoint/2010/main" val="2598907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0914EC1-E922-1B22-A77F-81D2530858B2}"/>
              </a:ext>
            </a:extLst>
          </p:cNvPr>
          <p:cNvSpPr>
            <a:spLocks noChangeArrowheads="1"/>
          </p:cNvSpPr>
          <p:nvPr/>
        </p:nvSpPr>
        <p:spPr bwMode="auto">
          <a:xfrm>
            <a:off x="1662545" y="1265621"/>
            <a:ext cx="57538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Свойство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length</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возвращает количество символов. </a:t>
            </a:r>
          </a:p>
        </p:txBody>
      </p:sp>
      <p:sp>
        <p:nvSpPr>
          <p:cNvPr id="5" name="TextBox 4">
            <a:extLst>
              <a:ext uri="{FF2B5EF4-FFF2-40B4-BE49-F238E27FC236}">
                <a16:creationId xmlns:a16="http://schemas.microsoft.com/office/drawing/2014/main" id="{E48C9A0E-E0F2-C4A0-5210-DE694E210AF7}"/>
              </a:ext>
            </a:extLst>
          </p:cNvPr>
          <p:cNvSpPr txBox="1"/>
          <p:nvPr/>
        </p:nvSpPr>
        <p:spPr>
          <a:xfrm>
            <a:off x="1662545" y="1786189"/>
            <a:ext cx="6094268"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language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language</a:t>
            </a:r>
            <a:r>
              <a:rPr lang="en-US" b="0" dirty="0" err="1">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length</a:t>
            </a:r>
            <a:r>
              <a:rPr lang="en-US"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4F5B7FC8-53B4-C465-588B-C1FF7A15724A}"/>
              </a:ext>
            </a:extLst>
          </p:cNvPr>
          <p:cNvSpPr txBox="1"/>
          <p:nvPr/>
        </p:nvSpPr>
        <p:spPr>
          <a:xfrm>
            <a:off x="553316" y="2627853"/>
            <a:ext cx="6094268" cy="707886"/>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Доступ к символу строки</a:t>
            </a:r>
          </a:p>
          <a:p>
            <a:r>
              <a:rPr lang="ru-RU" sz="2000" dirty="0">
                <a:latin typeface="Times New Roman" panose="02020603050405020304" pitchFamily="18" charset="0"/>
                <a:cs typeface="Times New Roman" panose="02020603050405020304" pitchFamily="18" charset="0"/>
              </a:rPr>
              <a:t>Индексация начинается с нуля.</a:t>
            </a:r>
          </a:p>
        </p:txBody>
      </p:sp>
      <p:sp>
        <p:nvSpPr>
          <p:cNvPr id="9" name="TextBox 8">
            <a:extLst>
              <a:ext uri="{FF2B5EF4-FFF2-40B4-BE49-F238E27FC236}">
                <a16:creationId xmlns:a16="http://schemas.microsoft.com/office/drawing/2014/main" id="{DAFD713E-DA2B-B275-2876-8F3A21386B3D}"/>
              </a:ext>
            </a:extLst>
          </p:cNvPr>
          <p:cNvSpPr txBox="1"/>
          <p:nvPr/>
        </p:nvSpPr>
        <p:spPr>
          <a:xfrm>
            <a:off x="553316" y="3335739"/>
            <a:ext cx="6094268" cy="120032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word</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word</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word</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word</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word</a:t>
            </a:r>
            <a:r>
              <a:rPr lang="en-US" b="0" dirty="0" err="1">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length</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p:txBody>
      </p:sp>
      <p:sp>
        <p:nvSpPr>
          <p:cNvPr id="16" name="TextBox 15">
            <a:extLst>
              <a:ext uri="{FF2B5EF4-FFF2-40B4-BE49-F238E27FC236}">
                <a16:creationId xmlns:a16="http://schemas.microsoft.com/office/drawing/2014/main" id="{3AEAEE9E-A2F4-F523-440B-5D748EBFE5A5}"/>
              </a:ext>
            </a:extLst>
          </p:cNvPr>
          <p:cNvSpPr txBox="1"/>
          <p:nvPr/>
        </p:nvSpPr>
        <p:spPr>
          <a:xfrm>
            <a:off x="6522894" y="2684074"/>
            <a:ext cx="5021406"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Оператор + может объединять строки.</a:t>
            </a:r>
          </a:p>
        </p:txBody>
      </p:sp>
      <p:sp>
        <p:nvSpPr>
          <p:cNvPr id="19" name="TextBox 18">
            <a:extLst>
              <a:ext uri="{FF2B5EF4-FFF2-40B4-BE49-F238E27FC236}">
                <a16:creationId xmlns:a16="http://schemas.microsoft.com/office/drawing/2014/main" id="{BA076EA8-4C7E-BA5A-AC1D-74338F755065}"/>
              </a:ext>
            </a:extLst>
          </p:cNvPr>
          <p:cNvSpPr txBox="1"/>
          <p:nvPr/>
        </p:nvSpPr>
        <p:spPr>
          <a:xfrm>
            <a:off x="6522894" y="3084184"/>
            <a:ext cx="4810990"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Эта операция называется </a:t>
            </a:r>
            <a:r>
              <a:rPr lang="ru-RU" sz="2000" b="1" dirty="0">
                <a:latin typeface="Times New Roman" panose="02020603050405020304" pitchFamily="18" charset="0"/>
                <a:cs typeface="Times New Roman" panose="02020603050405020304" pitchFamily="18" charset="0"/>
              </a:rPr>
              <a:t>конкатенацией</a:t>
            </a:r>
            <a:r>
              <a:rPr lang="ru-RU" sz="2000" dirty="0">
                <a:latin typeface="Times New Roman" panose="02020603050405020304" pitchFamily="18" charset="0"/>
                <a:cs typeface="Times New Roman" panose="02020603050405020304" pitchFamily="18" charset="0"/>
              </a:rPr>
              <a:t>.</a:t>
            </a:r>
          </a:p>
        </p:txBody>
      </p:sp>
      <p:sp>
        <p:nvSpPr>
          <p:cNvPr id="21" name="TextBox 20">
            <a:extLst>
              <a:ext uri="{FF2B5EF4-FFF2-40B4-BE49-F238E27FC236}">
                <a16:creationId xmlns:a16="http://schemas.microsoft.com/office/drawing/2014/main" id="{02982D98-8E20-B47C-8C8A-8A97247775B2}"/>
              </a:ext>
            </a:extLst>
          </p:cNvPr>
          <p:cNvSpPr txBox="1"/>
          <p:nvPr/>
        </p:nvSpPr>
        <p:spPr>
          <a:xfrm>
            <a:off x="6097732" y="3434990"/>
            <a:ext cx="6094268"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firstName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Анна"</a:t>
            </a:r>
            <a:r>
              <a:rPr lang="ru-RU"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lastName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Иванова"</a:t>
            </a:r>
            <a:r>
              <a:rPr lang="ru-RU"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fullName</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firstName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 "</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lastName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fullName</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22" name="Rectangle 3">
            <a:extLst>
              <a:ext uri="{FF2B5EF4-FFF2-40B4-BE49-F238E27FC236}">
                <a16:creationId xmlns:a16="http://schemas.microsoft.com/office/drawing/2014/main" id="{1B7EF947-C80F-280F-34EE-31679C4707D0}"/>
              </a:ext>
            </a:extLst>
          </p:cNvPr>
          <p:cNvSpPr>
            <a:spLocks noChangeArrowheads="1"/>
          </p:cNvSpPr>
          <p:nvPr/>
        </p:nvSpPr>
        <p:spPr bwMode="auto">
          <a:xfrm>
            <a:off x="6151418" y="4538712"/>
            <a:ext cx="488711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Анна Иванова </a:t>
            </a:r>
          </a:p>
        </p:txBody>
      </p:sp>
      <p:sp>
        <p:nvSpPr>
          <p:cNvPr id="6" name="TextBox 5">
            <a:extLst>
              <a:ext uri="{FF2B5EF4-FFF2-40B4-BE49-F238E27FC236}">
                <a16:creationId xmlns:a16="http://schemas.microsoft.com/office/drawing/2014/main" id="{AE4B56B0-8B12-80A3-B0F0-8189DF9A79AA}"/>
              </a:ext>
            </a:extLst>
          </p:cNvPr>
          <p:cNvSpPr txBox="1"/>
          <p:nvPr/>
        </p:nvSpPr>
        <p:spPr>
          <a:xfrm>
            <a:off x="3103418" y="277105"/>
            <a:ext cx="6096000" cy="584775"/>
          </a:xfrm>
          <a:prstGeom prst="rect">
            <a:avLst/>
          </a:prstGeom>
          <a:noFill/>
        </p:spPr>
        <p:txBody>
          <a:bodyPr wrap="square">
            <a:spAutoFit/>
          </a:bodyPr>
          <a:lstStyle/>
          <a:p>
            <a:pPr algn="ctr"/>
            <a:r>
              <a:rPr lang="ru-RU" sz="3200" dirty="0">
                <a:latin typeface="Times New Roman" panose="02020603050405020304" pitchFamily="18" charset="0"/>
                <a:cs typeface="Times New Roman" panose="02020603050405020304" pitchFamily="18" charset="0"/>
              </a:rPr>
              <a:t>Работа со строками</a:t>
            </a:r>
          </a:p>
        </p:txBody>
      </p:sp>
    </p:spTree>
    <p:extLst>
      <p:ext uri="{BB962C8B-B14F-4D97-AF65-F5344CB8AC3E}">
        <p14:creationId xmlns:p14="http://schemas.microsoft.com/office/powerpoint/2010/main" val="1034857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32013" y="191212"/>
            <a:ext cx="10515600" cy="717362"/>
          </a:xfrm>
        </p:spPr>
        <p:txBody>
          <a:bodyPr>
            <a:normAutofit/>
          </a:bodyPr>
          <a:lstStyle/>
          <a:p>
            <a:pPr algn="ctr"/>
            <a:r>
              <a:rPr lang="ru-RU" sz="3600" dirty="0">
                <a:latin typeface="Times New Roman" panose="02020603050405020304" pitchFamily="18" charset="0"/>
                <a:cs typeface="Times New Roman" panose="02020603050405020304" pitchFamily="18" charset="0"/>
              </a:rPr>
              <a:t>Шаблонные строки</a:t>
            </a:r>
          </a:p>
        </p:txBody>
      </p:sp>
      <p:sp>
        <p:nvSpPr>
          <p:cNvPr id="4" name="TextBox 3">
            <a:extLst>
              <a:ext uri="{FF2B5EF4-FFF2-40B4-BE49-F238E27FC236}">
                <a16:creationId xmlns:a16="http://schemas.microsoft.com/office/drawing/2014/main" id="{AC46E9E7-2B20-8408-918B-94FA98E6978D}"/>
              </a:ext>
            </a:extLst>
          </p:cNvPr>
          <p:cNvSpPr txBox="1"/>
          <p:nvPr/>
        </p:nvSpPr>
        <p:spPr>
          <a:xfrm>
            <a:off x="2828926" y="850827"/>
            <a:ext cx="748924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Шаблонные строки записываются в обратных кавычках.</a:t>
            </a:r>
          </a:p>
        </p:txBody>
      </p:sp>
      <p:sp>
        <p:nvSpPr>
          <p:cNvPr id="6" name="TextBox 5">
            <a:extLst>
              <a:ext uri="{FF2B5EF4-FFF2-40B4-BE49-F238E27FC236}">
                <a16:creationId xmlns:a16="http://schemas.microsoft.com/office/drawing/2014/main" id="{77AED6B6-23F4-B8AB-FA7A-891CF40F04E4}"/>
              </a:ext>
            </a:extLst>
          </p:cNvPr>
          <p:cNvSpPr txBox="1"/>
          <p:nvPr/>
        </p:nvSpPr>
        <p:spPr>
          <a:xfrm>
            <a:off x="361708" y="1310387"/>
            <a:ext cx="8667105" cy="120032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userName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Анна"</a:t>
            </a:r>
            <a:r>
              <a:rPr lang="ru-RU"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age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message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Пользователь: </a:t>
            </a:r>
            <a:r>
              <a:rPr lang="ru-RU"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userName</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a:t>
            </a:r>
            <a:r>
              <a:rPr lang="ru-RU" b="0" dirty="0">
                <a:solidFill>
                  <a:srgbClr val="A31515"/>
                </a:solidFill>
                <a:effectLst/>
                <a:latin typeface="Consolas" panose="020B0609020204030204" pitchFamily="49" charset="0"/>
              </a:rPr>
              <a:t>возраст: </a:t>
            </a:r>
            <a:r>
              <a:rPr lang="ru-RU" b="0" dirty="0">
                <a:solidFill>
                  <a:srgbClr val="0000FF"/>
                </a:solidFill>
                <a:effectLst/>
                <a:latin typeface="Consolas" panose="020B0609020204030204" pitchFamily="49" charset="0"/>
              </a:rPr>
              <a:t>${</a:t>
            </a:r>
            <a:r>
              <a:rPr lang="en-US" b="0" dirty="0">
                <a:solidFill>
                  <a:srgbClr val="0070C1"/>
                </a:solidFill>
                <a:effectLst/>
                <a:latin typeface="Consolas" panose="020B0609020204030204" pitchFamily="49" charset="0"/>
              </a:rPr>
              <a:t>age</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message</a:t>
            </a: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05F6B5BC-0FF5-D5E2-F0AA-528298B8383C}"/>
              </a:ext>
            </a:extLst>
          </p:cNvPr>
          <p:cNvSpPr txBox="1"/>
          <p:nvPr/>
        </p:nvSpPr>
        <p:spPr>
          <a:xfrm>
            <a:off x="361708" y="2536006"/>
            <a:ext cx="609426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Результат:</a:t>
            </a:r>
          </a:p>
        </p:txBody>
      </p:sp>
      <p:sp>
        <p:nvSpPr>
          <p:cNvPr id="10" name="TextBox 9">
            <a:extLst>
              <a:ext uri="{FF2B5EF4-FFF2-40B4-BE49-F238E27FC236}">
                <a16:creationId xmlns:a16="http://schemas.microsoft.com/office/drawing/2014/main" id="{13436C05-EB7D-40ED-00C5-43F7CFDD86A6}"/>
              </a:ext>
            </a:extLst>
          </p:cNvPr>
          <p:cNvSpPr txBox="1"/>
          <p:nvPr/>
        </p:nvSpPr>
        <p:spPr>
          <a:xfrm>
            <a:off x="361708" y="2961406"/>
            <a:ext cx="6094268" cy="400110"/>
          </a:xfrm>
          <a:prstGeom prst="rect">
            <a:avLst/>
          </a:prstGeom>
          <a:noFill/>
        </p:spPr>
        <p:txBody>
          <a:bodyPr wrap="square">
            <a:spAutoFit/>
          </a:bodyPr>
          <a:lstStyle/>
          <a:p>
            <a:r>
              <a:rPr lang="ru-RU" sz="2000" b="0" i="0" dirty="0">
                <a:effectLst/>
                <a:latin typeface="Times New Roman" panose="02020603050405020304" pitchFamily="18" charset="0"/>
                <a:cs typeface="Times New Roman" panose="02020603050405020304" pitchFamily="18" charset="0"/>
              </a:rPr>
              <a:t>Пользователь: Анна, возраст: 20</a:t>
            </a:r>
            <a:endParaRPr lang="ru-RU" sz="20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25722FEE-436A-87DA-F2A3-CE0A26A89326}"/>
              </a:ext>
            </a:extLst>
          </p:cNvPr>
          <p:cNvSpPr txBox="1"/>
          <p:nvPr/>
        </p:nvSpPr>
        <p:spPr>
          <a:xfrm>
            <a:off x="2148906" y="3376810"/>
            <a:ext cx="7732847"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Конструкция ${...} позволяет вставлять выражения внутрь строки.</a:t>
            </a:r>
          </a:p>
        </p:txBody>
      </p:sp>
      <p:sp>
        <p:nvSpPr>
          <p:cNvPr id="20" name="TextBox 19">
            <a:extLst>
              <a:ext uri="{FF2B5EF4-FFF2-40B4-BE49-F238E27FC236}">
                <a16:creationId xmlns:a16="http://schemas.microsoft.com/office/drawing/2014/main" id="{384614FE-EA86-3227-53A1-0825EC61F8E5}"/>
              </a:ext>
            </a:extLst>
          </p:cNvPr>
          <p:cNvSpPr txBox="1"/>
          <p:nvPr/>
        </p:nvSpPr>
        <p:spPr>
          <a:xfrm>
            <a:off x="479282" y="3822992"/>
            <a:ext cx="609426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Выражения в шаблонных строках</a:t>
            </a:r>
          </a:p>
        </p:txBody>
      </p:sp>
      <p:sp>
        <p:nvSpPr>
          <p:cNvPr id="22" name="TextBox 21">
            <a:extLst>
              <a:ext uri="{FF2B5EF4-FFF2-40B4-BE49-F238E27FC236}">
                <a16:creationId xmlns:a16="http://schemas.microsoft.com/office/drawing/2014/main" id="{587C4E82-FFD6-CD3B-03F0-A7C359C96EF4}"/>
              </a:ext>
            </a:extLst>
          </p:cNvPr>
          <p:cNvSpPr txBox="1"/>
          <p:nvPr/>
        </p:nvSpPr>
        <p:spPr>
          <a:xfrm>
            <a:off x="479281" y="4177816"/>
            <a:ext cx="8103609" cy="923330"/>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price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1500</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quantity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Общая стоимость: </a:t>
            </a:r>
            <a:r>
              <a:rPr lang="ru-RU" b="0" dirty="0">
                <a:solidFill>
                  <a:srgbClr val="0000FF"/>
                </a:solidFill>
                <a:effectLst/>
                <a:latin typeface="Consolas" panose="020B0609020204030204" pitchFamily="49" charset="0"/>
              </a:rPr>
              <a:t>${</a:t>
            </a:r>
            <a:r>
              <a:rPr lang="en-US" b="0" dirty="0">
                <a:solidFill>
                  <a:srgbClr val="0070C1"/>
                </a:solidFill>
                <a:effectLst/>
                <a:latin typeface="Consolas" panose="020B0609020204030204" pitchFamily="49" charset="0"/>
              </a:rPr>
              <a:t>price</a:t>
            </a:r>
            <a:r>
              <a:rPr lang="en-US" b="0" dirty="0">
                <a:solidFill>
                  <a:srgbClr val="000000"/>
                </a:solidFill>
                <a:effectLst/>
                <a:latin typeface="Consolas" panose="020B0609020204030204" pitchFamily="49" charset="0"/>
              </a:rPr>
              <a:t> * </a:t>
            </a:r>
            <a:r>
              <a:rPr lang="en-US" b="0" dirty="0">
                <a:solidFill>
                  <a:srgbClr val="0070C1"/>
                </a:solidFill>
                <a:effectLst/>
                <a:latin typeface="Consolas" panose="020B0609020204030204" pitchFamily="49" charset="0"/>
              </a:rPr>
              <a:t>quantity</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a:t>
            </a:r>
            <a:r>
              <a:rPr lang="ru-RU" b="0" dirty="0">
                <a:solidFill>
                  <a:srgbClr val="A31515"/>
                </a:solidFill>
                <a:effectLst/>
                <a:latin typeface="Consolas" panose="020B0609020204030204" pitchFamily="49" charset="0"/>
              </a:rPr>
              <a:t>руб.`</a:t>
            </a:r>
            <a:r>
              <a:rPr lang="ru-RU" b="0" dirty="0">
                <a:solidFill>
                  <a:srgbClr val="000000"/>
                </a:solidFill>
                <a:effectLst/>
                <a:latin typeface="Consolas" panose="020B0609020204030204" pitchFamily="49" charset="0"/>
              </a:rPr>
              <a:t>);</a:t>
            </a:r>
          </a:p>
        </p:txBody>
      </p:sp>
      <p:sp>
        <p:nvSpPr>
          <p:cNvPr id="23" name="Rectangle 2">
            <a:extLst>
              <a:ext uri="{FF2B5EF4-FFF2-40B4-BE49-F238E27FC236}">
                <a16:creationId xmlns:a16="http://schemas.microsoft.com/office/drawing/2014/main" id="{DA2A5B56-3560-FFF4-5AB2-09E00486F2F6}"/>
              </a:ext>
            </a:extLst>
          </p:cNvPr>
          <p:cNvSpPr>
            <a:spLocks noChangeArrowheads="1"/>
          </p:cNvSpPr>
          <p:nvPr/>
        </p:nvSpPr>
        <p:spPr bwMode="auto">
          <a:xfrm>
            <a:off x="477903" y="5148099"/>
            <a:ext cx="33420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Общая стоимость: 4500 руб. </a:t>
            </a:r>
          </a:p>
        </p:txBody>
      </p:sp>
      <p:sp>
        <p:nvSpPr>
          <p:cNvPr id="25" name="TextBox 24">
            <a:extLst>
              <a:ext uri="{FF2B5EF4-FFF2-40B4-BE49-F238E27FC236}">
                <a16:creationId xmlns:a16="http://schemas.microsoft.com/office/drawing/2014/main" id="{DD4B6D55-E625-829E-37BE-A76AE6E66BB3}"/>
              </a:ext>
            </a:extLst>
          </p:cNvPr>
          <p:cNvSpPr txBox="1"/>
          <p:nvPr/>
        </p:nvSpPr>
        <p:spPr>
          <a:xfrm>
            <a:off x="1727488" y="5917446"/>
            <a:ext cx="9110230"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Внутри ${...} можно размещать не только переменные, но и выражения.</a:t>
            </a:r>
          </a:p>
        </p:txBody>
      </p:sp>
    </p:spTree>
    <p:extLst>
      <p:ext uri="{BB962C8B-B14F-4D97-AF65-F5344CB8AC3E}">
        <p14:creationId xmlns:p14="http://schemas.microsoft.com/office/powerpoint/2010/main" val="28600163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pic>
        <p:nvPicPr>
          <p:cNvPr id="4" name="Рисунок 3">
            <a:extLst>
              <a:ext uri="{FF2B5EF4-FFF2-40B4-BE49-F238E27FC236}">
                <a16:creationId xmlns:a16="http://schemas.microsoft.com/office/drawing/2014/main" id="{B4A78A49-2427-75F1-10B4-0BB6462F780C}"/>
              </a:ext>
            </a:extLst>
          </p:cNvPr>
          <p:cNvPicPr>
            <a:picLocks noChangeAspect="1"/>
          </p:cNvPicPr>
          <p:nvPr/>
        </p:nvPicPr>
        <p:blipFill>
          <a:blip r:embed="rId4"/>
          <a:stretch>
            <a:fillRect/>
          </a:stretch>
        </p:blipFill>
        <p:spPr>
          <a:xfrm>
            <a:off x="931820" y="531983"/>
            <a:ext cx="4753638" cy="3600953"/>
          </a:xfrm>
          <a:prstGeom prst="rect">
            <a:avLst/>
          </a:prstGeom>
        </p:spPr>
      </p:pic>
      <p:sp>
        <p:nvSpPr>
          <p:cNvPr id="6" name="TextBox 5">
            <a:extLst>
              <a:ext uri="{FF2B5EF4-FFF2-40B4-BE49-F238E27FC236}">
                <a16:creationId xmlns:a16="http://schemas.microsoft.com/office/drawing/2014/main" id="{245CF1B9-07FD-CDB2-0B3A-9C5C55868F9A}"/>
              </a:ext>
            </a:extLst>
          </p:cNvPr>
          <p:cNvSpPr txBox="1"/>
          <p:nvPr/>
        </p:nvSpPr>
        <p:spPr>
          <a:xfrm>
            <a:off x="4511785" y="100906"/>
            <a:ext cx="6094268" cy="461665"/>
          </a:xfrm>
          <a:prstGeom prst="rect">
            <a:avLst/>
          </a:prstGeom>
          <a:noFill/>
        </p:spPr>
        <p:txBody>
          <a:bodyPr wrap="square">
            <a:spAutoFit/>
          </a:bodyPr>
          <a:lstStyle/>
          <a:p>
            <a:r>
              <a:rPr lang="ru-RU" sz="2400" b="1" dirty="0">
                <a:latin typeface="Times New Roman" panose="02020603050405020304" pitchFamily="18" charset="0"/>
                <a:cs typeface="Times New Roman" panose="02020603050405020304" pitchFamily="18" charset="0"/>
              </a:rPr>
              <a:t>Многострочные шаблонные строки</a:t>
            </a:r>
          </a:p>
        </p:txBody>
      </p:sp>
      <p:sp>
        <p:nvSpPr>
          <p:cNvPr id="11" name="TextBox 10">
            <a:extLst>
              <a:ext uri="{FF2B5EF4-FFF2-40B4-BE49-F238E27FC236}">
                <a16:creationId xmlns:a16="http://schemas.microsoft.com/office/drawing/2014/main" id="{D7E5DB72-213E-560C-9F1D-C627A9D07CEB}"/>
              </a:ext>
            </a:extLst>
          </p:cNvPr>
          <p:cNvSpPr txBox="1"/>
          <p:nvPr/>
        </p:nvSpPr>
        <p:spPr>
          <a:xfrm>
            <a:off x="6972541" y="741479"/>
            <a:ext cx="4753638"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Обратные кавычки позволяют сохранять переносы строк.</a:t>
            </a:r>
          </a:p>
        </p:txBody>
      </p:sp>
      <p:sp>
        <p:nvSpPr>
          <p:cNvPr id="16" name="TextBox 15">
            <a:extLst>
              <a:ext uri="{FF2B5EF4-FFF2-40B4-BE49-F238E27FC236}">
                <a16:creationId xmlns:a16="http://schemas.microsoft.com/office/drawing/2014/main" id="{D8E9E98D-3F92-47C0-0E11-89C64F9F3F45}"/>
              </a:ext>
            </a:extLst>
          </p:cNvPr>
          <p:cNvSpPr txBox="1"/>
          <p:nvPr/>
        </p:nvSpPr>
        <p:spPr>
          <a:xfrm>
            <a:off x="4738255" y="4346220"/>
            <a:ext cx="3688773"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Перевод в нижний регистр</a:t>
            </a:r>
          </a:p>
        </p:txBody>
      </p:sp>
      <p:sp>
        <p:nvSpPr>
          <p:cNvPr id="18" name="TextBox 17">
            <a:extLst>
              <a:ext uri="{FF2B5EF4-FFF2-40B4-BE49-F238E27FC236}">
                <a16:creationId xmlns:a16="http://schemas.microsoft.com/office/drawing/2014/main" id="{39075AB8-6AB6-26B7-36FA-16C6F1680890}"/>
              </a:ext>
            </a:extLst>
          </p:cNvPr>
          <p:cNvSpPr txBox="1"/>
          <p:nvPr/>
        </p:nvSpPr>
        <p:spPr>
          <a:xfrm>
            <a:off x="4738255" y="4756522"/>
            <a:ext cx="4447309"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text</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text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toLowerCase</a:t>
            </a:r>
            <a:r>
              <a:rPr lang="en-US" b="0" dirty="0">
                <a:solidFill>
                  <a:srgbClr val="000000"/>
                </a:solidFill>
                <a:effectLst/>
                <a:latin typeface="Consolas" panose="020B0609020204030204" pitchFamily="49" charset="0"/>
              </a:rPr>
              <a:t>());</a:t>
            </a:r>
          </a:p>
        </p:txBody>
      </p:sp>
      <p:sp>
        <p:nvSpPr>
          <p:cNvPr id="19" name="TextBox 18">
            <a:extLst>
              <a:ext uri="{FF2B5EF4-FFF2-40B4-BE49-F238E27FC236}">
                <a16:creationId xmlns:a16="http://schemas.microsoft.com/office/drawing/2014/main" id="{F0626AF4-565F-8D00-34C5-DAE83B0EB545}"/>
              </a:ext>
            </a:extLst>
          </p:cNvPr>
          <p:cNvSpPr txBox="1"/>
          <p:nvPr/>
        </p:nvSpPr>
        <p:spPr>
          <a:xfrm>
            <a:off x="4968354" y="5584831"/>
            <a:ext cx="6094268"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Проверка наличия фрагмента</a:t>
            </a:r>
          </a:p>
        </p:txBody>
      </p:sp>
      <p:sp>
        <p:nvSpPr>
          <p:cNvPr id="20" name="TextBox 19">
            <a:extLst>
              <a:ext uri="{FF2B5EF4-FFF2-40B4-BE49-F238E27FC236}">
                <a16:creationId xmlns:a16="http://schemas.microsoft.com/office/drawing/2014/main" id="{3F3594C9-49ED-7870-0E2B-C1776C5C3D65}"/>
              </a:ext>
            </a:extLst>
          </p:cNvPr>
          <p:cNvSpPr txBox="1"/>
          <p:nvPr/>
        </p:nvSpPr>
        <p:spPr>
          <a:xfrm>
            <a:off x="4968354" y="6026439"/>
            <a:ext cx="6094268"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message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Основы </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message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includes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a:t>
            </a:r>
          </a:p>
        </p:txBody>
      </p:sp>
      <p:sp>
        <p:nvSpPr>
          <p:cNvPr id="21" name="TextBox 20">
            <a:extLst>
              <a:ext uri="{FF2B5EF4-FFF2-40B4-BE49-F238E27FC236}">
                <a16:creationId xmlns:a16="http://schemas.microsoft.com/office/drawing/2014/main" id="{4F4C8A92-75B5-006B-9B4F-346FAF7E802F}"/>
              </a:ext>
            </a:extLst>
          </p:cNvPr>
          <p:cNvSpPr txBox="1"/>
          <p:nvPr/>
        </p:nvSpPr>
        <p:spPr>
          <a:xfrm>
            <a:off x="439017" y="4322262"/>
            <a:ext cx="4072768"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Перевод в верхний регистр</a:t>
            </a:r>
          </a:p>
        </p:txBody>
      </p:sp>
      <p:sp>
        <p:nvSpPr>
          <p:cNvPr id="22" name="TextBox 21">
            <a:extLst>
              <a:ext uri="{FF2B5EF4-FFF2-40B4-BE49-F238E27FC236}">
                <a16:creationId xmlns:a16="http://schemas.microsoft.com/office/drawing/2014/main" id="{CC714EDB-19E2-6A8D-93FD-BBAAE87E153F}"/>
              </a:ext>
            </a:extLst>
          </p:cNvPr>
          <p:cNvSpPr txBox="1"/>
          <p:nvPr/>
        </p:nvSpPr>
        <p:spPr>
          <a:xfrm>
            <a:off x="439017" y="4818457"/>
            <a:ext cx="4299238"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text</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javascript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text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toUpperCase</a:t>
            </a:r>
            <a:r>
              <a:rPr lang="en-US" b="0" dirty="0">
                <a:solidFill>
                  <a:srgbClr val="000000"/>
                </a:solidFill>
                <a:effectLst/>
                <a:latin typeface="Consolas" panose="020B0609020204030204" pitchFamily="49" charset="0"/>
              </a:rPr>
              <a:t>());</a:t>
            </a:r>
          </a:p>
        </p:txBody>
      </p:sp>
      <p:sp>
        <p:nvSpPr>
          <p:cNvPr id="23" name="TextBox 22">
            <a:extLst>
              <a:ext uri="{FF2B5EF4-FFF2-40B4-BE49-F238E27FC236}">
                <a16:creationId xmlns:a16="http://schemas.microsoft.com/office/drawing/2014/main" id="{5C5EE0A1-7B41-1D73-BC82-78ECD839D727}"/>
              </a:ext>
            </a:extLst>
          </p:cNvPr>
          <p:cNvSpPr txBox="1"/>
          <p:nvPr/>
        </p:nvSpPr>
        <p:spPr>
          <a:xfrm>
            <a:off x="439017" y="5560873"/>
            <a:ext cx="3891352"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Удаление пробелов по краям</a:t>
            </a:r>
          </a:p>
        </p:txBody>
      </p:sp>
      <p:sp>
        <p:nvSpPr>
          <p:cNvPr id="24" name="TextBox 23">
            <a:extLst>
              <a:ext uri="{FF2B5EF4-FFF2-40B4-BE49-F238E27FC236}">
                <a16:creationId xmlns:a16="http://schemas.microsoft.com/office/drawing/2014/main" id="{4F51AEC9-E170-6C1C-C643-3A9F2DE78D21}"/>
              </a:ext>
            </a:extLst>
          </p:cNvPr>
          <p:cNvSpPr txBox="1"/>
          <p:nvPr/>
        </p:nvSpPr>
        <p:spPr>
          <a:xfrm>
            <a:off x="439017" y="5984941"/>
            <a:ext cx="3977120"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login</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 student "</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login</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trim</a:t>
            </a:r>
            <a:r>
              <a:rPr lang="en-US" b="0" dirty="0">
                <a:solidFill>
                  <a:srgbClr val="000000"/>
                </a:solidFill>
                <a:effectLst/>
                <a:latin typeface="Consolas" panose="020B0609020204030204" pitchFamily="49" charset="0"/>
              </a:rPr>
              <a:t>());</a:t>
            </a:r>
          </a:p>
        </p:txBody>
      </p:sp>
      <p:sp>
        <p:nvSpPr>
          <p:cNvPr id="25" name="Заголовок 16">
            <a:extLst>
              <a:ext uri="{FF2B5EF4-FFF2-40B4-BE49-F238E27FC236}">
                <a16:creationId xmlns:a16="http://schemas.microsoft.com/office/drawing/2014/main" id="{6D2B01BE-726A-ADB1-B12A-39D32F9B1117}"/>
              </a:ext>
            </a:extLst>
          </p:cNvPr>
          <p:cNvSpPr>
            <a:spLocks noGrp="1"/>
          </p:cNvSpPr>
          <p:nvPr>
            <p:ph type="title"/>
          </p:nvPr>
        </p:nvSpPr>
        <p:spPr>
          <a:xfrm>
            <a:off x="439017" y="3614835"/>
            <a:ext cx="10515600" cy="645492"/>
          </a:xfrm>
        </p:spPr>
        <p:txBody>
          <a:bodyPr>
            <a:normAutofit/>
          </a:bodyPr>
          <a:lstStyle/>
          <a:p>
            <a:pPr algn="ctr"/>
            <a:r>
              <a:rPr lang="ru-RU" sz="2400" b="1" dirty="0">
                <a:latin typeface="Times New Roman" panose="02020603050405020304" pitchFamily="18" charset="0"/>
                <a:cs typeface="Times New Roman" panose="02020603050405020304" pitchFamily="18" charset="0"/>
              </a:rPr>
              <a:t>Полезные методы строк</a:t>
            </a:r>
          </a:p>
        </p:txBody>
      </p:sp>
    </p:spTree>
    <p:extLst>
      <p:ext uri="{BB962C8B-B14F-4D97-AF65-F5344CB8AC3E}">
        <p14:creationId xmlns:p14="http://schemas.microsoft.com/office/powerpoint/2010/main" val="42192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FF7B56C7-521C-035F-5B36-28867B7B9E56}"/>
              </a:ext>
            </a:extLst>
          </p:cNvPr>
          <p:cNvSpPr txBox="1"/>
          <p:nvPr/>
        </p:nvSpPr>
        <p:spPr>
          <a:xfrm>
            <a:off x="1677185" y="371152"/>
            <a:ext cx="8837629" cy="461665"/>
          </a:xfrm>
          <a:prstGeom prst="rect">
            <a:avLst/>
          </a:prstGeom>
          <a:noFill/>
        </p:spPr>
        <p:txBody>
          <a:bodyPr wrap="square">
            <a:spAutoFit/>
          </a:bodyPr>
          <a:lstStyle/>
          <a:p>
            <a:r>
              <a:rPr lang="ru-RU" sz="2400" b="1" dirty="0">
                <a:latin typeface="Times New Roman" panose="02020603050405020304" pitchFamily="18" charset="0"/>
                <a:cs typeface="Times New Roman" panose="02020603050405020304" pitchFamily="18" charset="0"/>
              </a:rPr>
              <a:t>Тип </a:t>
            </a:r>
            <a:r>
              <a:rPr lang="ru-RU" sz="2400" b="1" dirty="0" err="1">
                <a:latin typeface="Times New Roman" panose="02020603050405020304" pitchFamily="18" charset="0"/>
                <a:cs typeface="Times New Roman" panose="02020603050405020304" pitchFamily="18" charset="0"/>
              </a:rPr>
              <a:t>boolean</a:t>
            </a:r>
            <a:r>
              <a:rPr lang="ru-RU" sz="2400" b="1" dirty="0">
                <a:latin typeface="Times New Roman" panose="02020603050405020304" pitchFamily="18" charset="0"/>
                <a:cs typeface="Times New Roman" panose="02020603050405020304" pitchFamily="18" charset="0"/>
              </a:rPr>
              <a:t> используется для хранения логических значений.</a:t>
            </a:r>
          </a:p>
        </p:txBody>
      </p:sp>
      <p:sp>
        <p:nvSpPr>
          <p:cNvPr id="9" name="TextBox 8">
            <a:extLst>
              <a:ext uri="{FF2B5EF4-FFF2-40B4-BE49-F238E27FC236}">
                <a16:creationId xmlns:a16="http://schemas.microsoft.com/office/drawing/2014/main" id="{5F0FA61F-C47B-5033-71AD-33EDB9BA2C50}"/>
              </a:ext>
            </a:extLst>
          </p:cNvPr>
          <p:cNvSpPr txBox="1"/>
          <p:nvPr/>
        </p:nvSpPr>
        <p:spPr>
          <a:xfrm>
            <a:off x="283153" y="958334"/>
            <a:ext cx="6094268"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Существует только два логических литерала:</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a:t>
            </a:r>
            <a:r>
              <a:rPr lang="ru-RU" sz="2000" dirty="0" err="1">
                <a:latin typeface="Times New Roman" panose="02020603050405020304" pitchFamily="18" charset="0"/>
                <a:cs typeface="Times New Roman" panose="02020603050405020304" pitchFamily="18" charset="0"/>
              </a:rPr>
              <a:t>rue</a:t>
            </a:r>
            <a:endParaRPr lang="en-US" sz="2000" dirty="0">
              <a:latin typeface="Times New Roman" panose="02020603050405020304" pitchFamily="18" charset="0"/>
              <a:cs typeface="Times New Roman" panose="02020603050405020304" pitchFamily="18" charset="0"/>
            </a:endParaRPr>
          </a:p>
          <a:p>
            <a:r>
              <a:rPr lang="ru-RU" sz="2000" dirty="0" err="1">
                <a:latin typeface="Times New Roman" panose="02020603050405020304" pitchFamily="18" charset="0"/>
                <a:cs typeface="Times New Roman" panose="02020603050405020304" pitchFamily="18" charset="0"/>
              </a:rPr>
              <a:t>false</a:t>
            </a:r>
            <a:endParaRPr lang="ru-RU" sz="2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6DBE656-050B-EC0E-D060-4DDADA9C509B}"/>
              </a:ext>
            </a:extLst>
          </p:cNvPr>
          <p:cNvSpPr txBox="1"/>
          <p:nvPr/>
        </p:nvSpPr>
        <p:spPr>
          <a:xfrm>
            <a:off x="283153" y="2190852"/>
            <a:ext cx="6418983" cy="369332"/>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Оператор ! меняет логическое значение на противоположное.</a:t>
            </a:r>
          </a:p>
        </p:txBody>
      </p:sp>
      <p:sp>
        <p:nvSpPr>
          <p:cNvPr id="19" name="TextBox 18">
            <a:extLst>
              <a:ext uri="{FF2B5EF4-FFF2-40B4-BE49-F238E27FC236}">
                <a16:creationId xmlns:a16="http://schemas.microsoft.com/office/drawing/2014/main" id="{F2BB25A6-12C9-6735-2714-262402DB85BC}"/>
              </a:ext>
            </a:extLst>
          </p:cNvPr>
          <p:cNvSpPr txBox="1"/>
          <p:nvPr/>
        </p:nvSpPr>
        <p:spPr>
          <a:xfrm>
            <a:off x="361708" y="2565749"/>
            <a:ext cx="6094268"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isLoading</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isLoading</a:t>
            </a:r>
            <a:r>
              <a:rPr lang="en-US" b="0" dirty="0">
                <a:solidFill>
                  <a:srgbClr val="000000"/>
                </a:solidFill>
                <a:effectLst/>
                <a:latin typeface="Consolas" panose="020B0609020204030204" pitchFamily="49" charset="0"/>
              </a:rPr>
              <a:t>);</a:t>
            </a:r>
          </a:p>
        </p:txBody>
      </p:sp>
      <p:sp>
        <p:nvSpPr>
          <p:cNvPr id="21" name="TextBox 20">
            <a:extLst>
              <a:ext uri="{FF2B5EF4-FFF2-40B4-BE49-F238E27FC236}">
                <a16:creationId xmlns:a16="http://schemas.microsoft.com/office/drawing/2014/main" id="{0BE1EF44-DBC8-F209-C651-ADAC26A8F7C2}"/>
              </a:ext>
            </a:extLst>
          </p:cNvPr>
          <p:cNvSpPr txBox="1"/>
          <p:nvPr/>
        </p:nvSpPr>
        <p:spPr>
          <a:xfrm>
            <a:off x="283153" y="3212080"/>
            <a:ext cx="6094268"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Логическое </a:t>
            </a:r>
            <a:r>
              <a:rPr lang="ru-RU" sz="2000" b="1" dirty="0">
                <a:latin typeface="Times New Roman" panose="02020603050405020304" pitchFamily="18" charset="0"/>
                <a:cs typeface="Times New Roman" panose="02020603050405020304" pitchFamily="18" charset="0"/>
              </a:rPr>
              <a:t>И</a:t>
            </a:r>
            <a:endParaRPr lang="en-US" sz="2000" b="1"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Оператор</a:t>
            </a:r>
            <a:r>
              <a:rPr lang="ru-RU" sz="2000" b="1" dirty="0">
                <a:latin typeface="Times New Roman" panose="02020603050405020304" pitchFamily="18" charset="0"/>
                <a:cs typeface="Times New Roman" panose="02020603050405020304" pitchFamily="18" charset="0"/>
              </a:rPr>
              <a:t> &amp;&amp; </a:t>
            </a:r>
            <a:r>
              <a:rPr lang="ru-RU" sz="2000" dirty="0">
                <a:latin typeface="Times New Roman" panose="02020603050405020304" pitchFamily="18" charset="0"/>
                <a:cs typeface="Times New Roman" panose="02020603050405020304" pitchFamily="18" charset="0"/>
              </a:rPr>
              <a:t>возвращает истинное значение, если оба условия истинны.</a:t>
            </a:r>
          </a:p>
        </p:txBody>
      </p:sp>
      <p:sp>
        <p:nvSpPr>
          <p:cNvPr id="23" name="TextBox 22">
            <a:extLst>
              <a:ext uri="{FF2B5EF4-FFF2-40B4-BE49-F238E27FC236}">
                <a16:creationId xmlns:a16="http://schemas.microsoft.com/office/drawing/2014/main" id="{026143A8-EEF5-BF2F-57ED-5114376AC13B}"/>
              </a:ext>
            </a:extLst>
          </p:cNvPr>
          <p:cNvSpPr txBox="1"/>
          <p:nvPr/>
        </p:nvSpPr>
        <p:spPr>
          <a:xfrm>
            <a:off x="361708" y="4227743"/>
            <a:ext cx="6094268" cy="120032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age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hasDocument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canRegister</a:t>
            </a:r>
            <a:r>
              <a:rPr lang="en-US" b="0" dirty="0">
                <a:solidFill>
                  <a:srgbClr val="000000"/>
                </a:solidFill>
                <a:effectLst/>
                <a:latin typeface="Consolas" panose="020B0609020204030204" pitchFamily="49" charset="0"/>
              </a:rPr>
              <a:t> = </a:t>
            </a:r>
            <a:r>
              <a:rPr lang="en-US" b="0" dirty="0">
                <a:solidFill>
                  <a:srgbClr val="0070C1"/>
                </a:solidFill>
                <a:effectLst/>
                <a:latin typeface="Consolas" panose="020B0609020204030204" pitchFamily="49" charset="0"/>
              </a:rPr>
              <a:t>age</a:t>
            </a:r>
            <a:r>
              <a:rPr lang="en-US" b="0" dirty="0">
                <a:solidFill>
                  <a:srgbClr val="000000"/>
                </a:solidFill>
                <a:effectLst/>
                <a:latin typeface="Consolas" panose="020B0609020204030204" pitchFamily="49" charset="0"/>
              </a:rPr>
              <a:t> &gt;= </a:t>
            </a:r>
            <a:r>
              <a:rPr lang="en-US" b="0" dirty="0">
                <a:solidFill>
                  <a:srgbClr val="098658"/>
                </a:solidFill>
                <a:effectLst/>
                <a:latin typeface="Consolas" panose="020B0609020204030204" pitchFamily="49" charset="0"/>
              </a:rPr>
              <a:t>18</a:t>
            </a:r>
            <a:r>
              <a:rPr lang="en-US" b="0" dirty="0">
                <a:solidFill>
                  <a:srgbClr val="000000"/>
                </a:solidFill>
                <a:effectLst/>
                <a:latin typeface="Consolas" panose="020B0609020204030204" pitchFamily="49" charset="0"/>
              </a:rPr>
              <a:t> &amp;&amp; </a:t>
            </a:r>
            <a:r>
              <a:rPr lang="en-US" b="0" dirty="0" err="1">
                <a:solidFill>
                  <a:srgbClr val="0070C1"/>
                </a:solidFill>
                <a:effectLst/>
                <a:latin typeface="Consolas" panose="020B0609020204030204" pitchFamily="49" charset="0"/>
              </a:rPr>
              <a:t>hasDocument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canRegister</a:t>
            </a:r>
            <a:r>
              <a:rPr lang="en-US" b="0" dirty="0">
                <a:solidFill>
                  <a:srgbClr val="000000"/>
                </a:solidFill>
                <a:effectLst/>
                <a:latin typeface="Consolas" panose="020B0609020204030204" pitchFamily="49" charset="0"/>
              </a:rPr>
              <a:t>);</a:t>
            </a:r>
          </a:p>
        </p:txBody>
      </p:sp>
      <p:sp>
        <p:nvSpPr>
          <p:cNvPr id="25" name="TextBox 24">
            <a:extLst>
              <a:ext uri="{FF2B5EF4-FFF2-40B4-BE49-F238E27FC236}">
                <a16:creationId xmlns:a16="http://schemas.microsoft.com/office/drawing/2014/main" id="{BE4E8543-AB9C-39D2-BA24-D759780BB2F4}"/>
              </a:ext>
            </a:extLst>
          </p:cNvPr>
          <p:cNvSpPr txBox="1"/>
          <p:nvPr/>
        </p:nvSpPr>
        <p:spPr>
          <a:xfrm>
            <a:off x="6377421" y="3221496"/>
            <a:ext cx="5531426"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Логическое </a:t>
            </a:r>
            <a:r>
              <a:rPr lang="ru-RU" sz="2000" b="1" dirty="0">
                <a:latin typeface="Times New Roman" panose="02020603050405020304" pitchFamily="18" charset="0"/>
                <a:cs typeface="Times New Roman" panose="02020603050405020304" pitchFamily="18" charset="0"/>
              </a:rPr>
              <a:t>ИЛИ</a:t>
            </a:r>
            <a:endParaRPr lang="en-US" sz="2000" b="1"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Оператор </a:t>
            </a:r>
            <a:r>
              <a:rPr lang="ru-RU" sz="2000" b="1"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возвращает истинное значение, если хотя бы одно условие истинно.</a:t>
            </a:r>
          </a:p>
        </p:txBody>
      </p:sp>
      <p:sp>
        <p:nvSpPr>
          <p:cNvPr id="27" name="TextBox 26">
            <a:extLst>
              <a:ext uri="{FF2B5EF4-FFF2-40B4-BE49-F238E27FC236}">
                <a16:creationId xmlns:a16="http://schemas.microsoft.com/office/drawing/2014/main" id="{3E90BC2C-4FFB-5651-3FE7-5D34E4D4B612}"/>
              </a:ext>
            </a:extLst>
          </p:cNvPr>
          <p:cNvSpPr txBox="1"/>
          <p:nvPr/>
        </p:nvSpPr>
        <p:spPr>
          <a:xfrm>
            <a:off x="6455976" y="4298306"/>
            <a:ext cx="6094268" cy="120032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isAdmin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false</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isModerator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canEdit</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isAdmin</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isModerator</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canEdit</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445367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B69BAAC3-4B10-334B-9A27-897986CB6321}"/>
              </a:ext>
            </a:extLst>
          </p:cNvPr>
          <p:cNvSpPr txBox="1"/>
          <p:nvPr/>
        </p:nvSpPr>
        <p:spPr>
          <a:xfrm>
            <a:off x="2673061" y="461020"/>
            <a:ext cx="6094268" cy="461665"/>
          </a:xfrm>
          <a:prstGeom prst="rect">
            <a:avLst/>
          </a:prstGeom>
          <a:noFill/>
        </p:spPr>
        <p:txBody>
          <a:bodyPr wrap="square">
            <a:spAutoFit/>
          </a:bodyPr>
          <a:lstStyle/>
          <a:p>
            <a:r>
              <a:rPr lang="ru-RU" sz="2400" b="1" dirty="0">
                <a:latin typeface="Times New Roman" panose="02020603050405020304" pitchFamily="18" charset="0"/>
                <a:cs typeface="Times New Roman" panose="02020603050405020304" pitchFamily="18" charset="0"/>
              </a:rPr>
              <a:t>Тип </a:t>
            </a:r>
            <a:r>
              <a:rPr lang="en-US" sz="2400" b="1" dirty="0">
                <a:latin typeface="Times New Roman" panose="02020603050405020304" pitchFamily="18" charset="0"/>
                <a:cs typeface="Times New Roman" panose="02020603050405020304" pitchFamily="18" charset="0"/>
              </a:rPr>
              <a:t>undefined</a:t>
            </a:r>
            <a:endParaRPr lang="ru-RU"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0CB97A7-E31D-41D3-70AD-0887E6476F24}"/>
              </a:ext>
            </a:extLst>
          </p:cNvPr>
          <p:cNvSpPr txBox="1"/>
          <p:nvPr/>
        </p:nvSpPr>
        <p:spPr>
          <a:xfrm>
            <a:off x="361708" y="1089999"/>
            <a:ext cx="9675910" cy="400110"/>
          </a:xfrm>
          <a:prstGeom prst="rect">
            <a:avLst/>
          </a:prstGeom>
          <a:noFill/>
        </p:spPr>
        <p:txBody>
          <a:bodyPr wrap="square">
            <a:spAutoFit/>
          </a:bodyPr>
          <a:lstStyle/>
          <a:p>
            <a:r>
              <a:rPr lang="ru-RU" sz="2000" b="1" dirty="0" err="1">
                <a:latin typeface="Times New Roman" panose="02020603050405020304" pitchFamily="18" charset="0"/>
                <a:cs typeface="Times New Roman" panose="02020603050405020304" pitchFamily="18" charset="0"/>
              </a:rPr>
              <a:t>undefined</a:t>
            </a:r>
            <a:r>
              <a:rPr lang="ru-RU" sz="2000" dirty="0">
                <a:latin typeface="Times New Roman" panose="02020603050405020304" pitchFamily="18" charset="0"/>
                <a:cs typeface="Times New Roman" panose="02020603050405020304" pitchFamily="18" charset="0"/>
              </a:rPr>
              <a:t> означает, что значение не определено или ещё не было присвоено.</a:t>
            </a:r>
          </a:p>
        </p:txBody>
      </p:sp>
      <p:sp>
        <p:nvSpPr>
          <p:cNvPr id="9" name="TextBox 8">
            <a:extLst>
              <a:ext uri="{FF2B5EF4-FFF2-40B4-BE49-F238E27FC236}">
                <a16:creationId xmlns:a16="http://schemas.microsoft.com/office/drawing/2014/main" id="{9E64C018-8C16-7E4E-B64C-C52CA1AB8E05}"/>
              </a:ext>
            </a:extLst>
          </p:cNvPr>
          <p:cNvSpPr txBox="1"/>
          <p:nvPr/>
        </p:nvSpPr>
        <p:spPr>
          <a:xfrm>
            <a:off x="361708" y="1630326"/>
            <a:ext cx="6094268" cy="646331"/>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userName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userName</a:t>
            </a:r>
            <a:r>
              <a:rPr lang="en-US" b="0" dirty="0">
                <a:solidFill>
                  <a:srgbClr val="000000"/>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B3C9534E-5ACB-A431-9B6C-06E94C1461A5}"/>
              </a:ext>
            </a:extLst>
          </p:cNvPr>
          <p:cNvSpPr txBox="1"/>
          <p:nvPr/>
        </p:nvSpPr>
        <p:spPr>
          <a:xfrm>
            <a:off x="361708" y="2276657"/>
            <a:ext cx="6683328" cy="1323439"/>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Результат:</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a:t>
            </a:r>
            <a:r>
              <a:rPr lang="ru-RU" sz="2000" dirty="0" err="1">
                <a:latin typeface="Times New Roman" panose="02020603050405020304" pitchFamily="18" charset="0"/>
                <a:cs typeface="Times New Roman" panose="02020603050405020304" pitchFamily="18" charset="0"/>
              </a:rPr>
              <a:t>ndefined</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Переменная существует, но явного значения не содержит.</a:t>
            </a:r>
          </a:p>
        </p:txBody>
      </p:sp>
      <p:sp>
        <p:nvSpPr>
          <p:cNvPr id="19" name="Rectangle 2">
            <a:extLst>
              <a:ext uri="{FF2B5EF4-FFF2-40B4-BE49-F238E27FC236}">
                <a16:creationId xmlns:a16="http://schemas.microsoft.com/office/drawing/2014/main" id="{4E11EC9D-8AF3-886D-D50E-04E15F6E9602}"/>
              </a:ext>
            </a:extLst>
          </p:cNvPr>
          <p:cNvSpPr>
            <a:spLocks noChangeArrowheads="1"/>
          </p:cNvSpPr>
          <p:nvPr/>
        </p:nvSpPr>
        <p:spPr bwMode="auto">
          <a:xfrm>
            <a:off x="1656363" y="3589348"/>
            <a:ext cx="7404656"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Значение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undefined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может появиться, если:</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переменная объявлена без инициализации;</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функция не возвращает значение;</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выполняется обращение к отсутствующему свойству объекта;</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выполняется обращение к несуществующему элементу массива;</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аргумент функции не был передан.</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9381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4F7908DC-76BC-C0EB-9F5B-9E75085F9C2D}"/>
              </a:ext>
            </a:extLst>
          </p:cNvPr>
          <p:cNvSpPr>
            <a:spLocks noChangeArrowheads="1"/>
          </p:cNvSpPr>
          <p:nvPr/>
        </p:nvSpPr>
        <p:spPr bwMode="auto">
          <a:xfrm>
            <a:off x="1631373" y="320444"/>
            <a:ext cx="556248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Значение </a:t>
            </a:r>
            <a:r>
              <a:rPr kumimoji="0" lang="ru-RU" altLang="ru-RU"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endPar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обозначает намеренное отсутствие значения.</a:t>
            </a:r>
          </a:p>
        </p:txBody>
      </p:sp>
      <p:sp>
        <p:nvSpPr>
          <p:cNvPr id="5" name="TextBox 4">
            <a:extLst>
              <a:ext uri="{FF2B5EF4-FFF2-40B4-BE49-F238E27FC236}">
                <a16:creationId xmlns:a16="http://schemas.microsoft.com/office/drawing/2014/main" id="{3A25B000-2493-9779-E0CA-4D2DB8EAF1EA}"/>
              </a:ext>
            </a:extLst>
          </p:cNvPr>
          <p:cNvSpPr txBox="1"/>
          <p:nvPr/>
        </p:nvSpPr>
        <p:spPr>
          <a:xfrm>
            <a:off x="626052" y="1280453"/>
            <a:ext cx="6094268" cy="369332"/>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selectedUser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null</a:t>
            </a:r>
            <a:r>
              <a:rPr lang="en-US"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B6145D4B-0962-D467-6178-3531267B52DC}"/>
              </a:ext>
            </a:extLst>
          </p:cNvPr>
          <p:cNvSpPr txBox="1"/>
          <p:nvPr/>
        </p:nvSpPr>
        <p:spPr>
          <a:xfrm>
            <a:off x="4927888" y="1111176"/>
            <a:ext cx="6094268"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Это означает, что переменная существует, но выбранного пользователя сейчас нет.</a:t>
            </a:r>
          </a:p>
        </p:txBody>
      </p:sp>
      <p:sp>
        <p:nvSpPr>
          <p:cNvPr id="8" name="Rectangle 2">
            <a:extLst>
              <a:ext uri="{FF2B5EF4-FFF2-40B4-BE49-F238E27FC236}">
                <a16:creationId xmlns:a16="http://schemas.microsoft.com/office/drawing/2014/main" id="{C87B1B1F-AAE0-77C7-1FA3-F129455C6E0A}"/>
              </a:ext>
            </a:extLst>
          </p:cNvPr>
          <p:cNvSpPr>
            <a:spLocks noChangeArrowheads="1"/>
          </p:cNvSpPr>
          <p:nvPr/>
        </p:nvSpPr>
        <p:spPr bwMode="auto">
          <a:xfrm>
            <a:off x="626052" y="1770287"/>
            <a:ext cx="5869684"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можно использовать, если:</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объект ещё не выбран;</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поиск не дал результата;</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данные были намеренно очищены;</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значение временно отсутствует;</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необходимо явно показать состояние «ничего нет».</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18352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52F1DB48-A9FD-7EC7-28C4-D878BE082C4E}"/>
              </a:ext>
            </a:extLst>
          </p:cNvPr>
          <p:cNvSpPr>
            <a:spLocks noChangeArrowheads="1"/>
          </p:cNvSpPr>
          <p:nvPr/>
        </p:nvSpPr>
        <p:spPr bwMode="auto">
          <a:xfrm>
            <a:off x="1662545" y="356759"/>
            <a:ext cx="710611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Оператор </a:t>
            </a:r>
            <a:r>
              <a:rPr kumimoji="0" lang="ru-RU" altLang="ru-RU"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typeof</a:t>
            </a:r>
            <a:endPar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Оператор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typeof</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возвращает строку с названием типа значения.</a:t>
            </a:r>
          </a:p>
        </p:txBody>
      </p:sp>
      <p:sp>
        <p:nvSpPr>
          <p:cNvPr id="4" name="Rectangle 2">
            <a:extLst>
              <a:ext uri="{FF2B5EF4-FFF2-40B4-BE49-F238E27FC236}">
                <a16:creationId xmlns:a16="http://schemas.microsoft.com/office/drawing/2014/main" id="{1415499C-6EFA-8DB1-0DE6-680A405FDAF5}"/>
              </a:ext>
            </a:extLst>
          </p:cNvPr>
          <p:cNvSpPr>
            <a:spLocks noChangeArrowheads="1"/>
          </p:cNvSpPr>
          <p:nvPr/>
        </p:nvSpPr>
        <p:spPr bwMode="auto">
          <a:xfrm>
            <a:off x="678650" y="1231402"/>
            <a:ext cx="323157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Общий синтаксис:</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typeof значение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или: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typeof(значение)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Обе формы допустимы.</a:t>
            </a:r>
          </a:p>
        </p:txBody>
      </p:sp>
      <p:sp>
        <p:nvSpPr>
          <p:cNvPr id="9" name="TextBox 8">
            <a:extLst>
              <a:ext uri="{FF2B5EF4-FFF2-40B4-BE49-F238E27FC236}">
                <a16:creationId xmlns:a16="http://schemas.microsoft.com/office/drawing/2014/main" id="{15A03A2F-1946-E614-FB3B-546D74DEFC91}"/>
              </a:ext>
            </a:extLst>
          </p:cNvPr>
          <p:cNvSpPr txBox="1"/>
          <p:nvPr/>
        </p:nvSpPr>
        <p:spPr>
          <a:xfrm>
            <a:off x="8928389" y="1278982"/>
            <a:ext cx="2314575" cy="1200329"/>
          </a:xfrm>
          <a:prstGeom prst="rect">
            <a:avLst/>
          </a:prstGeom>
          <a:noFill/>
        </p:spPr>
        <p:txBody>
          <a:bodyPr wrap="square">
            <a:spAutoFit/>
          </a:bodyPr>
          <a:lstStyle/>
          <a:p>
            <a:r>
              <a:rPr lang="ru-RU" dirty="0"/>
              <a:t>Результат:</a:t>
            </a:r>
            <a:endParaRPr lang="en-US" dirty="0"/>
          </a:p>
          <a:p>
            <a:r>
              <a:rPr lang="en-US" dirty="0"/>
              <a:t>number</a:t>
            </a:r>
          </a:p>
          <a:p>
            <a:r>
              <a:rPr lang="en-US" dirty="0"/>
              <a:t>string</a:t>
            </a:r>
          </a:p>
          <a:p>
            <a:r>
              <a:rPr lang="en-US" dirty="0" err="1"/>
              <a:t>boolean</a:t>
            </a:r>
            <a:endParaRPr lang="ru-RU" dirty="0"/>
          </a:p>
        </p:txBody>
      </p:sp>
      <p:sp>
        <p:nvSpPr>
          <p:cNvPr id="11" name="TextBox 10">
            <a:extLst>
              <a:ext uri="{FF2B5EF4-FFF2-40B4-BE49-F238E27FC236}">
                <a16:creationId xmlns:a16="http://schemas.microsoft.com/office/drawing/2014/main" id="{817C189F-5604-0F33-0E30-371325086530}"/>
              </a:ext>
            </a:extLst>
          </p:cNvPr>
          <p:cNvSpPr txBox="1"/>
          <p:nvPr/>
        </p:nvSpPr>
        <p:spPr>
          <a:xfrm>
            <a:off x="4321641" y="1164940"/>
            <a:ext cx="4195330"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age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userName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Анна"</a:t>
            </a:r>
            <a:r>
              <a:rPr lang="ru-RU"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isActive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00FF"/>
                </a:solidFill>
                <a:effectLst/>
                <a:latin typeface="Consolas" panose="020B0609020204030204" pitchFamily="49" charset="0"/>
              </a:rPr>
              <a:t>typeof</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age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00FF"/>
                </a:solidFill>
                <a:effectLst/>
                <a:latin typeface="Consolas" panose="020B0609020204030204" pitchFamily="49" charset="0"/>
              </a:rPr>
              <a:t>typeof</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userName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00FF"/>
                </a:solidFill>
                <a:effectLst/>
                <a:latin typeface="Consolas" panose="020B0609020204030204" pitchFamily="49" charset="0"/>
              </a:rPr>
              <a:t>typeof</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isActive</a:t>
            </a:r>
            <a:r>
              <a:rPr lang="en-US" b="0" dirty="0">
                <a:solidFill>
                  <a:srgbClr val="000000"/>
                </a:solidFill>
                <a:effectLst/>
                <a:latin typeface="Consolas" panose="020B0609020204030204" pitchFamily="49" charset="0"/>
              </a:rPr>
              <a:t>);</a:t>
            </a:r>
          </a:p>
        </p:txBody>
      </p:sp>
      <p:sp>
        <p:nvSpPr>
          <p:cNvPr id="16" name="Rectangle 4">
            <a:extLst>
              <a:ext uri="{FF2B5EF4-FFF2-40B4-BE49-F238E27FC236}">
                <a16:creationId xmlns:a16="http://schemas.microsoft.com/office/drawing/2014/main" id="{ADE01CD0-DF20-BECB-0A8F-D10503E3EBE2}"/>
              </a:ext>
            </a:extLst>
          </p:cNvPr>
          <p:cNvSpPr>
            <a:spLocks noChangeArrowheads="1"/>
          </p:cNvSpPr>
          <p:nvPr/>
        </p:nvSpPr>
        <p:spPr bwMode="auto">
          <a:xfrm>
            <a:off x="436418" y="2847227"/>
            <a:ext cx="485255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Особенность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typeof</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typeof</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bject</a:t>
            </a:r>
            <a:endPar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Это историческая особенность JavaScript.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является примитивным значением, но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typeof</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возвращает строку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object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Необходимо запомнить это исключение.</a:t>
            </a:r>
          </a:p>
        </p:txBody>
      </p:sp>
      <p:sp>
        <p:nvSpPr>
          <p:cNvPr id="18" name="Rectangle 5">
            <a:extLst>
              <a:ext uri="{FF2B5EF4-FFF2-40B4-BE49-F238E27FC236}">
                <a16:creationId xmlns:a16="http://schemas.microsoft.com/office/drawing/2014/main" id="{FB1E1D92-532C-7A81-983C-850485C900E2}"/>
              </a:ext>
            </a:extLst>
          </p:cNvPr>
          <p:cNvSpPr>
            <a:spLocks noChangeArrowheads="1"/>
          </p:cNvSpPr>
          <p:nvPr/>
        </p:nvSpPr>
        <p:spPr bwMode="auto">
          <a:xfrm>
            <a:off x="5854093" y="3121224"/>
            <a:ext cx="505636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Правильная проверка на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endPar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Для проверки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рекомендуется использовать строгое сравнение.</a:t>
            </a:r>
          </a:p>
        </p:txBody>
      </p:sp>
    </p:spTree>
    <p:extLst>
      <p:ext uri="{BB962C8B-B14F-4D97-AF65-F5344CB8AC3E}">
        <p14:creationId xmlns:p14="http://schemas.microsoft.com/office/powerpoint/2010/main" val="42119586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7" name="Заголовок 16">
            <a:extLst>
              <a:ext uri="{FF2B5EF4-FFF2-40B4-BE49-F238E27FC236}">
                <a16:creationId xmlns:a16="http://schemas.microsoft.com/office/drawing/2014/main" id="{BF3744CC-D304-1AF6-3240-16934E519298}"/>
              </a:ext>
            </a:extLst>
          </p:cNvPr>
          <p:cNvSpPr>
            <a:spLocks noGrp="1"/>
          </p:cNvSpPr>
          <p:nvPr>
            <p:ph type="title"/>
          </p:nvPr>
        </p:nvSpPr>
        <p:spPr>
          <a:xfrm>
            <a:off x="1132013" y="78697"/>
            <a:ext cx="10515600" cy="1325563"/>
          </a:xfrm>
        </p:spPr>
        <p:txBody>
          <a:bodyPr>
            <a:normAutofit/>
          </a:bodyPr>
          <a:lstStyle/>
          <a:p>
            <a:pPr algn="ctr"/>
            <a:r>
              <a:rPr lang="ru-RU" sz="3600" dirty="0">
                <a:latin typeface="Times New Roman" panose="02020603050405020304" pitchFamily="18" charset="0"/>
                <a:cs typeface="Times New Roman" panose="02020603050405020304" pitchFamily="18" charset="0"/>
              </a:rPr>
              <a:t>Основные операторы сравнения</a:t>
            </a:r>
          </a:p>
        </p:txBody>
      </p:sp>
      <p:sp>
        <p:nvSpPr>
          <p:cNvPr id="16" name="Rectangle 1">
            <a:extLst>
              <a:ext uri="{FF2B5EF4-FFF2-40B4-BE49-F238E27FC236}">
                <a16:creationId xmlns:a16="http://schemas.microsoft.com/office/drawing/2014/main" id="{8E380F51-4317-5CB9-2155-53AEC90FD237}"/>
              </a:ext>
            </a:extLst>
          </p:cNvPr>
          <p:cNvSpPr>
            <a:spLocks noChangeArrowheads="1"/>
          </p:cNvSpPr>
          <p:nvPr/>
        </p:nvSpPr>
        <p:spPr bwMode="auto">
          <a:xfrm>
            <a:off x="197427" y="1045828"/>
            <a:ext cx="458042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Строгое равенство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Оператор === проверяет одновременно:</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равенство значений;</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равенство типов.</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console.log(10 === 10);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Значения и типы совпадают.</a:t>
            </a:r>
          </a:p>
        </p:txBody>
      </p:sp>
      <p:sp>
        <p:nvSpPr>
          <p:cNvPr id="18" name="Rectangle 2">
            <a:extLst>
              <a:ext uri="{FF2B5EF4-FFF2-40B4-BE49-F238E27FC236}">
                <a16:creationId xmlns:a16="http://schemas.microsoft.com/office/drawing/2014/main" id="{FBE6A352-5ED5-6764-53F8-748FEB0758AA}"/>
              </a:ext>
            </a:extLst>
          </p:cNvPr>
          <p:cNvSpPr>
            <a:spLocks noChangeArrowheads="1"/>
          </p:cNvSpPr>
          <p:nvPr/>
        </p:nvSpPr>
        <p:spPr bwMode="auto">
          <a:xfrm>
            <a:off x="5382491" y="1615867"/>
            <a:ext cx="494282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Разные значения одного типа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console.log(10 === 5);</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false</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Типы совпадают, но значения различаются.</a:t>
            </a:r>
          </a:p>
        </p:txBody>
      </p:sp>
      <p:sp>
        <p:nvSpPr>
          <p:cNvPr id="19" name="Rectangle 3">
            <a:extLst>
              <a:ext uri="{FF2B5EF4-FFF2-40B4-BE49-F238E27FC236}">
                <a16:creationId xmlns:a16="http://schemas.microsoft.com/office/drawing/2014/main" id="{F38F80CB-B4A1-F706-CFA3-C7CA4D264D6A}"/>
              </a:ext>
            </a:extLst>
          </p:cNvPr>
          <p:cNvSpPr>
            <a:spLocks noChangeArrowheads="1"/>
          </p:cNvSpPr>
          <p:nvPr/>
        </p:nvSpPr>
        <p:spPr bwMode="auto">
          <a:xfrm>
            <a:off x="5382491" y="3247083"/>
            <a:ext cx="499591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Одинаковое представление, разные типы</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console.log(10 ===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false</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Число 10 и строка "10" имеют разные типы.</a:t>
            </a:r>
          </a:p>
        </p:txBody>
      </p:sp>
      <p:sp>
        <p:nvSpPr>
          <p:cNvPr id="20" name="Rectangle 4">
            <a:extLst>
              <a:ext uri="{FF2B5EF4-FFF2-40B4-BE49-F238E27FC236}">
                <a16:creationId xmlns:a16="http://schemas.microsoft.com/office/drawing/2014/main" id="{A41B779F-E166-8C2A-B348-D97EAB04A57E}"/>
              </a:ext>
            </a:extLst>
          </p:cNvPr>
          <p:cNvSpPr>
            <a:spLocks noChangeArrowheads="1"/>
          </p:cNvSpPr>
          <p:nvPr/>
        </p:nvSpPr>
        <p:spPr bwMode="auto">
          <a:xfrm>
            <a:off x="197427" y="4523703"/>
            <a:ext cx="495981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Строгое равенство строк</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console.log("JavaScript" === "JavaScript");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console.log("JavaScript"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javascript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Сравнение строк чувствительно к регистру.</a:t>
            </a:r>
          </a:p>
        </p:txBody>
      </p:sp>
    </p:spTree>
    <p:extLst>
      <p:ext uri="{BB962C8B-B14F-4D97-AF65-F5344CB8AC3E}">
        <p14:creationId xmlns:p14="http://schemas.microsoft.com/office/powerpoint/2010/main" val="3755251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604395E2-9B73-7DFB-E7BB-0A39E564E5AE}"/>
              </a:ext>
            </a:extLst>
          </p:cNvPr>
          <p:cNvSpPr>
            <a:spLocks noChangeArrowheads="1"/>
          </p:cNvSpPr>
          <p:nvPr/>
        </p:nvSpPr>
        <p:spPr bwMode="auto">
          <a:xfrm>
            <a:off x="1690577" y="158407"/>
            <a:ext cx="746422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Строгое неравенство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Оператор !== возвращает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если различается значение или тип.</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console.log(10 !== 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console.log(10 !==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console.log(10 !==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4" name="Rectangle 2">
            <a:extLst>
              <a:ext uri="{FF2B5EF4-FFF2-40B4-BE49-F238E27FC236}">
                <a16:creationId xmlns:a16="http://schemas.microsoft.com/office/drawing/2014/main" id="{209F9EDE-D3F2-1D23-F086-E53A045AC683}"/>
              </a:ext>
            </a:extLst>
          </p:cNvPr>
          <p:cNvSpPr>
            <a:spLocks noChangeArrowheads="1"/>
          </p:cNvSpPr>
          <p:nvPr/>
        </p:nvSpPr>
        <p:spPr bwMode="auto">
          <a:xfrm>
            <a:off x="259515" y="3161822"/>
            <a:ext cx="77787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Нестрогое равенство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Оператор == сравнивает значения и при необходимости выполняет автоматическое преобразование типов.</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console.log(10 ==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Строка "10" преобразуется в число 10, после чего значения сравниваются.</a:t>
            </a:r>
          </a:p>
        </p:txBody>
      </p:sp>
      <p:sp>
        <p:nvSpPr>
          <p:cNvPr id="10" name="TextBox 9">
            <a:extLst>
              <a:ext uri="{FF2B5EF4-FFF2-40B4-BE49-F238E27FC236}">
                <a16:creationId xmlns:a16="http://schemas.microsoft.com/office/drawing/2014/main" id="{D82DE6B6-4921-4F8A-810E-908FD1EF9F88}"/>
              </a:ext>
            </a:extLst>
          </p:cNvPr>
          <p:cNvSpPr txBox="1"/>
          <p:nvPr/>
        </p:nvSpPr>
        <p:spPr>
          <a:xfrm>
            <a:off x="6093542" y="1141633"/>
            <a:ext cx="6098458"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Нестрогое неравенство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console.log(10 !=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endPar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После преобразования типов значения считаются равными.</a:t>
            </a:r>
          </a:p>
        </p:txBody>
      </p:sp>
    </p:spTree>
    <p:extLst>
      <p:ext uri="{BB962C8B-B14F-4D97-AF65-F5344CB8AC3E}">
        <p14:creationId xmlns:p14="http://schemas.microsoft.com/office/powerpoint/2010/main" val="3664229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Rectangle 1">
            <a:extLst>
              <a:ext uri="{FF2B5EF4-FFF2-40B4-BE49-F238E27FC236}">
                <a16:creationId xmlns:a16="http://schemas.microsoft.com/office/drawing/2014/main" id="{13AAAF2E-D9F2-0339-B458-388151626AE3}"/>
              </a:ext>
            </a:extLst>
          </p:cNvPr>
          <p:cNvSpPr>
            <a:spLocks noChangeArrowheads="1"/>
          </p:cNvSpPr>
          <p:nvPr/>
        </p:nvSpPr>
        <p:spPr bwMode="auto">
          <a:xfrm>
            <a:off x="1487975" y="215734"/>
            <a:ext cx="1034231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Почему == считается опасным</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Оператор == может скрывать различия в типах данных.</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userInput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userInput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Хотя в переменной хранится строка, она после преобразований считается равной логическому значению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Это усложняет чтение и отладку программы.</a:t>
            </a:r>
          </a:p>
        </p:txBody>
      </p:sp>
      <p:sp>
        <p:nvSpPr>
          <p:cNvPr id="7" name="Rectangle 3">
            <a:extLst>
              <a:ext uri="{FF2B5EF4-FFF2-40B4-BE49-F238E27FC236}">
                <a16:creationId xmlns:a16="http://schemas.microsoft.com/office/drawing/2014/main" id="{52EEF45E-C178-A809-DFC1-1822B7BE2940}"/>
              </a:ext>
            </a:extLst>
          </p:cNvPr>
          <p:cNvSpPr>
            <a:spLocks noChangeArrowheads="1"/>
          </p:cNvSpPr>
          <p:nvPr/>
        </p:nvSpPr>
        <p:spPr bwMode="auto">
          <a:xfrm>
            <a:off x="931820" y="4369115"/>
            <a:ext cx="801469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Рекомендуемое правило</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большинстве программ следует использовать:</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Строгое сравнение делает поведение программы более предсказуемым.</a:t>
            </a:r>
          </a:p>
        </p:txBody>
      </p:sp>
    </p:spTree>
    <p:extLst>
      <p:ext uri="{BB962C8B-B14F-4D97-AF65-F5344CB8AC3E}">
        <p14:creationId xmlns:p14="http://schemas.microsoft.com/office/powerpoint/2010/main" val="10582944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169FC05C-8C64-9A07-EE6B-DF2221AA29D0}"/>
              </a:ext>
            </a:extLst>
          </p:cNvPr>
          <p:cNvSpPr txBox="1"/>
          <p:nvPr/>
        </p:nvSpPr>
        <p:spPr>
          <a:xfrm>
            <a:off x="1859973" y="95148"/>
            <a:ext cx="8788271" cy="646331"/>
          </a:xfrm>
          <a:prstGeom prst="rect">
            <a:avLst/>
          </a:prstGeom>
          <a:noFill/>
        </p:spPr>
        <p:txBody>
          <a:bodyPr wrap="square">
            <a:spAutoFit/>
          </a:bodyPr>
          <a:lstStyle/>
          <a:p>
            <a:pPr algn="ctr"/>
            <a:r>
              <a:rPr lang="ru-RU" sz="3600" dirty="0">
                <a:latin typeface="Times New Roman" panose="02020603050405020304" pitchFamily="18" charset="0"/>
                <a:cs typeface="Times New Roman" panose="02020603050405020304" pitchFamily="18" charset="0"/>
              </a:rPr>
              <a:t>Явное и неявное преобразование типов</a:t>
            </a:r>
          </a:p>
        </p:txBody>
      </p:sp>
      <p:sp>
        <p:nvSpPr>
          <p:cNvPr id="6" name="TextBox 5">
            <a:extLst>
              <a:ext uri="{FF2B5EF4-FFF2-40B4-BE49-F238E27FC236}">
                <a16:creationId xmlns:a16="http://schemas.microsoft.com/office/drawing/2014/main" id="{0146CF21-BF29-F2A5-2080-A881FB92F6C8}"/>
              </a:ext>
            </a:extLst>
          </p:cNvPr>
          <p:cNvSpPr txBox="1"/>
          <p:nvPr/>
        </p:nvSpPr>
        <p:spPr>
          <a:xfrm>
            <a:off x="699393" y="1079607"/>
            <a:ext cx="10533179"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Преобразование типов</a:t>
            </a:r>
            <a:r>
              <a:rPr lang="ru-RU"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получение значения одного типа на основе значения другого типа.</a:t>
            </a:r>
          </a:p>
        </p:txBody>
      </p:sp>
      <p:sp>
        <p:nvSpPr>
          <p:cNvPr id="8" name="TextBox 7">
            <a:extLst>
              <a:ext uri="{FF2B5EF4-FFF2-40B4-BE49-F238E27FC236}">
                <a16:creationId xmlns:a16="http://schemas.microsoft.com/office/drawing/2014/main" id="{63582AE9-E873-AD79-F864-5E495CC6D3EB}"/>
              </a:ext>
            </a:extLst>
          </p:cNvPr>
          <p:cNvSpPr txBox="1"/>
          <p:nvPr/>
        </p:nvSpPr>
        <p:spPr>
          <a:xfrm>
            <a:off x="699393" y="1490200"/>
            <a:ext cx="6094268" cy="1631216"/>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Виды преобразования</a:t>
            </a:r>
          </a:p>
          <a:p>
            <a:r>
              <a:rPr lang="ru-RU" sz="2000" dirty="0">
                <a:latin typeface="Times New Roman" panose="02020603050405020304" pitchFamily="18" charset="0"/>
                <a:cs typeface="Times New Roman" panose="02020603050405020304" pitchFamily="18" charset="0"/>
              </a:rPr>
              <a:t>В JavaScript существует два основных вида преобразования:</a:t>
            </a:r>
          </a:p>
          <a:p>
            <a:pPr>
              <a:buFont typeface="+mj-lt"/>
              <a:buAutoNum type="arabicPeriod"/>
            </a:pPr>
            <a:r>
              <a:rPr lang="ru-RU" sz="2000" b="1" dirty="0">
                <a:latin typeface="Times New Roman" panose="02020603050405020304" pitchFamily="18" charset="0"/>
                <a:cs typeface="Times New Roman" panose="02020603050405020304" pitchFamily="18" charset="0"/>
              </a:rPr>
              <a:t>явное</a:t>
            </a:r>
            <a:r>
              <a:rPr lang="ru-RU" sz="2000" dirty="0">
                <a:latin typeface="Times New Roman" panose="02020603050405020304" pitchFamily="18" charset="0"/>
                <a:cs typeface="Times New Roman" panose="02020603050405020304" pitchFamily="18" charset="0"/>
              </a:rPr>
              <a:t>;</a:t>
            </a:r>
          </a:p>
          <a:p>
            <a:pPr>
              <a:buFont typeface="+mj-lt"/>
              <a:buAutoNum type="arabicPeriod"/>
            </a:pPr>
            <a:r>
              <a:rPr lang="ru-RU" sz="2000" b="1" dirty="0">
                <a:latin typeface="Times New Roman" panose="02020603050405020304" pitchFamily="18" charset="0"/>
                <a:cs typeface="Times New Roman" panose="02020603050405020304" pitchFamily="18" charset="0"/>
              </a:rPr>
              <a:t>неявное</a:t>
            </a:r>
            <a:r>
              <a:rPr lang="ru-RU" sz="2000" dirty="0">
                <a:latin typeface="Times New Roman" panose="02020603050405020304" pitchFamily="18" charset="0"/>
                <a:cs typeface="Times New Roman" panose="02020603050405020304" pitchFamily="18" charset="0"/>
              </a:rPr>
              <a:t>.</a:t>
            </a:r>
          </a:p>
        </p:txBody>
      </p:sp>
      <p:sp>
        <p:nvSpPr>
          <p:cNvPr id="9" name="Rectangle 1">
            <a:extLst>
              <a:ext uri="{FF2B5EF4-FFF2-40B4-BE49-F238E27FC236}">
                <a16:creationId xmlns:a16="http://schemas.microsoft.com/office/drawing/2014/main" id="{B20DDE38-0D7B-F76E-7F06-FB2A879D8A95}"/>
              </a:ext>
            </a:extLst>
          </p:cNvPr>
          <p:cNvSpPr>
            <a:spLocks noChangeArrowheads="1"/>
          </p:cNvSpPr>
          <p:nvPr/>
        </p:nvSpPr>
        <p:spPr bwMode="auto">
          <a:xfrm>
            <a:off x="381473" y="3428808"/>
            <a:ext cx="673010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Явное преобразование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Разработчик самостоятельно указывает, к какому типу необходимо привести значение.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number</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Number(</a:t>
            </a: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Намерение преобразования видно непосредственно из кода.</a:t>
            </a:r>
          </a:p>
        </p:txBody>
      </p:sp>
      <p:sp>
        <p:nvSpPr>
          <p:cNvPr id="10" name="Rectangle 2">
            <a:extLst>
              <a:ext uri="{FF2B5EF4-FFF2-40B4-BE49-F238E27FC236}">
                <a16:creationId xmlns:a16="http://schemas.microsoft.com/office/drawing/2014/main" id="{F0C19172-0FC5-7E46-2063-77099B2309CD}"/>
              </a:ext>
            </a:extLst>
          </p:cNvPr>
          <p:cNvSpPr>
            <a:spLocks noChangeArrowheads="1"/>
          </p:cNvSpPr>
          <p:nvPr/>
        </p:nvSpPr>
        <p:spPr bwMode="auto">
          <a:xfrm>
            <a:off x="7309270" y="3428808"/>
            <a:ext cx="450125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Неявное преобразование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JavaScript автоматически преобразует значение при выполнении операции.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result</a:t>
            </a:r>
            <a:r>
              <a:rPr kumimoji="0" lang="ru-RU" altLang="ru-RU"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 * 2;</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Строка "10" автоматически преобразуется в число.</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 </a:t>
            </a:r>
          </a:p>
        </p:txBody>
      </p:sp>
    </p:spTree>
    <p:extLst>
      <p:ext uri="{BB962C8B-B14F-4D97-AF65-F5344CB8AC3E}">
        <p14:creationId xmlns:p14="http://schemas.microsoft.com/office/powerpoint/2010/main" val="6930925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C689FA75-2EBB-5618-DB7A-B5047D698FEC}"/>
              </a:ext>
            </a:extLst>
          </p:cNvPr>
          <p:cNvSpPr txBox="1"/>
          <p:nvPr/>
        </p:nvSpPr>
        <p:spPr>
          <a:xfrm>
            <a:off x="2340551" y="279228"/>
            <a:ext cx="7156739" cy="461665"/>
          </a:xfrm>
          <a:prstGeom prst="rect">
            <a:avLst/>
          </a:prstGeom>
          <a:noFill/>
        </p:spPr>
        <p:txBody>
          <a:bodyPr wrap="square">
            <a:spAutoFit/>
          </a:bodyPr>
          <a:lstStyle/>
          <a:p>
            <a:r>
              <a:rPr lang="ru-RU" sz="2400" dirty="0">
                <a:latin typeface="Times New Roman" panose="02020603050405020304" pitchFamily="18" charset="0"/>
                <a:cs typeface="Times New Roman" panose="02020603050405020304" pitchFamily="18" charset="0"/>
              </a:rPr>
              <a:t>Преобразование в число с помощью </a:t>
            </a:r>
            <a:r>
              <a:rPr lang="ru-RU" sz="2400" b="1" dirty="0">
                <a:latin typeface="Times New Roman" panose="02020603050405020304" pitchFamily="18" charset="0"/>
                <a:cs typeface="Times New Roman" panose="02020603050405020304" pitchFamily="18" charset="0"/>
              </a:rPr>
              <a:t>Number()</a:t>
            </a:r>
          </a:p>
        </p:txBody>
      </p:sp>
      <p:sp>
        <p:nvSpPr>
          <p:cNvPr id="7" name="TextBox 6">
            <a:extLst>
              <a:ext uri="{FF2B5EF4-FFF2-40B4-BE49-F238E27FC236}">
                <a16:creationId xmlns:a16="http://schemas.microsoft.com/office/drawing/2014/main" id="{D291D914-0C20-7792-0F04-69722E44A1A4}"/>
              </a:ext>
            </a:extLst>
          </p:cNvPr>
          <p:cNvSpPr txBox="1"/>
          <p:nvPr/>
        </p:nvSpPr>
        <p:spPr>
          <a:xfrm>
            <a:off x="699394" y="1155899"/>
            <a:ext cx="6094268" cy="120032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textValue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"25"</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numberValue</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textValue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numberValue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00FF"/>
                </a:solidFill>
                <a:effectLst/>
                <a:latin typeface="Consolas" panose="020B0609020204030204" pitchFamily="49" charset="0"/>
              </a:rPr>
              <a:t>typeof</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numberValue</a:t>
            </a:r>
            <a:r>
              <a:rPr lang="en-US"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BC891000-834B-3A25-B988-1640868A7AE1}"/>
              </a:ext>
            </a:extLst>
          </p:cNvPr>
          <p:cNvSpPr txBox="1"/>
          <p:nvPr/>
        </p:nvSpPr>
        <p:spPr>
          <a:xfrm>
            <a:off x="6548870" y="1351631"/>
            <a:ext cx="6094268"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Результат:</a:t>
            </a:r>
          </a:p>
          <a:p>
            <a:r>
              <a:rPr lang="ru-RU" sz="2000" dirty="0">
                <a:latin typeface="Times New Roman" panose="02020603050405020304" pitchFamily="18" charset="0"/>
                <a:cs typeface="Times New Roman" panose="02020603050405020304" pitchFamily="18" charset="0"/>
              </a:rPr>
              <a:t>25</a:t>
            </a:r>
          </a:p>
          <a:p>
            <a:r>
              <a:rPr lang="en-US" sz="2000" dirty="0">
                <a:latin typeface="Times New Roman" panose="02020603050405020304" pitchFamily="18" charset="0"/>
                <a:cs typeface="Times New Roman" panose="02020603050405020304" pitchFamily="18" charset="0"/>
              </a:rPr>
              <a:t>number</a:t>
            </a:r>
            <a:endParaRPr lang="ru-RU" sz="20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1FFDBF6-37CA-7589-9985-10BA539A03E7}"/>
              </a:ext>
            </a:extLst>
          </p:cNvPr>
          <p:cNvSpPr txBox="1"/>
          <p:nvPr/>
        </p:nvSpPr>
        <p:spPr>
          <a:xfrm>
            <a:off x="470793" y="2654866"/>
            <a:ext cx="11125461"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Пустая строка и строка, содержащая только пробелы, преобразуются в число 0.</a:t>
            </a:r>
          </a:p>
        </p:txBody>
      </p:sp>
      <p:sp>
        <p:nvSpPr>
          <p:cNvPr id="19" name="TextBox 18">
            <a:extLst>
              <a:ext uri="{FF2B5EF4-FFF2-40B4-BE49-F238E27FC236}">
                <a16:creationId xmlns:a16="http://schemas.microsoft.com/office/drawing/2014/main" id="{3470067A-0D24-F9FD-7812-3365EEBEE571}"/>
              </a:ext>
            </a:extLst>
          </p:cNvPr>
          <p:cNvSpPr txBox="1"/>
          <p:nvPr/>
        </p:nvSpPr>
        <p:spPr>
          <a:xfrm>
            <a:off x="3174422" y="3054976"/>
            <a:ext cx="632286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Преобразование строки с текстом</a:t>
            </a:r>
          </a:p>
        </p:txBody>
      </p:sp>
      <p:sp>
        <p:nvSpPr>
          <p:cNvPr id="21" name="TextBox 20">
            <a:extLst>
              <a:ext uri="{FF2B5EF4-FFF2-40B4-BE49-F238E27FC236}">
                <a16:creationId xmlns:a16="http://schemas.microsoft.com/office/drawing/2014/main" id="{8CC078E4-F2EB-7A5C-CAC6-6BE41C5BAA20}"/>
              </a:ext>
            </a:extLst>
          </p:cNvPr>
          <p:cNvSpPr txBox="1"/>
          <p:nvPr/>
        </p:nvSpPr>
        <p:spPr>
          <a:xfrm>
            <a:off x="370106" y="3623988"/>
            <a:ext cx="6322868" cy="646331"/>
          </a:xfrm>
          <a:prstGeom prst="rect">
            <a:avLst/>
          </a:prstGeom>
          <a:noFill/>
        </p:spPr>
        <p:txBody>
          <a:bodyPr wrap="square">
            <a:spAutoFit/>
          </a:bodyPr>
          <a:lstStyle/>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"25px"</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a:t>
            </a:r>
          </a:p>
        </p:txBody>
      </p:sp>
      <p:sp>
        <p:nvSpPr>
          <p:cNvPr id="23" name="TextBox 22">
            <a:extLst>
              <a:ext uri="{FF2B5EF4-FFF2-40B4-BE49-F238E27FC236}">
                <a16:creationId xmlns:a16="http://schemas.microsoft.com/office/drawing/2014/main" id="{4814D075-29BD-DEF5-FB41-28F4E6AB2B04}"/>
              </a:ext>
            </a:extLst>
          </p:cNvPr>
          <p:cNvSpPr txBox="1"/>
          <p:nvPr/>
        </p:nvSpPr>
        <p:spPr>
          <a:xfrm>
            <a:off x="5686425" y="3461336"/>
            <a:ext cx="6322868"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Результат:</a:t>
            </a:r>
          </a:p>
          <a:p>
            <a:r>
              <a:rPr lang="en-US" sz="2000" dirty="0" err="1">
                <a:latin typeface="Times New Roman" panose="02020603050405020304" pitchFamily="18" charset="0"/>
                <a:cs typeface="Times New Roman" panose="02020603050405020304" pitchFamily="18" charset="0"/>
              </a:rPr>
              <a:t>NaN</a:t>
            </a:r>
            <a:endParaRPr lang="ru-RU"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NaN</a:t>
            </a:r>
            <a:endParaRPr lang="ru-RU"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8B89916D-6F3B-9CAA-EC46-7525BE2A54D1}"/>
              </a:ext>
            </a:extLst>
          </p:cNvPr>
          <p:cNvSpPr txBox="1"/>
          <p:nvPr/>
        </p:nvSpPr>
        <p:spPr>
          <a:xfrm>
            <a:off x="470793" y="4338633"/>
            <a:ext cx="6322868" cy="369332"/>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Преобразование логических значений</a:t>
            </a:r>
          </a:p>
        </p:txBody>
      </p:sp>
      <p:sp>
        <p:nvSpPr>
          <p:cNvPr id="27" name="TextBox 26">
            <a:extLst>
              <a:ext uri="{FF2B5EF4-FFF2-40B4-BE49-F238E27FC236}">
                <a16:creationId xmlns:a16="http://schemas.microsoft.com/office/drawing/2014/main" id="{A7342CF6-EC15-2E60-C5BB-E00AF23CD407}"/>
              </a:ext>
            </a:extLst>
          </p:cNvPr>
          <p:cNvSpPr txBox="1"/>
          <p:nvPr/>
        </p:nvSpPr>
        <p:spPr>
          <a:xfrm>
            <a:off x="470793" y="4860038"/>
            <a:ext cx="6322868" cy="646331"/>
          </a:xfrm>
          <a:prstGeom prst="rect">
            <a:avLst/>
          </a:prstGeom>
          <a:noFill/>
        </p:spPr>
        <p:txBody>
          <a:bodyPr wrap="square">
            <a:spAutoFit/>
          </a:bodyPr>
          <a:lstStyle/>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false</a:t>
            </a:r>
            <a:r>
              <a:rPr lang="en-US" b="0" dirty="0">
                <a:solidFill>
                  <a:srgbClr val="000000"/>
                </a:solidFill>
                <a:effectLst/>
                <a:latin typeface="Consolas" panose="020B0609020204030204" pitchFamily="49" charset="0"/>
              </a:rPr>
              <a:t>));</a:t>
            </a:r>
          </a:p>
        </p:txBody>
      </p:sp>
      <p:sp>
        <p:nvSpPr>
          <p:cNvPr id="28" name="Rectangle 4">
            <a:extLst>
              <a:ext uri="{FF2B5EF4-FFF2-40B4-BE49-F238E27FC236}">
                <a16:creationId xmlns:a16="http://schemas.microsoft.com/office/drawing/2014/main" id="{03E49CBA-EBCA-DF94-717C-49767FBD45DD}"/>
              </a:ext>
            </a:extLst>
          </p:cNvPr>
          <p:cNvSpPr>
            <a:spLocks noChangeArrowheads="1"/>
          </p:cNvSpPr>
          <p:nvPr/>
        </p:nvSpPr>
        <p:spPr bwMode="auto">
          <a:xfrm>
            <a:off x="5502058" y="4741135"/>
            <a:ext cx="1294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 </a:t>
            </a:r>
          </a:p>
        </p:txBody>
      </p:sp>
      <p:sp>
        <p:nvSpPr>
          <p:cNvPr id="29" name="Rectangle 5">
            <a:extLst>
              <a:ext uri="{FF2B5EF4-FFF2-40B4-BE49-F238E27FC236}">
                <a16:creationId xmlns:a16="http://schemas.microsoft.com/office/drawing/2014/main" id="{561F5B36-5C4E-F797-A2A3-A272428FE504}"/>
              </a:ext>
            </a:extLst>
          </p:cNvPr>
          <p:cNvSpPr>
            <a:spLocks noChangeArrowheads="1"/>
          </p:cNvSpPr>
          <p:nvPr/>
        </p:nvSpPr>
        <p:spPr bwMode="auto">
          <a:xfrm>
            <a:off x="596974" y="5730646"/>
            <a:ext cx="92642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Number() удобно применять, когда всё значение должно быть корректным числом. </a:t>
            </a:r>
          </a:p>
        </p:txBody>
      </p:sp>
    </p:spTree>
    <p:extLst>
      <p:ext uri="{BB962C8B-B14F-4D97-AF65-F5344CB8AC3E}">
        <p14:creationId xmlns:p14="http://schemas.microsoft.com/office/powerpoint/2010/main" val="3276749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511F2982-6A84-3646-998F-35D2697C14C3}"/>
              </a:ext>
            </a:extLst>
          </p:cNvPr>
          <p:cNvSpPr>
            <a:spLocks noChangeArrowheads="1"/>
          </p:cNvSpPr>
          <p:nvPr/>
        </p:nvSpPr>
        <p:spPr bwMode="auto">
          <a:xfrm>
            <a:off x="1501932" y="320444"/>
            <a:ext cx="781464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Унарный плюс</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Унарный оператор </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также пытается преобразовать значение в число.</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+"42";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typeof</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umber</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Он работает компактно, но Number() обычно читается понятнее.</a:t>
            </a:r>
          </a:p>
        </p:txBody>
      </p:sp>
      <p:sp>
        <p:nvSpPr>
          <p:cNvPr id="5" name="TextBox 4">
            <a:extLst>
              <a:ext uri="{FF2B5EF4-FFF2-40B4-BE49-F238E27FC236}">
                <a16:creationId xmlns:a16="http://schemas.microsoft.com/office/drawing/2014/main" id="{14322327-EB53-7763-D2DA-0409AB7F115C}"/>
              </a:ext>
            </a:extLst>
          </p:cNvPr>
          <p:cNvSpPr txBox="1"/>
          <p:nvPr/>
        </p:nvSpPr>
        <p:spPr>
          <a:xfrm>
            <a:off x="2875428" y="4136873"/>
            <a:ext cx="609426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Примеры унарного плюса</a:t>
            </a:r>
          </a:p>
        </p:txBody>
      </p:sp>
      <p:sp>
        <p:nvSpPr>
          <p:cNvPr id="7" name="TextBox 6">
            <a:extLst>
              <a:ext uri="{FF2B5EF4-FFF2-40B4-BE49-F238E27FC236}">
                <a16:creationId xmlns:a16="http://schemas.microsoft.com/office/drawing/2014/main" id="{DCC8475D-516A-1EA8-D680-AD0C517BD0FE}"/>
              </a:ext>
            </a:extLst>
          </p:cNvPr>
          <p:cNvSpPr txBox="1"/>
          <p:nvPr/>
        </p:nvSpPr>
        <p:spPr>
          <a:xfrm>
            <a:off x="1166380" y="4726955"/>
            <a:ext cx="6094268" cy="1477328"/>
          </a:xfrm>
          <a:prstGeom prst="rect">
            <a:avLst/>
          </a:prstGeom>
          <a:noFill/>
        </p:spPr>
        <p:txBody>
          <a:bodyPr wrap="square">
            <a:spAutoFit/>
          </a:bodyPr>
          <a:lstStyle/>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"10"</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"3.5"</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false</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p:txBody>
      </p:sp>
      <p:sp>
        <p:nvSpPr>
          <p:cNvPr id="8" name="Rectangle 2">
            <a:extLst>
              <a:ext uri="{FF2B5EF4-FFF2-40B4-BE49-F238E27FC236}">
                <a16:creationId xmlns:a16="http://schemas.microsoft.com/office/drawing/2014/main" id="{3AF4ED6F-F71A-A3D5-7DE8-49E2A1C19371}"/>
              </a:ext>
            </a:extLst>
          </p:cNvPr>
          <p:cNvSpPr>
            <a:spLocks noChangeArrowheads="1"/>
          </p:cNvSpPr>
          <p:nvPr/>
        </p:nvSpPr>
        <p:spPr bwMode="auto">
          <a:xfrm>
            <a:off x="5621482" y="4567787"/>
            <a:ext cx="12942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 </a:t>
            </a:r>
          </a:p>
        </p:txBody>
      </p:sp>
    </p:spTree>
    <p:extLst>
      <p:ext uri="{BB962C8B-B14F-4D97-AF65-F5344CB8AC3E}">
        <p14:creationId xmlns:p14="http://schemas.microsoft.com/office/powerpoint/2010/main" val="2230592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AEABC3CC-F13A-53D8-F0ED-5CC74349DD1D}"/>
              </a:ext>
            </a:extLst>
          </p:cNvPr>
          <p:cNvSpPr>
            <a:spLocks noChangeArrowheads="1"/>
          </p:cNvSpPr>
          <p:nvPr/>
        </p:nvSpPr>
        <p:spPr bwMode="auto">
          <a:xfrm>
            <a:off x="203068" y="650995"/>
            <a:ext cx="6363987"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Функция </a:t>
            </a:r>
            <a:r>
              <a:rPr kumimoji="0" lang="ru-RU" altLang="ru-RU"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parseInt</a:t>
            </a: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parseInt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преобразует начало строки в целое число.</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parseInt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Второй аргумент 10 указывает десятичную систему счисления.</a:t>
            </a:r>
          </a:p>
        </p:txBody>
      </p:sp>
      <p:sp>
        <p:nvSpPr>
          <p:cNvPr id="4" name="Rectangle 2">
            <a:extLst>
              <a:ext uri="{FF2B5EF4-FFF2-40B4-BE49-F238E27FC236}">
                <a16:creationId xmlns:a16="http://schemas.microsoft.com/office/drawing/2014/main" id="{ACBD3A36-CD55-8AF4-CF51-D2232D10552D}"/>
              </a:ext>
            </a:extLst>
          </p:cNvPr>
          <p:cNvSpPr>
            <a:spLocks noChangeArrowheads="1"/>
          </p:cNvSpPr>
          <p:nvPr/>
        </p:nvSpPr>
        <p:spPr bwMode="auto">
          <a:xfrm>
            <a:off x="6920347" y="747419"/>
            <a:ext cx="565265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parseInt</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 текст после числа</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parseInt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("25px",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Функция читает число с начала строки и останавливается на первом неподходящем символе.</a:t>
            </a:r>
          </a:p>
        </p:txBody>
      </p:sp>
      <p:sp>
        <p:nvSpPr>
          <p:cNvPr id="5" name="Rectangle 3">
            <a:extLst>
              <a:ext uri="{FF2B5EF4-FFF2-40B4-BE49-F238E27FC236}">
                <a16:creationId xmlns:a16="http://schemas.microsoft.com/office/drawing/2014/main" id="{17221C1B-7A87-3A1D-7E28-BE07E8FB5B0F}"/>
              </a:ext>
            </a:extLst>
          </p:cNvPr>
          <p:cNvSpPr>
            <a:spLocks noChangeArrowheads="1"/>
          </p:cNvSpPr>
          <p:nvPr/>
        </p:nvSpPr>
        <p:spPr bwMode="auto">
          <a:xfrm>
            <a:off x="203068" y="3791248"/>
            <a:ext cx="42516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Если строка начинается не с числа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console.log(parseInt("px25",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NaN </a:t>
            </a:r>
          </a:p>
        </p:txBody>
      </p:sp>
      <p:sp>
        <p:nvSpPr>
          <p:cNvPr id="6" name="Rectangle 4">
            <a:extLst>
              <a:ext uri="{FF2B5EF4-FFF2-40B4-BE49-F238E27FC236}">
                <a16:creationId xmlns:a16="http://schemas.microsoft.com/office/drawing/2014/main" id="{C2E5C5C0-EE04-D214-F67B-54569BE54EDC}"/>
              </a:ext>
            </a:extLst>
          </p:cNvPr>
          <p:cNvSpPr>
            <a:spLocks noChangeArrowheads="1"/>
          </p:cNvSpPr>
          <p:nvPr/>
        </p:nvSpPr>
        <p:spPr bwMode="auto">
          <a:xfrm>
            <a:off x="5501725" y="3791248"/>
            <a:ext cx="707127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Отбрасывание дробной части</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console.log(parseInt("15.9", 10));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parseInt() не округляет число, а прекращает чтение на десятичной точке.</a:t>
            </a:r>
          </a:p>
        </p:txBody>
      </p:sp>
    </p:spTree>
    <p:extLst>
      <p:ext uri="{BB962C8B-B14F-4D97-AF65-F5344CB8AC3E}">
        <p14:creationId xmlns:p14="http://schemas.microsoft.com/office/powerpoint/2010/main" val="4043432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9121421F-D499-73C5-BB0D-16A13AF8F5CE}"/>
              </a:ext>
            </a:extLst>
          </p:cNvPr>
          <p:cNvSpPr>
            <a:spLocks noChangeArrowheads="1"/>
          </p:cNvSpPr>
          <p:nvPr/>
        </p:nvSpPr>
        <p:spPr bwMode="auto">
          <a:xfrm>
            <a:off x="1662545" y="229804"/>
            <a:ext cx="6180474"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Функция </a:t>
            </a:r>
            <a:r>
              <a:rPr kumimoji="0" lang="ru-RU" altLang="ru-RU"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parseFloat</a:t>
            </a:r>
            <a:r>
              <a:rPr kumimoji="0" lang="ru-RU" altLang="ru-R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parseFloat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извлекает дробное число из начала строки.</a:t>
            </a:r>
          </a:p>
          <a:p>
            <a:pPr marL="0" marR="0" lvl="0" indent="0" algn="l" defTabSz="914400" rtl="0" eaLnBrk="0" fontAlgn="base" latinLnBrk="0" hangingPunct="0">
              <a:lnSpc>
                <a:spcPct val="100000"/>
              </a:lnSpc>
              <a:spcBef>
                <a:spcPct val="0"/>
              </a:spcBef>
              <a:spcAft>
                <a:spcPct val="0"/>
              </a:spcAft>
              <a:buClrTx/>
              <a:buSzTx/>
              <a:buFontTx/>
              <a:buNone/>
              <a:tabLst/>
            </a:pPr>
            <a:endParaRPr lang="ru-RU" altLang="ru-RU"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parseFloat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("15.75"));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console.log(</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parseFloat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("15.75px"));</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15.75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15.75 </a:t>
            </a:r>
          </a:p>
        </p:txBody>
      </p:sp>
      <p:sp>
        <p:nvSpPr>
          <p:cNvPr id="5" name="Rectangle 3">
            <a:extLst>
              <a:ext uri="{FF2B5EF4-FFF2-40B4-BE49-F238E27FC236}">
                <a16:creationId xmlns:a16="http://schemas.microsoft.com/office/drawing/2014/main" id="{B30EE2EA-723E-686C-259C-2A2732E247F5}"/>
              </a:ext>
            </a:extLst>
          </p:cNvPr>
          <p:cNvSpPr>
            <a:spLocks noChangeArrowheads="1"/>
          </p:cNvSpPr>
          <p:nvPr/>
        </p:nvSpPr>
        <p:spPr bwMode="auto">
          <a:xfrm>
            <a:off x="1262598" y="2765601"/>
            <a:ext cx="539538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Преобразование в строку с помощью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String</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25</a:t>
            </a:r>
            <a:r>
              <a:rPr lang="en-US" sz="2000" b="0" dirty="0">
                <a:solidFill>
                  <a:srgbClr val="000000"/>
                </a:solidFill>
                <a:effectLst/>
                <a:latin typeface="Consolas" panose="020B0609020204030204" pitchFamily="49" charset="0"/>
              </a:rPr>
              <a:t>; </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text</a:t>
            </a:r>
            <a:r>
              <a:rPr lang="en-US" sz="2000" b="0" dirty="0">
                <a:solidFill>
                  <a:srgbClr val="000000"/>
                </a:solidFill>
                <a:effectLst/>
                <a:latin typeface="Consolas" panose="020B0609020204030204" pitchFamily="49" charset="0"/>
              </a:rPr>
              <a:t> = </a:t>
            </a:r>
            <a:r>
              <a:rPr lang="en-US" sz="2000" b="0" dirty="0">
                <a:solidFill>
                  <a:srgbClr val="267F99"/>
                </a:solidFill>
                <a:effectLst/>
                <a:latin typeface="Consolas" panose="020B0609020204030204" pitchFamily="49" charset="0"/>
              </a:rPr>
              <a:t>String</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number</a:t>
            </a:r>
            <a:r>
              <a:rPr lang="en-US" sz="2000" b="0" dirty="0">
                <a:solidFill>
                  <a:srgbClr val="000000"/>
                </a:solidFill>
                <a:effectLst/>
                <a:latin typeface="Consolas" panose="020B0609020204030204" pitchFamily="49" charset="0"/>
              </a:rPr>
              <a:t>); </a:t>
            </a:r>
          </a:p>
          <a:p>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text</a:t>
            </a:r>
            <a:r>
              <a:rPr lang="en-US" sz="2000" b="0" dirty="0">
                <a:solidFill>
                  <a:srgbClr val="000000"/>
                </a:solidFill>
                <a:effectLst/>
                <a:latin typeface="Consolas" panose="020B0609020204030204" pitchFamily="49" charset="0"/>
              </a:rPr>
              <a:t>); </a:t>
            </a:r>
          </a:p>
          <a:p>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err="1">
                <a:solidFill>
                  <a:srgbClr val="0000FF"/>
                </a:solidFill>
                <a:effectLst/>
                <a:latin typeface="Consolas" panose="020B0609020204030204" pitchFamily="49" charset="0"/>
              </a:rPr>
              <a:t>typeof</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text</a:t>
            </a:r>
            <a:r>
              <a:rPr lang="en-US" sz="2000" b="0" dirty="0">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string</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6" name="Rectangle 4">
            <a:extLst>
              <a:ext uri="{FF2B5EF4-FFF2-40B4-BE49-F238E27FC236}">
                <a16:creationId xmlns:a16="http://schemas.microsoft.com/office/drawing/2014/main" id="{940AD1F8-216A-CF1A-C8F7-F9071A5EA6A1}"/>
              </a:ext>
            </a:extLst>
          </p:cNvPr>
          <p:cNvSpPr>
            <a:spLocks noChangeArrowheads="1"/>
          </p:cNvSpPr>
          <p:nvPr/>
        </p:nvSpPr>
        <p:spPr bwMode="auto">
          <a:xfrm>
            <a:off x="6096000" y="3823202"/>
            <a:ext cx="560050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Метод toString()</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Для многих значений можно использовать метод:</a:t>
            </a:r>
          </a:p>
        </p:txBody>
      </p:sp>
      <p:sp>
        <p:nvSpPr>
          <p:cNvPr id="8" name="TextBox 7">
            <a:extLst>
              <a:ext uri="{FF2B5EF4-FFF2-40B4-BE49-F238E27FC236}">
                <a16:creationId xmlns:a16="http://schemas.microsoft.com/office/drawing/2014/main" id="{55FC7FB9-3D2A-0F92-EFD0-24B174B0BBAA}"/>
              </a:ext>
            </a:extLst>
          </p:cNvPr>
          <p:cNvSpPr txBox="1"/>
          <p:nvPr/>
        </p:nvSpPr>
        <p:spPr>
          <a:xfrm>
            <a:off x="6096000" y="4463952"/>
            <a:ext cx="6094268" cy="923330"/>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42</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text</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number</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toString</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text</a:t>
            </a:r>
            <a:r>
              <a:rPr lang="en-US" b="0" dirty="0">
                <a:solidFill>
                  <a:srgbClr val="000000"/>
                </a:solidFill>
                <a:effectLst/>
                <a:latin typeface="Consolas" panose="020B0609020204030204" pitchFamily="49" charset="0"/>
              </a:rPr>
              <a:t>);</a:t>
            </a:r>
          </a:p>
        </p:txBody>
      </p:sp>
      <p:sp>
        <p:nvSpPr>
          <p:cNvPr id="9" name="Rectangle 5">
            <a:extLst>
              <a:ext uri="{FF2B5EF4-FFF2-40B4-BE49-F238E27FC236}">
                <a16:creationId xmlns:a16="http://schemas.microsoft.com/office/drawing/2014/main" id="{11F40E49-84C0-A0F3-D340-028CB4AB6A49}"/>
              </a:ext>
            </a:extLst>
          </p:cNvPr>
          <p:cNvSpPr>
            <a:spLocks noChangeArrowheads="1"/>
          </p:cNvSpPr>
          <p:nvPr/>
        </p:nvSpPr>
        <p:spPr bwMode="auto">
          <a:xfrm>
            <a:off x="4058070" y="5539163"/>
            <a:ext cx="483818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Ограничение toString()</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Нельзя вызвать метод у null или undefined.</a:t>
            </a:r>
          </a:p>
        </p:txBody>
      </p:sp>
    </p:spTree>
    <p:extLst>
      <p:ext uri="{BB962C8B-B14F-4D97-AF65-F5344CB8AC3E}">
        <p14:creationId xmlns:p14="http://schemas.microsoft.com/office/powerpoint/2010/main" val="101349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5BBC4FA2-5B74-ACBD-3158-1759320E0C9B}"/>
              </a:ext>
            </a:extLst>
          </p:cNvPr>
          <p:cNvSpPr>
            <a:spLocks noChangeArrowheads="1"/>
          </p:cNvSpPr>
          <p:nvPr/>
        </p:nvSpPr>
        <p:spPr bwMode="auto">
          <a:xfrm>
            <a:off x="602673" y="828131"/>
            <a:ext cx="517763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Неявное преобразование в строку</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result</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a:t>
            </a:r>
            <a:r>
              <a:rPr lang="ru-RU" sz="2000" b="0" dirty="0">
                <a:solidFill>
                  <a:srgbClr val="A31515"/>
                </a:solidFill>
                <a:effectLst/>
                <a:latin typeface="Consolas" panose="020B0609020204030204" pitchFamily="49" charset="0"/>
              </a:rPr>
              <a:t>Возраст: "</a:t>
            </a:r>
            <a:r>
              <a:rPr lang="ru-RU" sz="2000" b="0" dirty="0">
                <a:solidFill>
                  <a:srgbClr val="000000"/>
                </a:solidFill>
                <a:effectLst/>
                <a:latin typeface="Consolas" panose="020B0609020204030204" pitchFamily="49" charset="0"/>
              </a:rPr>
              <a:t> + </a:t>
            </a:r>
            <a:r>
              <a:rPr lang="ru-RU" sz="2000" b="0" dirty="0">
                <a:solidFill>
                  <a:srgbClr val="098658"/>
                </a:solidFill>
                <a:effectLst/>
                <a:latin typeface="Consolas" panose="020B0609020204030204" pitchFamily="49" charset="0"/>
              </a:rPr>
              <a:t>20</a:t>
            </a:r>
            <a:r>
              <a:rPr lang="ru-RU" sz="2000" b="0" dirty="0">
                <a:solidFill>
                  <a:srgbClr val="000000"/>
                </a:solidFill>
                <a:effectLst/>
                <a:latin typeface="Consolas" panose="020B0609020204030204" pitchFamily="49" charset="0"/>
              </a:rPr>
              <a:t>; </a:t>
            </a:r>
          </a:p>
          <a:p>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result</a:t>
            </a:r>
            <a:r>
              <a:rPr lang="en-US" sz="2000" b="0" dirty="0">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Возраст: 20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Число автоматически преобразуется в строку.</a:t>
            </a:r>
          </a:p>
        </p:txBody>
      </p:sp>
      <p:sp>
        <p:nvSpPr>
          <p:cNvPr id="4" name="Rectangle 2">
            <a:extLst>
              <a:ext uri="{FF2B5EF4-FFF2-40B4-BE49-F238E27FC236}">
                <a16:creationId xmlns:a16="http://schemas.microsoft.com/office/drawing/2014/main" id="{D7CDC371-8EFE-83D2-EE5A-D9CEA96B1DCA}"/>
              </a:ext>
            </a:extLst>
          </p:cNvPr>
          <p:cNvSpPr>
            <a:spLocks noChangeArrowheads="1"/>
          </p:cNvSpPr>
          <p:nvPr/>
        </p:nvSpPr>
        <p:spPr bwMode="auto">
          <a:xfrm>
            <a:off x="2722419" y="3121382"/>
            <a:ext cx="734976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Шаблонные строки</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age</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20</a:t>
            </a:r>
            <a:r>
              <a:rPr lang="en-US" sz="2000" b="0" dirty="0">
                <a:solidFill>
                  <a:srgbClr val="000000"/>
                </a:solidFill>
                <a:effectLst/>
                <a:latin typeface="Consolas" panose="020B0609020204030204" pitchFamily="49" charset="0"/>
              </a:rPr>
              <a:t>; </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message</a:t>
            </a:r>
            <a:r>
              <a:rPr lang="en-US" sz="2000" b="0" dirty="0">
                <a:solidFill>
                  <a:srgbClr val="000000"/>
                </a:solidFill>
                <a:effectLst/>
                <a:latin typeface="Consolas" panose="020B0609020204030204" pitchFamily="49" charset="0"/>
              </a:rPr>
              <a:t> = </a:t>
            </a:r>
            <a:r>
              <a:rPr lang="en-US" sz="2000" b="0" dirty="0">
                <a:solidFill>
                  <a:srgbClr val="A31515"/>
                </a:solidFill>
                <a:effectLst/>
                <a:latin typeface="Consolas" panose="020B0609020204030204" pitchFamily="49" charset="0"/>
              </a:rPr>
              <a:t>`</a:t>
            </a:r>
            <a:r>
              <a:rPr lang="ru-RU" sz="2000" b="0" dirty="0">
                <a:solidFill>
                  <a:srgbClr val="A31515"/>
                </a:solidFill>
                <a:effectLst/>
                <a:latin typeface="Consolas" panose="020B0609020204030204" pitchFamily="49" charset="0"/>
              </a:rPr>
              <a:t>Возраст: </a:t>
            </a:r>
            <a:r>
              <a:rPr lang="ru-RU"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age</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p>
          <a:p>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message</a:t>
            </a:r>
            <a:r>
              <a:rPr lang="en-US" sz="2000" b="0" dirty="0">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Внутри шаблонной строки значение также преобразуется в текст.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Такой способ обычно удобнее и понятнее конкатенации.</a:t>
            </a:r>
          </a:p>
        </p:txBody>
      </p:sp>
    </p:spTree>
    <p:extLst>
      <p:ext uri="{BB962C8B-B14F-4D97-AF65-F5344CB8AC3E}">
        <p14:creationId xmlns:p14="http://schemas.microsoft.com/office/powerpoint/2010/main" val="2530814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FA2D5308-AF18-3DEC-0496-69432ED94F7D}"/>
              </a:ext>
            </a:extLst>
          </p:cNvPr>
          <p:cNvSpPr txBox="1"/>
          <p:nvPr/>
        </p:nvSpPr>
        <p:spPr>
          <a:xfrm>
            <a:off x="2202167" y="311974"/>
            <a:ext cx="8446077" cy="461665"/>
          </a:xfrm>
          <a:prstGeom prst="rect">
            <a:avLst/>
          </a:prstGeom>
          <a:noFill/>
        </p:spPr>
        <p:txBody>
          <a:bodyPr wrap="square">
            <a:spAutoFit/>
          </a:bodyPr>
          <a:lstStyle/>
          <a:p>
            <a:r>
              <a:rPr lang="ru-RU" sz="2400" b="1" dirty="0">
                <a:latin typeface="Times New Roman" panose="02020603050405020304" pitchFamily="18" charset="0"/>
                <a:cs typeface="Times New Roman" panose="02020603050405020304" pitchFamily="18" charset="0"/>
              </a:rPr>
              <a:t>Преобразование в логический тип с помощью </a:t>
            </a:r>
            <a:r>
              <a:rPr lang="ru-RU" sz="2400" b="1" dirty="0" err="1">
                <a:latin typeface="Times New Roman" panose="02020603050405020304" pitchFamily="18" charset="0"/>
                <a:cs typeface="Times New Roman" panose="02020603050405020304" pitchFamily="18" charset="0"/>
              </a:rPr>
              <a:t>Boolean</a:t>
            </a:r>
            <a:r>
              <a:rPr lang="ru-RU" sz="2400" b="1" dirty="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C95952E9-83F6-1641-3CCF-A0367183D5A1}"/>
              </a:ext>
            </a:extLst>
          </p:cNvPr>
          <p:cNvSpPr txBox="1"/>
          <p:nvPr/>
        </p:nvSpPr>
        <p:spPr>
          <a:xfrm>
            <a:off x="1374198" y="948082"/>
            <a:ext cx="6094268" cy="1200329"/>
          </a:xfrm>
          <a:prstGeom prst="rect">
            <a:avLst/>
          </a:prstGeom>
          <a:noFill/>
        </p:spPr>
        <p:txBody>
          <a:bodyPr wrap="square">
            <a:spAutoFit/>
          </a:bodyPr>
          <a:lstStyle/>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Boolean</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Boolean</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Boolean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"JavaScript"</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Boolean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p:txBody>
      </p:sp>
      <p:sp>
        <p:nvSpPr>
          <p:cNvPr id="10" name="Rectangle 2">
            <a:extLst>
              <a:ext uri="{FF2B5EF4-FFF2-40B4-BE49-F238E27FC236}">
                <a16:creationId xmlns:a16="http://schemas.microsoft.com/office/drawing/2014/main" id="{1BE3DC8E-C6B4-86D0-475C-A318EA025427}"/>
              </a:ext>
            </a:extLst>
          </p:cNvPr>
          <p:cNvSpPr>
            <a:spLocks noChangeArrowheads="1"/>
          </p:cNvSpPr>
          <p:nvPr/>
        </p:nvSpPr>
        <p:spPr bwMode="auto">
          <a:xfrm>
            <a:off x="7494141" y="779121"/>
            <a:ext cx="12942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1" name="Rectangle 3">
            <a:extLst>
              <a:ext uri="{FF2B5EF4-FFF2-40B4-BE49-F238E27FC236}">
                <a16:creationId xmlns:a16="http://schemas.microsoft.com/office/drawing/2014/main" id="{CD398A8C-78D8-191A-F526-D6B1B013A414}"/>
              </a:ext>
            </a:extLst>
          </p:cNvPr>
          <p:cNvSpPr>
            <a:spLocks noChangeArrowheads="1"/>
          </p:cNvSpPr>
          <p:nvPr/>
        </p:nvSpPr>
        <p:spPr bwMode="auto">
          <a:xfrm>
            <a:off x="650150" y="2499050"/>
            <a:ext cx="544585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Основные правила преобразования в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boolean</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false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преобразуются:</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null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undefined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NaN</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Все остальные значения преобразуются в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73010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3603D8B8-1045-4E33-50DE-D98116B4B124}"/>
              </a:ext>
            </a:extLst>
          </p:cNvPr>
          <p:cNvSpPr txBox="1"/>
          <p:nvPr/>
        </p:nvSpPr>
        <p:spPr>
          <a:xfrm>
            <a:off x="1616824" y="236950"/>
            <a:ext cx="10353675" cy="461665"/>
          </a:xfrm>
          <a:prstGeom prst="rect">
            <a:avLst/>
          </a:prstGeom>
          <a:noFill/>
        </p:spPr>
        <p:txBody>
          <a:bodyPr wrap="square">
            <a:spAutoFit/>
          </a:bodyPr>
          <a:lstStyle/>
          <a:p>
            <a:r>
              <a:rPr lang="ru-RU" sz="2400" b="1" dirty="0">
                <a:latin typeface="Times New Roman" panose="02020603050405020304" pitchFamily="18" charset="0"/>
                <a:cs typeface="Times New Roman" panose="02020603050405020304" pitchFamily="18" charset="0"/>
              </a:rPr>
              <a:t>Некоторые арифметические операторы преобразуют строки в числа.</a:t>
            </a:r>
          </a:p>
        </p:txBody>
      </p:sp>
      <p:sp>
        <p:nvSpPr>
          <p:cNvPr id="6" name="TextBox 5">
            <a:extLst>
              <a:ext uri="{FF2B5EF4-FFF2-40B4-BE49-F238E27FC236}">
                <a16:creationId xmlns:a16="http://schemas.microsoft.com/office/drawing/2014/main" id="{974B7FDC-AC99-E8B0-FFB1-B0F5794CCA32}"/>
              </a:ext>
            </a:extLst>
          </p:cNvPr>
          <p:cNvSpPr txBox="1"/>
          <p:nvPr/>
        </p:nvSpPr>
        <p:spPr>
          <a:xfrm>
            <a:off x="699394" y="909935"/>
            <a:ext cx="6094268" cy="923330"/>
          </a:xfrm>
          <a:prstGeom prst="rect">
            <a:avLst/>
          </a:prstGeom>
          <a:noFill/>
        </p:spPr>
        <p:txBody>
          <a:bodyPr wrap="square">
            <a:spAutoFit/>
          </a:bodyPr>
          <a:lstStyle/>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"10"</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"10"</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"10"</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p:txBody>
      </p:sp>
      <p:sp>
        <p:nvSpPr>
          <p:cNvPr id="7" name="Rectangle 1">
            <a:extLst>
              <a:ext uri="{FF2B5EF4-FFF2-40B4-BE49-F238E27FC236}">
                <a16:creationId xmlns:a16="http://schemas.microsoft.com/office/drawing/2014/main" id="{2CBBD2E5-9804-279F-5241-2D0980F7783A}"/>
              </a:ext>
            </a:extLst>
          </p:cNvPr>
          <p:cNvSpPr>
            <a:spLocks noChangeArrowheads="1"/>
          </p:cNvSpPr>
          <p:nvPr/>
        </p:nvSpPr>
        <p:spPr bwMode="auto">
          <a:xfrm>
            <a:off x="4924204" y="751331"/>
            <a:ext cx="12942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a:t>
            </a:r>
          </a:p>
        </p:txBody>
      </p:sp>
      <p:sp>
        <p:nvSpPr>
          <p:cNvPr id="8" name="Rectangle 2">
            <a:extLst>
              <a:ext uri="{FF2B5EF4-FFF2-40B4-BE49-F238E27FC236}">
                <a16:creationId xmlns:a16="http://schemas.microsoft.com/office/drawing/2014/main" id="{057B87D1-F282-336C-F930-CB37B2E909D8}"/>
              </a:ext>
            </a:extLst>
          </p:cNvPr>
          <p:cNvSpPr>
            <a:spLocks noChangeArrowheads="1"/>
          </p:cNvSpPr>
          <p:nvPr/>
        </p:nvSpPr>
        <p:spPr bwMode="auto">
          <a:xfrm>
            <a:off x="699394" y="2074770"/>
            <a:ext cx="6613092"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Особенность оператора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console.log("10" + 2);</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102</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Оператор + при наличии строки выполняет конкатенацию.</a:t>
            </a:r>
          </a:p>
        </p:txBody>
      </p:sp>
    </p:spTree>
    <p:extLst>
      <p:ext uri="{BB962C8B-B14F-4D97-AF65-F5344CB8AC3E}">
        <p14:creationId xmlns:p14="http://schemas.microsoft.com/office/powerpoint/2010/main" val="35439412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A637D206-E3C9-BE53-4C71-D2788D4A1FC0}"/>
              </a:ext>
            </a:extLst>
          </p:cNvPr>
          <p:cNvSpPr txBox="1"/>
          <p:nvPr/>
        </p:nvSpPr>
        <p:spPr>
          <a:xfrm>
            <a:off x="2278206" y="447014"/>
            <a:ext cx="8123093" cy="646331"/>
          </a:xfrm>
          <a:prstGeom prst="rect">
            <a:avLst/>
          </a:prstGeom>
          <a:noFill/>
        </p:spPr>
        <p:txBody>
          <a:bodyPr wrap="square">
            <a:spAutoFit/>
          </a:bodyPr>
          <a:lstStyle/>
          <a:p>
            <a:pPr algn="ctr"/>
            <a:r>
              <a:rPr lang="ru-RU" sz="3600" dirty="0">
                <a:latin typeface="Times New Roman" panose="02020603050405020304" pitchFamily="18" charset="0"/>
                <a:cs typeface="Times New Roman" panose="02020603050405020304" pitchFamily="18" charset="0"/>
              </a:rPr>
              <a:t>Ввод и вывод данных в JavaScript</a:t>
            </a:r>
          </a:p>
        </p:txBody>
      </p:sp>
      <p:sp>
        <p:nvSpPr>
          <p:cNvPr id="5" name="Rectangle 1">
            <a:extLst>
              <a:ext uri="{FF2B5EF4-FFF2-40B4-BE49-F238E27FC236}">
                <a16:creationId xmlns:a16="http://schemas.microsoft.com/office/drawing/2014/main" id="{9EE20B7D-DCAF-FE56-605F-6083D9DA5A1F}"/>
              </a:ext>
            </a:extLst>
          </p:cNvPr>
          <p:cNvSpPr>
            <a:spLocks noChangeArrowheads="1"/>
          </p:cNvSpPr>
          <p:nvPr/>
        </p:nvSpPr>
        <p:spPr bwMode="auto">
          <a:xfrm>
            <a:off x="361708" y="1260599"/>
            <a:ext cx="1101013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Модуль readline предназначен для чтения данных из потока ввода построчно.</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Подключение модуля: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const readline = require("node:readline");</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readline является встроенным модулем Node.js, поэтому устанавливать его через npm не требуется.</a:t>
            </a:r>
          </a:p>
        </p:txBody>
      </p:sp>
      <p:sp>
        <p:nvSpPr>
          <p:cNvPr id="8" name="TextBox 7">
            <a:extLst>
              <a:ext uri="{FF2B5EF4-FFF2-40B4-BE49-F238E27FC236}">
                <a16:creationId xmlns:a16="http://schemas.microsoft.com/office/drawing/2014/main" id="{8045D05D-D0B2-5433-23FC-BBD34C322C81}"/>
              </a:ext>
            </a:extLst>
          </p:cNvPr>
          <p:cNvSpPr txBox="1"/>
          <p:nvPr/>
        </p:nvSpPr>
        <p:spPr>
          <a:xfrm>
            <a:off x="245484" y="2584038"/>
            <a:ext cx="6094268" cy="2246769"/>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Создание интерфейса ввода</a:t>
            </a:r>
          </a:p>
          <a:p>
            <a:r>
              <a:rPr lang="ru-RU" sz="2000" dirty="0">
                <a:latin typeface="Times New Roman" panose="02020603050405020304" pitchFamily="18" charset="0"/>
                <a:cs typeface="Times New Roman" panose="02020603050405020304" pitchFamily="18" charset="0"/>
              </a:rPr>
              <a:t>После подключения модуля необходимо создать интерфейс:</a:t>
            </a:r>
            <a:endParaRPr lang="en-US" sz="2000" dirty="0">
              <a:latin typeface="Times New Roman" panose="02020603050405020304" pitchFamily="18" charset="0"/>
              <a:cs typeface="Times New Roman" panose="02020603050405020304" pitchFamily="18" charset="0"/>
            </a:endParaRP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err="1">
                <a:solidFill>
                  <a:srgbClr val="0070C1"/>
                </a:solidFill>
                <a:effectLst/>
                <a:latin typeface="Consolas" panose="020B0609020204030204" pitchFamily="49" charset="0"/>
              </a:rPr>
              <a:t>rl</a:t>
            </a:r>
            <a:r>
              <a:rPr lang="en-US" sz="2000" b="0" dirty="0">
                <a:solidFill>
                  <a:srgbClr val="000000"/>
                </a:solidFill>
                <a:effectLst/>
                <a:latin typeface="Consolas" panose="020B0609020204030204" pitchFamily="49" charset="0"/>
              </a:rPr>
              <a:t> = </a:t>
            </a:r>
            <a:r>
              <a:rPr lang="en-US" sz="2000" b="0" dirty="0" err="1">
                <a:solidFill>
                  <a:srgbClr val="267F99"/>
                </a:solidFill>
                <a:effectLst/>
                <a:latin typeface="Consolas" panose="020B0609020204030204" pitchFamily="49" charset="0"/>
              </a:rPr>
              <a:t>readline</a:t>
            </a:r>
            <a:r>
              <a:rPr lang="en-US" sz="2000" b="0" dirty="0" err="1">
                <a:solidFill>
                  <a:srgbClr val="000000"/>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createInterface</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input:</a:t>
            </a:r>
            <a:r>
              <a:rPr lang="en-US" sz="2000" b="0" dirty="0">
                <a:solidFill>
                  <a:srgbClr val="000000"/>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process</a:t>
            </a:r>
            <a:r>
              <a:rPr lang="en-US" sz="2000" b="0" dirty="0" err="1">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stdin</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output:</a:t>
            </a:r>
            <a:r>
              <a:rPr lang="en-US" sz="2000" b="0" dirty="0">
                <a:solidFill>
                  <a:srgbClr val="000000"/>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process</a:t>
            </a:r>
            <a:r>
              <a:rPr lang="en-US" sz="2000" b="0" dirty="0" err="1">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stdout</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a:t>
            </a:r>
          </a:p>
        </p:txBody>
      </p:sp>
      <p:sp>
        <p:nvSpPr>
          <p:cNvPr id="10" name="Rectangle 4">
            <a:extLst>
              <a:ext uri="{FF2B5EF4-FFF2-40B4-BE49-F238E27FC236}">
                <a16:creationId xmlns:a16="http://schemas.microsoft.com/office/drawing/2014/main" id="{FFFC947F-5502-5A59-F7E7-5BA9C016EE74}"/>
              </a:ext>
            </a:extLst>
          </p:cNvPr>
          <p:cNvSpPr>
            <a:spLocks noChangeArrowheads="1"/>
          </p:cNvSpPr>
          <p:nvPr/>
        </p:nvSpPr>
        <p:spPr bwMode="auto">
          <a:xfrm>
            <a:off x="931820" y="4819377"/>
            <a:ext cx="838793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Здесь: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readline.createInterface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создаёт интерфейс взаимодействия с терминалом;</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process.stdin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используется для получения введённых данных;</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process.stdout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используется для вывода приглашения;</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rl</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переменная, через которую выполняется ввод.</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78363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BBEA8633-9DCD-965C-600A-8B6F6E85C67A}"/>
              </a:ext>
            </a:extLst>
          </p:cNvPr>
          <p:cNvSpPr>
            <a:spLocks noChangeArrowheads="1"/>
          </p:cNvSpPr>
          <p:nvPr/>
        </p:nvSpPr>
        <p:spPr bwMode="auto">
          <a:xfrm>
            <a:off x="361708" y="819716"/>
            <a:ext cx="61722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Что такое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process.stdin</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process.stdin</a:t>
            </a: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означает стандартный поток ввода.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Через него Node.js получает данные, которые пользователь вводит с клавиатуры в терминале.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Сокращение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stdin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означает: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standard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input</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то есть стандартный ввод.</a:t>
            </a:r>
          </a:p>
        </p:txBody>
      </p:sp>
      <p:sp>
        <p:nvSpPr>
          <p:cNvPr id="4" name="Rectangle 2">
            <a:extLst>
              <a:ext uri="{FF2B5EF4-FFF2-40B4-BE49-F238E27FC236}">
                <a16:creationId xmlns:a16="http://schemas.microsoft.com/office/drawing/2014/main" id="{C7008CED-C4EE-552A-2609-ABA113317E94}"/>
              </a:ext>
            </a:extLst>
          </p:cNvPr>
          <p:cNvSpPr>
            <a:spLocks noChangeArrowheads="1"/>
          </p:cNvSpPr>
          <p:nvPr/>
        </p:nvSpPr>
        <p:spPr bwMode="auto">
          <a:xfrm>
            <a:off x="6244936" y="895367"/>
            <a:ext cx="58649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Что такое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process.stdout</a:t>
            </a:r>
            <a:endPar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process.stdout</a:t>
            </a: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означает стандартный поток вывода.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Через него Node.js выводит данные в терминал.</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Сокращение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stdout</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означает: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standard</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output</a:t>
            </a: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то есть стандартный вывод.</a:t>
            </a:r>
          </a:p>
        </p:txBody>
      </p:sp>
      <p:sp>
        <p:nvSpPr>
          <p:cNvPr id="5" name="Rectangle 3">
            <a:extLst>
              <a:ext uri="{FF2B5EF4-FFF2-40B4-BE49-F238E27FC236}">
                <a16:creationId xmlns:a16="http://schemas.microsoft.com/office/drawing/2014/main" id="{9413FF52-5FD3-885C-FD9D-C71358E60A5E}"/>
              </a:ext>
            </a:extLst>
          </p:cNvPr>
          <p:cNvSpPr>
            <a:spLocks noChangeArrowheads="1"/>
          </p:cNvSpPr>
          <p:nvPr/>
        </p:nvSpPr>
        <p:spPr bwMode="auto">
          <a:xfrm>
            <a:off x="2485871" y="2868186"/>
            <a:ext cx="681468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Метод </a:t>
            </a: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question</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Для получения одного значения используется метод:</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rl.question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Общий синтаксис:</a:t>
            </a:r>
          </a:p>
          <a:p>
            <a:r>
              <a:rPr lang="ru-RU" sz="2000" b="0" dirty="0" err="1">
                <a:solidFill>
                  <a:srgbClr val="0070C1"/>
                </a:solidFill>
                <a:effectLst/>
                <a:latin typeface="Consolas" panose="020B0609020204030204" pitchFamily="49" charset="0"/>
              </a:rPr>
              <a:t>rl</a:t>
            </a:r>
            <a:r>
              <a:rPr lang="ru-RU" sz="2000" b="0" dirty="0" err="1">
                <a:solidFill>
                  <a:srgbClr val="000000"/>
                </a:solidFill>
                <a:effectLst/>
                <a:latin typeface="Consolas" panose="020B0609020204030204" pitchFamily="49" charset="0"/>
              </a:rPr>
              <a:t>.</a:t>
            </a:r>
            <a:r>
              <a:rPr lang="ru-RU" sz="2000" b="0" dirty="0" err="1">
                <a:solidFill>
                  <a:srgbClr val="795E26"/>
                </a:solidFill>
                <a:effectLst/>
                <a:latin typeface="Consolas" panose="020B0609020204030204" pitchFamily="49" charset="0"/>
              </a:rPr>
              <a:t>question</a:t>
            </a:r>
            <a:r>
              <a:rPr lang="ru-RU" sz="2000" b="0" dirty="0">
                <a:solidFill>
                  <a:srgbClr val="000000"/>
                </a:solidFill>
                <a:effectLst/>
                <a:latin typeface="Consolas" panose="020B0609020204030204" pitchFamily="49" charset="0"/>
              </a:rPr>
              <a:t>(</a:t>
            </a:r>
            <a:r>
              <a:rPr lang="ru-RU" sz="2000" b="0" dirty="0">
                <a:solidFill>
                  <a:srgbClr val="A31515"/>
                </a:solidFill>
                <a:effectLst/>
                <a:latin typeface="Consolas" panose="020B0609020204030204" pitchFamily="49" charset="0"/>
              </a:rPr>
              <a:t>"Текст приглашения"</a:t>
            </a:r>
            <a:r>
              <a:rPr lang="ru-RU" sz="2000" b="0" dirty="0">
                <a:solidFill>
                  <a:srgbClr val="000000"/>
                </a:solidFill>
                <a:effectLst/>
                <a:latin typeface="Consolas" panose="020B0609020204030204" pitchFamily="49" charset="0"/>
              </a:rPr>
              <a:t>, (</a:t>
            </a:r>
            <a:r>
              <a:rPr lang="ru-RU" sz="2000" b="0" dirty="0" err="1">
                <a:solidFill>
                  <a:srgbClr val="001080"/>
                </a:solidFill>
                <a:effectLst/>
                <a:latin typeface="Consolas" panose="020B0609020204030204" pitchFamily="49" charset="0"/>
              </a:rPr>
              <a:t>answer</a:t>
            </a:r>
            <a:r>
              <a:rPr lang="ru-RU" sz="2000" b="0" dirty="0">
                <a:solidFill>
                  <a:srgbClr val="000000"/>
                </a:solidFill>
                <a:effectLst/>
                <a:latin typeface="Consolas" panose="020B0609020204030204" pitchFamily="49" charset="0"/>
              </a:rPr>
              <a:t>) </a:t>
            </a:r>
            <a:r>
              <a:rPr lang="ru-RU" sz="2000" b="0" dirty="0">
                <a:solidFill>
                  <a:srgbClr val="0000FF"/>
                </a:solidFill>
                <a:effectLst/>
                <a:latin typeface="Consolas" panose="020B0609020204030204" pitchFamily="49" charset="0"/>
              </a:rPr>
              <a:t>=&gt;</a:t>
            </a:r>
            <a:r>
              <a:rPr lang="ru-RU" sz="2000" b="0" dirty="0">
                <a:solidFill>
                  <a:srgbClr val="000000"/>
                </a:solidFill>
                <a:effectLst/>
                <a:latin typeface="Consolas" panose="020B0609020204030204" pitchFamily="49" charset="0"/>
              </a:rPr>
              <a:t> { </a:t>
            </a:r>
          </a:p>
          <a:p>
            <a:r>
              <a:rPr lang="ru-RU" sz="2000" b="0" dirty="0">
                <a:solidFill>
                  <a:srgbClr val="000000"/>
                </a:solidFill>
                <a:effectLst/>
                <a:latin typeface="Consolas" panose="020B0609020204030204" pitchFamily="49" charset="0"/>
              </a:rPr>
              <a:t>    </a:t>
            </a:r>
            <a:r>
              <a:rPr lang="ru-RU" sz="2000" b="0" dirty="0">
                <a:solidFill>
                  <a:srgbClr val="008000"/>
                </a:solidFill>
                <a:effectLst/>
                <a:latin typeface="Consolas" panose="020B0609020204030204" pitchFamily="49" charset="0"/>
              </a:rPr>
              <a:t>// обработка введённого значения </a:t>
            </a:r>
            <a:endParaRPr lang="ru-RU" sz="2000" b="0" dirty="0">
              <a:solidFill>
                <a:srgbClr val="000000"/>
              </a:solidFill>
              <a:effectLst/>
              <a:latin typeface="Consolas" panose="020B0609020204030204" pitchFamily="49" charset="0"/>
            </a:endParaRPr>
          </a:p>
          <a:p>
            <a:r>
              <a:rPr lang="ru-RU" sz="2000" b="0" dirty="0">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Метод принимает два аргумента:</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текст, который увидит пользователь;</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функцию, которая выполнится после ввода данных.</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32677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54F97BF5-EBBE-FBF4-CFDB-F86194A6B6D1}"/>
              </a:ext>
            </a:extLst>
          </p:cNvPr>
          <p:cNvSpPr txBox="1"/>
          <p:nvPr/>
        </p:nvSpPr>
        <p:spPr>
          <a:xfrm>
            <a:off x="3171825" y="226727"/>
            <a:ext cx="6094268" cy="646331"/>
          </a:xfrm>
          <a:prstGeom prst="rect">
            <a:avLst/>
          </a:prstGeom>
          <a:noFill/>
        </p:spPr>
        <p:txBody>
          <a:bodyPr wrap="square">
            <a:spAutoFit/>
          </a:bodyPr>
          <a:lstStyle/>
          <a:p>
            <a:r>
              <a:rPr lang="ru-RU" sz="3600" dirty="0">
                <a:latin typeface="Times New Roman" panose="02020603050405020304" pitchFamily="18" charset="0"/>
                <a:cs typeface="Times New Roman" panose="02020603050405020304" pitchFamily="18" charset="0"/>
              </a:rPr>
              <a:t>Ввод имени пользователя</a:t>
            </a:r>
          </a:p>
        </p:txBody>
      </p:sp>
      <p:sp>
        <p:nvSpPr>
          <p:cNvPr id="6" name="TextBox 5">
            <a:extLst>
              <a:ext uri="{FF2B5EF4-FFF2-40B4-BE49-F238E27FC236}">
                <a16:creationId xmlns:a16="http://schemas.microsoft.com/office/drawing/2014/main" id="{B95B7BA4-7640-802C-5669-19199A4BD886}"/>
              </a:ext>
            </a:extLst>
          </p:cNvPr>
          <p:cNvSpPr txBox="1"/>
          <p:nvPr/>
        </p:nvSpPr>
        <p:spPr>
          <a:xfrm>
            <a:off x="836027" y="982949"/>
            <a:ext cx="6094268" cy="2585323"/>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readline</a:t>
            </a:r>
            <a:r>
              <a:rPr lang="en-US" b="0" dirty="0">
                <a:solidFill>
                  <a:srgbClr val="000000"/>
                </a:solidFill>
                <a:effectLst/>
                <a:latin typeface="Consolas" panose="020B0609020204030204" pitchFamily="49" charset="0"/>
              </a:rPr>
              <a:t> = </a:t>
            </a:r>
            <a:r>
              <a:rPr lang="en-US" b="0" dirty="0">
                <a:solidFill>
                  <a:srgbClr val="795E26"/>
                </a:solidFill>
                <a:effectLst/>
                <a:latin typeface="Consolas" panose="020B0609020204030204" pitchFamily="49" charset="0"/>
              </a:rPr>
              <a:t>require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node:readline</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readline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createInterface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input: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process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stdin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output: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process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stdout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question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Введите имя: "</a:t>
            </a:r>
            <a:r>
              <a:rPr lang="ru-RU"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userName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Здравствуйте, </a:t>
            </a:r>
            <a:r>
              <a:rPr lang="ru-RU"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userName</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close</a:t>
            </a:r>
            <a:r>
              <a:rPr lang="en-US" b="0" dirty="0">
                <a:solidFill>
                  <a:srgbClr val="000000"/>
                </a:solidFill>
                <a:effectLst/>
                <a:latin typeface="Consolas" panose="020B0609020204030204" pitchFamily="49" charset="0"/>
              </a:rPr>
              <a:t>(); });</a:t>
            </a:r>
          </a:p>
        </p:txBody>
      </p:sp>
      <p:sp>
        <p:nvSpPr>
          <p:cNvPr id="7" name="Rectangle 1">
            <a:extLst>
              <a:ext uri="{FF2B5EF4-FFF2-40B4-BE49-F238E27FC236}">
                <a16:creationId xmlns:a16="http://schemas.microsoft.com/office/drawing/2014/main" id="{69567766-7A4E-1451-AA1B-A7D52D959667}"/>
              </a:ext>
            </a:extLst>
          </p:cNvPr>
          <p:cNvSpPr>
            <a:spLocks noChangeArrowheads="1"/>
          </p:cNvSpPr>
          <p:nvPr/>
        </p:nvSpPr>
        <p:spPr bwMode="auto">
          <a:xfrm>
            <a:off x="7402537" y="1133419"/>
            <a:ext cx="372711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После запуска: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node</a:t>
            </a: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app.js</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терминал покажет: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Введите имя: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Например, пользователь вводит: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Анна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Здравствуйте, Анна! </a:t>
            </a:r>
          </a:p>
        </p:txBody>
      </p:sp>
      <p:sp>
        <p:nvSpPr>
          <p:cNvPr id="8" name="Rectangle 2">
            <a:extLst>
              <a:ext uri="{FF2B5EF4-FFF2-40B4-BE49-F238E27FC236}">
                <a16:creationId xmlns:a16="http://schemas.microsoft.com/office/drawing/2014/main" id="{208C8D86-19AF-4B49-46A4-27FD9C94191C}"/>
              </a:ext>
            </a:extLst>
          </p:cNvPr>
          <p:cNvSpPr>
            <a:spLocks noChangeArrowheads="1"/>
          </p:cNvSpPr>
          <p:nvPr/>
        </p:nvSpPr>
        <p:spPr bwMode="auto">
          <a:xfrm>
            <a:off x="475990" y="4875563"/>
            <a:ext cx="949729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Закрытие интерфейса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После завершения ввода необходимо вызвать:</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rl.close</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Если не закрыть интерфейс, программа может продолжать ожидать пользовательский ввод и не завершиться автоматически.</a:t>
            </a:r>
          </a:p>
        </p:txBody>
      </p:sp>
      <p:sp>
        <p:nvSpPr>
          <p:cNvPr id="9" name="Rectangle 1">
            <a:extLst>
              <a:ext uri="{FF2B5EF4-FFF2-40B4-BE49-F238E27FC236}">
                <a16:creationId xmlns:a16="http://schemas.microsoft.com/office/drawing/2014/main" id="{ABB4B97B-0D94-4A06-73D1-5FCC724DB801}"/>
              </a:ext>
            </a:extLst>
          </p:cNvPr>
          <p:cNvSpPr>
            <a:spLocks noChangeArrowheads="1"/>
          </p:cNvSpPr>
          <p:nvPr/>
        </p:nvSpPr>
        <p:spPr bwMode="auto">
          <a:xfrm>
            <a:off x="475990" y="3957124"/>
            <a:ext cx="704321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Тип введённого значения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Данные, полученные через </a:t>
            </a: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rl.question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имеют строковый тип.</a:t>
            </a:r>
          </a:p>
        </p:txBody>
      </p:sp>
    </p:spTree>
    <p:extLst>
      <p:ext uri="{BB962C8B-B14F-4D97-AF65-F5344CB8AC3E}">
        <p14:creationId xmlns:p14="http://schemas.microsoft.com/office/powerpoint/2010/main" val="31087321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D38C77E7-12BE-19E8-2E2A-32E73E58CAEE}"/>
              </a:ext>
            </a:extLst>
          </p:cNvPr>
          <p:cNvSpPr txBox="1"/>
          <p:nvPr/>
        </p:nvSpPr>
        <p:spPr>
          <a:xfrm>
            <a:off x="1511399" y="218259"/>
            <a:ext cx="7011266" cy="523220"/>
          </a:xfrm>
          <a:prstGeom prst="rect">
            <a:avLst/>
          </a:prstGeom>
          <a:noFill/>
        </p:spPr>
        <p:txBody>
          <a:bodyPr wrap="square">
            <a:spAutoFit/>
          </a:bodyPr>
          <a:lstStyle/>
          <a:p>
            <a:r>
              <a:rPr lang="ru-RU" sz="2800" dirty="0">
                <a:latin typeface="Times New Roman" panose="02020603050405020304" pitchFamily="18" charset="0"/>
                <a:cs typeface="Times New Roman" panose="02020603050405020304" pitchFamily="18" charset="0"/>
              </a:rPr>
              <a:t>Ошибка вычисления без преобразования</a:t>
            </a:r>
          </a:p>
        </p:txBody>
      </p:sp>
      <p:sp>
        <p:nvSpPr>
          <p:cNvPr id="7" name="TextBox 6">
            <a:extLst>
              <a:ext uri="{FF2B5EF4-FFF2-40B4-BE49-F238E27FC236}">
                <a16:creationId xmlns:a16="http://schemas.microsoft.com/office/drawing/2014/main" id="{777A77D3-DCCA-3E4F-444A-0E1A7C1FF3C4}"/>
              </a:ext>
            </a:extLst>
          </p:cNvPr>
          <p:cNvSpPr txBox="1"/>
          <p:nvPr/>
        </p:nvSpPr>
        <p:spPr>
          <a:xfrm>
            <a:off x="553316" y="1072911"/>
            <a:ext cx="6094268" cy="1477328"/>
          </a:xfrm>
          <a:prstGeom prst="rect">
            <a:avLst/>
          </a:prstGeom>
          <a:noFill/>
        </p:spPr>
        <p:txBody>
          <a:bodyPr wrap="square">
            <a:spAutoFit/>
          </a:bodyPr>
          <a:lstStyle/>
          <a:p>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question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Введите возраст: "</a:t>
            </a:r>
            <a:r>
              <a:rPr lang="ru-RU"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age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ageNextYear</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age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ageNextYear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close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p:txBody>
      </p:sp>
      <p:sp>
        <p:nvSpPr>
          <p:cNvPr id="8" name="Rectangle 2">
            <a:extLst>
              <a:ext uri="{FF2B5EF4-FFF2-40B4-BE49-F238E27FC236}">
                <a16:creationId xmlns:a16="http://schemas.microsoft.com/office/drawing/2014/main" id="{6EB7D7F9-168A-D86E-87E6-A7C3775F7CE1}"/>
              </a:ext>
            </a:extLst>
          </p:cNvPr>
          <p:cNvSpPr>
            <a:spLocks noChangeArrowheads="1"/>
          </p:cNvSpPr>
          <p:nvPr/>
        </p:nvSpPr>
        <p:spPr bwMode="auto">
          <a:xfrm>
            <a:off x="249382" y="2830434"/>
            <a:ext cx="30614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Если пользователь введёт: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a:t>
            </a:r>
          </a:p>
        </p:txBody>
      </p:sp>
      <p:sp>
        <p:nvSpPr>
          <p:cNvPr id="10" name="TextBox 9">
            <a:extLst>
              <a:ext uri="{FF2B5EF4-FFF2-40B4-BE49-F238E27FC236}">
                <a16:creationId xmlns:a16="http://schemas.microsoft.com/office/drawing/2014/main" id="{33E988C2-A6B1-2E47-5E53-7DE43749E78A}"/>
              </a:ext>
            </a:extLst>
          </p:cNvPr>
          <p:cNvSpPr txBox="1"/>
          <p:nvPr/>
        </p:nvSpPr>
        <p:spPr>
          <a:xfrm>
            <a:off x="105641" y="4434069"/>
            <a:ext cx="5579917" cy="1015663"/>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Преобразование введённого значения</a:t>
            </a:r>
          </a:p>
          <a:p>
            <a:r>
              <a:rPr lang="ru-RU" sz="2000" dirty="0">
                <a:latin typeface="Times New Roman" panose="02020603050405020304" pitchFamily="18" charset="0"/>
                <a:cs typeface="Times New Roman" panose="02020603050405020304" pitchFamily="18" charset="0"/>
              </a:rPr>
              <a:t>Перед арифметическими вычислениями строку необходимо преобразовать в число:</a:t>
            </a:r>
          </a:p>
        </p:txBody>
      </p:sp>
      <p:sp>
        <p:nvSpPr>
          <p:cNvPr id="16" name="TextBox 15">
            <a:extLst>
              <a:ext uri="{FF2B5EF4-FFF2-40B4-BE49-F238E27FC236}">
                <a16:creationId xmlns:a16="http://schemas.microsoft.com/office/drawing/2014/main" id="{7CC97C35-69AA-9BE6-0AB9-458DF94C46A0}"/>
              </a:ext>
            </a:extLst>
          </p:cNvPr>
          <p:cNvSpPr txBox="1"/>
          <p:nvPr/>
        </p:nvSpPr>
        <p:spPr>
          <a:xfrm>
            <a:off x="5351319" y="4331417"/>
            <a:ext cx="6094268" cy="2308324"/>
          </a:xfrm>
          <a:prstGeom prst="rect">
            <a:avLst/>
          </a:prstGeom>
          <a:noFill/>
        </p:spPr>
        <p:txBody>
          <a:bodyPr wrap="square">
            <a:spAutoFit/>
          </a:bodyPr>
          <a:lstStyle/>
          <a:p>
            <a:r>
              <a:rPr lang="en-US" sz="1600" b="0" dirty="0" err="1">
                <a:solidFill>
                  <a:srgbClr val="0070C1"/>
                </a:solidFill>
                <a:effectLst/>
                <a:latin typeface="Consolas" panose="020B0609020204030204" pitchFamily="49" charset="0"/>
              </a:rPr>
              <a:t>rl</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question</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Введите возраст: "</a:t>
            </a:r>
            <a:r>
              <a:rPr lang="ru-RU"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ageInput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age</a:t>
            </a:r>
            <a:r>
              <a:rPr lang="en-US" sz="1600" b="0" dirty="0">
                <a:solidFill>
                  <a:srgbClr val="000000"/>
                </a:solidFill>
                <a:effectLst/>
                <a:latin typeface="Consolas" panose="020B0609020204030204" pitchFamily="49" charset="0"/>
              </a:rPr>
              <a:t> = </a:t>
            </a:r>
            <a:r>
              <a:rPr lang="en-US" sz="1600" b="0" dirty="0">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ageInput</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ageNextYear</a:t>
            </a:r>
            <a:r>
              <a:rPr lang="en-US" sz="1600" b="0" dirty="0">
                <a:solidFill>
                  <a:srgbClr val="000000"/>
                </a:solidFill>
                <a:effectLst/>
                <a:latin typeface="Consolas" panose="020B0609020204030204" pitchFamily="49" charset="0"/>
              </a:rPr>
              <a:t> = </a:t>
            </a:r>
            <a:r>
              <a:rPr lang="en-US" sz="1600" b="0" dirty="0">
                <a:solidFill>
                  <a:srgbClr val="0070C1"/>
                </a:solidFill>
                <a:effectLst/>
                <a:latin typeface="Consolas" panose="020B0609020204030204" pitchFamily="49" charset="0"/>
              </a:rPr>
              <a:t>age</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 </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Через год вам будет </a:t>
            </a:r>
            <a:r>
              <a:rPr lang="ru-RU"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ageNextYear</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rl</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close</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2071480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953733E8-ACF6-793B-1676-6E02F3C9D0D3}"/>
              </a:ext>
            </a:extLst>
          </p:cNvPr>
          <p:cNvSpPr txBox="1"/>
          <p:nvPr/>
        </p:nvSpPr>
        <p:spPr>
          <a:xfrm>
            <a:off x="1706707" y="372147"/>
            <a:ext cx="6094268" cy="646331"/>
          </a:xfrm>
          <a:prstGeom prst="rect">
            <a:avLst/>
          </a:prstGeom>
          <a:noFill/>
        </p:spPr>
        <p:txBody>
          <a:bodyPr wrap="square">
            <a:spAutoFit/>
          </a:bodyPr>
          <a:lstStyle/>
          <a:p>
            <a:r>
              <a:rPr lang="ru-RU" sz="3600" dirty="0">
                <a:latin typeface="Times New Roman" panose="02020603050405020304" pitchFamily="18" charset="0"/>
                <a:cs typeface="Times New Roman" panose="02020603050405020304" pitchFamily="18" charset="0"/>
              </a:rPr>
              <a:t>Ввод двух значений</a:t>
            </a:r>
          </a:p>
        </p:txBody>
      </p:sp>
      <p:sp>
        <p:nvSpPr>
          <p:cNvPr id="7" name="TextBox 6">
            <a:extLst>
              <a:ext uri="{FF2B5EF4-FFF2-40B4-BE49-F238E27FC236}">
                <a16:creationId xmlns:a16="http://schemas.microsoft.com/office/drawing/2014/main" id="{8D2684FF-8732-EF16-2DE5-68D534806936}"/>
              </a:ext>
            </a:extLst>
          </p:cNvPr>
          <p:cNvSpPr txBox="1"/>
          <p:nvPr/>
        </p:nvSpPr>
        <p:spPr>
          <a:xfrm>
            <a:off x="605270" y="1110781"/>
            <a:ext cx="11375447"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Чтобы последовательно запросить два значения, второй вызов </a:t>
            </a:r>
            <a:r>
              <a:rPr lang="ru-RU" sz="2000" dirty="0" err="1">
                <a:latin typeface="Times New Roman" panose="02020603050405020304" pitchFamily="18" charset="0"/>
                <a:cs typeface="Times New Roman" panose="02020603050405020304" pitchFamily="18" charset="0"/>
              </a:rPr>
              <a:t>question</a:t>
            </a:r>
            <a:r>
              <a:rPr lang="ru-RU" sz="2000" dirty="0">
                <a:latin typeface="Times New Roman" panose="02020603050405020304" pitchFamily="18" charset="0"/>
                <a:cs typeface="Times New Roman" panose="02020603050405020304" pitchFamily="18" charset="0"/>
              </a:rPr>
              <a:t>() можно разместить внутри первого.</a:t>
            </a:r>
          </a:p>
        </p:txBody>
      </p:sp>
      <p:sp>
        <p:nvSpPr>
          <p:cNvPr id="9" name="TextBox 8">
            <a:extLst>
              <a:ext uri="{FF2B5EF4-FFF2-40B4-BE49-F238E27FC236}">
                <a16:creationId xmlns:a16="http://schemas.microsoft.com/office/drawing/2014/main" id="{3B41913B-CB42-F3B1-97F7-FA7EB61770AA}"/>
              </a:ext>
            </a:extLst>
          </p:cNvPr>
          <p:cNvSpPr txBox="1"/>
          <p:nvPr/>
        </p:nvSpPr>
        <p:spPr>
          <a:xfrm>
            <a:off x="605270" y="1818667"/>
            <a:ext cx="10136773" cy="369331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readline</a:t>
            </a:r>
            <a:r>
              <a:rPr lang="en-US" b="0" dirty="0">
                <a:solidFill>
                  <a:srgbClr val="000000"/>
                </a:solidFill>
                <a:effectLst/>
                <a:latin typeface="Consolas" panose="020B0609020204030204" pitchFamily="49" charset="0"/>
              </a:rPr>
              <a:t> = </a:t>
            </a:r>
            <a:r>
              <a:rPr lang="en-US" b="0" dirty="0">
                <a:solidFill>
                  <a:srgbClr val="795E26"/>
                </a:solidFill>
                <a:effectLst/>
                <a:latin typeface="Consolas" panose="020B0609020204030204" pitchFamily="49" charset="0"/>
              </a:rPr>
              <a:t>require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node:readline</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readline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createInterface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input: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process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stdin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output: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process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stdout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question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Введите первое число: "</a:t>
            </a:r>
            <a:r>
              <a:rPr lang="ru-RU"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firstInput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question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Введите второе число: "</a:t>
            </a:r>
            <a:r>
              <a:rPr lang="ru-RU"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secondInput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firstInput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secondInput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sum</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firstNumber</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secondNumber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Сумма: </a:t>
            </a:r>
            <a:r>
              <a:rPr lang="ru-RU" b="0" dirty="0">
                <a:solidFill>
                  <a:srgbClr val="0000FF"/>
                </a:solidFill>
                <a:effectLst/>
                <a:latin typeface="Consolas" panose="020B0609020204030204" pitchFamily="49" charset="0"/>
              </a:rPr>
              <a:t>${</a:t>
            </a:r>
            <a:r>
              <a:rPr lang="en-US" b="0" dirty="0">
                <a:solidFill>
                  <a:srgbClr val="0070C1"/>
                </a:solidFill>
                <a:effectLst/>
                <a:latin typeface="Consolas" panose="020B0609020204030204" pitchFamily="49" charset="0"/>
              </a:rPr>
              <a:t>sum</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close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1589071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FA166885-6198-EBC3-128D-11282F0F81B1}"/>
              </a:ext>
            </a:extLst>
          </p:cNvPr>
          <p:cNvSpPr txBox="1"/>
          <p:nvPr/>
        </p:nvSpPr>
        <p:spPr>
          <a:xfrm>
            <a:off x="2070388" y="358141"/>
            <a:ext cx="7343775" cy="584775"/>
          </a:xfrm>
          <a:prstGeom prst="rect">
            <a:avLst/>
          </a:prstGeom>
          <a:noFill/>
        </p:spPr>
        <p:txBody>
          <a:bodyPr wrap="square">
            <a:spAutoFit/>
          </a:bodyPr>
          <a:lstStyle/>
          <a:p>
            <a:r>
              <a:rPr lang="ru-RU" sz="3200" dirty="0">
                <a:latin typeface="Times New Roman" panose="02020603050405020304" pitchFamily="18" charset="0"/>
                <a:cs typeface="Times New Roman" panose="02020603050405020304" pitchFamily="18" charset="0"/>
              </a:rPr>
              <a:t>Пример расчёта стоимости товара</a:t>
            </a:r>
          </a:p>
        </p:txBody>
      </p:sp>
      <p:sp>
        <p:nvSpPr>
          <p:cNvPr id="6" name="TextBox 5">
            <a:extLst>
              <a:ext uri="{FF2B5EF4-FFF2-40B4-BE49-F238E27FC236}">
                <a16:creationId xmlns:a16="http://schemas.microsoft.com/office/drawing/2014/main" id="{B638D52A-E7B1-FCDF-38AB-635E6C403580}"/>
              </a:ext>
            </a:extLst>
          </p:cNvPr>
          <p:cNvSpPr txBox="1"/>
          <p:nvPr/>
        </p:nvSpPr>
        <p:spPr>
          <a:xfrm>
            <a:off x="699394" y="1002605"/>
            <a:ext cx="9948850" cy="3693319"/>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readline</a:t>
            </a:r>
            <a:r>
              <a:rPr lang="en-US" b="0" dirty="0">
                <a:solidFill>
                  <a:srgbClr val="000000"/>
                </a:solidFill>
                <a:effectLst/>
                <a:latin typeface="Consolas" panose="020B0609020204030204" pitchFamily="49" charset="0"/>
              </a:rPr>
              <a:t> = </a:t>
            </a:r>
            <a:r>
              <a:rPr lang="en-US" b="0" dirty="0">
                <a:solidFill>
                  <a:srgbClr val="795E26"/>
                </a:solidFill>
                <a:effectLst/>
                <a:latin typeface="Consolas" panose="020B0609020204030204" pitchFamily="49" charset="0"/>
              </a:rPr>
              <a:t>require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node:readline</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readline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createInterface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input: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process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stdin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output: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process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stdout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question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Введите цену товара: "</a:t>
            </a:r>
            <a:r>
              <a:rPr lang="ru-RU"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priceInput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question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Введите количество: "</a:t>
            </a:r>
            <a:r>
              <a:rPr lang="ru-RU"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quantityInput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price</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priceInput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quantity</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quantityInput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totalPrice</a:t>
            </a:r>
            <a:r>
              <a:rPr lang="en-US" b="0" dirty="0">
                <a:solidFill>
                  <a:srgbClr val="000000"/>
                </a:solidFill>
                <a:effectLst/>
                <a:latin typeface="Consolas" panose="020B0609020204030204" pitchFamily="49" charset="0"/>
              </a:rPr>
              <a:t> = </a:t>
            </a:r>
            <a:r>
              <a:rPr lang="en-US" b="0" dirty="0">
                <a:solidFill>
                  <a:srgbClr val="0070C1"/>
                </a:solidFill>
                <a:effectLst/>
                <a:latin typeface="Consolas" panose="020B0609020204030204" pitchFamily="49" charset="0"/>
              </a:rPr>
              <a:t>price</a:t>
            </a:r>
            <a:r>
              <a:rPr lang="en-US" b="0" dirty="0">
                <a:solidFill>
                  <a:srgbClr val="000000"/>
                </a:solidFill>
                <a:effectLst/>
                <a:latin typeface="Consolas" panose="020B0609020204030204" pitchFamily="49" charset="0"/>
              </a:rPr>
              <a:t> * </a:t>
            </a:r>
            <a:r>
              <a:rPr lang="en-US" b="0" dirty="0">
                <a:solidFill>
                  <a:srgbClr val="0070C1"/>
                </a:solidFill>
                <a:effectLst/>
                <a:latin typeface="Consolas" panose="020B0609020204030204" pitchFamily="49" charset="0"/>
              </a:rPr>
              <a:t>quantity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ru-RU" b="0" dirty="0">
                <a:solidFill>
                  <a:srgbClr val="A31515"/>
                </a:solidFill>
                <a:effectLst/>
                <a:latin typeface="Consolas" panose="020B0609020204030204" pitchFamily="49" charset="0"/>
              </a:rPr>
              <a:t>Итоговая стоимость: </a:t>
            </a:r>
            <a:r>
              <a:rPr lang="ru-RU"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totalPrice</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a:t>
            </a:r>
            <a:r>
              <a:rPr lang="ru-RU" b="0" dirty="0">
                <a:solidFill>
                  <a:srgbClr val="A31515"/>
                </a:solidFill>
                <a:effectLst/>
                <a:latin typeface="Consolas" panose="020B0609020204030204" pitchFamily="49" charset="0"/>
              </a:rPr>
              <a:t>руб.`</a:t>
            </a:r>
            <a:r>
              <a:rPr lang="ru-RU" b="0" dirty="0">
                <a:solidFill>
                  <a:srgbClr val="000000"/>
                </a:solidFill>
                <a:effectLst/>
                <a:latin typeface="Consolas" panose="020B0609020204030204" pitchFamily="49" charset="0"/>
              </a:rPr>
              <a:t>);</a:t>
            </a:r>
          </a:p>
          <a:p>
            <a:r>
              <a:rPr lang="ru-RU"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rl</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close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435050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68A5354F-AA6F-70B8-AFF8-021437A1F06D}"/>
              </a:ext>
            </a:extLst>
          </p:cNvPr>
          <p:cNvSpPr txBox="1"/>
          <p:nvPr/>
        </p:nvSpPr>
        <p:spPr>
          <a:xfrm>
            <a:off x="1374197" y="107077"/>
            <a:ext cx="9670048" cy="1077218"/>
          </a:xfrm>
          <a:prstGeom prst="rect">
            <a:avLst/>
          </a:prstGeom>
          <a:noFill/>
        </p:spPr>
        <p:txBody>
          <a:bodyPr wrap="square">
            <a:spAutoFit/>
          </a:bodyPr>
          <a:lstStyle/>
          <a:p>
            <a:r>
              <a:rPr lang="ru-RU" sz="3200" dirty="0">
                <a:latin typeface="Times New Roman" panose="02020603050405020304" pitchFamily="18" charset="0"/>
                <a:cs typeface="Times New Roman" panose="02020603050405020304" pitchFamily="18" charset="0"/>
              </a:rPr>
              <a:t>Отладочная печать данных. Возможности объекта </a:t>
            </a:r>
            <a:r>
              <a:rPr lang="ru-RU" sz="3200" b="1" dirty="0" err="1">
                <a:latin typeface="Times New Roman" panose="02020603050405020304" pitchFamily="18" charset="0"/>
                <a:cs typeface="Times New Roman" panose="02020603050405020304" pitchFamily="18" charset="0"/>
              </a:rPr>
              <a:t>console</a:t>
            </a:r>
            <a:endParaRPr lang="ru-RU"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A94EDE-4365-C0CA-3823-DBF503861CD0}"/>
              </a:ext>
            </a:extLst>
          </p:cNvPr>
          <p:cNvSpPr txBox="1"/>
          <p:nvPr/>
        </p:nvSpPr>
        <p:spPr>
          <a:xfrm>
            <a:off x="542924" y="1349772"/>
            <a:ext cx="10105319" cy="369332"/>
          </a:xfrm>
          <a:prstGeom prst="rect">
            <a:avLst/>
          </a:prstGeom>
          <a:noFill/>
        </p:spPr>
        <p:txBody>
          <a:bodyPr wrap="square">
            <a:spAutoFit/>
          </a:bodyPr>
          <a:lstStyle/>
          <a:p>
            <a:r>
              <a:rPr lang="ru-RU" b="1" dirty="0">
                <a:latin typeface="Times New Roman" panose="02020603050405020304" pitchFamily="18" charset="0"/>
                <a:cs typeface="Times New Roman" panose="02020603050405020304" pitchFamily="18" charset="0"/>
              </a:rPr>
              <a:t>Отладка</a:t>
            </a:r>
            <a:r>
              <a:rPr lang="ru-RU" dirty="0">
                <a:latin typeface="Times New Roman" panose="02020603050405020304" pitchFamily="18" charset="0"/>
                <a:cs typeface="Times New Roman" panose="02020603050405020304" pitchFamily="18" charset="0"/>
              </a:rPr>
              <a:t> — процесс поиска, анализа и исправления ошибок в программе.</a:t>
            </a:r>
          </a:p>
        </p:txBody>
      </p:sp>
      <p:sp>
        <p:nvSpPr>
          <p:cNvPr id="9" name="TextBox 8">
            <a:extLst>
              <a:ext uri="{FF2B5EF4-FFF2-40B4-BE49-F238E27FC236}">
                <a16:creationId xmlns:a16="http://schemas.microsoft.com/office/drawing/2014/main" id="{D11E1899-4F0E-1B6A-6BF4-D2981228A10E}"/>
              </a:ext>
            </a:extLst>
          </p:cNvPr>
          <p:cNvSpPr txBox="1"/>
          <p:nvPr/>
        </p:nvSpPr>
        <p:spPr>
          <a:xfrm>
            <a:off x="542924" y="1693673"/>
            <a:ext cx="6094268" cy="2554545"/>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Во время отладки разработчик выясняет:</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какие инструкции были выполнены;</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какие значения получили переменные;</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какой тип имеют данные;</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на каком этапе результат стал неправильным;</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какое выражение вернуло неожиданное значение;</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была ли выполнена определённая часть программы;</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почему возникла ошибка.</a:t>
            </a:r>
          </a:p>
        </p:txBody>
      </p:sp>
      <p:sp>
        <p:nvSpPr>
          <p:cNvPr id="11" name="TextBox 10">
            <a:extLst>
              <a:ext uri="{FF2B5EF4-FFF2-40B4-BE49-F238E27FC236}">
                <a16:creationId xmlns:a16="http://schemas.microsoft.com/office/drawing/2014/main" id="{C38BFB46-F00C-970C-3968-ABCD58FF84A2}"/>
              </a:ext>
            </a:extLst>
          </p:cNvPr>
          <p:cNvSpPr txBox="1"/>
          <p:nvPr/>
        </p:nvSpPr>
        <p:spPr>
          <a:xfrm>
            <a:off x="542923" y="4276320"/>
            <a:ext cx="8819285" cy="369332"/>
          </a:xfrm>
          <a:prstGeom prst="rect">
            <a:avLst/>
          </a:prstGeom>
          <a:noFill/>
        </p:spPr>
        <p:txBody>
          <a:bodyPr wrap="square">
            <a:spAutoFit/>
          </a:bodyPr>
          <a:lstStyle/>
          <a:p>
            <a:r>
              <a:rPr lang="ru-RU" b="1" dirty="0">
                <a:latin typeface="Times New Roman" panose="02020603050405020304" pitchFamily="18" charset="0"/>
                <a:cs typeface="Times New Roman" panose="02020603050405020304" pitchFamily="18" charset="0"/>
              </a:rPr>
              <a:t>Отладочная печать</a:t>
            </a:r>
            <a:r>
              <a:rPr lang="ru-RU" dirty="0">
                <a:latin typeface="Times New Roman" panose="02020603050405020304" pitchFamily="18" charset="0"/>
                <a:cs typeface="Times New Roman" panose="02020603050405020304" pitchFamily="18" charset="0"/>
              </a:rPr>
              <a:t> — временный вывод информации о состоянии программы.</a:t>
            </a:r>
          </a:p>
        </p:txBody>
      </p:sp>
      <p:sp>
        <p:nvSpPr>
          <p:cNvPr id="16" name="Rectangle 2">
            <a:extLst>
              <a:ext uri="{FF2B5EF4-FFF2-40B4-BE49-F238E27FC236}">
                <a16:creationId xmlns:a16="http://schemas.microsoft.com/office/drawing/2014/main" id="{5E196D69-10AA-EEF9-7E71-26DF7D092242}"/>
              </a:ext>
            </a:extLst>
          </p:cNvPr>
          <p:cNvSpPr>
            <a:spLocks noChangeArrowheads="1"/>
          </p:cNvSpPr>
          <p:nvPr/>
        </p:nvSpPr>
        <p:spPr bwMode="auto">
          <a:xfrm>
            <a:off x="542923" y="4592119"/>
            <a:ext cx="636097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Пример:</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price</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1500</a:t>
            </a:r>
            <a:r>
              <a:rPr lang="en-US" sz="2000" b="0" dirty="0">
                <a:solidFill>
                  <a:srgbClr val="000000"/>
                </a:solidFill>
                <a:effectLst/>
                <a:latin typeface="Consolas" panose="020B0609020204030204" pitchFamily="49" charset="0"/>
              </a:rPr>
              <a:t>; </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quantity</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3</a:t>
            </a:r>
            <a:r>
              <a:rPr lang="en-US" sz="2000" b="0" dirty="0">
                <a:solidFill>
                  <a:srgbClr val="000000"/>
                </a:solidFill>
                <a:effectLst/>
                <a:latin typeface="Consolas" panose="020B0609020204030204" pitchFamily="49" charset="0"/>
              </a:rPr>
              <a:t>; </a:t>
            </a:r>
          </a:p>
          <a:p>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price</a:t>
            </a:r>
            <a:r>
              <a:rPr lang="en-US" sz="2000" b="0" dirty="0">
                <a:solidFill>
                  <a:srgbClr val="000000"/>
                </a:solidFill>
                <a:effectLst/>
                <a:latin typeface="Consolas" panose="020B0609020204030204" pitchFamily="49" charset="0"/>
              </a:rPr>
              <a:t>); </a:t>
            </a:r>
          </a:p>
          <a:p>
            <a:r>
              <a:rPr lang="en-US" sz="2000" b="0" dirty="0">
                <a:solidFill>
                  <a:srgbClr val="001080"/>
                </a:solidFill>
                <a:effectLst/>
                <a:latin typeface="Consolas" panose="020B0609020204030204" pitchFamily="49" charset="0"/>
              </a:rPr>
              <a:t>console</a:t>
            </a:r>
            <a:r>
              <a:rPr lang="en-US" sz="2000" b="0" dirty="0">
                <a:solidFill>
                  <a:srgbClr val="000000"/>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quantity</a:t>
            </a:r>
            <a:r>
              <a:rPr lang="en-US" sz="2000" b="0" dirty="0">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Такой вывод показывает текущие значения переменных.</a:t>
            </a:r>
          </a:p>
        </p:txBody>
      </p:sp>
    </p:spTree>
    <p:extLst>
      <p:ext uri="{BB962C8B-B14F-4D97-AF65-F5344CB8AC3E}">
        <p14:creationId xmlns:p14="http://schemas.microsoft.com/office/powerpoint/2010/main" val="12381130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4ABAB0FC-28EE-A308-5083-535702C2E827}"/>
              </a:ext>
            </a:extLst>
          </p:cNvPr>
          <p:cNvSpPr txBox="1"/>
          <p:nvPr/>
        </p:nvSpPr>
        <p:spPr>
          <a:xfrm>
            <a:off x="1696316" y="330644"/>
            <a:ext cx="6094268" cy="523220"/>
          </a:xfrm>
          <a:prstGeom prst="rect">
            <a:avLst/>
          </a:prstGeom>
          <a:noFill/>
        </p:spPr>
        <p:txBody>
          <a:bodyPr wrap="square">
            <a:spAutoFit/>
          </a:bodyPr>
          <a:lstStyle/>
          <a:p>
            <a:r>
              <a:rPr lang="ru-RU" sz="2800" b="1" dirty="0">
                <a:latin typeface="Times New Roman" panose="02020603050405020304" pitchFamily="18" charset="0"/>
                <a:cs typeface="Times New Roman" panose="02020603050405020304" pitchFamily="18" charset="0"/>
              </a:rPr>
              <a:t>Метод </a:t>
            </a:r>
            <a:r>
              <a:rPr lang="en-US" sz="2800" b="1" dirty="0" err="1">
                <a:latin typeface="Times New Roman" panose="02020603050405020304" pitchFamily="18" charset="0"/>
                <a:cs typeface="Times New Roman" panose="02020603050405020304" pitchFamily="18" charset="0"/>
              </a:rPr>
              <a:t>console.warn</a:t>
            </a:r>
            <a:r>
              <a:rPr lang="en-US" sz="2800" b="1" dirty="0">
                <a:latin typeface="Times New Roman" panose="02020603050405020304" pitchFamily="18" charset="0"/>
                <a:cs typeface="Times New Roman" panose="02020603050405020304" pitchFamily="18" charset="0"/>
              </a:rPr>
              <a:t>()</a:t>
            </a:r>
            <a:endParaRPr lang="ru-RU" sz="2800" b="1"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5BF789D6-1802-DB77-A643-9E14F090BD38}"/>
              </a:ext>
            </a:extLst>
          </p:cNvPr>
          <p:cNvSpPr>
            <a:spLocks noChangeArrowheads="1"/>
          </p:cNvSpPr>
          <p:nvPr/>
        </p:nvSpPr>
        <p:spPr bwMode="auto">
          <a:xfrm>
            <a:off x="361708" y="1285845"/>
            <a:ext cx="46477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console.warn</a:t>
            </a:r>
            <a:r>
              <a:rPr kumimoji="0" lang="ru-RU" altLang="ru-RU"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выводит предупреждение.</a:t>
            </a:r>
            <a:endParaRPr lang="ru-RU" sz="2000" b="0" dirty="0">
              <a:solidFill>
                <a:srgbClr val="000000"/>
              </a:solidFill>
              <a:effectLst/>
              <a:latin typeface="Consolas" panose="020B0609020204030204" pitchFamily="49" charset="0"/>
            </a:endParaRPr>
          </a:p>
        </p:txBody>
      </p:sp>
      <p:pic>
        <p:nvPicPr>
          <p:cNvPr id="18" name="Рисунок 17">
            <a:extLst>
              <a:ext uri="{FF2B5EF4-FFF2-40B4-BE49-F238E27FC236}">
                <a16:creationId xmlns:a16="http://schemas.microsoft.com/office/drawing/2014/main" id="{F43E88AE-FE71-B678-2216-C1BCB4F9E4E6}"/>
              </a:ext>
            </a:extLst>
          </p:cNvPr>
          <p:cNvPicPr>
            <a:picLocks noChangeAspect="1"/>
          </p:cNvPicPr>
          <p:nvPr/>
        </p:nvPicPr>
        <p:blipFill>
          <a:blip r:embed="rId4"/>
          <a:stretch>
            <a:fillRect/>
          </a:stretch>
        </p:blipFill>
        <p:spPr>
          <a:xfrm>
            <a:off x="361708" y="1990725"/>
            <a:ext cx="6048375" cy="1733550"/>
          </a:xfrm>
          <a:prstGeom prst="rect">
            <a:avLst/>
          </a:prstGeom>
        </p:spPr>
      </p:pic>
      <p:sp>
        <p:nvSpPr>
          <p:cNvPr id="20" name="TextBox 19">
            <a:extLst>
              <a:ext uri="{FF2B5EF4-FFF2-40B4-BE49-F238E27FC236}">
                <a16:creationId xmlns:a16="http://schemas.microsoft.com/office/drawing/2014/main" id="{4981FFA4-852C-8016-E585-FF202E25416F}"/>
              </a:ext>
            </a:extLst>
          </p:cNvPr>
          <p:cNvSpPr txBox="1"/>
          <p:nvPr/>
        </p:nvSpPr>
        <p:spPr>
          <a:xfrm>
            <a:off x="6839816" y="1113562"/>
            <a:ext cx="4839566" cy="1938992"/>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Предупреждение подходит, если:</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программа продолжает работу;</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значение допустимо, но нежелательно;</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используется устаревший подход;</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данные требуют внимания;</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достигнут промежуточный предел.</a:t>
            </a:r>
          </a:p>
        </p:txBody>
      </p:sp>
      <p:sp>
        <p:nvSpPr>
          <p:cNvPr id="24" name="Rectangle 4">
            <a:extLst>
              <a:ext uri="{FF2B5EF4-FFF2-40B4-BE49-F238E27FC236}">
                <a16:creationId xmlns:a16="http://schemas.microsoft.com/office/drawing/2014/main" id="{F91D64CB-7970-EC64-4210-83CDB10EA79D}"/>
              </a:ext>
            </a:extLst>
          </p:cNvPr>
          <p:cNvSpPr>
            <a:spLocks noChangeArrowheads="1"/>
          </p:cNvSpPr>
          <p:nvPr/>
        </p:nvSpPr>
        <p:spPr bwMode="auto">
          <a:xfrm>
            <a:off x="434444" y="3675102"/>
            <a:ext cx="521860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Метод console.error()</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console.error() выводит сообщение об ошибке.</a:t>
            </a:r>
          </a:p>
        </p:txBody>
      </p:sp>
      <p:pic>
        <p:nvPicPr>
          <p:cNvPr id="26" name="Рисунок 25">
            <a:extLst>
              <a:ext uri="{FF2B5EF4-FFF2-40B4-BE49-F238E27FC236}">
                <a16:creationId xmlns:a16="http://schemas.microsoft.com/office/drawing/2014/main" id="{1E4C419A-6BC5-A1B7-5F28-131F0F5F8E99}"/>
              </a:ext>
            </a:extLst>
          </p:cNvPr>
          <p:cNvPicPr>
            <a:picLocks noChangeAspect="1"/>
          </p:cNvPicPr>
          <p:nvPr/>
        </p:nvPicPr>
        <p:blipFill>
          <a:blip r:embed="rId5"/>
          <a:stretch>
            <a:fillRect/>
          </a:stretch>
        </p:blipFill>
        <p:spPr>
          <a:xfrm>
            <a:off x="286176" y="4415648"/>
            <a:ext cx="5250101" cy="2244193"/>
          </a:xfrm>
          <a:prstGeom prst="rect">
            <a:avLst/>
          </a:prstGeom>
        </p:spPr>
      </p:pic>
      <p:sp>
        <p:nvSpPr>
          <p:cNvPr id="28" name="TextBox 27">
            <a:extLst>
              <a:ext uri="{FF2B5EF4-FFF2-40B4-BE49-F238E27FC236}">
                <a16:creationId xmlns:a16="http://schemas.microsoft.com/office/drawing/2014/main" id="{57E25170-CC3E-1074-1902-DEA729A8AF5E}"/>
              </a:ext>
            </a:extLst>
          </p:cNvPr>
          <p:cNvSpPr txBox="1"/>
          <p:nvPr/>
        </p:nvSpPr>
        <p:spPr>
          <a:xfrm>
            <a:off x="6096000" y="4902360"/>
            <a:ext cx="6094268"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Метод не создаёт ошибку автоматически, а только выводит сообщение с соответствующим оформлением.</a:t>
            </a:r>
          </a:p>
        </p:txBody>
      </p:sp>
    </p:spTree>
    <p:extLst>
      <p:ext uri="{BB962C8B-B14F-4D97-AF65-F5344CB8AC3E}">
        <p14:creationId xmlns:p14="http://schemas.microsoft.com/office/powerpoint/2010/main" val="9760612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BD7EDCD-F722-C2B8-08EE-931774BBBA6F}"/>
              </a:ext>
            </a:extLst>
          </p:cNvPr>
          <p:cNvSpPr txBox="1"/>
          <p:nvPr/>
        </p:nvSpPr>
        <p:spPr>
          <a:xfrm>
            <a:off x="1252971" y="349838"/>
            <a:ext cx="6094268"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Метод </a:t>
            </a:r>
            <a:r>
              <a:rPr lang="en-US" sz="2000" b="1" dirty="0">
                <a:latin typeface="Times New Roman" panose="02020603050405020304" pitchFamily="18" charset="0"/>
                <a:cs typeface="Times New Roman" panose="02020603050405020304" pitchFamily="18" charset="0"/>
              </a:rPr>
              <a:t>console.info()</a:t>
            </a:r>
            <a:endParaRPr lang="ru-RU"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B898B6B-A08F-523B-63A0-97BF80092A84}"/>
              </a:ext>
            </a:extLst>
          </p:cNvPr>
          <p:cNvSpPr txBox="1"/>
          <p:nvPr/>
        </p:nvSpPr>
        <p:spPr>
          <a:xfrm>
            <a:off x="412445" y="1150058"/>
            <a:ext cx="6094268" cy="369332"/>
          </a:xfrm>
          <a:prstGeom prst="rect">
            <a:avLst/>
          </a:prstGeom>
          <a:noFill/>
        </p:spPr>
        <p:txBody>
          <a:bodyPr wrap="square">
            <a:spAutoFit/>
          </a:bodyPr>
          <a:lstStyle/>
          <a:p>
            <a:r>
              <a:rPr lang="ru-RU" b="0" dirty="0">
                <a:solidFill>
                  <a:srgbClr val="001080"/>
                </a:solidFill>
                <a:effectLst/>
                <a:latin typeface="Consolas" panose="020B0609020204030204" pitchFamily="49" charset="0"/>
              </a:rPr>
              <a:t>console</a:t>
            </a:r>
            <a:r>
              <a:rPr lang="ru-RU" b="0" dirty="0">
                <a:solidFill>
                  <a:srgbClr val="000000"/>
                </a:solidFill>
                <a:effectLst/>
                <a:latin typeface="Consolas" panose="020B0609020204030204" pitchFamily="49" charset="0"/>
              </a:rPr>
              <a:t>.</a:t>
            </a:r>
            <a:r>
              <a:rPr lang="ru-RU" b="0" dirty="0">
                <a:solidFill>
                  <a:srgbClr val="795E26"/>
                </a:solidFill>
                <a:effectLst/>
                <a:latin typeface="Consolas" panose="020B0609020204030204" pitchFamily="49" charset="0"/>
              </a:rPr>
              <a:t>info</a:t>
            </a:r>
            <a:r>
              <a:rPr lang="ru-RU" b="0" dirty="0">
                <a:solidFill>
                  <a:srgbClr val="000000"/>
                </a:solidFill>
                <a:effectLst/>
                <a:latin typeface="Consolas" panose="020B0609020204030204" pitchFamily="49" charset="0"/>
              </a:rPr>
              <a:t>(</a:t>
            </a:r>
            <a:r>
              <a:rPr lang="ru-RU" b="0" dirty="0">
                <a:solidFill>
                  <a:srgbClr val="A31515"/>
                </a:solidFill>
                <a:effectLst/>
                <a:latin typeface="Consolas" panose="020B0609020204030204" pitchFamily="49" charset="0"/>
              </a:rPr>
              <a:t>"Загрузка данных завершена"</a:t>
            </a:r>
            <a:r>
              <a:rPr lang="ru-RU" b="0" dirty="0">
                <a:solidFill>
                  <a:srgbClr val="000000"/>
                </a:solidFill>
                <a:effectLst/>
                <a:latin typeface="Consolas" panose="020B0609020204030204" pitchFamily="49" charset="0"/>
              </a:rPr>
              <a:t>);</a:t>
            </a:r>
          </a:p>
        </p:txBody>
      </p:sp>
      <p:sp>
        <p:nvSpPr>
          <p:cNvPr id="18" name="TextBox 17">
            <a:extLst>
              <a:ext uri="{FF2B5EF4-FFF2-40B4-BE49-F238E27FC236}">
                <a16:creationId xmlns:a16="http://schemas.microsoft.com/office/drawing/2014/main" id="{03C6AE22-8A1B-EB73-1C10-CDA1B4D0A847}"/>
              </a:ext>
            </a:extLst>
          </p:cNvPr>
          <p:cNvSpPr txBox="1"/>
          <p:nvPr/>
        </p:nvSpPr>
        <p:spPr>
          <a:xfrm>
            <a:off x="412445" y="1616330"/>
            <a:ext cx="6094268"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Он предназначен для информационных сообщений.</a:t>
            </a:r>
          </a:p>
        </p:txBody>
      </p:sp>
      <p:sp>
        <p:nvSpPr>
          <p:cNvPr id="19" name="Rectangle 3">
            <a:extLst>
              <a:ext uri="{FF2B5EF4-FFF2-40B4-BE49-F238E27FC236}">
                <a16:creationId xmlns:a16="http://schemas.microsoft.com/office/drawing/2014/main" id="{F5E493D2-3DFD-DD08-4A5A-029072DC5F0B}"/>
              </a:ext>
            </a:extLst>
          </p:cNvPr>
          <p:cNvSpPr>
            <a:spLocks noChangeArrowheads="1"/>
          </p:cNvSpPr>
          <p:nvPr/>
        </p:nvSpPr>
        <p:spPr bwMode="auto">
          <a:xfrm>
            <a:off x="6713615" y="773166"/>
            <a:ext cx="535960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Метод console.table()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console.table() выводит данные в виде таблицы.</a:t>
            </a:r>
          </a:p>
        </p:txBody>
      </p:sp>
      <p:pic>
        <p:nvPicPr>
          <p:cNvPr id="21" name="Рисунок 20">
            <a:extLst>
              <a:ext uri="{FF2B5EF4-FFF2-40B4-BE49-F238E27FC236}">
                <a16:creationId xmlns:a16="http://schemas.microsoft.com/office/drawing/2014/main" id="{FEB2C84B-C44C-C945-8FFA-74FE8768ED11}"/>
              </a:ext>
            </a:extLst>
          </p:cNvPr>
          <p:cNvPicPr>
            <a:picLocks noChangeAspect="1"/>
          </p:cNvPicPr>
          <p:nvPr/>
        </p:nvPicPr>
        <p:blipFill>
          <a:blip r:embed="rId4"/>
          <a:stretch>
            <a:fillRect/>
          </a:stretch>
        </p:blipFill>
        <p:spPr>
          <a:xfrm>
            <a:off x="7187911" y="1589809"/>
            <a:ext cx="3848100" cy="4257675"/>
          </a:xfrm>
          <a:prstGeom prst="rect">
            <a:avLst/>
          </a:prstGeom>
        </p:spPr>
      </p:pic>
      <p:sp>
        <p:nvSpPr>
          <p:cNvPr id="23" name="TextBox 22">
            <a:extLst>
              <a:ext uri="{FF2B5EF4-FFF2-40B4-BE49-F238E27FC236}">
                <a16:creationId xmlns:a16="http://schemas.microsoft.com/office/drawing/2014/main" id="{A83860DC-5F96-D04E-3532-9A8F9B95ECD6}"/>
              </a:ext>
            </a:extLst>
          </p:cNvPr>
          <p:cNvSpPr txBox="1"/>
          <p:nvPr/>
        </p:nvSpPr>
        <p:spPr>
          <a:xfrm>
            <a:off x="412445" y="2124287"/>
            <a:ext cx="6094268"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Группировка сообщений</a:t>
            </a:r>
          </a:p>
        </p:txBody>
      </p:sp>
      <p:pic>
        <p:nvPicPr>
          <p:cNvPr id="25" name="Рисунок 24">
            <a:extLst>
              <a:ext uri="{FF2B5EF4-FFF2-40B4-BE49-F238E27FC236}">
                <a16:creationId xmlns:a16="http://schemas.microsoft.com/office/drawing/2014/main" id="{D73F93A8-4487-9A24-6FB2-764F2C87C161}"/>
              </a:ext>
            </a:extLst>
          </p:cNvPr>
          <p:cNvPicPr>
            <a:picLocks noChangeAspect="1"/>
          </p:cNvPicPr>
          <p:nvPr/>
        </p:nvPicPr>
        <p:blipFill>
          <a:blip r:embed="rId5"/>
          <a:stretch>
            <a:fillRect/>
          </a:stretch>
        </p:blipFill>
        <p:spPr>
          <a:xfrm>
            <a:off x="412444" y="2632244"/>
            <a:ext cx="4422791" cy="3927860"/>
          </a:xfrm>
          <a:prstGeom prst="rect">
            <a:avLst/>
          </a:prstGeom>
        </p:spPr>
      </p:pic>
    </p:spTree>
    <p:extLst>
      <p:ext uri="{BB962C8B-B14F-4D97-AF65-F5344CB8AC3E}">
        <p14:creationId xmlns:p14="http://schemas.microsoft.com/office/powerpoint/2010/main" val="2797666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9B7F4C-ECE0-ED21-29E8-15B79CFDD1AF}"/>
              </a:ext>
            </a:extLst>
          </p:cNvPr>
          <p:cNvPicPr>
            <a:picLocks noChangeAspect="1"/>
          </p:cNvPicPr>
          <p:nvPr/>
        </p:nvPicPr>
        <p:blipFill>
          <a:blip r:embed="rId3"/>
          <a:stretch>
            <a:fillRect/>
          </a:stretch>
        </p:blipFill>
        <p:spPr>
          <a:xfrm>
            <a:off x="10648244" y="6329160"/>
            <a:ext cx="1182047" cy="180000"/>
          </a:xfrm>
          <a:prstGeom prst="rect">
            <a:avLst/>
          </a:prstGeom>
        </p:spPr>
      </p:pic>
      <p:grpSp>
        <p:nvGrpSpPr>
          <p:cNvPr id="12" name="Группа 11">
            <a:extLst>
              <a:ext uri="{FF2B5EF4-FFF2-40B4-BE49-F238E27FC236}">
                <a16:creationId xmlns:a16="http://schemas.microsoft.com/office/drawing/2014/main" id="{533C6604-687D-BF54-1DAB-6734749A0773}"/>
              </a:ext>
            </a:extLst>
          </p:cNvPr>
          <p:cNvGrpSpPr/>
          <p:nvPr/>
        </p:nvGrpSpPr>
        <p:grpSpPr>
          <a:xfrm>
            <a:off x="361708" y="351221"/>
            <a:ext cx="675372" cy="390258"/>
            <a:chOff x="2153286" y="1799378"/>
            <a:chExt cx="675372" cy="390258"/>
          </a:xfrm>
        </p:grpSpPr>
        <p:cxnSp>
          <p:nvCxnSpPr>
            <p:cNvPr id="13" name="Прямая соединительная линия 12">
              <a:extLst>
                <a:ext uri="{FF2B5EF4-FFF2-40B4-BE49-F238E27FC236}">
                  <a16:creationId xmlns:a16="http://schemas.microsoft.com/office/drawing/2014/main" id="{0FE2D424-B41A-A8B4-52A5-00470A6CA24B}"/>
                </a:ext>
              </a:extLst>
            </p:cNvPr>
            <p:cNvCxnSpPr/>
            <p:nvPr/>
          </p:nvCxnSpPr>
          <p:spPr>
            <a:xfrm>
              <a:off x="2153286" y="1993317"/>
              <a:ext cx="675372" cy="0"/>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991C6A40-ED7D-B175-C82F-1B48A4A3AC7B}"/>
                </a:ext>
              </a:extLst>
            </p:cNvPr>
            <p:cNvCxnSpPr/>
            <p:nvPr/>
          </p:nvCxnSpPr>
          <p:spPr>
            <a:xfrm flipH="1" flipV="1">
              <a:off x="2627605" y="1799378"/>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FBC07D8-A141-194B-A6B9-030AA0FA4C3C}"/>
                </a:ext>
              </a:extLst>
            </p:cNvPr>
            <p:cNvCxnSpPr>
              <a:cxnSpLocks/>
            </p:cNvCxnSpPr>
            <p:nvPr/>
          </p:nvCxnSpPr>
          <p:spPr>
            <a:xfrm flipH="1">
              <a:off x="2627605" y="1998050"/>
              <a:ext cx="191586" cy="191586"/>
            </a:xfrm>
            <a:prstGeom prst="line">
              <a:avLst/>
            </a:prstGeom>
            <a:ln w="28575">
              <a:solidFill>
                <a:srgbClr val="9789F8"/>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6AD2D009-C057-5695-B5A1-9C8FB7D175E4}"/>
              </a:ext>
            </a:extLst>
          </p:cNvPr>
          <p:cNvSpPr txBox="1"/>
          <p:nvPr/>
        </p:nvSpPr>
        <p:spPr>
          <a:xfrm>
            <a:off x="1501932" y="556813"/>
            <a:ext cx="6094268"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Вложенные группы</a:t>
            </a:r>
          </a:p>
        </p:txBody>
      </p:sp>
      <p:pic>
        <p:nvPicPr>
          <p:cNvPr id="6" name="Рисунок 5">
            <a:extLst>
              <a:ext uri="{FF2B5EF4-FFF2-40B4-BE49-F238E27FC236}">
                <a16:creationId xmlns:a16="http://schemas.microsoft.com/office/drawing/2014/main" id="{BF66B8AE-7C3F-457A-FEB8-31E75C5471D5}"/>
              </a:ext>
            </a:extLst>
          </p:cNvPr>
          <p:cNvPicPr>
            <a:picLocks noChangeAspect="1"/>
          </p:cNvPicPr>
          <p:nvPr/>
        </p:nvPicPr>
        <p:blipFill>
          <a:blip r:embed="rId4"/>
          <a:stretch>
            <a:fillRect/>
          </a:stretch>
        </p:blipFill>
        <p:spPr>
          <a:xfrm>
            <a:off x="164955" y="1076758"/>
            <a:ext cx="3819525" cy="4371975"/>
          </a:xfrm>
          <a:prstGeom prst="rect">
            <a:avLst/>
          </a:prstGeom>
        </p:spPr>
      </p:pic>
      <p:sp>
        <p:nvSpPr>
          <p:cNvPr id="8" name="TextBox 7">
            <a:extLst>
              <a:ext uri="{FF2B5EF4-FFF2-40B4-BE49-F238E27FC236}">
                <a16:creationId xmlns:a16="http://schemas.microsoft.com/office/drawing/2014/main" id="{C79F4B7E-4FE4-E11E-FEA2-C64D79E214EB}"/>
              </a:ext>
            </a:extLst>
          </p:cNvPr>
          <p:cNvSpPr txBox="1"/>
          <p:nvPr/>
        </p:nvSpPr>
        <p:spPr>
          <a:xfrm>
            <a:off x="5160388" y="645686"/>
            <a:ext cx="6094268" cy="400110"/>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Проверка предположения через </a:t>
            </a:r>
            <a:r>
              <a:rPr lang="ru-RU" sz="2000" b="1" dirty="0" err="1">
                <a:latin typeface="Times New Roman" panose="02020603050405020304" pitchFamily="18" charset="0"/>
                <a:cs typeface="Times New Roman" panose="02020603050405020304" pitchFamily="18" charset="0"/>
              </a:rPr>
              <a:t>console.assert</a:t>
            </a:r>
            <a:r>
              <a:rPr lang="ru-RU" sz="2000" b="1" dirty="0">
                <a:latin typeface="Times New Roman" panose="02020603050405020304" pitchFamily="18" charset="0"/>
                <a:cs typeface="Times New Roman" panose="02020603050405020304" pitchFamily="18" charset="0"/>
              </a:rPr>
              <a:t>()</a:t>
            </a:r>
          </a:p>
        </p:txBody>
      </p:sp>
      <p:pic>
        <p:nvPicPr>
          <p:cNvPr id="10" name="Рисунок 9">
            <a:extLst>
              <a:ext uri="{FF2B5EF4-FFF2-40B4-BE49-F238E27FC236}">
                <a16:creationId xmlns:a16="http://schemas.microsoft.com/office/drawing/2014/main" id="{3A79FC9F-B2A8-A9A2-83F6-25445A03534E}"/>
              </a:ext>
            </a:extLst>
          </p:cNvPr>
          <p:cNvPicPr>
            <a:picLocks noChangeAspect="1"/>
          </p:cNvPicPr>
          <p:nvPr/>
        </p:nvPicPr>
        <p:blipFill>
          <a:blip r:embed="rId5"/>
          <a:stretch>
            <a:fillRect/>
          </a:stretch>
        </p:blipFill>
        <p:spPr>
          <a:xfrm>
            <a:off x="5609519" y="1277216"/>
            <a:ext cx="5038725" cy="2495550"/>
          </a:xfrm>
          <a:prstGeom prst="rect">
            <a:avLst/>
          </a:prstGeom>
        </p:spPr>
      </p:pic>
      <p:sp>
        <p:nvSpPr>
          <p:cNvPr id="16" name="TextBox 15">
            <a:extLst>
              <a:ext uri="{FF2B5EF4-FFF2-40B4-BE49-F238E27FC236}">
                <a16:creationId xmlns:a16="http://schemas.microsoft.com/office/drawing/2014/main" id="{3BC51853-DA7C-3435-5E3D-C2BD652197C0}"/>
              </a:ext>
            </a:extLst>
          </p:cNvPr>
          <p:cNvSpPr txBox="1"/>
          <p:nvPr/>
        </p:nvSpPr>
        <p:spPr>
          <a:xfrm>
            <a:off x="5609519" y="3772766"/>
            <a:ext cx="6094268" cy="70788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Если условие ложно, в консоль выводится сообщение.</a:t>
            </a: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Если условие истинно, сообщение не появляется.</a:t>
            </a:r>
          </a:p>
        </p:txBody>
      </p:sp>
    </p:spTree>
    <p:extLst>
      <p:ext uri="{BB962C8B-B14F-4D97-AF65-F5344CB8AC3E}">
        <p14:creationId xmlns:p14="http://schemas.microsoft.com/office/powerpoint/2010/main" val="4052569646"/>
      </p:ext>
    </p:extLst>
  </p:cSld>
  <p:clrMapOvr>
    <a:masterClrMapping/>
  </p:clrMapOvr>
</p:sld>
</file>

<file path=ppt/theme/theme1.xml><?xml version="1.0" encoding="utf-8"?>
<a:theme xmlns:a="http://schemas.openxmlformats.org/drawingml/2006/main" name="2_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704</TotalTime>
  <Words>16089</Words>
  <Application>Microsoft Office PowerPoint</Application>
  <PresentationFormat>Широкоэкранный</PresentationFormat>
  <Paragraphs>2201</Paragraphs>
  <Slides>58</Slides>
  <Notes>58</Notes>
  <HiddenSlides>0</HiddenSlides>
  <MMClips>0</MMClips>
  <ScaleCrop>false</ScaleCrop>
  <HeadingPairs>
    <vt:vector size="6" baseType="variant">
      <vt:variant>
        <vt:lpstr>Использованные шрифты</vt:lpstr>
      </vt:variant>
      <vt:variant>
        <vt:i4>9</vt:i4>
      </vt:variant>
      <vt:variant>
        <vt:lpstr>Тема</vt:lpstr>
      </vt:variant>
      <vt:variant>
        <vt:i4>2</vt:i4>
      </vt:variant>
      <vt:variant>
        <vt:lpstr>Заголовки слайдов</vt:lpstr>
      </vt:variant>
      <vt:variant>
        <vt:i4>58</vt:i4>
      </vt:variant>
    </vt:vector>
  </HeadingPairs>
  <TitlesOfParts>
    <vt:vector size="69" baseType="lpstr">
      <vt:lpstr>Aptos</vt:lpstr>
      <vt:lpstr>Aptos Display</vt:lpstr>
      <vt:lpstr>Arial</vt:lpstr>
      <vt:lpstr>Calibri</vt:lpstr>
      <vt:lpstr>Consolas</vt:lpstr>
      <vt:lpstr>Google Sans</vt:lpstr>
      <vt:lpstr>KyivType Sans Heavy</vt:lpstr>
      <vt:lpstr>Symbol</vt:lpstr>
      <vt:lpstr>Times New Roman</vt:lpstr>
      <vt:lpstr>2_Тема Office</vt:lpstr>
      <vt:lpstr>Тема Office</vt:lpstr>
      <vt:lpstr>Презентация PowerPoint</vt:lpstr>
      <vt:lpstr>Что такое JavaScript</vt:lpstr>
      <vt:lpstr>Почему JavaScript важен для мобильной разработки</vt:lpstr>
      <vt:lpstr>Общая характеристика языка</vt:lpstr>
      <vt:lpstr>Первая программа</vt:lpstr>
      <vt:lpstr>Презентация PowerPoint</vt:lpstr>
      <vt:lpstr>Базовые элементы JavaScript-программы</vt:lpstr>
      <vt:lpstr>Синтаксис JavaScript-программы</vt:lpstr>
      <vt:lpstr>Пример корректной программы</vt:lpstr>
      <vt:lpstr>Инструкции</vt:lpstr>
      <vt:lpstr>Презентация PowerPoint</vt:lpstr>
      <vt:lpstr>Презентация PowerPoint</vt:lpstr>
      <vt:lpstr>Ключевые слова</vt:lpstr>
      <vt:lpstr>Чувствительность к регистру</vt:lpstr>
      <vt:lpstr>Стиль именования camelCase</vt:lpstr>
      <vt:lpstr>Литералы</vt:lpstr>
      <vt:lpstr>Презентация PowerPoint</vt:lpstr>
      <vt:lpstr>Презентация PowerPoint</vt:lpstr>
      <vt:lpstr>Найдите синтаксические ошибки</vt:lpstr>
      <vt:lpstr>Переменная в JavaScript</vt:lpstr>
      <vt:lpstr>Презентация PowerPoint</vt:lpstr>
      <vt:lpstr>Презентация PowerPoint</vt:lpstr>
      <vt:lpstr>Область видимости блока</vt:lpstr>
      <vt:lpstr>Константы в JavaScript. Объявление с помощью const</vt:lpstr>
      <vt:lpstr>Презентация PowerPoint</vt:lpstr>
      <vt:lpstr>Примитивные типы данных: number, string, boolean</vt:lpstr>
      <vt:lpstr>Презентация PowerPoint</vt:lpstr>
      <vt:lpstr>Арифметические операции с числами</vt:lpstr>
      <vt:lpstr>Специальное значение NaN</vt:lpstr>
      <vt:lpstr>Тип string</vt:lpstr>
      <vt:lpstr>Презентация PowerPoint</vt:lpstr>
      <vt:lpstr>Шаблонные строки</vt:lpstr>
      <vt:lpstr>Полезные методы строк</vt:lpstr>
      <vt:lpstr>Презентация PowerPoint</vt:lpstr>
      <vt:lpstr>Презентация PowerPoint</vt:lpstr>
      <vt:lpstr>Презентация PowerPoint</vt:lpstr>
      <vt:lpstr>Презентация PowerPoint</vt:lpstr>
      <vt:lpstr>Основные операторы сравнения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LightKey.Store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Наиля Мавлюдова</dc:creator>
  <cp:lastModifiedBy>Преподаватель</cp:lastModifiedBy>
  <cp:revision>15</cp:revision>
  <dcterms:created xsi:type="dcterms:W3CDTF">2026-07-29T07:47:08Z</dcterms:created>
  <dcterms:modified xsi:type="dcterms:W3CDTF">2026-09-24T07:19:16Z</dcterms:modified>
</cp:coreProperties>
</file>